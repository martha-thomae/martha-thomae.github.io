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9.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0.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Lst>
  <p:sldSz cy="6858000" cx="12192000"/>
  <p:notesSz cx="6858000" cy="9144000"/>
  <p:embeddedFontLst>
    <p:embeddedFont>
      <p:font typeface="Garamond"/>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9" roundtripDataSignature="AMtx7mhI1ok5Xk2eArJsR4wGDCMMvgky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font" Target="fonts/Garamond-bold.fntdata"/><Relationship Id="rId21" Type="http://schemas.openxmlformats.org/officeDocument/2006/relationships/slide" Target="slides/slide17.xml"/><Relationship Id="rId65" Type="http://schemas.openxmlformats.org/officeDocument/2006/relationships/font" Target="fonts/Garamond-regular.fntdata"/><Relationship Id="rId24" Type="http://schemas.openxmlformats.org/officeDocument/2006/relationships/slide" Target="slides/slide20.xml"/><Relationship Id="rId68" Type="http://schemas.openxmlformats.org/officeDocument/2006/relationships/font" Target="fonts/Garamond-boldItalic.fntdata"/><Relationship Id="rId23" Type="http://schemas.openxmlformats.org/officeDocument/2006/relationships/slide" Target="slides/slide19.xml"/><Relationship Id="rId67" Type="http://schemas.openxmlformats.org/officeDocument/2006/relationships/font" Target="fonts/Garamond-italic.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customschemas.google.com/relationships/presentationmetadata" Target="meta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56.png"/><Relationship Id="rId3" Type="http://schemas.openxmlformats.org/officeDocument/2006/relationships/image" Target="../media/image42.png"/><Relationship Id="rId4" Type="http://schemas.openxmlformats.org/officeDocument/2006/relationships/image" Target="../media/image4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a:t>ELSA STARTS</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CA">
                <a:solidFill>
                  <a:srgbClr val="BDC1C6"/>
                </a:solidFill>
                <a:latin typeface="Arial"/>
                <a:ea typeface="Arial"/>
                <a:cs typeface="Arial"/>
                <a:sym typeface="Arial"/>
              </a:rPr>
              <a:t>"Control+F" (or "Command+F" on a Mac) is the keyboard shortcut for the </a:t>
            </a:r>
            <a:r>
              <a:rPr b="1" i="0" lang="en-CA">
                <a:solidFill>
                  <a:srgbClr val="E2EEFF"/>
                </a:solidFill>
                <a:latin typeface="Arial"/>
                <a:ea typeface="Arial"/>
                <a:cs typeface="Arial"/>
                <a:sym typeface="Arial"/>
              </a:rPr>
              <a:t>Find command</a:t>
            </a:r>
            <a:r>
              <a:rPr b="0" i="0" lang="en-CA">
                <a:solidFill>
                  <a:srgbClr val="BDC1C6"/>
                </a:solidFill>
                <a:latin typeface="Arial"/>
                <a:ea typeface="Arial"/>
                <a:cs typeface="Arial"/>
                <a:sym typeface="Arial"/>
              </a:rPr>
              <a:t>.</a:t>
            </a:r>
            <a:endParaRPr/>
          </a:p>
          <a:p>
            <a:pPr indent="0" lvl="0" marL="0" rtl="0" algn="l">
              <a:spcBef>
                <a:spcPts val="0"/>
              </a:spcBef>
              <a:spcAft>
                <a:spcPts val="0"/>
              </a:spcAft>
              <a:buNone/>
            </a:pPr>
            <a:r>
              <a:t/>
            </a:r>
            <a:endParaRPr b="0" i="0">
              <a:solidFill>
                <a:srgbClr val="BDC1C6"/>
              </a:solidFill>
              <a:latin typeface="Arial"/>
              <a:ea typeface="Arial"/>
              <a:cs typeface="Arial"/>
              <a:sym typeface="Arial"/>
            </a:endParaRPr>
          </a:p>
          <a:p>
            <a:pPr indent="0" lvl="0" marL="0" rtl="0" algn="l">
              <a:spcBef>
                <a:spcPts val="0"/>
              </a:spcBef>
              <a:spcAft>
                <a:spcPts val="0"/>
              </a:spcAft>
              <a:buNone/>
            </a:pPr>
            <a:r>
              <a:rPr b="0" i="0" lang="en-CA">
                <a:solidFill>
                  <a:srgbClr val="BDC1C6"/>
                </a:solidFill>
                <a:latin typeface="Arial"/>
                <a:ea typeface="Arial"/>
                <a:cs typeface="Arial"/>
                <a:sym typeface="Arial"/>
              </a:rPr>
              <a:t>If you're in a document, or in a web browser, pressing the «Ctrl key + the F key» will bring up a search box in the top right corner of the screen. From this box you can search for whatever text or combination of letters and numbers you are interested in.</a:t>
            </a:r>
            <a:endParaRPr/>
          </a:p>
        </p:txBody>
      </p:sp>
      <p:sp>
        <p:nvSpPr>
          <p:cNvPr id="100" name="Google Shape;1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Let’s now imagine something else.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For instance, we open a music manuscript available on a digital repository such as the Bibliothèque Nationale de France, or the Bodleyan Library, or the Portuguese Early Music Database, and we press the ‘Find’ key to look for specific neume shapes </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CA"/>
              <a:t>CLICK</a:t>
            </a:r>
            <a:r>
              <a:rPr lang="en-CA"/>
              <a:t>, a quilisma neume, for example.</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None/>
            </a:pPr>
            <a:r>
              <a:rPr lang="en-CA" sz="1800">
                <a:latin typeface="Calibri"/>
                <a:ea typeface="Calibri"/>
                <a:cs typeface="Calibri"/>
                <a:sym typeface="Calibri"/>
              </a:rPr>
              <a:t>Imagine now that the digital infrastructure behind the curtain... I mean the screen, by magic, automatically browses all the folios of the manuscript and returns all the occurrences of the quilisma.</a:t>
            </a:r>
            <a:endParaRPr/>
          </a:p>
          <a:p>
            <a:pPr indent="0" lvl="0" marL="0" rtl="0" algn="l">
              <a:lnSpc>
                <a:spcPct val="107000"/>
              </a:lnSpc>
              <a:spcBef>
                <a:spcPts val="800"/>
              </a:spcBef>
              <a:spcAft>
                <a:spcPts val="0"/>
              </a:spcAft>
              <a:buNone/>
            </a:pPr>
            <a:r>
              <a:t/>
            </a:r>
            <a:endParaRPr sz="1800">
              <a:latin typeface="Calibri"/>
              <a:ea typeface="Calibri"/>
              <a:cs typeface="Calibri"/>
              <a:sym typeface="Calibri"/>
            </a:endParaRPr>
          </a:p>
          <a:p>
            <a:pPr indent="0" lvl="0" marL="0" rtl="0" algn="l">
              <a:lnSpc>
                <a:spcPct val="107000"/>
              </a:lnSpc>
              <a:spcBef>
                <a:spcPts val="800"/>
              </a:spcBef>
              <a:spcAft>
                <a:spcPts val="0"/>
              </a:spcAft>
              <a:buNone/>
            </a:pPr>
            <a:r>
              <a:rPr lang="en-CA" sz="1800">
                <a:latin typeface="Calibri"/>
                <a:ea typeface="Calibri"/>
                <a:cs typeface="Calibri"/>
                <a:sym typeface="Calibri"/>
              </a:rPr>
              <a:t>Wouldn’t this be fantastic? Of course! Because this would increase our understanding of the manuscript, its scribes, history and music. </a:t>
            </a:r>
            <a:endParaRPr/>
          </a:p>
          <a:p>
            <a:pPr indent="0" lvl="0" marL="0" rtl="0" algn="l">
              <a:lnSpc>
                <a:spcPct val="107000"/>
              </a:lnSpc>
              <a:spcBef>
                <a:spcPts val="800"/>
              </a:spcBef>
              <a:spcAft>
                <a:spcPts val="0"/>
              </a:spcAft>
              <a:buNone/>
            </a:pPr>
            <a:r>
              <a:t/>
            </a:r>
            <a:endParaRPr sz="1800">
              <a:latin typeface="Calibri"/>
              <a:ea typeface="Calibri"/>
              <a:cs typeface="Calibri"/>
              <a:sym typeface="Calibri"/>
            </a:endParaRPr>
          </a:p>
          <a:p>
            <a:pPr indent="0" lvl="0" marL="0" rtl="0" algn="l">
              <a:lnSpc>
                <a:spcPct val="107000"/>
              </a:lnSpc>
              <a:spcBef>
                <a:spcPts val="800"/>
              </a:spcBef>
              <a:spcAft>
                <a:spcPts val="0"/>
              </a:spcAft>
              <a:buNone/>
            </a:pPr>
            <a:r>
              <a:rPr lang="en-CA" sz="1800">
                <a:latin typeface="Calibri"/>
                <a:ea typeface="Calibri"/>
                <a:cs typeface="Calibri"/>
                <a:sym typeface="Calibri"/>
              </a:rPr>
              <a:t>Alas, today we are not able to perform this kind of analysis simultaneously across a number of manuscripts </a:t>
            </a:r>
            <a:r>
              <a:rPr b="1" lang="en-CA" sz="1800">
                <a:latin typeface="Calibri"/>
                <a:ea typeface="Calibri"/>
                <a:cs typeface="Calibri"/>
                <a:sym typeface="Calibri"/>
              </a:rPr>
              <a:t>but the technology that lies behind this kind of search already exists. </a:t>
            </a:r>
            <a:endParaRPr/>
          </a:p>
          <a:p>
            <a:pPr indent="0" lvl="0" marL="0" rtl="0" algn="l">
              <a:lnSpc>
                <a:spcPct val="107000"/>
              </a:lnSpc>
              <a:spcBef>
                <a:spcPts val="800"/>
              </a:spcBef>
              <a:spcAft>
                <a:spcPts val="0"/>
              </a:spcAft>
              <a:buNone/>
            </a:pPr>
            <a:r>
              <a:t/>
            </a:r>
            <a:endParaRPr b="1" sz="1800">
              <a:latin typeface="Calibri"/>
              <a:ea typeface="Calibri"/>
              <a:cs typeface="Calibri"/>
              <a:sym typeface="Calibri"/>
            </a:endParaRPr>
          </a:p>
          <a:p>
            <a:pPr indent="0" lvl="0" marL="0" rtl="0" algn="l">
              <a:lnSpc>
                <a:spcPct val="107000"/>
              </a:lnSpc>
              <a:spcBef>
                <a:spcPts val="800"/>
              </a:spcBef>
              <a:spcAft>
                <a:spcPts val="0"/>
              </a:spcAft>
              <a:buNone/>
            </a:pPr>
            <a:r>
              <a:rPr lang="en-CA" sz="1800">
                <a:latin typeface="Calibri"/>
                <a:ea typeface="Calibri"/>
                <a:cs typeface="Calibri"/>
                <a:sym typeface="Calibri"/>
              </a:rPr>
              <a:t>Optical Music Recognition (OMR) and music encoding are the two main keys that will enable searching for a neume shape in a manuscript in the blink of an eye.</a:t>
            </a:r>
            <a:endParaRPr sz="1800">
              <a:latin typeface="Calibri"/>
              <a:ea typeface="Calibri"/>
              <a:cs typeface="Calibri"/>
              <a:sym typeface="Calibri"/>
            </a:endParaRPr>
          </a:p>
        </p:txBody>
      </p:sp>
      <p:sp>
        <p:nvSpPr>
          <p:cNvPr id="119" name="Google Shape;11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a:latin typeface="Garamond"/>
              <a:ea typeface="Garamond"/>
              <a:cs typeface="Garamond"/>
              <a:sym typeface="Garamond"/>
            </a:endParaRPr>
          </a:p>
          <a:p>
            <a:pPr indent="0" lvl="0" marL="0" marR="0" rtl="0" algn="l">
              <a:lnSpc>
                <a:spcPct val="100000"/>
              </a:lnSpc>
              <a:spcBef>
                <a:spcPts val="0"/>
              </a:spcBef>
              <a:spcAft>
                <a:spcPts val="0"/>
              </a:spcAft>
              <a:buClr>
                <a:schemeClr val="dk1"/>
              </a:buClr>
              <a:buSzPts val="1200"/>
              <a:buFont typeface="Calibri"/>
              <a:buNone/>
            </a:pPr>
            <a:r>
              <a:t/>
            </a:r>
            <a:endParaRPr/>
          </a:p>
        </p:txBody>
      </p:sp>
      <p:sp>
        <p:nvSpPr>
          <p:cNvPr id="130" name="Google Shape;1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sp>
        <p:nvSpPr>
          <p:cNvPr id="147" name="Google Shape;1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0" lang="en-CA"/>
              <a:t>it is the combination of </a:t>
            </a:r>
            <a:r>
              <a:rPr lang="en-CA"/>
              <a:t>OMR and MEI that allows the kind of “quilisma” search I presented a moment ago.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While OMR recognizes the symbols on the page, MEI provides information on the </a:t>
            </a:r>
            <a:r>
              <a:rPr i="1" lang="en-CA"/>
              <a:t>meaning</a:t>
            </a:r>
            <a:r>
              <a:rPr i="0" lang="en-CA"/>
              <a:t> of the musical symbols. </a:t>
            </a:r>
            <a:endParaRPr/>
          </a:p>
          <a:p>
            <a:pPr indent="0" lvl="0" marL="0" rtl="0" algn="l">
              <a:spcBef>
                <a:spcPts val="0"/>
              </a:spcBef>
              <a:spcAft>
                <a:spcPts val="0"/>
              </a:spcAft>
              <a:buNone/>
            </a:pPr>
            <a:r>
              <a:rPr lang="en-CA" sz="1200">
                <a:latin typeface="Times New Roman"/>
                <a:ea typeface="Times New Roman"/>
                <a:cs typeface="Times New Roman"/>
                <a:sym typeface="Times New Roman"/>
              </a:rPr>
              <a:t>MEI focuses on both the actual music (notation and related text and symbols) and the metadata, that is, the information about the music document. </a:t>
            </a:r>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200"/>
              <a:buFont typeface="Times New Roman"/>
              <a:buNone/>
            </a:pPr>
            <a:r>
              <a:rPr lang="en-CA" sz="1200">
                <a:latin typeface="Times New Roman"/>
                <a:ea typeface="Times New Roman"/>
                <a:cs typeface="Times New Roman"/>
                <a:sym typeface="Times New Roman"/>
              </a:rPr>
              <a:t>Encoding a music document in a machine-readable structure has applications in libraries and archives since it ensures the preservation of, and long-term access, to music documents. </a:t>
            </a:r>
            <a:endParaRPr/>
          </a:p>
          <a:p>
            <a:pPr indent="0" lvl="0" marL="0" marR="0" rtl="0" algn="l">
              <a:lnSpc>
                <a:spcPct val="100000"/>
              </a:lnSpc>
              <a:spcBef>
                <a:spcPts val="0"/>
              </a:spcBef>
              <a:spcAft>
                <a:spcPts val="0"/>
              </a:spcAft>
              <a:buClr>
                <a:schemeClr val="dk1"/>
              </a:buClr>
              <a:buSzPts val="1200"/>
              <a:buFont typeface="Calibri"/>
              <a:buNone/>
            </a:pPr>
            <a:r>
              <a:t/>
            </a:r>
            <a:endParaRPr i="0"/>
          </a:p>
          <a:p>
            <a:pPr indent="0" lvl="0" marL="0" rtl="0" algn="l">
              <a:spcBef>
                <a:spcPts val="0"/>
              </a:spcBef>
              <a:spcAft>
                <a:spcPts val="0"/>
              </a:spcAft>
              <a:buNone/>
            </a:pPr>
            <a:r>
              <a:t/>
            </a:r>
            <a:endParaRPr/>
          </a:p>
        </p:txBody>
      </p:sp>
      <p:sp>
        <p:nvSpPr>
          <p:cNvPr id="156" name="Google Shape;15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a:latin typeface="Times New Roman"/>
                <a:ea typeface="Times New Roman"/>
                <a:cs typeface="Times New Roman"/>
                <a:sym typeface="Times New Roman"/>
              </a:rPr>
              <a:t>The length of the pen-stroke</a:t>
            </a:r>
            <a:endParaRPr/>
          </a:p>
          <a:p>
            <a:pPr indent="0" lvl="0" marL="0" rtl="0" algn="l">
              <a:spcBef>
                <a:spcPts val="0"/>
              </a:spcBef>
              <a:spcAft>
                <a:spcPts val="0"/>
              </a:spcAft>
              <a:buNone/>
            </a:pPr>
            <a:r>
              <a:rPr lang="en-CA">
                <a:latin typeface="Times New Roman"/>
                <a:ea typeface="Times New Roman"/>
                <a:cs typeface="Times New Roman"/>
                <a:sym typeface="Times New Roman"/>
              </a:rPr>
              <a:t>can have an effect upon two things: </a:t>
            </a:r>
            <a:r>
              <a:rPr b="1" lang="en-CA" sz="1200">
                <a:solidFill>
                  <a:srgbClr val="000000"/>
                </a:solidFill>
                <a:latin typeface="Times New Roman"/>
                <a:ea typeface="Times New Roman"/>
                <a:cs typeface="Times New Roman"/>
                <a:sym typeface="Times New Roman"/>
              </a:rPr>
              <a:t>Size and Proportions</a:t>
            </a:r>
            <a:endParaRPr/>
          </a:p>
          <a:p>
            <a:pPr indent="0" lvl="0" marL="0" rtl="0" algn="l">
              <a:spcBef>
                <a:spcPts val="0"/>
              </a:spcBef>
              <a:spcAft>
                <a:spcPts val="0"/>
              </a:spcAft>
              <a:buNone/>
            </a:pPr>
            <a:r>
              <a:t/>
            </a:r>
            <a:endParaRPr b="1" sz="1200">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rPr b="1" lang="en-CA" sz="1200">
                <a:solidFill>
                  <a:srgbClr val="000000"/>
                </a:solidFill>
                <a:latin typeface="Times New Roman"/>
                <a:ea typeface="Times New Roman"/>
                <a:cs typeface="Times New Roman"/>
                <a:sym typeface="Times New Roman"/>
              </a:rPr>
              <a:t>Size: </a:t>
            </a:r>
            <a:r>
              <a:rPr b="0" lang="en-CA" sz="1200">
                <a:solidFill>
                  <a:srgbClr val="000000"/>
                </a:solidFill>
                <a:latin typeface="Times New Roman"/>
                <a:ea typeface="Times New Roman"/>
                <a:cs typeface="Times New Roman"/>
                <a:sym typeface="Times New Roman"/>
              </a:rPr>
              <a:t>overall area occupied by the neume on the page</a:t>
            </a:r>
            <a:endParaRPr b="1" sz="1200">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rPr b="1" lang="en-CA" sz="1200">
                <a:solidFill>
                  <a:srgbClr val="000000"/>
                </a:solidFill>
                <a:latin typeface="Times New Roman"/>
                <a:ea typeface="Times New Roman"/>
                <a:cs typeface="Times New Roman"/>
                <a:sym typeface="Times New Roman"/>
              </a:rPr>
              <a:t>Proportion: </a:t>
            </a:r>
            <a:r>
              <a:rPr lang="en-CA" sz="1200">
                <a:latin typeface="Times New Roman"/>
                <a:ea typeface="Times New Roman"/>
                <a:cs typeface="Times New Roman"/>
                <a:sym typeface="Times New Roman"/>
              </a:rPr>
              <a:t>is the relative length of each neumatic component</a:t>
            </a:r>
            <a:endParaRPr/>
          </a:p>
          <a:p>
            <a:pPr indent="0" lvl="0" marL="0" rtl="0" algn="l">
              <a:spcBef>
                <a:spcPts val="0"/>
              </a:spcBef>
              <a:spcAft>
                <a:spcPts val="0"/>
              </a:spcAft>
              <a:buNone/>
            </a:pPr>
            <a:r>
              <a:t/>
            </a:r>
            <a:endParaRPr b="1"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b="1" lang="en-CA" sz="1200">
                <a:solidFill>
                  <a:srgbClr val="000000"/>
                </a:solidFill>
                <a:latin typeface="Times New Roman"/>
                <a:ea typeface="Times New Roman"/>
                <a:cs typeface="Times New Roman"/>
                <a:sym typeface="Times New Roman"/>
              </a:rPr>
              <a:t>We can see two neumes with the same proportions but different size </a:t>
            </a:r>
            <a:endParaRPr/>
          </a:p>
        </p:txBody>
      </p:sp>
      <p:sp>
        <p:nvSpPr>
          <p:cNvPr id="185" name="Google Shape;18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Bounding boxes are in the MEI file, they come from the OMR process</a:t>
            </a:r>
            <a:endParaRPr/>
          </a:p>
        </p:txBody>
      </p:sp>
      <p:sp>
        <p:nvSpPr>
          <p:cNvPr id="195" name="Google Shape;1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85623"/>
              </a:buClr>
              <a:buSzPts val="1200"/>
              <a:buFont typeface="Times New Roman"/>
              <a:buNone/>
            </a:pPr>
            <a:r>
              <a:rPr i="1" lang="en-CA" sz="1200">
                <a:solidFill>
                  <a:srgbClr val="385623"/>
                </a:solidFill>
                <a:latin typeface="Times New Roman"/>
                <a:ea typeface="Times New Roman"/>
                <a:cs typeface="Times New Roman"/>
                <a:sym typeface="Times New Roman"/>
              </a:rPr>
              <a:t>@rel_len {s | l} (shorter, longer) (the relative length of the pen stroke to the previous &lt;nc&gt;; this is optional and to be used only if necessary; it should not be used for the first &lt;nc&gt; within a &lt;neume&gt;)</a:t>
            </a:r>
            <a:endParaRPr/>
          </a:p>
          <a:p>
            <a:pPr indent="0" lvl="0" marL="0" rtl="0" algn="l">
              <a:spcBef>
                <a:spcPts val="0"/>
              </a:spcBef>
              <a:spcAft>
                <a:spcPts val="0"/>
              </a:spcAft>
              <a:buNone/>
            </a:pPr>
            <a:r>
              <a:t/>
            </a:r>
            <a:endParaRPr/>
          </a:p>
        </p:txBody>
      </p:sp>
      <p:sp>
        <p:nvSpPr>
          <p:cNvPr id="203" name="Google Shape;20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a:t>MARTHA TAKES OVER</a:t>
            </a:r>
            <a:endParaRPr b="1"/>
          </a:p>
        </p:txBody>
      </p:sp>
      <p:sp>
        <p:nvSpPr>
          <p:cNvPr id="234" name="Google Shape;23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"parent - children" relationship</a:t>
            </a:r>
            <a:endParaRPr/>
          </a:p>
          <a:p>
            <a:pPr indent="0" lvl="0" marL="0" rtl="0" algn="l">
              <a:spcBef>
                <a:spcPts val="0"/>
              </a:spcBef>
              <a:spcAft>
                <a:spcPts val="0"/>
              </a:spcAft>
              <a:buClr>
                <a:schemeClr val="dk1"/>
              </a:buClr>
              <a:buSzPts val="1200"/>
              <a:buFont typeface="Calibri"/>
              <a:buNone/>
            </a:pPr>
            <a:r>
              <a:rPr lang="en-CA"/>
              <a:t>- measure is the PARENT of these &lt;staff&gt; elements</a:t>
            </a:r>
            <a:endParaRPr/>
          </a:p>
          <a:p>
            <a:pPr indent="0" lvl="0" marL="0" rtl="0" algn="l">
              <a:spcBef>
                <a:spcPts val="0"/>
              </a:spcBef>
              <a:spcAft>
                <a:spcPts val="0"/>
              </a:spcAft>
              <a:buClr>
                <a:schemeClr val="dk1"/>
              </a:buClr>
              <a:buSzPts val="1200"/>
              <a:buFont typeface="Calibri"/>
              <a:buNone/>
            </a:pPr>
            <a:r>
              <a:rPr lang="en-CA"/>
              <a:t>- or you could say: &lt;staff&gt; elements are CHILDREN of the &lt;measure&gt; element</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rPr lang="en-CA"/>
              <a:t>You also have "sibling" relationship</a:t>
            </a:r>
            <a:endParaRPr/>
          </a:p>
          <a:p>
            <a:pPr indent="0" lvl="0" marL="0" rtl="0" algn="l">
              <a:spcBef>
                <a:spcPts val="0"/>
              </a:spcBef>
              <a:spcAft>
                <a:spcPts val="0"/>
              </a:spcAft>
              <a:buClr>
                <a:schemeClr val="dk1"/>
              </a:buClr>
              <a:buSzPts val="1200"/>
              <a:buFont typeface="Calibri"/>
              <a:buNone/>
            </a:pPr>
            <a:r>
              <a:rPr lang="en-CA"/>
              <a:t>- Those three &lt;staff&gt; elements</a:t>
            </a:r>
            <a:endParaRPr/>
          </a:p>
          <a:p>
            <a:pPr indent="0" lvl="0" marL="0" rtl="0" algn="l">
              <a:spcBef>
                <a:spcPts val="0"/>
              </a:spcBef>
              <a:spcAft>
                <a:spcPts val="0"/>
              </a:spcAft>
              <a:buClr>
                <a:schemeClr val="dk1"/>
              </a:buClr>
              <a:buSzPts val="1200"/>
              <a:buFont typeface="Calibri"/>
              <a:buNone/>
            </a:pPr>
            <a:r>
              <a:rPr lang="en-CA"/>
              <a:t>- siblings</a:t>
            </a:r>
            <a:endParaRPr/>
          </a:p>
          <a:p>
            <a:pPr indent="0" lvl="0" marL="0" rtl="0" algn="l">
              <a:spcBef>
                <a:spcPts val="0"/>
              </a:spcBef>
              <a:spcAft>
                <a:spcPts val="0"/>
              </a:spcAft>
              <a:buClr>
                <a:schemeClr val="dk1"/>
              </a:buClr>
              <a:buSzPts val="1200"/>
              <a:buFont typeface="Calibri"/>
              <a:buNone/>
            </a:pPr>
            <a:r>
              <a:rPr lang="en-CA"/>
              <a:t>- they are at the same hierarchy level</a:t>
            </a:r>
            <a:endParaRPr/>
          </a:p>
        </p:txBody>
      </p:sp>
      <p:sp>
        <p:nvSpPr>
          <p:cNvPr id="242" name="Google Shape;242;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CA"/>
              <a:t>In MEI, as in any XML structure, you ALWAYS have a "root element"</a:t>
            </a:r>
            <a:endParaRPr/>
          </a:p>
          <a:p>
            <a:pPr indent="-171450" lvl="0" marL="171450" rtl="0" algn="l">
              <a:spcBef>
                <a:spcPts val="0"/>
              </a:spcBef>
              <a:spcAft>
                <a:spcPts val="0"/>
              </a:spcAft>
              <a:buClr>
                <a:schemeClr val="dk1"/>
              </a:buClr>
              <a:buSzPts val="1200"/>
              <a:buFont typeface="Arial"/>
              <a:buChar char="•"/>
            </a:pPr>
            <a:r>
              <a:rPr lang="en-CA"/>
              <a:t>So, an element that contains all other elements</a:t>
            </a:r>
            <a:endParaRPr/>
          </a:p>
          <a:p>
            <a:pPr indent="-171450" lvl="0" marL="171450" rtl="0" algn="l">
              <a:spcBef>
                <a:spcPts val="0"/>
              </a:spcBef>
              <a:spcAft>
                <a:spcPts val="0"/>
              </a:spcAft>
              <a:buClr>
                <a:schemeClr val="dk1"/>
              </a:buClr>
              <a:buSzPts val="1200"/>
              <a:buFont typeface="Arial"/>
              <a:buChar char="•"/>
            </a:pPr>
            <a:r>
              <a:rPr lang="en-CA"/>
              <a:t>The root element for MEI is this tag called "&lt;mei&gt;"</a:t>
            </a:r>
            <a:endParaRPr/>
          </a:p>
          <a:p>
            <a:pPr indent="-171450" lvl="0" marL="171450" rtl="0" algn="l">
              <a:spcBef>
                <a:spcPts val="0"/>
              </a:spcBef>
              <a:spcAft>
                <a:spcPts val="0"/>
              </a:spcAft>
              <a:buClr>
                <a:schemeClr val="dk1"/>
              </a:buClr>
              <a:buSzPts val="1200"/>
              <a:buFont typeface="Arial"/>
              <a:buChar char="•"/>
            </a:pPr>
            <a:r>
              <a:rPr lang="en-CA"/>
              <a:t>This root &lt;mei&gt; element has TWO children</a:t>
            </a:r>
            <a:endParaRPr/>
          </a:p>
          <a:p>
            <a:pPr indent="-171450" lvl="0" marL="171450" rtl="0" algn="l">
              <a:spcBef>
                <a:spcPts val="0"/>
              </a:spcBef>
              <a:spcAft>
                <a:spcPts val="0"/>
              </a:spcAft>
              <a:buClr>
                <a:schemeClr val="dk1"/>
              </a:buClr>
              <a:buSzPts val="1200"/>
              <a:buFont typeface="Arial"/>
              <a:buChar char="•"/>
            </a:pPr>
            <a:r>
              <a:rPr lang="en-CA"/>
              <a:t>&lt;meiHead&gt; &amp; &lt;music&gt;</a:t>
            </a:r>
            <a:endParaRPr/>
          </a:p>
        </p:txBody>
      </p:sp>
      <p:sp>
        <p:nvSpPr>
          <p:cNvPr id="285" name="Google Shape;28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CA"/>
              <a:t>In MEI, as in any XML structure, you ALWAYS have a "root element"</a:t>
            </a:r>
            <a:endParaRPr/>
          </a:p>
          <a:p>
            <a:pPr indent="-171450" lvl="0" marL="171450" rtl="0" algn="l">
              <a:spcBef>
                <a:spcPts val="0"/>
              </a:spcBef>
              <a:spcAft>
                <a:spcPts val="0"/>
              </a:spcAft>
              <a:buClr>
                <a:schemeClr val="dk1"/>
              </a:buClr>
              <a:buSzPts val="1200"/>
              <a:buFont typeface="Arial"/>
              <a:buChar char="•"/>
            </a:pPr>
            <a:r>
              <a:rPr lang="en-CA"/>
              <a:t>So, an element that contains all other elements</a:t>
            </a:r>
            <a:endParaRPr/>
          </a:p>
          <a:p>
            <a:pPr indent="-171450" lvl="0" marL="171450" rtl="0" algn="l">
              <a:spcBef>
                <a:spcPts val="0"/>
              </a:spcBef>
              <a:spcAft>
                <a:spcPts val="0"/>
              </a:spcAft>
              <a:buClr>
                <a:schemeClr val="dk1"/>
              </a:buClr>
              <a:buSzPts val="1200"/>
              <a:buFont typeface="Arial"/>
              <a:buChar char="•"/>
            </a:pPr>
            <a:r>
              <a:rPr lang="en-CA"/>
              <a:t>The root element for MEI is this tag called "&lt;mei&gt;"</a:t>
            </a:r>
            <a:endParaRPr/>
          </a:p>
          <a:p>
            <a:pPr indent="-171450" lvl="0" marL="171450" rtl="0" algn="l">
              <a:spcBef>
                <a:spcPts val="0"/>
              </a:spcBef>
              <a:spcAft>
                <a:spcPts val="0"/>
              </a:spcAft>
              <a:buClr>
                <a:schemeClr val="dk1"/>
              </a:buClr>
              <a:buSzPts val="1200"/>
              <a:buFont typeface="Arial"/>
              <a:buChar char="•"/>
            </a:pPr>
            <a:r>
              <a:rPr lang="en-CA"/>
              <a:t>This root &lt;mei&gt; element has TWO children</a:t>
            </a:r>
            <a:endParaRPr/>
          </a:p>
          <a:p>
            <a:pPr indent="-171450" lvl="0" marL="171450" rtl="0" algn="l">
              <a:spcBef>
                <a:spcPts val="0"/>
              </a:spcBef>
              <a:spcAft>
                <a:spcPts val="0"/>
              </a:spcAft>
              <a:buClr>
                <a:schemeClr val="dk1"/>
              </a:buClr>
              <a:buSzPts val="1200"/>
              <a:buFont typeface="Arial"/>
              <a:buChar char="•"/>
            </a:pPr>
            <a:r>
              <a:rPr lang="en-CA"/>
              <a:t>&lt;meiHead&gt; &amp; &lt;music&gt;</a:t>
            </a:r>
            <a:endParaRPr/>
          </a:p>
        </p:txBody>
      </p:sp>
      <p:sp>
        <p:nvSpPr>
          <p:cNvPr id="299" name="Google Shape;29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This is the bare minimum structure for &lt;meiHead&gt;</a:t>
            </a:r>
            <a:endParaRPr/>
          </a:p>
          <a:p>
            <a:pPr indent="0" lvl="0" marL="0" rtl="0" algn="l">
              <a:spcBef>
                <a:spcPts val="0"/>
              </a:spcBef>
              <a:spcAft>
                <a:spcPts val="0"/>
              </a:spcAft>
              <a:buNone/>
            </a:pPr>
            <a:r>
              <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THIS, FROM BEGINNING TO END:</a:t>
            </a:r>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the &lt;mei&gt; root element with the &lt;meiHead&gt; and the &lt;music&gt; element as children, and with this bare minimum structure within &lt;meiHead&gt;</a:t>
            </a:r>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IS THE MINIMAL / THE MOST BASIC STRUCTURE YOU NEED FOR AN MEI FILE.</a:t>
            </a:r>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AND THEN YOU CAN BUILD UPON THIS BASIC STRUCTURE TO ENCODE MORE DETAILS. BUT THIS IS THE MINIMUM YOU NEED.</a:t>
            </a:r>
            <a:endParaRPr/>
          </a:p>
          <a:p>
            <a:pPr indent="0" lvl="0" marL="0" rtl="0" algn="l">
              <a:spcBef>
                <a:spcPts val="0"/>
              </a:spcBef>
              <a:spcAft>
                <a:spcPts val="0"/>
              </a:spcAft>
              <a:buNone/>
            </a:pPr>
            <a:r>
              <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[CLICK!] [TUTORIAL]</a:t>
            </a:r>
            <a:endParaRPr/>
          </a:p>
          <a:p>
            <a:pPr indent="0" lvl="0" marL="0" rtl="0" algn="l">
              <a:spcBef>
                <a:spcPts val="0"/>
              </a:spcBef>
              <a:spcAft>
                <a:spcPts val="0"/>
              </a:spcAft>
              <a:buNone/>
            </a:pPr>
            <a:r>
              <a:rPr b="0" i="0" lang="en-CA" sz="1200" u="none" strike="noStrike">
                <a:solidFill>
                  <a:schemeClr val="dk1"/>
                </a:solidFill>
                <a:latin typeface="Calibri"/>
                <a:ea typeface="Calibri"/>
                <a:cs typeface="Calibri"/>
                <a:sym typeface="Calibri"/>
              </a:rPr>
              <a:t>It will guide you step-by-step on building this minimal MEI file structure</a:t>
            </a:r>
            <a:endParaRPr/>
          </a:p>
          <a:p>
            <a:pPr indent="0" lvl="0" marL="0" rtl="0" algn="l">
              <a:spcBef>
                <a:spcPts val="0"/>
              </a:spcBef>
              <a:spcAft>
                <a:spcPts val="0"/>
              </a:spcAft>
              <a:buNone/>
            </a:pPr>
            <a:r>
              <a:rPr b="0" i="0" lang="en-CA" sz="1200" u="none" strike="noStrike">
                <a:solidFill>
                  <a:schemeClr val="dk1"/>
                </a:solidFill>
                <a:latin typeface="Calibri"/>
                <a:ea typeface="Calibri"/>
                <a:cs typeface="Calibri"/>
                <a:sym typeface="Calibri"/>
              </a:rPr>
              <a:t>And it will give you the description of each of these elements</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[AFTER]</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This (with XMLNS [click!]) is the outermost basic structure …</a:t>
            </a:r>
            <a:endParaRPr/>
          </a:p>
          <a:p>
            <a:pPr indent="0" lvl="0" marL="0" marR="0" rtl="0" algn="l">
              <a:lnSpc>
                <a:spcPct val="100000"/>
              </a:lnSpc>
              <a:spcBef>
                <a:spcPts val="0"/>
              </a:spcBef>
              <a:spcAft>
                <a:spcPts val="0"/>
              </a:spcAft>
              <a:buClr>
                <a:schemeClr val="dk1"/>
              </a:buClr>
              <a:buSzPts val="1200"/>
              <a:buFont typeface="Calibri"/>
              <a:buNone/>
            </a:pPr>
            <a:r>
              <a:t/>
            </a:r>
            <a:endParaRPr b="1" i="0" sz="1200" u="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1" i="0" lang="en-CA" sz="1200" u="none" strike="noStrike">
                <a:solidFill>
                  <a:schemeClr val="dk1"/>
                </a:solidFill>
                <a:latin typeface="Calibri"/>
                <a:ea typeface="Calibri"/>
                <a:cs typeface="Calibri"/>
                <a:sym typeface="Calibri"/>
              </a:rPr>
              <a:t>[AFTER 2]</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You want more than a basic structure</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You want to encode music</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And as of now we have seen the basic elements in &lt;meiHead&gt;</a:t>
            </a:r>
            <a:endParaRPr/>
          </a:p>
          <a:p>
            <a:pPr indent="0" lvl="0" marL="0" rtl="0" algn="l">
              <a:spcBef>
                <a:spcPts val="0"/>
              </a:spcBef>
              <a:spcAft>
                <a:spcPts val="0"/>
              </a:spcAft>
              <a:buNone/>
            </a:pPr>
            <a:r>
              <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[In Tutorial – 1</a:t>
            </a:r>
            <a:r>
              <a:rPr b="1" baseline="30000" i="0" lang="en-CA" sz="1200" u="none" strike="noStrike">
                <a:solidFill>
                  <a:schemeClr val="dk1"/>
                </a:solidFill>
                <a:latin typeface="Calibri"/>
                <a:ea typeface="Calibri"/>
                <a:cs typeface="Calibri"/>
                <a:sym typeface="Calibri"/>
              </a:rPr>
              <a:t>st</a:t>
            </a:r>
            <a:r>
              <a:rPr b="1" i="0" lang="en-CA" sz="1200" u="none" strike="noStrike">
                <a:solidFill>
                  <a:schemeClr val="dk1"/>
                </a:solidFill>
                <a:latin typeface="Calibri"/>
                <a:ea typeface="Calibri"/>
                <a:cs typeface="Calibri"/>
                <a:sym typeface="Calibri"/>
              </a:rPr>
              <a:t>]</a:t>
            </a:r>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“File Description” element:</a:t>
            </a:r>
            <a:endParaRPr/>
          </a:p>
          <a:p>
            <a:pPr indent="-171450" lvl="0" marL="171450" marR="0" rtl="0" algn="l">
              <a:lnSpc>
                <a:spcPct val="100000"/>
              </a:lnSpc>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direct child element of </a:t>
            </a:r>
            <a:r>
              <a:rPr lang="en-CA"/>
              <a:t>&lt;meiHead&gt;</a:t>
            </a:r>
            <a:r>
              <a:rPr b="0" i="0" lang="en-CA" sz="1200" u="none" strike="noStrike">
                <a:solidFill>
                  <a:schemeClr val="dk1"/>
                </a:solidFill>
                <a:latin typeface="Calibri"/>
                <a:ea typeface="Calibri"/>
                <a:cs typeface="Calibri"/>
                <a:sym typeface="Calibri"/>
              </a:rPr>
              <a:t> </a:t>
            </a:r>
            <a:endParaRPr/>
          </a:p>
          <a:p>
            <a:pPr indent="-171450" lvl="0" marL="171450" marR="0" rtl="0" algn="l">
              <a:lnSpc>
                <a:spcPct val="100000"/>
              </a:lnSpc>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provides for a full bibliographic description of a MEI file</a:t>
            </a:r>
            <a:endParaRPr/>
          </a:p>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“Tittle Statement” element:</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A container element for title and responsibility meta-data (composer, arranger, etc.)</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The title of a bibliographic entity is given via its mandatory sub-element </a:t>
            </a:r>
            <a:r>
              <a:rPr lang="en-CA"/>
              <a:t>&lt;title&gt;</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CA"/>
              <a:t>“Publication Statement” element:</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A container element for information regarding the publication or distribution of a bibliographic item, including the publisher's name and address, the date of publication, and other relevant details</a:t>
            </a:r>
            <a:endParaRPr/>
          </a:p>
          <a:p>
            <a:pPr indent="0" lvl="0" marL="0" rtl="0" algn="l">
              <a:spcBef>
                <a:spcPts val="0"/>
              </a:spcBef>
              <a:spcAft>
                <a:spcPts val="0"/>
              </a:spcAft>
              <a:buClr>
                <a:schemeClr val="dk1"/>
              </a:buClr>
              <a:buSzPts val="1200"/>
              <a:buFont typeface="Arial"/>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1" i="0" lang="en-CA" sz="1200" u="none" strike="noStrike">
                <a:solidFill>
                  <a:schemeClr val="dk1"/>
                </a:solidFill>
                <a:latin typeface="Calibri"/>
                <a:ea typeface="Calibri"/>
                <a:cs typeface="Calibri"/>
                <a:sym typeface="Calibri"/>
              </a:rPr>
              <a:t>[In Tutorial – 2</a:t>
            </a:r>
            <a:r>
              <a:rPr b="1" baseline="30000" i="0" lang="en-CA" sz="1200" u="none" strike="noStrike">
                <a:solidFill>
                  <a:schemeClr val="dk1"/>
                </a:solidFill>
                <a:latin typeface="Calibri"/>
                <a:ea typeface="Calibri"/>
                <a:cs typeface="Calibri"/>
                <a:sym typeface="Calibri"/>
              </a:rPr>
              <a:t>nd</a:t>
            </a:r>
            <a:r>
              <a:rPr b="1" i="0" lang="en-CA" sz="1200" u="none" strike="noStrike">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CA" sz="1200" u="none" strike="noStrike">
                <a:solidFill>
                  <a:schemeClr val="dk1"/>
                </a:solidFill>
                <a:latin typeface="Calibri"/>
                <a:ea typeface="Calibri"/>
                <a:cs typeface="Calibri"/>
                <a:sym typeface="Calibri"/>
              </a:rPr>
              <a:t>What was missing?</a:t>
            </a:r>
            <a:endParaRPr/>
          </a:p>
          <a:p>
            <a:pPr indent="-171450" lvl="0" marL="171450" rtl="0" algn="l">
              <a:spcBef>
                <a:spcPts val="0"/>
              </a:spcBef>
              <a:spcAft>
                <a:spcPts val="0"/>
              </a:spcAft>
              <a:buClr>
                <a:schemeClr val="dk1"/>
              </a:buClr>
              <a:buSzPts val="1200"/>
              <a:buFont typeface="Noto Sans Symbols"/>
              <a:buChar char="🡪"/>
            </a:pPr>
            <a:r>
              <a:rPr b="0" i="0" lang="en-CA" sz="1200" u="none" strike="noStrike">
                <a:solidFill>
                  <a:schemeClr val="dk1"/>
                </a:solidFill>
                <a:latin typeface="Calibri"/>
                <a:ea typeface="Calibri"/>
                <a:cs typeface="Calibri"/>
                <a:sym typeface="Calibri"/>
              </a:rPr>
              <a:t>@xmlns</a:t>
            </a:r>
            <a:endParaRPr b="0" i="0" sz="1200" u="none" strike="noStrike">
              <a:solidFill>
                <a:schemeClr val="dk1"/>
              </a:solidFill>
              <a:latin typeface="Calibri"/>
              <a:ea typeface="Calibri"/>
              <a:cs typeface="Calibri"/>
              <a:sym typeface="Calibri"/>
            </a:endParaRPr>
          </a:p>
          <a:p>
            <a:pPr indent="-95250" lvl="0" marL="171450" rtl="0" algn="l">
              <a:spcBef>
                <a:spcPts val="0"/>
              </a:spcBef>
              <a:spcAft>
                <a:spcPts val="0"/>
              </a:spcAft>
              <a:buClr>
                <a:schemeClr val="dk1"/>
              </a:buClr>
              <a:buSzPts val="1200"/>
              <a:buFont typeface="Noto Sans Symbols"/>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Noto Sans Symbols"/>
              <a:buNone/>
            </a:pPr>
            <a:r>
              <a:rPr b="0" i="0" lang="en-CA" sz="1200" u="none" strike="noStrike">
                <a:solidFill>
                  <a:schemeClr val="dk1"/>
                </a:solidFill>
                <a:latin typeface="Calibri"/>
                <a:ea typeface="Calibri"/>
                <a:cs typeface="Calibri"/>
                <a:sym typeface="Calibri"/>
              </a:rPr>
              <a:t>What is it?</a:t>
            </a:r>
            <a:endParaRPr/>
          </a:p>
          <a:p>
            <a:pPr indent="-171450" lvl="0" marL="171450" rtl="0" algn="l">
              <a:spcBef>
                <a:spcPts val="0"/>
              </a:spcBef>
              <a:spcAft>
                <a:spcPts val="0"/>
              </a:spcAft>
              <a:buClr>
                <a:schemeClr val="dk1"/>
              </a:buClr>
              <a:buSzPts val="1200"/>
              <a:buFont typeface="Noto Sans Symbols"/>
              <a:buChar char="🡪"/>
            </a:pPr>
            <a:r>
              <a:rPr b="0" i="0" lang="en-CA" sz="1200" u="none" strike="noStrike">
                <a:solidFill>
                  <a:schemeClr val="dk1"/>
                </a:solidFill>
                <a:latin typeface="Calibri"/>
                <a:ea typeface="Calibri"/>
                <a:cs typeface="Calibri"/>
                <a:sym typeface="Calibri"/>
              </a:rPr>
              <a:t>Defined the name-space being used.</a:t>
            </a:r>
            <a:endParaRPr/>
          </a:p>
          <a:p>
            <a:pPr indent="-171450" lvl="0" marL="171450" rtl="0" algn="l">
              <a:spcBef>
                <a:spcPts val="0"/>
              </a:spcBef>
              <a:spcAft>
                <a:spcPts val="0"/>
              </a:spcAft>
              <a:buClr>
                <a:schemeClr val="dk1"/>
              </a:buClr>
              <a:buSzPts val="1200"/>
              <a:buFont typeface="Noto Sans Symbols"/>
              <a:buChar char="🡪"/>
            </a:pPr>
            <a:r>
              <a:rPr b="0" i="0" lang="en-CA" sz="1200" u="none" strike="noStrike">
                <a:solidFill>
                  <a:schemeClr val="dk1"/>
                </a:solidFill>
                <a:latin typeface="Calibri"/>
                <a:ea typeface="Calibri"/>
                <a:cs typeface="Calibri"/>
                <a:sym typeface="Calibri"/>
              </a:rPr>
              <a:t>Useful because…</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1" i="0" lang="en-CA" sz="1200" u="none" strike="noStrike">
                <a:solidFill>
                  <a:schemeClr val="dk1"/>
                </a:solidFill>
                <a:latin typeface="Calibri"/>
                <a:ea typeface="Calibri"/>
                <a:cs typeface="Calibri"/>
                <a:sym typeface="Calibri"/>
              </a:rPr>
              <a:t>[In Tutorial – 3</a:t>
            </a:r>
            <a:r>
              <a:rPr b="1" baseline="30000" i="0" lang="en-CA" sz="1200" u="none" strike="noStrike">
                <a:solidFill>
                  <a:schemeClr val="dk1"/>
                </a:solidFill>
                <a:latin typeface="Calibri"/>
                <a:ea typeface="Calibri"/>
                <a:cs typeface="Calibri"/>
                <a:sym typeface="Calibri"/>
              </a:rPr>
              <a:t>rd</a:t>
            </a:r>
            <a:r>
              <a:rPr b="1" i="0" lang="en-CA" sz="1200" u="none" strike="noStrike">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CA" sz="1200" u="none" strike="noStrike">
                <a:solidFill>
                  <a:schemeClr val="dk1"/>
                </a:solidFill>
                <a:latin typeface="Calibri"/>
                <a:ea typeface="Calibri"/>
                <a:cs typeface="Calibri"/>
                <a:sym typeface="Calibri"/>
              </a:rPr>
              <a:t>MEI-CONFORMANT: </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It conforms with the pre-established rules on how to encode an MEI file 🡪 this is, it conforms with the MEI schema</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Basic structure of a “VALID” MEI file</a:t>
            </a:r>
            <a:endParaRPr/>
          </a:p>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CA" sz="1200" u="none" strike="noStrike">
                <a:solidFill>
                  <a:schemeClr val="dk1"/>
                </a:solidFill>
                <a:latin typeface="Calibri"/>
                <a:ea typeface="Calibri"/>
                <a:cs typeface="Calibri"/>
                <a:sym typeface="Calibri"/>
              </a:rPr>
              <a:t>[In Tutorial – 4</a:t>
            </a:r>
            <a:r>
              <a:rPr b="1" baseline="30000" i="0" lang="en-CA" sz="1200" u="none" strike="noStrike">
                <a:solidFill>
                  <a:schemeClr val="dk1"/>
                </a:solidFill>
                <a:latin typeface="Calibri"/>
                <a:ea typeface="Calibri"/>
                <a:cs typeface="Calibri"/>
                <a:sym typeface="Calibri"/>
              </a:rPr>
              <a:t>th</a:t>
            </a:r>
            <a:r>
              <a:rPr b="1" i="0" lang="en-CA" sz="1200" u="none" strike="noStrike">
                <a:solidFill>
                  <a:schemeClr val="dk1"/>
                </a:solidFill>
                <a:latin typeface="Calibri"/>
                <a:ea typeface="Calibri"/>
                <a:cs typeface="Calibri"/>
                <a:sym typeface="Calibri"/>
              </a:rPr>
              <a:t> – LAST]</a:t>
            </a:r>
            <a:endParaRPr/>
          </a:p>
          <a:p>
            <a:pPr indent="0" lvl="0" marL="0" rtl="0" algn="l">
              <a:spcBef>
                <a:spcPts val="0"/>
              </a:spcBef>
              <a:spcAft>
                <a:spcPts val="0"/>
              </a:spcAft>
              <a:buNone/>
            </a:pPr>
            <a:r>
              <a:rPr b="0" i="0" lang="en-CA" sz="1200" u="none" strike="noStrike">
                <a:solidFill>
                  <a:schemeClr val="dk1"/>
                </a:solidFill>
                <a:latin typeface="Calibri"/>
                <a:ea typeface="Calibri"/>
                <a:cs typeface="Calibri"/>
                <a:sym typeface="Calibri"/>
              </a:rPr>
              <a:t>You have just written a valid MEI file and successfully finished this tutorial. You should be able now:</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to understand the basic principles of XML and how it is the basis for MEI</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to identify and to write the </a:t>
            </a:r>
            <a:r>
              <a:rPr b="1" i="0" lang="en-CA" sz="1200" u="none" strike="noStrike">
                <a:solidFill>
                  <a:schemeClr val="dk1"/>
                </a:solidFill>
                <a:latin typeface="Calibri"/>
                <a:ea typeface="Calibri"/>
                <a:cs typeface="Calibri"/>
                <a:sym typeface="Calibri"/>
              </a:rPr>
              <a:t>outermost basic structure of an MEI-conformant document </a:t>
            </a:r>
            <a:r>
              <a:rPr b="0" i="0" lang="en-CA" sz="1200" u="none" strike="noStrike">
                <a:solidFill>
                  <a:schemeClr val="dk1"/>
                </a:solidFill>
                <a:latin typeface="Calibri"/>
                <a:ea typeface="Calibri"/>
                <a:cs typeface="Calibri"/>
                <a:sym typeface="Calibri"/>
              </a:rPr>
              <a:t>including its title</a:t>
            </a:r>
            <a:endParaRPr/>
          </a:p>
          <a:p>
            <a:pPr indent="-171450" lvl="0" marL="171450" rtl="0" algn="l">
              <a:spcBef>
                <a:spcPts val="0"/>
              </a:spcBef>
              <a:spcAft>
                <a:spcPts val="0"/>
              </a:spcAft>
              <a:buClr>
                <a:schemeClr val="dk1"/>
              </a:buClr>
              <a:buSzPts val="1200"/>
              <a:buFont typeface="Arial"/>
              <a:buChar char="•"/>
            </a:pPr>
            <a:r>
              <a:rPr b="0" i="0" lang="en-CA" sz="1200" u="none" strike="noStrike">
                <a:solidFill>
                  <a:schemeClr val="dk1"/>
                </a:solidFill>
                <a:latin typeface="Calibri"/>
                <a:ea typeface="Calibri"/>
                <a:cs typeface="Calibri"/>
                <a:sym typeface="Calibri"/>
              </a:rPr>
              <a:t>to differentiate between two main sections of a MEI file responsible for metadata information (&lt;meiHead&gt;) or information about the musical content (&lt;music&gt;).</a:t>
            </a:r>
            <a:endParaRPr/>
          </a:p>
          <a:p>
            <a:pPr indent="0" lvl="0" marL="0" rtl="0" algn="l">
              <a:spcBef>
                <a:spcPts val="0"/>
              </a:spcBef>
              <a:spcAft>
                <a:spcPts val="0"/>
              </a:spcAft>
              <a:buNone/>
            </a:pPr>
            <a:r>
              <a:t/>
            </a:r>
            <a:endParaRPr b="1" i="0" sz="1200" u="none" strike="noStrike">
              <a:solidFill>
                <a:schemeClr val="dk1"/>
              </a:solidFill>
              <a:latin typeface="Calibri"/>
              <a:ea typeface="Calibri"/>
              <a:cs typeface="Calibri"/>
              <a:sym typeface="Calibri"/>
            </a:endParaRPr>
          </a:p>
        </p:txBody>
      </p:sp>
      <p:sp>
        <p:nvSpPr>
          <p:cNvPr id="310" name="Google Shape;31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CA"/>
              <a:t>In MEI, as in any XML structure, you ALWAYS have a "root element"</a:t>
            </a:r>
            <a:endParaRPr/>
          </a:p>
          <a:p>
            <a:pPr indent="-171450" lvl="0" marL="171450" rtl="0" algn="l">
              <a:spcBef>
                <a:spcPts val="0"/>
              </a:spcBef>
              <a:spcAft>
                <a:spcPts val="0"/>
              </a:spcAft>
              <a:buClr>
                <a:schemeClr val="dk1"/>
              </a:buClr>
              <a:buSzPts val="1200"/>
              <a:buFont typeface="Arial"/>
              <a:buChar char="•"/>
            </a:pPr>
            <a:r>
              <a:rPr lang="en-CA"/>
              <a:t>So, an element that contains all other elements</a:t>
            </a:r>
            <a:endParaRPr/>
          </a:p>
          <a:p>
            <a:pPr indent="-171450" lvl="0" marL="171450" rtl="0" algn="l">
              <a:spcBef>
                <a:spcPts val="0"/>
              </a:spcBef>
              <a:spcAft>
                <a:spcPts val="0"/>
              </a:spcAft>
              <a:buClr>
                <a:schemeClr val="dk1"/>
              </a:buClr>
              <a:buSzPts val="1200"/>
              <a:buFont typeface="Arial"/>
              <a:buChar char="•"/>
            </a:pPr>
            <a:r>
              <a:rPr lang="en-CA"/>
              <a:t>The root element for MEI is this tag called "&lt;mei&gt;"</a:t>
            </a:r>
            <a:endParaRPr/>
          </a:p>
          <a:p>
            <a:pPr indent="-171450" lvl="0" marL="171450" rtl="0" algn="l">
              <a:spcBef>
                <a:spcPts val="0"/>
              </a:spcBef>
              <a:spcAft>
                <a:spcPts val="0"/>
              </a:spcAft>
              <a:buClr>
                <a:schemeClr val="dk1"/>
              </a:buClr>
              <a:buSzPts val="1200"/>
              <a:buFont typeface="Arial"/>
              <a:buChar char="•"/>
            </a:pPr>
            <a:r>
              <a:rPr lang="en-CA"/>
              <a:t>This root &lt;mei&gt; element has TWO children</a:t>
            </a:r>
            <a:endParaRPr/>
          </a:p>
          <a:p>
            <a:pPr indent="-171450" lvl="0" marL="171450" rtl="0" algn="l">
              <a:spcBef>
                <a:spcPts val="0"/>
              </a:spcBef>
              <a:spcAft>
                <a:spcPts val="0"/>
              </a:spcAft>
              <a:buClr>
                <a:schemeClr val="dk1"/>
              </a:buClr>
              <a:buSzPts val="1200"/>
              <a:buFont typeface="Arial"/>
              <a:buChar char="•"/>
            </a:pPr>
            <a:r>
              <a:rPr lang="en-CA"/>
              <a:t>&lt;meiHead&gt; &amp; &lt;music&gt;</a:t>
            </a:r>
            <a:endParaRPr/>
          </a:p>
        </p:txBody>
      </p:sp>
      <p:sp>
        <p:nvSpPr>
          <p:cNvPr id="322" name="Google Shape;32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CA"/>
              <a:t>This is the basic structure of the music element</a:t>
            </a:r>
            <a:endParaRPr/>
          </a:p>
          <a:p>
            <a:pPr indent="-171450" lvl="0" marL="171450" rtl="0" algn="l">
              <a:spcBef>
                <a:spcPts val="0"/>
              </a:spcBef>
              <a:spcAft>
                <a:spcPts val="0"/>
              </a:spcAft>
              <a:buClr>
                <a:schemeClr val="dk1"/>
              </a:buClr>
              <a:buSzPts val="1200"/>
              <a:buFont typeface="Arial"/>
              <a:buChar char="•"/>
            </a:pPr>
            <a:r>
              <a:rPr lang="en-CA"/>
              <a:t>&lt;music&gt; will have a child &lt;body&gt; ...</a:t>
            </a:r>
            <a:endParaRPr/>
          </a:p>
          <a:p>
            <a:pPr indent="-171450" lvl="0" marL="171450" rtl="0" algn="l">
              <a:spcBef>
                <a:spcPts val="0"/>
              </a:spcBef>
              <a:spcAft>
                <a:spcPts val="0"/>
              </a:spcAft>
              <a:buClr>
                <a:schemeClr val="dk1"/>
              </a:buClr>
              <a:buSzPts val="1200"/>
              <a:buFont typeface="Arial"/>
              <a:buChar char="•"/>
            </a:pPr>
            <a:r>
              <a:rPr lang="en-CA"/>
              <a:t>Regardless of which piece of music you are encoding, you will always need to provide this structure ( you have to include all these elements )</a:t>
            </a:r>
            <a:endParaRPr/>
          </a:p>
          <a:p>
            <a:pPr indent="-171450" lvl="0" marL="171450" rtl="0" algn="l">
              <a:spcBef>
                <a:spcPts val="0"/>
              </a:spcBef>
              <a:spcAft>
                <a:spcPts val="0"/>
              </a:spcAft>
              <a:buClr>
                <a:schemeClr val="dk1"/>
              </a:buClr>
              <a:buSzPts val="1200"/>
              <a:buFont typeface="Arial"/>
              <a:buChar char="•"/>
            </a:pPr>
            <a:r>
              <a:rPr lang="en-CA"/>
              <a:t>So, this structure will be the same for all of you regardless of which piece you are entering</a:t>
            </a:r>
            <a:endParaRPr/>
          </a:p>
          <a:p>
            <a:pPr indent="-171450" lvl="0" marL="171450" rtl="0" algn="l">
              <a:spcBef>
                <a:spcPts val="0"/>
              </a:spcBef>
              <a:spcAft>
                <a:spcPts val="0"/>
              </a:spcAft>
              <a:buClr>
                <a:schemeClr val="dk1"/>
              </a:buClr>
              <a:buSzPts val="1200"/>
              <a:buFont typeface="Arial"/>
              <a:buChar char="•"/>
            </a:pPr>
            <a:r>
              <a:rPr lang="en-CA"/>
              <a:t>BUT the contents of [CLICK!] THESE two elements would vary depending on the music you are encoding.</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CA"/>
              <a:t>scoreDef 🡪 “metadata” but for the voices not for the whole work</a:t>
            </a:r>
            <a:endParaRPr/>
          </a:p>
          <a:p>
            <a:pPr indent="-171450" lvl="0" marL="171450" rtl="0" algn="l">
              <a:spcBef>
                <a:spcPts val="0"/>
              </a:spcBef>
              <a:spcAft>
                <a:spcPts val="0"/>
              </a:spcAft>
              <a:buClr>
                <a:schemeClr val="dk1"/>
              </a:buClr>
              <a:buSzPts val="1200"/>
              <a:buFont typeface="Arial"/>
              <a:buChar char="•"/>
            </a:pPr>
            <a:r>
              <a:rPr lang="en-CA"/>
              <a:t>Section 🡪 actual music content (notes)</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CA"/>
              <a:t>Let’s take a look at each of them individually</a:t>
            </a:r>
            <a:endParaRPr/>
          </a:p>
        </p:txBody>
      </p:sp>
      <p:sp>
        <p:nvSpPr>
          <p:cNvPr id="333" name="Google Shape;33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CA"/>
              <a:t>So let's start with &lt;scoreDef&gt;</a:t>
            </a:r>
            <a:endParaRPr/>
          </a:p>
        </p:txBody>
      </p:sp>
      <p:sp>
        <p:nvSpPr>
          <p:cNvPr id="354" name="Google Shape;35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CA"/>
              <a:t>MEANINGS!</a:t>
            </a:r>
            <a:endParaRPr/>
          </a:p>
          <a:p>
            <a:pPr indent="-228600" lvl="0" marL="228600" rtl="0" algn="l">
              <a:spcBef>
                <a:spcPts val="0"/>
              </a:spcBef>
              <a:spcAft>
                <a:spcPts val="0"/>
              </a:spcAft>
              <a:buClr>
                <a:schemeClr val="dk1"/>
              </a:buClr>
              <a:buSzPts val="1200"/>
              <a:buFont typeface="Calibri"/>
              <a:buAutoNum type="arabicPeriod"/>
            </a:pPr>
            <a:r>
              <a:rPr lang="en-CA"/>
              <a:t>(Structure, with names element names and names-expanded)</a:t>
            </a:r>
            <a:endParaRPr/>
          </a:p>
          <a:p>
            <a:pPr indent="-228600" lvl="0" marL="228600" rtl="0" algn="l">
              <a:spcBef>
                <a:spcPts val="0"/>
              </a:spcBef>
              <a:spcAft>
                <a:spcPts val="0"/>
              </a:spcAft>
              <a:buClr>
                <a:schemeClr val="dk1"/>
              </a:buClr>
              <a:buSzPts val="1200"/>
              <a:buFont typeface="Calibri"/>
              <a:buAutoNum type="arabicPeriod"/>
            </a:pPr>
            <a:r>
              <a:rPr lang="en-CA"/>
              <a:t>Brown box (&amp; go to example box)</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CA"/>
              <a:t>&lt;scoreDef&gt; </a:t>
            </a:r>
            <a:r>
              <a:rPr b="1" lang="en-CA"/>
              <a:t>MUST CONTAIN </a:t>
            </a:r>
            <a:r>
              <a:rPr lang="en-CA"/>
              <a:t>a &lt;staffGrp&gt;</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CA"/>
              <a:t>Magenta box (&amp; go to example cicles)</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CA"/>
              <a:t>The first occurrence of &lt;staffDef&gt; must indicate the number of staff lines via @lines</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CA"/>
              <a:t>Each &lt;staffDef&gt; must contain an @n attribute [ I will explain later its importance ]</a:t>
            </a:r>
            <a:endParaRPr/>
          </a:p>
        </p:txBody>
      </p:sp>
      <p:sp>
        <p:nvSpPr>
          <p:cNvPr id="370" name="Google Shape;37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CA"/>
              <a:t>The section element</a:t>
            </a:r>
            <a:endParaRPr/>
          </a:p>
        </p:txBody>
      </p:sp>
      <p:sp>
        <p:nvSpPr>
          <p:cNvPr id="399" name="Google Shape;39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Made up of &lt;measures&gt; which are then made up of [CLICK]</a:t>
            </a:r>
            <a:endParaRPr/>
          </a:p>
          <a:p>
            <a:pPr indent="0" lvl="0" marL="0" rtl="0" algn="l">
              <a:spcBef>
                <a:spcPts val="0"/>
              </a:spcBef>
              <a:spcAft>
                <a:spcPts val="0"/>
              </a:spcAft>
              <a:buNone/>
            </a:pPr>
            <a:r>
              <a:rPr lang="en-CA"/>
              <a:t>&lt;staffs&gt;</a:t>
            </a:r>
            <a:endParaRPr/>
          </a:p>
        </p:txBody>
      </p:sp>
      <p:sp>
        <p:nvSpPr>
          <p:cNvPr id="415" name="Google Shape;41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[After Click]  &lt;staffs!&gt;</a:t>
            </a:r>
            <a:endParaRPr/>
          </a:p>
          <a:p>
            <a:pPr indent="0" lvl="0" marL="0" rtl="0" algn="l">
              <a:spcBef>
                <a:spcPts val="0"/>
              </a:spcBef>
              <a:spcAft>
                <a:spcPts val="0"/>
              </a:spcAft>
              <a:buNone/>
            </a:pPr>
            <a:r>
              <a:t/>
            </a:r>
            <a:endParaRPr b="0"/>
          </a:p>
          <a:p>
            <a:pPr indent="0" lvl="0" marL="0" rtl="0" algn="l">
              <a:spcBef>
                <a:spcPts val="0"/>
              </a:spcBef>
              <a:spcAft>
                <a:spcPts val="0"/>
              </a:spcAft>
              <a:buNone/>
            </a:pPr>
            <a:r>
              <a:rPr b="0" lang="en-CA"/>
              <a:t>In each &lt;staff&gt; you HAVE TO HAVE a &lt;layer&gt; element 🡪 HERE IS WHERE THE NOTES GO!</a:t>
            </a:r>
            <a:endParaRPr/>
          </a:p>
          <a:p>
            <a:pPr indent="0" lvl="0" marL="0" rtl="0" algn="l">
              <a:spcBef>
                <a:spcPts val="0"/>
              </a:spcBef>
              <a:spcAft>
                <a:spcPts val="0"/>
              </a:spcAft>
              <a:buNone/>
            </a:pPr>
            <a:r>
              <a:t/>
            </a:r>
            <a:endParaRPr b="0"/>
          </a:p>
          <a:p>
            <a:pPr indent="0" lvl="0" marL="0" rtl="0" algn="l">
              <a:spcBef>
                <a:spcPts val="0"/>
              </a:spcBef>
              <a:spcAft>
                <a:spcPts val="0"/>
              </a:spcAft>
              <a:buNone/>
            </a:pPr>
            <a:r>
              <a:rPr b="0" lang="en-CA"/>
              <a:t>&lt;layer&gt; allows for having different layers (“voices”) in a single staff.</a:t>
            </a:r>
            <a:endParaRPr/>
          </a:p>
          <a:p>
            <a:pPr indent="0" lvl="0" marL="0" rtl="0" algn="l">
              <a:spcBef>
                <a:spcPts val="0"/>
              </a:spcBef>
              <a:spcAft>
                <a:spcPts val="0"/>
              </a:spcAft>
              <a:buNone/>
            </a:pPr>
            <a:r>
              <a:t/>
            </a:r>
            <a:endParaRPr b="0"/>
          </a:p>
          <a:p>
            <a:pPr indent="0" lvl="0" marL="0" rtl="0" algn="l">
              <a:spcBef>
                <a:spcPts val="0"/>
              </a:spcBef>
              <a:spcAft>
                <a:spcPts val="0"/>
              </a:spcAft>
              <a:buNone/>
            </a:pPr>
            <a:r>
              <a:rPr b="0" lang="en-CA"/>
              <a:t>So, FINALLY, lets see how to encode NOTES / RESTS! [ next! ] </a:t>
            </a:r>
            <a:endParaRPr b="1"/>
          </a:p>
        </p:txBody>
      </p:sp>
      <p:sp>
        <p:nvSpPr>
          <p:cNvPr id="425" name="Google Shape;42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a:t>[SHORT BREAK!]</a:t>
            </a:r>
            <a:endParaRPr/>
          </a:p>
        </p:txBody>
      </p:sp>
      <p:sp>
        <p:nvSpPr>
          <p:cNvPr id="441" name="Google Shape;44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a:t>[SHORT BREAK!]</a:t>
            </a:r>
            <a:endParaRPr/>
          </a:p>
        </p:txBody>
      </p:sp>
      <p:sp>
        <p:nvSpPr>
          <p:cNvPr id="452" name="Google Shape;45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common 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here (dotted rectangle) --&gt; where your files will look different depending on the music you are encoding</a:t>
            </a:r>
            <a:endParaRPr/>
          </a:p>
        </p:txBody>
      </p:sp>
      <p:sp>
        <p:nvSpPr>
          <p:cNvPr id="467" name="Google Shape;46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C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404040"/>
              </a:buClr>
              <a:buSzPts val="1200"/>
              <a:buFont typeface="Arial"/>
              <a:buNone/>
            </a:pPr>
            <a:r>
              <a:rPr b="0" i="0" lang="en-CA" u="none" strike="noStrike">
                <a:solidFill>
                  <a:srgbClr val="404040"/>
                </a:solidFill>
                <a:highlight>
                  <a:srgbClr val="FFFFFF"/>
                </a:highlight>
                <a:latin typeface="Arial"/>
                <a:ea typeface="Arial"/>
                <a:cs typeface="Arial"/>
                <a:sym typeface="Arial"/>
              </a:rPr>
              <a:t>The `syllable` element is used as the primary organizational element for neume notation within a `layer` element. Within `syllable`, the `syl` element defined in the `MEI.shared` module is used for encoding the textual content, while the `neume` and `nc` elements are used to encode the neumes themselves.</a:t>
            </a:r>
            <a:endParaRPr/>
          </a:p>
          <a:p>
            <a:pPr indent="0" lvl="0" marL="0" rtl="0" algn="l">
              <a:spcBef>
                <a:spcPts val="0"/>
              </a:spcBef>
              <a:spcAft>
                <a:spcPts val="0"/>
              </a:spcAft>
              <a:buClr>
                <a:schemeClr val="dk1"/>
              </a:buClr>
              <a:buSzPts val="1200"/>
              <a:buFont typeface="Calibri"/>
              <a:buNone/>
            </a:pPr>
            <a:r>
              <a:t/>
            </a:r>
            <a:endParaRPr/>
          </a:p>
        </p:txBody>
      </p:sp>
      <p:sp>
        <p:nvSpPr>
          <p:cNvPr id="505" name="Google Shape;50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04040"/>
              </a:buClr>
              <a:buSzPts val="1200"/>
              <a:buFont typeface="Arial"/>
              <a:buNone/>
            </a:pPr>
            <a:r>
              <a:rPr b="0" i="0" lang="en-CA" u="none" strike="noStrike">
                <a:solidFill>
                  <a:srgbClr val="404040"/>
                </a:solidFill>
                <a:highlight>
                  <a:srgbClr val="FFFFFF"/>
                </a:highlight>
                <a:latin typeface="Arial"/>
                <a:ea typeface="Arial"/>
                <a:cs typeface="Arial"/>
                <a:sym typeface="Arial"/>
              </a:rPr>
              <a:t>The `syllable` element is used as the primary organizational element for neume notation within a `layer` element. Within `syllable`, the `syl` is used for encoding the textual content, while the `neume` and `nc` elements are used to encode the neumes themselves.</a:t>
            </a:r>
            <a:endParaRPr/>
          </a:p>
          <a:p>
            <a:pPr indent="0" lvl="0" marL="0" rtl="0" algn="l">
              <a:spcBef>
                <a:spcPts val="0"/>
              </a:spcBef>
              <a:spcAft>
                <a:spcPts val="0"/>
              </a:spcAft>
              <a:buClr>
                <a:schemeClr val="dk1"/>
              </a:buClr>
              <a:buSzPts val="1200"/>
              <a:buFont typeface="Calibri"/>
              <a:buNone/>
            </a:pPr>
            <a:r>
              <a:rPr lang="en-CA"/>
              <a:t>one syl</a:t>
            </a:r>
            <a:endParaRPr/>
          </a:p>
          <a:p>
            <a:pPr indent="0" lvl="0" marL="0" rtl="0" algn="l">
              <a:spcBef>
                <a:spcPts val="0"/>
              </a:spcBef>
              <a:spcAft>
                <a:spcPts val="0"/>
              </a:spcAft>
              <a:buClr>
                <a:schemeClr val="dk1"/>
              </a:buClr>
              <a:buSzPts val="1200"/>
              <a:buFont typeface="Calibri"/>
              <a:buNone/>
            </a:pPr>
            <a:r>
              <a:rPr lang="en-CA"/>
              <a:t>Several neumes (with their nc)</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rPr lang="en-CA"/>
              <a:t>---</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513" name="Google Shape;513;p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526" name="Google Shape;526;p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535" name="Google Shape;535;p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547" name="Google Shape;547;p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559" name="Google Shape;559;p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571" name="Google Shape;571;p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585" name="Google Shape;585;p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596" name="Google Shape;596;p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syllable</a:t>
            </a:r>
            <a:r>
              <a:rPr lang="en-CA"/>
              <a:t>&gt; </a:t>
            </a:r>
            <a:r>
              <a:rPr i="1" lang="en-CA"/>
              <a:t>Neume notation can be thought of as “neumed text”. Therefore, the syllable element provides high-level organization in this repertoire.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syl</a:t>
            </a:r>
            <a:r>
              <a:rPr lang="en-CA"/>
              <a:t>&gt; </a:t>
            </a:r>
            <a:r>
              <a:rPr i="1" lang="en-CA"/>
              <a:t>(syllable) – Individual lyric syllable.</a:t>
            </a:r>
            <a:endParaRPr/>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neume</a:t>
            </a:r>
            <a:r>
              <a:rPr lang="en-CA"/>
              <a:t>&gt; </a:t>
            </a:r>
            <a:r>
              <a:rPr i="1" lang="en-CA"/>
              <a:t>Sign representing one or more musical pitches. </a:t>
            </a:r>
            <a:r>
              <a:rPr lang="en-CA"/>
              <a:t>As such, a &lt;neume&gt; consists of one or more &lt;nc&gt; element(s)</a:t>
            </a:r>
            <a:endParaRPr i="1"/>
          </a:p>
          <a:p>
            <a:pPr indent="0" lvl="0" marL="0" rtl="0" algn="l">
              <a:spcBef>
                <a:spcPts val="0"/>
              </a:spcBef>
              <a:spcAft>
                <a:spcPts val="0"/>
              </a:spcAft>
              <a:buClr>
                <a:schemeClr val="dk1"/>
              </a:buClr>
              <a:buSzPts val="1200"/>
              <a:buFont typeface="Calibri"/>
              <a:buNone/>
            </a:pPr>
            <a:r>
              <a:t/>
            </a:r>
            <a:endParaRPr i="1"/>
          </a:p>
          <a:p>
            <a:pPr indent="0" lvl="0" marL="0" rtl="0" algn="l">
              <a:spcBef>
                <a:spcPts val="0"/>
              </a:spcBef>
              <a:spcAft>
                <a:spcPts val="0"/>
              </a:spcAft>
              <a:buClr>
                <a:schemeClr val="dk1"/>
              </a:buClr>
              <a:buSzPts val="1200"/>
              <a:buFont typeface="Calibri"/>
              <a:buNone/>
            </a:pPr>
            <a:r>
              <a:rPr lang="en-CA"/>
              <a:t>&lt;</a:t>
            </a:r>
            <a:r>
              <a:rPr b="1" lang="en-CA">
                <a:solidFill>
                  <a:srgbClr val="0070C0"/>
                </a:solidFill>
              </a:rPr>
              <a:t>nc</a:t>
            </a:r>
            <a:r>
              <a:rPr lang="en-CA"/>
              <a:t>&gt; </a:t>
            </a:r>
            <a:r>
              <a:rPr i="1" lang="en-CA"/>
              <a:t>Sign representing a single pitched event, although the exact pitch may not be known</a:t>
            </a:r>
            <a:endParaRPr/>
          </a:p>
          <a:p>
            <a:pPr indent="0" lvl="0" marL="0" rtl="0" algn="l">
              <a:spcBef>
                <a:spcPts val="0"/>
              </a:spcBef>
              <a:spcAft>
                <a:spcPts val="0"/>
              </a:spcAft>
              <a:buNone/>
            </a:pPr>
            <a:r>
              <a:t/>
            </a:r>
            <a:endParaRPr/>
          </a:p>
        </p:txBody>
      </p:sp>
      <p:sp>
        <p:nvSpPr>
          <p:cNvPr id="612" name="Google Shape;612;p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29" name="Google Shape;629;p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sz="1800" u="sng">
                <a:highlight>
                  <a:srgbClr val="FFFF00"/>
                </a:highlight>
              </a:rPr>
              <a:t>I USED THIS EXAMPLE ABOVE</a:t>
            </a:r>
            <a:endParaRPr b="1" sz="1800" u="sng">
              <a:highlight>
                <a:srgbClr val="FFFF00"/>
              </a:highlight>
            </a:endParaRPr>
          </a:p>
        </p:txBody>
      </p:sp>
      <p:sp>
        <p:nvSpPr>
          <p:cNvPr id="637" name="Google Shape;637;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Garamond"/>
              <a:buNone/>
            </a:pPr>
            <a:r>
              <a:rPr lang="en-CA" sz="1200">
                <a:latin typeface="Garamond"/>
                <a:ea typeface="Garamond"/>
                <a:cs typeface="Garamond"/>
                <a:sym typeface="Garamond"/>
              </a:rPr>
              <a:t>MEI has a long list of &lt;elements&gt; and @attributes employed to capture the meaning of early notations and some DACT members, including Jennifer Bain and Debra Lacoste being here today, contributed to the development of the current list of elements and attributes for neumes in MEI. </a:t>
            </a:r>
            <a:endParaRPr/>
          </a:p>
          <a:p>
            <a:pPr indent="0" lvl="0" marL="0" marR="0" rtl="0" algn="l">
              <a:lnSpc>
                <a:spcPct val="100000"/>
              </a:lnSpc>
              <a:spcBef>
                <a:spcPts val="0"/>
              </a:spcBef>
              <a:spcAft>
                <a:spcPts val="0"/>
              </a:spcAft>
              <a:buClr>
                <a:schemeClr val="dk1"/>
              </a:buClr>
              <a:buSzPts val="1200"/>
              <a:buFont typeface="Calibri"/>
              <a:buNone/>
            </a:pPr>
            <a:r>
              <a:t/>
            </a:r>
            <a:endParaRPr sz="1200">
              <a:latin typeface="Garamond"/>
              <a:ea typeface="Garamond"/>
              <a:cs typeface="Garamond"/>
              <a:sym typeface="Garamond"/>
            </a:endParaRPr>
          </a:p>
          <a:p>
            <a:pPr indent="0" lvl="0" marL="0" marR="0" rtl="0" algn="l">
              <a:lnSpc>
                <a:spcPct val="100000"/>
              </a:lnSpc>
              <a:spcBef>
                <a:spcPts val="0"/>
              </a:spcBef>
              <a:spcAft>
                <a:spcPts val="0"/>
              </a:spcAft>
              <a:buClr>
                <a:schemeClr val="dk1"/>
              </a:buClr>
              <a:buSzPts val="1200"/>
              <a:buFont typeface="Garamond"/>
              <a:buNone/>
            </a:pPr>
            <a:r>
              <a:rPr lang="en-CA" sz="1200">
                <a:latin typeface="Garamond"/>
                <a:ea typeface="Garamond"/>
                <a:cs typeface="Garamond"/>
                <a:sym typeface="Garamond"/>
              </a:rPr>
              <a:t>In the next slides, I’d like to think about neumes from the point of view of a modern music encoder. Specifically, I’d like to introduce the </a:t>
            </a:r>
            <a:r>
              <a:rPr b="1" lang="en-CA" sz="1200">
                <a:latin typeface="Garamond"/>
                <a:ea typeface="Garamond"/>
                <a:cs typeface="Garamond"/>
                <a:sym typeface="Garamond"/>
              </a:rPr>
              <a:t>three</a:t>
            </a:r>
            <a:r>
              <a:rPr lang="en-CA" sz="1200">
                <a:latin typeface="Garamond"/>
                <a:ea typeface="Garamond"/>
                <a:cs typeface="Garamond"/>
                <a:sym typeface="Garamond"/>
              </a:rPr>
              <a:t> main challenges in encoding neumes in MEI</a:t>
            </a:r>
            <a:endParaRPr/>
          </a:p>
        </p:txBody>
      </p:sp>
      <p:sp>
        <p:nvSpPr>
          <p:cNvPr id="674" name="Google Shape;674;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CA"/>
              <a:t>ELSA is back </a:t>
            </a:r>
            <a:endParaRPr b="1"/>
          </a:p>
        </p:txBody>
      </p:sp>
      <p:sp>
        <p:nvSpPr>
          <p:cNvPr id="683" name="Google Shape;68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457200" lvl="0" marL="0" marR="0" rtl="0" algn="l">
              <a:lnSpc>
                <a:spcPct val="150000"/>
              </a:lnSpc>
              <a:spcBef>
                <a:spcPts val="0"/>
              </a:spcBef>
              <a:spcAft>
                <a:spcPts val="0"/>
              </a:spcAft>
              <a:buClr>
                <a:schemeClr val="dk1"/>
              </a:buClr>
              <a:buSzPts val="1800"/>
              <a:buFont typeface="Times New Roman"/>
              <a:buNone/>
            </a:pPr>
            <a:r>
              <a:rPr lang="en-CA" sz="1800">
                <a:latin typeface="Times New Roman"/>
                <a:ea typeface="Times New Roman"/>
                <a:cs typeface="Times New Roman"/>
                <a:sym typeface="Times New Roman"/>
              </a:rPr>
              <a:t>The first relates to the fact that early notation was just a mnemonic aid that helped the readers to recall the music they already knew by heart and, as such, </a:t>
            </a:r>
            <a:r>
              <a:rPr b="1" lang="en-CA" sz="1800">
                <a:latin typeface="Times New Roman"/>
                <a:ea typeface="Times New Roman"/>
                <a:cs typeface="Times New Roman"/>
                <a:sym typeface="Times New Roman"/>
              </a:rPr>
              <a:t>it conveys only partial musical information</a:t>
            </a:r>
            <a:r>
              <a:rPr lang="en-CA" sz="1800">
                <a:latin typeface="Times New Roman"/>
                <a:ea typeface="Times New Roman"/>
                <a:cs typeface="Times New Roman"/>
                <a:sym typeface="Times New Roman"/>
              </a:rPr>
              <a:t>. </a:t>
            </a:r>
            <a:endParaRPr sz="1800">
              <a:latin typeface="Calibri"/>
              <a:ea typeface="Calibri"/>
              <a:cs typeface="Calibri"/>
              <a:sym typeface="Calibri"/>
            </a:endParaRPr>
          </a:p>
          <a:p>
            <a:pPr indent="0" lvl="0" marL="0" rtl="0" algn="l">
              <a:lnSpc>
                <a:spcPct val="150000"/>
              </a:lnSpc>
              <a:spcBef>
                <a:spcPts val="600"/>
              </a:spcBef>
              <a:spcAft>
                <a:spcPts val="0"/>
              </a:spcAft>
              <a:buNone/>
            </a:pPr>
            <a:r>
              <a:t/>
            </a:r>
            <a:endParaRPr sz="1800">
              <a:latin typeface="Calibri"/>
              <a:ea typeface="Calibri"/>
              <a:cs typeface="Calibri"/>
              <a:sym typeface="Calibri"/>
            </a:endParaRPr>
          </a:p>
        </p:txBody>
      </p:sp>
      <p:sp>
        <p:nvSpPr>
          <p:cNvPr id="700" name="Google Shape;700;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457200" lvl="0" marL="0" marR="0" rtl="0" algn="l">
              <a:lnSpc>
                <a:spcPct val="150000"/>
              </a:lnSpc>
              <a:spcBef>
                <a:spcPts val="0"/>
              </a:spcBef>
              <a:spcAft>
                <a:spcPts val="0"/>
              </a:spcAft>
              <a:buClr>
                <a:schemeClr val="dk1"/>
              </a:buClr>
              <a:buSzPts val="1800"/>
              <a:buFont typeface="Times New Roman"/>
              <a:buNone/>
            </a:pPr>
            <a:r>
              <a:rPr lang="en-CA" sz="1800">
                <a:latin typeface="Times New Roman"/>
                <a:ea typeface="Times New Roman"/>
                <a:cs typeface="Times New Roman"/>
                <a:sym typeface="Times New Roman"/>
              </a:rPr>
              <a:t>The second challenge refers to the great variety of signs and </a:t>
            </a:r>
            <a:r>
              <a:rPr b="1" lang="en-CA" sz="1800">
                <a:latin typeface="Times New Roman"/>
                <a:ea typeface="Times New Roman"/>
                <a:cs typeface="Times New Roman"/>
                <a:sym typeface="Times New Roman"/>
              </a:rPr>
              <a:t>existence of different regional styles of early notation</a:t>
            </a:r>
            <a:r>
              <a:rPr lang="en-CA" sz="1800">
                <a:latin typeface="Times New Roman"/>
                <a:ea typeface="Times New Roman"/>
                <a:cs typeface="Times New Roman"/>
                <a:sym typeface="Times New Roman"/>
              </a:rPr>
              <a:t>; early-music manuscripts display a great graphical variety of musical signs, which include both neumes and extra-notational elements conveying musical information. </a:t>
            </a:r>
            <a:r>
              <a:rPr lang="en-CA" sz="1800">
                <a:latin typeface="Calibri"/>
                <a:ea typeface="Calibri"/>
                <a:cs typeface="Calibri"/>
                <a:sym typeface="Calibri"/>
              </a:rPr>
              <a:t> </a:t>
            </a:r>
            <a:endParaRPr/>
          </a:p>
          <a:p>
            <a:pPr indent="0" lvl="0" marL="0" rtl="0" algn="l">
              <a:lnSpc>
                <a:spcPct val="150000"/>
              </a:lnSpc>
              <a:spcBef>
                <a:spcPts val="600"/>
              </a:spcBef>
              <a:spcAft>
                <a:spcPts val="0"/>
              </a:spcAft>
              <a:buNone/>
            </a:pPr>
            <a:r>
              <a:rPr lang="en-CA" sz="1800">
                <a:latin typeface="Times New Roman"/>
                <a:ea typeface="Times New Roman"/>
                <a:cs typeface="Times New Roman"/>
                <a:sym typeface="Times New Roman"/>
              </a:rPr>
              <a:t>Some of those regional notational styles occasionally </a:t>
            </a:r>
            <a:r>
              <a:rPr b="1" lang="en-CA" sz="1800">
                <a:latin typeface="Times New Roman"/>
                <a:ea typeface="Times New Roman"/>
                <a:cs typeface="Times New Roman"/>
                <a:sym typeface="Times New Roman"/>
              </a:rPr>
              <a:t>share graphically similar shapes</a:t>
            </a:r>
            <a:r>
              <a:rPr lang="en-CA" sz="1800">
                <a:latin typeface="Times New Roman"/>
                <a:ea typeface="Times New Roman"/>
                <a:cs typeface="Times New Roman"/>
                <a:sym typeface="Times New Roman"/>
              </a:rPr>
              <a:t>; these similar shapes within the different notational styles are </a:t>
            </a:r>
            <a:r>
              <a:rPr b="1" lang="en-CA" sz="1800">
                <a:latin typeface="Times New Roman"/>
                <a:ea typeface="Times New Roman"/>
                <a:cs typeface="Times New Roman"/>
                <a:sym typeface="Times New Roman"/>
              </a:rPr>
              <a:t>understood by modern scholars to represent the same, a similar or even a </a:t>
            </a:r>
            <a:r>
              <a:rPr b="1" i="1" lang="en-CA" sz="1800">
                <a:latin typeface="Times New Roman"/>
                <a:ea typeface="Times New Roman"/>
                <a:cs typeface="Times New Roman"/>
                <a:sym typeface="Times New Roman"/>
              </a:rPr>
              <a:t>different</a:t>
            </a:r>
            <a:r>
              <a:rPr b="1" lang="en-CA" sz="1800">
                <a:latin typeface="Times New Roman"/>
                <a:ea typeface="Times New Roman"/>
                <a:cs typeface="Times New Roman"/>
                <a:sym typeface="Times New Roman"/>
              </a:rPr>
              <a:t> musical meaning</a:t>
            </a:r>
            <a:r>
              <a:rPr lang="en-CA" sz="1800">
                <a:latin typeface="Times New Roman"/>
                <a:ea typeface="Times New Roman"/>
                <a:cs typeface="Times New Roman"/>
                <a:sym typeface="Times New Roman"/>
              </a:rPr>
              <a:t>. </a:t>
            </a:r>
            <a:endParaRPr/>
          </a:p>
        </p:txBody>
      </p:sp>
      <p:sp>
        <p:nvSpPr>
          <p:cNvPr id="710" name="Google Shape;710;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lang="en-CA" sz="1800">
                <a:latin typeface="Times New Roman"/>
                <a:ea typeface="Times New Roman"/>
                <a:cs typeface="Times New Roman"/>
                <a:sym typeface="Times New Roman"/>
              </a:rPr>
              <a:t>CLICK </a:t>
            </a:r>
            <a:r>
              <a:rPr b="0" lang="en-CA" sz="1800">
                <a:latin typeface="Times New Roman"/>
                <a:ea typeface="Times New Roman"/>
                <a:cs typeface="Times New Roman"/>
                <a:sym typeface="Times New Roman"/>
              </a:rPr>
              <a:t>Finally, while on occasion the neume shapes appear to mirror graphically the musical characteristics of the sound being represented (e.g., pen-stroke going up = rising melody), in many instances it is generally understood that the meaning attached to the neumes (or the extra-notational elements) may not be so straight-forward, but instead was ruled by conventions shared by the people who knew orally the musical repertory being fixed in written form by means of notation. </a:t>
            </a:r>
            <a:endParaRPr/>
          </a:p>
        </p:txBody>
      </p:sp>
      <p:sp>
        <p:nvSpPr>
          <p:cNvPr id="720" name="Google Shape;720;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Garamond"/>
              <a:buNone/>
            </a:pPr>
            <a:r>
              <a:rPr lang="en-CA" sz="1200">
                <a:latin typeface="Garamond"/>
                <a:ea typeface="Garamond"/>
                <a:cs typeface="Garamond"/>
                <a:sym typeface="Garamond"/>
              </a:rPr>
              <a:t>What’s the impact of these challenges on music encoding? </a:t>
            </a:r>
            <a:endParaRPr/>
          </a:p>
          <a:p>
            <a:pPr indent="0" lvl="0" marL="0" marR="0" rtl="0" algn="l">
              <a:lnSpc>
                <a:spcPct val="100000"/>
              </a:lnSpc>
              <a:spcBef>
                <a:spcPts val="0"/>
              </a:spcBef>
              <a:spcAft>
                <a:spcPts val="0"/>
              </a:spcAft>
              <a:buClr>
                <a:schemeClr val="dk1"/>
              </a:buClr>
              <a:buSzPts val="1200"/>
              <a:buFont typeface="Calibri"/>
              <a:buNone/>
            </a:pPr>
            <a:r>
              <a:t/>
            </a:r>
            <a:endParaRPr sz="1200">
              <a:latin typeface="Garamond"/>
              <a:ea typeface="Garamond"/>
              <a:cs typeface="Garamond"/>
              <a:sym typeface="Garamond"/>
            </a:endParaRPr>
          </a:p>
          <a:p>
            <a:pPr indent="0" lvl="0" marL="0" marR="0" rtl="0" algn="l">
              <a:lnSpc>
                <a:spcPct val="100000"/>
              </a:lnSpc>
              <a:spcBef>
                <a:spcPts val="0"/>
              </a:spcBef>
              <a:spcAft>
                <a:spcPts val="0"/>
              </a:spcAft>
              <a:buClr>
                <a:schemeClr val="dk1"/>
              </a:buClr>
              <a:buSzPts val="1200"/>
              <a:buFont typeface="Garamond"/>
              <a:buNone/>
            </a:pPr>
            <a:r>
              <a:rPr lang="en-CA" sz="1200">
                <a:latin typeface="Garamond"/>
                <a:ea typeface="Garamond"/>
                <a:cs typeface="Garamond"/>
                <a:sym typeface="Garamond"/>
              </a:rPr>
              <a:t>To answer this question, we’ll have a look at some complicated examples. </a:t>
            </a:r>
            <a:endParaRPr/>
          </a:p>
          <a:p>
            <a:pPr indent="0" lvl="0" marL="0" marR="0" rtl="0" algn="l">
              <a:lnSpc>
                <a:spcPct val="100000"/>
              </a:lnSpc>
              <a:spcBef>
                <a:spcPts val="0"/>
              </a:spcBef>
              <a:spcAft>
                <a:spcPts val="0"/>
              </a:spcAft>
              <a:buClr>
                <a:schemeClr val="dk1"/>
              </a:buClr>
              <a:buSzPts val="1200"/>
              <a:buFont typeface="Calibri"/>
              <a:buNone/>
            </a:pPr>
            <a:r>
              <a:t/>
            </a:r>
            <a:endParaRPr sz="1200">
              <a:latin typeface="Garamond"/>
              <a:ea typeface="Garamond"/>
              <a:cs typeface="Garamond"/>
              <a:sym typeface="Garamond"/>
            </a:endParaRPr>
          </a:p>
          <a:p>
            <a:pPr indent="0" lvl="0" marL="0" marR="0" rtl="0" algn="l">
              <a:lnSpc>
                <a:spcPct val="100000"/>
              </a:lnSpc>
              <a:spcBef>
                <a:spcPts val="0"/>
              </a:spcBef>
              <a:spcAft>
                <a:spcPts val="0"/>
              </a:spcAft>
              <a:buClr>
                <a:schemeClr val="dk1"/>
              </a:buClr>
              <a:buSzPts val="1200"/>
              <a:buFont typeface="Garamond"/>
              <a:buNone/>
            </a:pPr>
            <a:r>
              <a:rPr lang="en-CA" sz="1200">
                <a:latin typeface="Garamond"/>
                <a:ea typeface="Garamond"/>
                <a:cs typeface="Garamond"/>
                <a:sym typeface="Garamond"/>
              </a:rPr>
              <a:t>In the next slides we’ll see some </a:t>
            </a:r>
            <a:r>
              <a:rPr b="1" lang="en-CA" sz="1200">
                <a:latin typeface="Garamond"/>
                <a:ea typeface="Garamond"/>
                <a:cs typeface="Garamond"/>
                <a:sym typeface="Garamond"/>
              </a:rPr>
              <a:t>different neume shapes that are given the same name by medieval scribes</a:t>
            </a:r>
            <a:r>
              <a:rPr lang="en-CA" sz="1200">
                <a:latin typeface="Garamond"/>
                <a:ea typeface="Garamond"/>
                <a:cs typeface="Garamond"/>
                <a:sym typeface="Garamond"/>
              </a:rPr>
              <a:t>.  We start with the oriscus</a:t>
            </a:r>
            <a:endParaRPr/>
          </a:p>
          <a:p>
            <a:pPr indent="0" lvl="0" marL="0" marR="0" rtl="0" algn="l">
              <a:lnSpc>
                <a:spcPct val="100000"/>
              </a:lnSpc>
              <a:spcBef>
                <a:spcPts val="0"/>
              </a:spcBef>
              <a:spcAft>
                <a:spcPts val="0"/>
              </a:spcAft>
              <a:buClr>
                <a:schemeClr val="dk1"/>
              </a:buClr>
              <a:buSzPts val="1200"/>
              <a:buFont typeface="Calibri"/>
              <a:buNone/>
            </a:pPr>
            <a:r>
              <a:t/>
            </a:r>
            <a:endParaRPr sz="1200">
              <a:latin typeface="Garamond"/>
              <a:ea typeface="Garamond"/>
              <a:cs typeface="Garamond"/>
              <a:sym typeface="Garamond"/>
            </a:endParaRPr>
          </a:p>
        </p:txBody>
      </p:sp>
      <p:sp>
        <p:nvSpPr>
          <p:cNvPr id="730" name="Google Shape;730;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None/>
            </a:pPr>
            <a:r>
              <a:rPr b="0" i="0" lang="en-CA" sz="1200" u="none" strike="noStrike">
                <a:solidFill>
                  <a:srgbClr val="231F20"/>
                </a:solidFill>
                <a:latin typeface="Garamond"/>
                <a:ea typeface="Garamond"/>
                <a:cs typeface="Garamond"/>
                <a:sym typeface="Garamond"/>
              </a:rPr>
              <a:t>Medieval writers </a:t>
            </a:r>
            <a:r>
              <a:rPr lang="en-CA" sz="1200">
                <a:solidFill>
                  <a:srgbClr val="231F20"/>
                </a:solidFill>
                <a:latin typeface="Garamond"/>
                <a:ea typeface="Garamond"/>
                <a:cs typeface="Garamond"/>
                <a:sym typeface="Garamond"/>
              </a:rPr>
              <a:t>called</a:t>
            </a:r>
            <a:r>
              <a:rPr b="0" i="0" lang="en-CA" sz="1200" u="none" strike="noStrike">
                <a:solidFill>
                  <a:srgbClr val="231F20"/>
                </a:solidFill>
                <a:latin typeface="Garamond"/>
                <a:ea typeface="Garamond"/>
                <a:cs typeface="Garamond"/>
                <a:sym typeface="Garamond"/>
              </a:rPr>
              <a:t> the </a:t>
            </a:r>
            <a:r>
              <a:rPr b="1" i="0" lang="en-CA" sz="1200" u="none" strike="noStrike">
                <a:solidFill>
                  <a:srgbClr val="231F20"/>
                </a:solidFill>
                <a:latin typeface="Garamond"/>
                <a:ea typeface="Garamond"/>
                <a:cs typeface="Garamond"/>
                <a:sym typeface="Garamond"/>
              </a:rPr>
              <a:t>oriscus</a:t>
            </a:r>
            <a:r>
              <a:rPr b="0" i="0" lang="en-CA" sz="1200" u="none" strike="noStrike">
                <a:solidFill>
                  <a:srgbClr val="231F20"/>
                </a:solidFill>
                <a:latin typeface="Garamond"/>
                <a:ea typeface="Garamond"/>
                <a:cs typeface="Garamond"/>
                <a:sym typeface="Garamond"/>
              </a:rPr>
              <a:t> without defining its meaning. </a:t>
            </a:r>
            <a:endParaRPr/>
          </a:p>
          <a:p>
            <a:pPr indent="0" lvl="0" marL="0" rtl="0" algn="l">
              <a:lnSpc>
                <a:spcPct val="107000"/>
              </a:lnSpc>
              <a:spcBef>
                <a:spcPts val="800"/>
              </a:spcBef>
              <a:spcAft>
                <a:spcPts val="0"/>
              </a:spcAft>
              <a:buNone/>
            </a:pPr>
            <a:r>
              <a:t/>
            </a:r>
            <a:endParaRPr b="0" i="0" sz="1200">
              <a:latin typeface="Garamond"/>
              <a:ea typeface="Garamond"/>
              <a:cs typeface="Garamond"/>
              <a:sym typeface="Garamond"/>
            </a:endParaRPr>
          </a:p>
          <a:p>
            <a:pPr indent="0" lvl="0" marL="0" marR="0" rtl="0" algn="l">
              <a:lnSpc>
                <a:spcPct val="107000"/>
              </a:lnSpc>
              <a:spcBef>
                <a:spcPts val="800"/>
              </a:spcBef>
              <a:spcAft>
                <a:spcPts val="0"/>
              </a:spcAft>
              <a:buClr>
                <a:srgbClr val="2A2A2A"/>
              </a:buClr>
              <a:buSzPts val="1200"/>
              <a:buFont typeface="Garamond"/>
              <a:buNone/>
            </a:pPr>
            <a:r>
              <a:rPr b="0" i="0" lang="en-CA" sz="1200">
                <a:solidFill>
                  <a:srgbClr val="2A2A2A"/>
                </a:solidFill>
                <a:latin typeface="Garamond"/>
                <a:ea typeface="Garamond"/>
                <a:cs typeface="Garamond"/>
                <a:sym typeface="Garamond"/>
              </a:rPr>
              <a:t>In Western chant the orisicus is a special neume signifying one note and it is usually the middle note of a three-note raising gesture</a:t>
            </a:r>
            <a:endParaRPr b="0" i="0" sz="1050" u="none" strike="noStrike">
              <a:solidFill>
                <a:srgbClr val="231F20"/>
              </a:solidFill>
              <a:latin typeface="Garamond"/>
              <a:ea typeface="Garamond"/>
              <a:cs typeface="Garamond"/>
              <a:sym typeface="Garamond"/>
            </a:endParaRPr>
          </a:p>
          <a:p>
            <a:pPr indent="0" lvl="0" marL="0" marR="0" rtl="0" algn="l">
              <a:lnSpc>
                <a:spcPct val="107000"/>
              </a:lnSpc>
              <a:spcBef>
                <a:spcPts val="800"/>
              </a:spcBef>
              <a:spcAft>
                <a:spcPts val="0"/>
              </a:spcAft>
              <a:buClr>
                <a:schemeClr val="dk1"/>
              </a:buClr>
              <a:buSzPts val="1000"/>
              <a:buFont typeface="Calibri"/>
              <a:buNone/>
            </a:pPr>
            <a:r>
              <a:t/>
            </a:r>
            <a:endParaRPr b="0" i="0" sz="1000">
              <a:latin typeface="Garamond"/>
              <a:ea typeface="Garamond"/>
              <a:cs typeface="Garamond"/>
              <a:sym typeface="Garamond"/>
            </a:endParaRPr>
          </a:p>
          <a:p>
            <a:pPr indent="0" lvl="0" marL="0" marR="0" rtl="0" algn="l">
              <a:lnSpc>
                <a:spcPct val="107000"/>
              </a:lnSpc>
              <a:spcBef>
                <a:spcPts val="800"/>
              </a:spcBef>
              <a:spcAft>
                <a:spcPts val="0"/>
              </a:spcAft>
              <a:buClr>
                <a:schemeClr val="dk1"/>
              </a:buClr>
              <a:buSzPts val="1000"/>
              <a:buFont typeface="Garamond"/>
              <a:buNone/>
            </a:pPr>
            <a:r>
              <a:rPr b="0" i="0" lang="en-CA" sz="1000">
                <a:latin typeface="Garamond"/>
                <a:ea typeface="Garamond"/>
                <a:cs typeface="Garamond"/>
                <a:sym typeface="Garamond"/>
              </a:rPr>
              <a:t>The </a:t>
            </a:r>
            <a:r>
              <a:rPr lang="en-CA"/>
              <a:t>Oriscus </a:t>
            </a:r>
            <a:r>
              <a:rPr b="0" i="0" lang="en-CA" sz="1000">
                <a:latin typeface="Garamond"/>
                <a:ea typeface="Garamond"/>
                <a:cs typeface="Garamond"/>
                <a:sym typeface="Garamond"/>
              </a:rPr>
              <a:t>neumes gathered in this example </a:t>
            </a:r>
            <a:r>
              <a:rPr lang="en-CA" sz="1200">
                <a:solidFill>
                  <a:srgbClr val="2A2A2A"/>
                </a:solidFill>
                <a:latin typeface="Arial"/>
                <a:ea typeface="Arial"/>
                <a:cs typeface="Arial"/>
                <a:sym typeface="Arial"/>
              </a:rPr>
              <a:t>come from four different manuscripts written in the ninth/tenth century.</a:t>
            </a:r>
            <a:r>
              <a:rPr b="0" i="0" lang="en-CA" sz="1200" u="none" strike="noStrike">
                <a:solidFill>
                  <a:schemeClr val="dk1"/>
                </a:solidFill>
                <a:latin typeface="Calibri"/>
                <a:ea typeface="Calibri"/>
                <a:cs typeface="Calibri"/>
                <a:sym typeface="Calibri"/>
              </a:rPr>
              <a:t> </a:t>
            </a:r>
            <a:endParaRPr/>
          </a:p>
          <a:p>
            <a:pPr indent="0" lvl="0" marL="0" marR="0" rtl="0" algn="l">
              <a:lnSpc>
                <a:spcPct val="107000"/>
              </a:lnSpc>
              <a:spcBef>
                <a:spcPts val="800"/>
              </a:spcBef>
              <a:spcAft>
                <a:spcPts val="0"/>
              </a:spcAft>
              <a:buClr>
                <a:schemeClr val="dk1"/>
              </a:buClr>
              <a:buSzPts val="1200"/>
              <a:buFont typeface="Calibri"/>
              <a:buNone/>
            </a:pPr>
            <a:r>
              <a:rPr b="0" i="0" lang="en-CA" sz="1200" u="none" strike="noStrike">
                <a:solidFill>
                  <a:schemeClr val="dk1"/>
                </a:solidFill>
                <a:latin typeface="Calibri"/>
                <a:ea typeface="Calibri"/>
                <a:cs typeface="Calibri"/>
                <a:sym typeface="Calibri"/>
              </a:rPr>
              <a:t>Modern scholars accept the terminology used in medieval musical treatises but we are not sure that these ‘oriscus’ were performed the same way everywhere.</a:t>
            </a:r>
            <a:endParaRPr/>
          </a:p>
          <a:p>
            <a:pPr indent="0" lvl="0" marL="0" rtl="0" algn="l">
              <a:lnSpc>
                <a:spcPct val="107000"/>
              </a:lnSpc>
              <a:spcBef>
                <a:spcPts val="800"/>
              </a:spcBef>
              <a:spcAft>
                <a:spcPts val="0"/>
              </a:spcAft>
              <a:buNone/>
            </a:pPr>
            <a:r>
              <a:t/>
            </a:r>
            <a:endParaRPr b="0" i="0" sz="1200">
              <a:latin typeface="Garamond"/>
              <a:ea typeface="Garamond"/>
              <a:cs typeface="Garamond"/>
              <a:sym typeface="Garamond"/>
            </a:endParaRPr>
          </a:p>
          <a:p>
            <a:pPr indent="0" lvl="0" marL="0" rtl="0" algn="l">
              <a:lnSpc>
                <a:spcPct val="107000"/>
              </a:lnSpc>
              <a:spcBef>
                <a:spcPts val="800"/>
              </a:spcBef>
              <a:spcAft>
                <a:spcPts val="0"/>
              </a:spcAft>
              <a:buNone/>
            </a:pPr>
            <a:r>
              <a:rPr b="0" i="0" lang="en-CA" sz="1200">
                <a:latin typeface="Garamond"/>
                <a:ea typeface="Garamond"/>
                <a:cs typeface="Garamond"/>
                <a:sym typeface="Garamond"/>
              </a:rPr>
              <a:t>Hence, it is not sufficient to encode these neumes simply using the element &lt;oriscus&gt;. Instead, it is crucial to employ further elements and attributes that allow us to differentiate the graphical appearance of these neumes.</a:t>
            </a:r>
            <a:endParaRPr b="0" i="0" sz="1800" u="none" strike="noStrike">
              <a:solidFill>
                <a:schemeClr val="dk1"/>
              </a:solidFill>
              <a:latin typeface="Calibri"/>
              <a:ea typeface="Calibri"/>
              <a:cs typeface="Calibri"/>
              <a:sym typeface="Calibri"/>
            </a:endParaRPr>
          </a:p>
        </p:txBody>
      </p:sp>
      <p:sp>
        <p:nvSpPr>
          <p:cNvPr id="738" name="Google Shape;738;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2" name="Google Shape;75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Here we can see the forms employed for oriscus and quilisma in the same 4 notational dialects. </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CA" sz="1800" u="none" strike="noStrike">
                <a:solidFill>
                  <a:srgbClr val="231F20"/>
                </a:solidFill>
                <a:latin typeface="Arial"/>
                <a:ea typeface="Arial"/>
                <a:cs typeface="Arial"/>
                <a:sym typeface="Arial"/>
              </a:rPr>
              <a:t>While oriscus and quilisma differ from each other at Saint Gall and in Aquitanian notation, </a:t>
            </a:r>
            <a:r>
              <a:rPr b="1" i="0" lang="en-CA" sz="1800" u="none" strike="noStrike">
                <a:solidFill>
                  <a:srgbClr val="231F20"/>
                </a:solidFill>
                <a:latin typeface="Arial"/>
                <a:ea typeface="Arial"/>
                <a:cs typeface="Arial"/>
                <a:sym typeface="Arial"/>
              </a:rPr>
              <a:t>the Breton and Lotharingian notations use almost exactly the same form for each</a:t>
            </a:r>
            <a:r>
              <a:rPr b="0" i="0" lang="en-CA" sz="1800" u="none" strike="noStrike">
                <a:solidFill>
                  <a:srgbClr val="231F20"/>
                </a:solidFill>
                <a:latin typeface="Arial"/>
                <a:ea typeface="Arial"/>
                <a:cs typeface="Arial"/>
                <a:sym typeface="Arial"/>
              </a:rPr>
              <a:t>. The context in which these neumes occur may have helped the tenth-century singer distinguish them, </a:t>
            </a:r>
            <a:r>
              <a:rPr b="1" i="0" lang="en-CA" sz="1800" u="none" strike="noStrike">
                <a:solidFill>
                  <a:srgbClr val="231F20"/>
                </a:solidFill>
                <a:latin typeface="Arial"/>
                <a:ea typeface="Arial"/>
                <a:cs typeface="Arial"/>
                <a:sym typeface="Arial"/>
              </a:rPr>
              <a:t>as a higher note normally follows the quilisma, and the oriscus is usually preceded by a note at the same pitch.</a:t>
            </a:r>
            <a:endParaRPr/>
          </a:p>
          <a:p>
            <a:pPr indent="0" lvl="0" marL="0" rtl="0" algn="l">
              <a:spcBef>
                <a:spcPts val="0"/>
              </a:spcBef>
              <a:spcAft>
                <a:spcPts val="0"/>
              </a:spcAft>
              <a:buNone/>
            </a:pPr>
            <a:r>
              <a:t/>
            </a:r>
            <a:endParaRPr b="0" i="0" sz="1800" u="none" strike="noStrike">
              <a:solidFill>
                <a:srgbClr val="231F20"/>
              </a:solidFill>
              <a:latin typeface="Arial"/>
              <a:ea typeface="Arial"/>
              <a:cs typeface="Arial"/>
              <a:sym typeface="Arial"/>
            </a:endParaRPr>
          </a:p>
          <a:p>
            <a:pPr indent="0" lvl="0" marL="0" marR="0" rtl="0" algn="l">
              <a:lnSpc>
                <a:spcPct val="100000"/>
              </a:lnSpc>
              <a:spcBef>
                <a:spcPts val="0"/>
              </a:spcBef>
              <a:spcAft>
                <a:spcPts val="0"/>
              </a:spcAft>
              <a:buClr>
                <a:srgbClr val="231F20"/>
              </a:buClr>
              <a:buSzPts val="2800"/>
              <a:buFont typeface="Arial"/>
              <a:buNone/>
            </a:pPr>
            <a:r>
              <a:rPr b="0" i="0" lang="en-CA" sz="2800" u="none" strike="noStrike">
                <a:solidFill>
                  <a:srgbClr val="231F20"/>
                </a:solidFill>
                <a:latin typeface="Arial"/>
                <a:ea typeface="Arial"/>
                <a:cs typeface="Arial"/>
                <a:sym typeface="Arial"/>
              </a:rPr>
              <a:t>This example shows that </a:t>
            </a:r>
            <a:r>
              <a:rPr b="1" lang="en-CA" sz="2800">
                <a:solidFill>
                  <a:srgbClr val="222222"/>
                </a:solidFill>
                <a:latin typeface="Arial"/>
                <a:ea typeface="Arial"/>
                <a:cs typeface="Arial"/>
                <a:sym typeface="Arial"/>
              </a:rPr>
              <a:t>we can find graphically similar neumes </a:t>
            </a:r>
            <a:r>
              <a:rPr b="1" lang="en-CA" sz="1800"/>
              <a:t>in different notations, but most of the times they retain different meanings and origins</a:t>
            </a:r>
            <a:r>
              <a:rPr lang="en-CA" sz="1800"/>
              <a:t>. </a:t>
            </a:r>
            <a:endParaRPr/>
          </a:p>
          <a:p>
            <a:pPr indent="0" lvl="0" marL="0" marR="0" rtl="0" algn="l">
              <a:lnSpc>
                <a:spcPct val="100000"/>
              </a:lnSpc>
              <a:spcBef>
                <a:spcPts val="0"/>
              </a:spcBef>
              <a:spcAft>
                <a:spcPts val="0"/>
              </a:spcAft>
              <a:buClr>
                <a:schemeClr val="dk1"/>
              </a:buClr>
              <a:buSzPts val="1800"/>
              <a:buFont typeface="Calibri"/>
              <a:buNone/>
            </a:pPr>
            <a:r>
              <a:t/>
            </a:r>
            <a:endParaRPr sz="1800">
              <a:latin typeface="Garamond"/>
              <a:ea typeface="Garamond"/>
              <a:cs typeface="Garamond"/>
              <a:sym typeface="Garamond"/>
            </a:endParaRPr>
          </a:p>
          <a:p>
            <a:pPr indent="0" lvl="0" marL="0" marR="0" rtl="0" algn="l">
              <a:lnSpc>
                <a:spcPct val="100000"/>
              </a:lnSpc>
              <a:spcBef>
                <a:spcPts val="0"/>
              </a:spcBef>
              <a:spcAft>
                <a:spcPts val="0"/>
              </a:spcAft>
              <a:buClr>
                <a:schemeClr val="dk1"/>
              </a:buClr>
              <a:buSzPts val="1800"/>
              <a:buFont typeface="Garamond"/>
              <a:buNone/>
            </a:pPr>
            <a:r>
              <a:rPr lang="en-CA" sz="1800">
                <a:latin typeface="Garamond"/>
                <a:ea typeface="Garamond"/>
                <a:cs typeface="Garamond"/>
                <a:sym typeface="Garamond"/>
              </a:rPr>
              <a:t>This has meant a particular set of challenge for modern scholar who attempt to express neumatic notation in MEI schemas. </a:t>
            </a:r>
            <a:endParaRPr/>
          </a:p>
          <a:p>
            <a:pPr indent="0" lvl="0" marL="0" rtl="0" algn="l">
              <a:spcBef>
                <a:spcPts val="0"/>
              </a:spcBef>
              <a:spcAft>
                <a:spcPts val="0"/>
              </a:spcAft>
              <a:buNone/>
            </a:pPr>
            <a:r>
              <a:t/>
            </a:r>
            <a:endParaRPr/>
          </a:p>
        </p:txBody>
      </p:sp>
      <p:sp>
        <p:nvSpPr>
          <p:cNvPr id="762" name="Google Shape;762;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1F20"/>
              </a:buClr>
              <a:buSzPts val="1200"/>
              <a:buFont typeface="Arial"/>
              <a:buNone/>
            </a:pPr>
            <a:r>
              <a:rPr b="0" i="0" lang="en-CA" sz="1200" u="none" strike="noStrike">
                <a:solidFill>
                  <a:srgbClr val="231F20"/>
                </a:solidFill>
                <a:latin typeface="Arial"/>
                <a:ea typeface="Arial"/>
                <a:cs typeface="Arial"/>
                <a:sym typeface="Arial"/>
              </a:rPr>
              <a:t>In this final example we can appreciate the level of graphical </a:t>
            </a:r>
            <a:r>
              <a:rPr b="0" lang="en-CA" sz="1200">
                <a:latin typeface="Garamond"/>
                <a:ea typeface="Garamond"/>
                <a:cs typeface="Garamond"/>
                <a:sym typeface="Garamond"/>
              </a:rPr>
              <a:t>sophistication</a:t>
            </a:r>
            <a:r>
              <a:rPr b="1" lang="en-CA" sz="1200">
                <a:latin typeface="Garamond"/>
                <a:ea typeface="Garamond"/>
                <a:cs typeface="Garamond"/>
                <a:sym typeface="Garamond"/>
              </a:rPr>
              <a:t> </a:t>
            </a:r>
            <a:r>
              <a:rPr lang="en-CA" sz="1200">
                <a:latin typeface="Garamond"/>
                <a:ea typeface="Garamond"/>
                <a:cs typeface="Garamond"/>
                <a:sym typeface="Garamond"/>
              </a:rPr>
              <a:t>of early notations. </a:t>
            </a:r>
            <a:endParaRPr/>
          </a:p>
          <a:p>
            <a:pPr indent="0" lvl="0" marL="0" marR="0" rtl="0" algn="l">
              <a:lnSpc>
                <a:spcPct val="100000"/>
              </a:lnSpc>
              <a:spcBef>
                <a:spcPts val="0"/>
              </a:spcBef>
              <a:spcAft>
                <a:spcPts val="0"/>
              </a:spcAft>
              <a:buClr>
                <a:schemeClr val="dk1"/>
              </a:buClr>
              <a:buSzPts val="1200"/>
              <a:buFont typeface="Calibri"/>
              <a:buNone/>
            </a:pPr>
            <a:r>
              <a:t/>
            </a:r>
            <a:endParaRPr sz="1200">
              <a:latin typeface="Garamond"/>
              <a:ea typeface="Garamond"/>
              <a:cs typeface="Garamond"/>
              <a:sym typeface="Garamond"/>
            </a:endParaRPr>
          </a:p>
          <a:p>
            <a:pPr indent="0" lvl="0" marL="0" marR="0" rtl="0" algn="l">
              <a:lnSpc>
                <a:spcPct val="100000"/>
              </a:lnSpc>
              <a:spcBef>
                <a:spcPts val="0"/>
              </a:spcBef>
              <a:spcAft>
                <a:spcPts val="0"/>
              </a:spcAft>
              <a:buClr>
                <a:srgbClr val="231F20"/>
              </a:buClr>
              <a:buSzPts val="1200"/>
              <a:buFont typeface="Arial"/>
              <a:buNone/>
            </a:pPr>
            <a:r>
              <a:rPr b="0" i="0" lang="en-CA" sz="1200" u="none" strike="noStrike">
                <a:solidFill>
                  <a:srgbClr val="231F20"/>
                </a:solidFill>
                <a:latin typeface="Arial"/>
                <a:ea typeface="Arial"/>
                <a:cs typeface="Arial"/>
                <a:sym typeface="Arial"/>
              </a:rPr>
              <a:t>The second and third syllables of “aduersum” use two very similar signs, one is a curved tilt (neume n. 2), the other is a straight tilt (neume n. 3). </a:t>
            </a:r>
            <a:endParaRPr/>
          </a:p>
          <a:p>
            <a:pPr indent="0" lvl="0" marL="0" marR="0" rtl="0" algn="l">
              <a:lnSpc>
                <a:spcPct val="100000"/>
              </a:lnSpc>
              <a:spcBef>
                <a:spcPts val="0"/>
              </a:spcBef>
              <a:spcAft>
                <a:spcPts val="0"/>
              </a:spcAft>
              <a:buClr>
                <a:srgbClr val="231F20"/>
              </a:buClr>
              <a:buSzPts val="1200"/>
              <a:buFont typeface="Arial"/>
              <a:buNone/>
            </a:pPr>
            <a:r>
              <a:rPr b="0" i="0" lang="en-CA" sz="1200" u="none" strike="noStrike">
                <a:solidFill>
                  <a:srgbClr val="231F20"/>
                </a:solidFill>
                <a:latin typeface="Arial"/>
                <a:ea typeface="Arial"/>
                <a:cs typeface="Arial"/>
                <a:sym typeface="Arial"/>
              </a:rPr>
              <a:t>The second neume shows two notes, and the third neume represent only one note, higher than the previous one. </a:t>
            </a:r>
            <a:endParaRPr/>
          </a:p>
          <a:p>
            <a:pPr indent="0" lvl="0" marL="0" marR="0" rtl="0" algn="l">
              <a:lnSpc>
                <a:spcPct val="100000"/>
              </a:lnSpc>
              <a:spcBef>
                <a:spcPts val="0"/>
              </a:spcBef>
              <a:spcAft>
                <a:spcPts val="0"/>
              </a:spcAft>
              <a:buClr>
                <a:srgbClr val="231F20"/>
              </a:buClr>
              <a:buSzPts val="1200"/>
              <a:buFont typeface="Arial"/>
              <a:buNone/>
            </a:pPr>
            <a:r>
              <a:rPr b="0" i="0" lang="en-CA" sz="1200" u="none" strike="noStrike">
                <a:solidFill>
                  <a:srgbClr val="231F20"/>
                </a:solidFill>
                <a:latin typeface="Arial"/>
                <a:ea typeface="Arial"/>
                <a:cs typeface="Arial"/>
                <a:sym typeface="Arial"/>
              </a:rPr>
              <a:t>The curve in the second neume also indicates that some special attention should be paid to the pronunciation of the consonant cluster ‘r’ and ‘s’ in the text (adversum).</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strike="noStrike">
              <a:solidFill>
                <a:srgbClr val="231F20"/>
              </a:solidFill>
              <a:latin typeface="Arial"/>
              <a:ea typeface="Arial"/>
              <a:cs typeface="Arial"/>
              <a:sym typeface="Arial"/>
            </a:endParaRPr>
          </a:p>
          <a:p>
            <a:pPr indent="0" lvl="0" marL="0" marR="0" rtl="0" algn="l">
              <a:lnSpc>
                <a:spcPct val="100000"/>
              </a:lnSpc>
              <a:spcBef>
                <a:spcPts val="0"/>
              </a:spcBef>
              <a:spcAft>
                <a:spcPts val="0"/>
              </a:spcAft>
              <a:buClr>
                <a:srgbClr val="231F20"/>
              </a:buClr>
              <a:buSzPts val="1200"/>
              <a:buFont typeface="Arial"/>
              <a:buNone/>
            </a:pPr>
            <a:r>
              <a:rPr b="0" i="0" lang="en-CA" sz="1200" u="none" strike="noStrike">
                <a:solidFill>
                  <a:srgbClr val="231F20"/>
                </a:solidFill>
                <a:latin typeface="Arial"/>
                <a:ea typeface="Arial"/>
                <a:cs typeface="Arial"/>
                <a:sym typeface="Arial"/>
              </a:rPr>
              <a:t>This example is important because it shows that it is of paramount importance to be intimately familiar with the meaning of neume shapes in order to encode them correctly. </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strike="noStrike">
              <a:solidFill>
                <a:srgbClr val="231F20"/>
              </a:solidFill>
              <a:latin typeface="Arial"/>
              <a:ea typeface="Arial"/>
              <a:cs typeface="Arial"/>
              <a:sym typeface="Arial"/>
            </a:endParaRPr>
          </a:p>
          <a:p>
            <a:pPr indent="0" lvl="0" marL="0" marR="0" rtl="0" algn="l">
              <a:lnSpc>
                <a:spcPct val="100000"/>
              </a:lnSpc>
              <a:spcBef>
                <a:spcPts val="0"/>
              </a:spcBef>
              <a:spcAft>
                <a:spcPts val="0"/>
              </a:spcAft>
              <a:buClr>
                <a:srgbClr val="231F20"/>
              </a:buClr>
              <a:buSzPts val="1200"/>
              <a:buFont typeface="Arial"/>
              <a:buNone/>
            </a:pPr>
            <a:r>
              <a:rPr b="0" i="0" lang="en-CA" sz="1200" u="none" strike="noStrike">
                <a:solidFill>
                  <a:srgbClr val="231F20"/>
                </a:solidFill>
                <a:latin typeface="Arial"/>
                <a:ea typeface="Arial"/>
                <a:cs typeface="Arial"/>
                <a:sym typeface="Arial"/>
              </a:rPr>
              <a:t>Furthermore, i</a:t>
            </a:r>
            <a:r>
              <a:rPr lang="en-CA">
                <a:latin typeface="Garamond"/>
                <a:ea typeface="Garamond"/>
                <a:cs typeface="Garamond"/>
                <a:sym typeface="Garamond"/>
              </a:rPr>
              <a:t>n the encoding of early notations we want to be able to retain BOTH graphical and symbolic information about the neumes because even if we do not grasp entirely the meaning of graphical variants, they could represent different styles of vocal performance.</a:t>
            </a:r>
            <a:endParaRPr/>
          </a:p>
        </p:txBody>
      </p:sp>
      <p:sp>
        <p:nvSpPr>
          <p:cNvPr id="789" name="Google Shape;78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 name="Google Shape;812;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Garamond"/>
              <a:buNone/>
            </a:pPr>
            <a:r>
              <a:rPr lang="en-CA">
                <a:latin typeface="Garamond"/>
                <a:ea typeface="Garamond"/>
                <a:cs typeface="Garamond"/>
                <a:sym typeface="Garamond"/>
              </a:rPr>
              <a:t>MEI challenges our modern understanding of musical notation and forces us to clarify the difference between what we </a:t>
            </a:r>
            <a:r>
              <a:rPr b="1" lang="en-CA">
                <a:latin typeface="Garamond"/>
                <a:ea typeface="Garamond"/>
                <a:cs typeface="Garamond"/>
                <a:sym typeface="Garamond"/>
              </a:rPr>
              <a:t>see </a:t>
            </a:r>
            <a:r>
              <a:rPr lang="en-CA">
                <a:latin typeface="Garamond"/>
                <a:ea typeface="Garamond"/>
                <a:cs typeface="Garamond"/>
                <a:sym typeface="Garamond"/>
              </a:rPr>
              <a:t>and what we </a:t>
            </a:r>
            <a:r>
              <a:rPr b="1" lang="en-CA">
                <a:latin typeface="Garamond"/>
                <a:ea typeface="Garamond"/>
                <a:cs typeface="Garamond"/>
                <a:sym typeface="Garamond"/>
              </a:rPr>
              <a:t>know, </a:t>
            </a:r>
            <a:r>
              <a:rPr lang="en-CA">
                <a:latin typeface="Garamond"/>
                <a:ea typeface="Garamond"/>
                <a:cs typeface="Garamond"/>
                <a:sym typeface="Garamond"/>
              </a:rPr>
              <a:t>or </a:t>
            </a:r>
            <a:r>
              <a:rPr b="1" lang="en-CA">
                <a:latin typeface="Garamond"/>
                <a:ea typeface="Garamond"/>
                <a:cs typeface="Garamond"/>
                <a:sym typeface="Garamond"/>
              </a:rPr>
              <a:t>believe to know. </a:t>
            </a:r>
            <a:endParaRPr/>
          </a:p>
          <a:p>
            <a:pPr indent="0" lvl="0" marL="0" marR="0" rtl="0" algn="l">
              <a:lnSpc>
                <a:spcPct val="100000"/>
              </a:lnSpc>
              <a:spcBef>
                <a:spcPts val="0"/>
              </a:spcBef>
              <a:spcAft>
                <a:spcPts val="0"/>
              </a:spcAft>
              <a:buClr>
                <a:schemeClr val="dk1"/>
              </a:buClr>
              <a:buSzPts val="1200"/>
              <a:buFont typeface="Calibri"/>
              <a:buNone/>
            </a:pPr>
            <a:r>
              <a:t/>
            </a:r>
            <a:endParaRPr sz="1200">
              <a:latin typeface="Garamond"/>
              <a:ea typeface="Garamond"/>
              <a:cs typeface="Garamond"/>
              <a:sym typeface="Garamond"/>
            </a:endParaRPr>
          </a:p>
          <a:p>
            <a:pPr indent="0" lvl="0" marL="0" marR="0" rtl="0" algn="l">
              <a:lnSpc>
                <a:spcPct val="100000"/>
              </a:lnSpc>
              <a:spcBef>
                <a:spcPts val="0"/>
              </a:spcBef>
              <a:spcAft>
                <a:spcPts val="0"/>
              </a:spcAft>
              <a:buClr>
                <a:schemeClr val="dk1"/>
              </a:buClr>
              <a:buSzPts val="1200"/>
              <a:buFont typeface="Garamond"/>
              <a:buNone/>
            </a:pPr>
            <a:r>
              <a:rPr lang="en-CA" sz="1200">
                <a:latin typeface="Garamond"/>
                <a:ea typeface="Garamond"/>
                <a:cs typeface="Garamond"/>
                <a:sym typeface="Garamond"/>
              </a:rPr>
              <a:t>Deciding the encoding rules (hierarirchy of elements and their relative attributes) implies that we must clarify if our interpretation has a solid foundation or if it is, simply, an educated guess.</a:t>
            </a:r>
            <a:endParaRPr/>
          </a:p>
          <a:p>
            <a:pPr indent="0" lvl="0" marL="0" marR="0" rtl="0" algn="l">
              <a:lnSpc>
                <a:spcPct val="100000"/>
              </a:lnSpc>
              <a:spcBef>
                <a:spcPts val="0"/>
              </a:spcBef>
              <a:spcAft>
                <a:spcPts val="0"/>
              </a:spcAft>
              <a:buClr>
                <a:schemeClr val="dk1"/>
              </a:buClr>
              <a:buSzPts val="1200"/>
              <a:buFont typeface="Garamond"/>
              <a:buNone/>
            </a:pPr>
            <a:r>
              <a:rPr lang="en-CA" sz="1200">
                <a:latin typeface="Garamond"/>
                <a:ea typeface="Garamond"/>
                <a:cs typeface="Garamond"/>
                <a:sym typeface="Garamond"/>
              </a:rPr>
              <a:t>Besides, it also forces us to observe and take into account the tiniest </a:t>
            </a:r>
            <a:r>
              <a:rPr lang="en-CA" sz="1200"/>
              <a:t>graphical variants because they could represent different styles of vocal performance</a:t>
            </a:r>
            <a:endParaRPr sz="1200">
              <a:latin typeface="Garamond"/>
              <a:ea typeface="Garamond"/>
              <a:cs typeface="Garamond"/>
              <a:sym typeface="Garamond"/>
            </a:endParaRPr>
          </a:p>
        </p:txBody>
      </p:sp>
      <p:sp>
        <p:nvSpPr>
          <p:cNvPr id="813" name="Google Shape;813;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2" name="Google Shape;822;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i="0" lang="en-CA"/>
              <a:t> </a:t>
            </a:r>
            <a:endParaRPr b="0" i="0">
              <a:solidFill>
                <a:srgbClr val="000000"/>
              </a:solidFill>
              <a:latin typeface="Garamond"/>
              <a:ea typeface="Garamond"/>
              <a:cs typeface="Garamond"/>
              <a:sym typeface="Garamond"/>
            </a:endParaRPr>
          </a:p>
        </p:txBody>
      </p:sp>
      <p:sp>
        <p:nvSpPr>
          <p:cNvPr id="823" name="Google Shape;823;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
        <p:nvSpPr>
          <p:cNvPr id="41" name="Google Shape;4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6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6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6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70"/>
          <p:cNvSpPr/>
          <p:nvPr>
            <p:ph idx="2" type="pic"/>
          </p:nvPr>
        </p:nvSpPr>
        <p:spPr>
          <a:xfrm>
            <a:off x="5183188" y="987425"/>
            <a:ext cx="6172200" cy="4873625"/>
          </a:xfrm>
          <a:prstGeom prst="rect">
            <a:avLst/>
          </a:prstGeom>
          <a:noFill/>
          <a:ln>
            <a:noFill/>
          </a:ln>
        </p:spPr>
      </p:sp>
      <p:sp>
        <p:nvSpPr>
          <p:cNvPr id="68" name="Google Shape;68;p7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72.png"/><Relationship Id="rId6" Type="http://schemas.openxmlformats.org/officeDocument/2006/relationships/image" Target="../media/image1.png"/><Relationship Id="rId7" Type="http://schemas.openxmlformats.org/officeDocument/2006/relationships/hyperlink" Target="https://doi.org/10.54499/2022.01957.PTDC"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2.jp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1.jpg"/><Relationship Id="rId4" Type="http://schemas.openxmlformats.org/officeDocument/2006/relationships/image" Target="../media/image29.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1.jp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20.png"/><Relationship Id="rId5" Type="http://schemas.openxmlformats.org/officeDocument/2006/relationships/oleObject" Target="../embeddings/oleObject1.bin"/><Relationship Id="rId6" Type="http://schemas.openxmlformats.org/officeDocument/2006/relationships/image" Target="../media/image3.png"/><Relationship Id="rId7" Type="http://schemas.openxmlformats.org/officeDocument/2006/relationships/oleObject" Target="../embeddings/oleObject2.bin"/><Relationship Id="rId8"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vmlDrawing" Target="../drawings/vmlDrawing2.vml"/><Relationship Id="rId4" Type="http://schemas.openxmlformats.org/officeDocument/2006/relationships/oleObject" Target="../embeddings/oleObject3.bin"/><Relationship Id="rId9" Type="http://schemas.openxmlformats.org/officeDocument/2006/relationships/image" Target="../media/image5.png"/><Relationship Id="rId5" Type="http://schemas.openxmlformats.org/officeDocument/2006/relationships/oleObject" Target="../embeddings/oleObject3.bin"/><Relationship Id="rId6" Type="http://schemas.openxmlformats.org/officeDocument/2006/relationships/image" Target="../media/image4.png"/><Relationship Id="rId7" Type="http://schemas.openxmlformats.org/officeDocument/2006/relationships/oleObject" Target="../embeddings/oleObject4.bin"/><Relationship Id="rId8"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vmlDrawing" Target="../drawings/vmlDrawing3.vml"/><Relationship Id="rId4" Type="http://schemas.openxmlformats.org/officeDocument/2006/relationships/image" Target="../media/image10.jpg"/><Relationship Id="rId5" Type="http://schemas.openxmlformats.org/officeDocument/2006/relationships/oleObject" Target="../embeddings/oleObject5.bin"/><Relationship Id="rId6" Type="http://schemas.openxmlformats.org/officeDocument/2006/relationships/oleObject" Target="../embeddings/oleObject5.bin"/><Relationship Id="rId7"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hyperlink" Target="https://music-encoding.org/tutorials" TargetMode="External"/><Relationship Id="rId5" Type="http://schemas.openxmlformats.org/officeDocument/2006/relationships/hyperlink" Target="https://music-encoding.org/resources/tutorials.html" TargetMode="External"/><Relationship Id="rId6" Type="http://schemas.openxmlformats.org/officeDocument/2006/relationships/hyperlink" Target="https://music-encoding.org/resources/tutorials.html" TargetMode="External"/><Relationship Id="rId7" Type="http://schemas.openxmlformats.org/officeDocument/2006/relationships/hyperlink" Target="https://music-encoding.org/resources/tutorial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35.png"/><Relationship Id="rId5" Type="http://schemas.openxmlformats.org/officeDocument/2006/relationships/hyperlink" Target="https://music-encoding.org/guidelines/v5/content/shared.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4.png"/><Relationship Id="rId4" Type="http://schemas.openxmlformats.org/officeDocument/2006/relationships/hyperlink" Target="https://music-encoding.org/guidelines/v5/content/shared.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hyperlink" Target="https://music-encoding.org/guidelines/v5/content/shared.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image" Target="../media/image35.png"/><Relationship Id="rId7" Type="http://schemas.openxmlformats.org/officeDocument/2006/relationships/image" Target="../media/image54.png"/><Relationship Id="rId8"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vmlDrawing" Target="../drawings/vmlDrawing4.vml"/><Relationship Id="rId4" Type="http://schemas.openxmlformats.org/officeDocument/2006/relationships/oleObject" Target="../embeddings/oleObject6.bin"/><Relationship Id="rId5" Type="http://schemas.openxmlformats.org/officeDocument/2006/relationships/oleObject" Target="../embeddings/oleObject6.bin"/><Relationship Id="rId6"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music-encoding.org/guidelines/v5/elements/nc.html#mayContain_class_tab"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music-encoding.org/guidelines/v5/elements/nc.html#mayContain_class_tab" TargetMode="Externa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music-encoding.org/guidelines/v5/elements/nc.html#mayContain_class_tab" TargetMode="Externa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music-encoding.org/guidelines/v5/elements/nc.html#attributes_full_tab"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vmlDrawing" Target="../drawings/vmlDrawing5.vml"/><Relationship Id="rId4" Type="http://schemas.openxmlformats.org/officeDocument/2006/relationships/oleObject" Target="../embeddings/oleObject7.bin"/><Relationship Id="rId9" Type="http://schemas.openxmlformats.org/officeDocument/2006/relationships/image" Target="../media/image5.png"/><Relationship Id="rId5" Type="http://schemas.openxmlformats.org/officeDocument/2006/relationships/oleObject" Target="../embeddings/oleObject7.bin"/><Relationship Id="rId6" Type="http://schemas.openxmlformats.org/officeDocument/2006/relationships/image" Target="../media/image4.png"/><Relationship Id="rId7" Type="http://schemas.openxmlformats.org/officeDocument/2006/relationships/oleObject" Target="../embeddings/oleObject8.bin"/><Relationship Id="rId8" Type="http://schemas.openxmlformats.org/officeDocument/2006/relationships/oleObject" Target="../embeddings/oleObject8.bin"/></Relationships>
</file>

<file path=ppt/slides/_rels/slide44.xml.rels><?xml version="1.0" encoding="UTF-8" standalone="yes"?><Relationships xmlns="http://schemas.openxmlformats.org/package/2006/relationships"><Relationship Id="rId11" Type="http://schemas.openxmlformats.org/officeDocument/2006/relationships/oleObject" Target="../embeddings/oleObject11.bin"/><Relationship Id="rId10" Type="http://schemas.openxmlformats.org/officeDocument/2006/relationships/oleObject" Target="../embeddings/oleObject11.bin"/><Relationship Id="rId13" Type="http://schemas.openxmlformats.org/officeDocument/2006/relationships/oleObject" Target="../embeddings/oleObject12.bin"/><Relationship Id="rId12" Type="http://schemas.openxmlformats.org/officeDocument/2006/relationships/image" Target="../media/image42.png"/><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vmlDrawing" Target="../drawings/vmlDrawing6.vml"/><Relationship Id="rId4" Type="http://schemas.openxmlformats.org/officeDocument/2006/relationships/oleObject" Target="../embeddings/oleObject9.bin"/><Relationship Id="rId9" Type="http://schemas.openxmlformats.org/officeDocument/2006/relationships/image" Target="../media/image56.png"/><Relationship Id="rId15" Type="http://schemas.openxmlformats.org/officeDocument/2006/relationships/image" Target="../media/image41.png"/><Relationship Id="rId14" Type="http://schemas.openxmlformats.org/officeDocument/2006/relationships/oleObject" Target="../embeddings/oleObject12.bin"/><Relationship Id="rId5" Type="http://schemas.openxmlformats.org/officeDocument/2006/relationships/oleObject" Target="../embeddings/oleObject9.bin"/><Relationship Id="rId6" Type="http://schemas.openxmlformats.org/officeDocument/2006/relationships/image" Target="../media/image40.png"/><Relationship Id="rId7" Type="http://schemas.openxmlformats.org/officeDocument/2006/relationships/oleObject" Target="../embeddings/oleObject10.bin"/><Relationship Id="rId8" Type="http://schemas.openxmlformats.org/officeDocument/2006/relationships/oleObject" Target="../embeddings/oleObject10.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7.png"/><Relationship Id="rId4" Type="http://schemas.openxmlformats.org/officeDocument/2006/relationships/hyperlink" Target="https://music-encoding.org/guidelines/v5/content/neumes.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3.png"/><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3.png"/><Relationship Id="rId4"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3.png"/><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6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6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7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66.png"/><Relationship Id="rId4" Type="http://schemas.openxmlformats.org/officeDocument/2006/relationships/image" Target="../media/image5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3.png"/><Relationship Id="rId4" Type="http://schemas.openxmlformats.org/officeDocument/2006/relationships/image" Target="../media/image51.jpg"/><Relationship Id="rId5"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1.jpg"/><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png"/><Relationship Id="rId4" Type="http://schemas.openxmlformats.org/officeDocument/2006/relationships/image" Target="../media/image61.png"/><Relationship Id="rId9" Type="http://schemas.openxmlformats.org/officeDocument/2006/relationships/image" Target="../media/image17.png"/><Relationship Id="rId5" Type="http://schemas.openxmlformats.org/officeDocument/2006/relationships/image" Target="../media/image63.png"/><Relationship Id="rId6" Type="http://schemas.openxmlformats.org/officeDocument/2006/relationships/image" Target="../media/image65.png"/><Relationship Id="rId7" Type="http://schemas.openxmlformats.org/officeDocument/2006/relationships/image" Target="../media/image53.png"/><Relationship Id="rId8"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368912" y="1724001"/>
            <a:ext cx="11583374" cy="2137401"/>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333333"/>
              </a:buClr>
              <a:buSzPts val="5400"/>
              <a:buFont typeface="Calibri"/>
              <a:buNone/>
            </a:pPr>
            <a:r>
              <a:rPr b="1" lang="en-CA" sz="5400" cap="small">
                <a:solidFill>
                  <a:srgbClr val="333333"/>
                </a:solidFill>
              </a:rPr>
              <a:t>The Music Encoding Initiative </a:t>
            </a:r>
            <a:br>
              <a:rPr b="1" lang="en-CA" sz="5400" cap="small">
                <a:solidFill>
                  <a:srgbClr val="333333"/>
                </a:solidFill>
              </a:rPr>
            </a:br>
            <a:r>
              <a:rPr lang="en-CA" sz="5400" cap="small">
                <a:solidFill>
                  <a:srgbClr val="333333"/>
                </a:solidFill>
              </a:rPr>
              <a:t>encoding of early music</a:t>
            </a:r>
            <a:endParaRPr sz="5400" cap="small"/>
          </a:p>
        </p:txBody>
      </p:sp>
      <p:sp>
        <p:nvSpPr>
          <p:cNvPr id="90" name="Google Shape;90;p1"/>
          <p:cNvSpPr txBox="1"/>
          <p:nvPr>
            <p:ph idx="1" type="subTitle"/>
          </p:nvPr>
        </p:nvSpPr>
        <p:spPr>
          <a:xfrm>
            <a:off x="1588599" y="3614531"/>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b="0" i="0">
              <a:solidFill>
                <a:srgbClr val="333333"/>
              </a:solidFill>
              <a:latin typeface="Arial"/>
              <a:ea typeface="Arial"/>
              <a:cs typeface="Arial"/>
              <a:sym typeface="Arial"/>
            </a:endParaRPr>
          </a:p>
          <a:p>
            <a:pPr indent="0" lvl="0" marL="0" rtl="0" algn="ctr">
              <a:lnSpc>
                <a:spcPct val="100000"/>
              </a:lnSpc>
              <a:spcBef>
                <a:spcPts val="0"/>
              </a:spcBef>
              <a:spcAft>
                <a:spcPts val="0"/>
              </a:spcAft>
              <a:buClr>
                <a:schemeClr val="accent2"/>
              </a:buClr>
              <a:buSzPts val="3200"/>
              <a:buNone/>
            </a:pPr>
            <a:r>
              <a:rPr b="1" i="0" lang="en-CA" sz="3200">
                <a:solidFill>
                  <a:schemeClr val="accent2"/>
                </a:solidFill>
                <a:highlight>
                  <a:srgbClr val="FFFFFF"/>
                </a:highlight>
              </a:rPr>
              <a:t>Martha E. Thomae, Elsa De Luca</a:t>
            </a:r>
            <a:endParaRPr/>
          </a:p>
          <a:p>
            <a:pPr indent="0" lvl="0" marL="0" rtl="0" algn="ctr">
              <a:lnSpc>
                <a:spcPct val="100000"/>
              </a:lnSpc>
              <a:spcBef>
                <a:spcPts val="0"/>
              </a:spcBef>
              <a:spcAft>
                <a:spcPts val="0"/>
              </a:spcAft>
              <a:buClr>
                <a:schemeClr val="accent2"/>
              </a:buClr>
              <a:buSzPts val="2400"/>
              <a:buNone/>
            </a:pPr>
            <a:r>
              <a:rPr lang="en-CA">
                <a:solidFill>
                  <a:schemeClr val="accent2"/>
                </a:solidFill>
              </a:rPr>
              <a:t>CESEM-IN2PAST, Universidade NOVA de Lisboa </a:t>
            </a:r>
            <a:endParaRPr>
              <a:solidFill>
                <a:schemeClr val="accent2"/>
              </a:solidFill>
            </a:endParaRPr>
          </a:p>
        </p:txBody>
      </p:sp>
      <p:pic>
        <p:nvPicPr>
          <p:cNvPr id="91" name="Google Shape;91;p1"/>
          <p:cNvPicPr preferRelativeResize="0"/>
          <p:nvPr/>
        </p:nvPicPr>
        <p:blipFill rotWithShape="1">
          <a:blip r:embed="rId3">
            <a:alphaModFix/>
          </a:blip>
          <a:srcRect b="0" l="0" r="0" t="0"/>
          <a:stretch/>
        </p:blipFill>
        <p:spPr>
          <a:xfrm>
            <a:off x="2634056" y="5782703"/>
            <a:ext cx="2971495" cy="866387"/>
          </a:xfrm>
          <a:prstGeom prst="rect">
            <a:avLst/>
          </a:prstGeom>
          <a:noFill/>
          <a:ln>
            <a:noFill/>
          </a:ln>
        </p:spPr>
      </p:pic>
      <p:pic>
        <p:nvPicPr>
          <p:cNvPr id="92" name="Google Shape;92;p1"/>
          <p:cNvPicPr preferRelativeResize="0"/>
          <p:nvPr/>
        </p:nvPicPr>
        <p:blipFill rotWithShape="1">
          <a:blip r:embed="rId4">
            <a:alphaModFix/>
          </a:blip>
          <a:srcRect b="16837" l="0" r="0" t="21999"/>
          <a:stretch/>
        </p:blipFill>
        <p:spPr>
          <a:xfrm>
            <a:off x="6107709" y="5815190"/>
            <a:ext cx="2609858" cy="838036"/>
          </a:xfrm>
          <a:prstGeom prst="rect">
            <a:avLst/>
          </a:prstGeom>
          <a:noFill/>
          <a:ln>
            <a:noFill/>
          </a:ln>
        </p:spPr>
      </p:pic>
      <p:pic>
        <p:nvPicPr>
          <p:cNvPr id="93" name="Google Shape;93;p1"/>
          <p:cNvPicPr preferRelativeResize="0"/>
          <p:nvPr/>
        </p:nvPicPr>
        <p:blipFill rotWithShape="1">
          <a:blip r:embed="rId5">
            <a:alphaModFix/>
          </a:blip>
          <a:srcRect b="25566" l="14353" r="11107" t="26012"/>
          <a:stretch/>
        </p:blipFill>
        <p:spPr>
          <a:xfrm>
            <a:off x="9270784" y="5675828"/>
            <a:ext cx="2752340" cy="1005749"/>
          </a:xfrm>
          <a:prstGeom prst="rect">
            <a:avLst/>
          </a:prstGeom>
          <a:noFill/>
          <a:ln>
            <a:noFill/>
          </a:ln>
        </p:spPr>
      </p:pic>
      <p:pic>
        <p:nvPicPr>
          <p:cNvPr id="94" name="Google Shape;94;p1"/>
          <p:cNvPicPr preferRelativeResize="0"/>
          <p:nvPr/>
        </p:nvPicPr>
        <p:blipFill rotWithShape="1">
          <a:blip r:embed="rId6">
            <a:alphaModFix/>
          </a:blip>
          <a:srcRect b="0" l="0" r="0" t="0"/>
          <a:stretch/>
        </p:blipFill>
        <p:spPr>
          <a:xfrm>
            <a:off x="316022" y="5769359"/>
            <a:ext cx="1984104" cy="958984"/>
          </a:xfrm>
          <a:prstGeom prst="rect">
            <a:avLst/>
          </a:prstGeom>
          <a:noFill/>
          <a:ln>
            <a:noFill/>
          </a:ln>
        </p:spPr>
      </p:pic>
      <p:sp>
        <p:nvSpPr>
          <p:cNvPr id="95" name="Google Shape;95;p1"/>
          <p:cNvSpPr txBox="1"/>
          <p:nvPr/>
        </p:nvSpPr>
        <p:spPr>
          <a:xfrm>
            <a:off x="135437" y="276248"/>
            <a:ext cx="6096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1800" u="none" cap="none" strike="noStrike">
                <a:solidFill>
                  <a:schemeClr val="dk1"/>
                </a:solidFill>
                <a:latin typeface="Calibri"/>
                <a:ea typeface="Calibri"/>
                <a:cs typeface="Calibri"/>
                <a:sym typeface="Calibri"/>
              </a:rPr>
              <a:t>Research project: </a:t>
            </a:r>
            <a:r>
              <a:rPr b="0" i="1" lang="en-CA" sz="1800" u="none" cap="none" strike="noStrike">
                <a:solidFill>
                  <a:schemeClr val="dk1"/>
                </a:solidFill>
                <a:latin typeface="Calibri"/>
                <a:ea typeface="Calibri"/>
                <a:cs typeface="Calibri"/>
                <a:sym typeface="Calibri"/>
              </a:rPr>
              <a:t>Echoes from the Past: </a:t>
            </a:r>
            <a:endParaRPr/>
          </a:p>
          <a:p>
            <a:pPr indent="0" lvl="0" marL="0" marR="0" rtl="0" algn="l">
              <a:spcBef>
                <a:spcPts val="0"/>
              </a:spcBef>
              <a:spcAft>
                <a:spcPts val="0"/>
              </a:spcAft>
              <a:buNone/>
            </a:pPr>
            <a:r>
              <a:rPr i="1" lang="en-CA" sz="1800">
                <a:solidFill>
                  <a:schemeClr val="dk1"/>
                </a:solidFill>
                <a:latin typeface="Calibri"/>
                <a:ea typeface="Calibri"/>
                <a:cs typeface="Calibri"/>
                <a:sym typeface="Calibri"/>
              </a:rPr>
              <a:t>Unveiling a Lost Soundscape with Digital Analysis</a:t>
            </a:r>
            <a:br>
              <a:rPr lang="en-CA" sz="1800">
                <a:solidFill>
                  <a:schemeClr val="dk1"/>
                </a:solidFill>
                <a:latin typeface="Calibri"/>
                <a:ea typeface="Calibri"/>
                <a:cs typeface="Calibri"/>
                <a:sym typeface="Calibri"/>
              </a:rPr>
            </a:br>
            <a:r>
              <a:rPr lang="en-CA" sz="1800">
                <a:solidFill>
                  <a:schemeClr val="dk1"/>
                </a:solidFill>
                <a:latin typeface="Calibri"/>
                <a:ea typeface="Calibri"/>
                <a:cs typeface="Calibri"/>
                <a:sym typeface="Calibri"/>
              </a:rPr>
              <a:t> </a:t>
            </a:r>
            <a:r>
              <a:rPr i="0" lang="en-CA" sz="1800" u="sng" strike="noStrike">
                <a:solidFill>
                  <a:srgbClr val="CE1B28"/>
                </a:solidFill>
                <a:highlight>
                  <a:srgbClr val="FFFFFF"/>
                </a:highlight>
                <a:latin typeface="Calibri"/>
                <a:ea typeface="Calibri"/>
                <a:cs typeface="Calibri"/>
                <a:sym typeface="Calibri"/>
                <a:hlinkClick r:id="rId7">
                  <a:extLst>
                    <a:ext uri="{A12FA001-AC4F-418D-AE19-62706E023703}">
                      <ahyp:hlinkClr val="tx"/>
                    </a:ext>
                  </a:extLst>
                </a:hlinkClick>
              </a:rPr>
              <a:t>https://doi.org/10.54499/2022.01957.PTDC</a:t>
            </a:r>
            <a:br>
              <a:rPr i="0" lang="en-CA" sz="1800" u="none" strike="noStrike">
                <a:solidFill>
                  <a:srgbClr val="CE1B28"/>
                </a:solidFill>
                <a:highlight>
                  <a:srgbClr val="FFFFFF"/>
                </a:highlight>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96" name="Google Shape;96;p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Ctrl-F: Helping make networks more resilient against misinformation can be  as simple as two fingers | Nieman Journalism Lab" id="103" name="Google Shape;103;p2"/>
          <p:cNvPicPr preferRelativeResize="0"/>
          <p:nvPr/>
        </p:nvPicPr>
        <p:blipFill rotWithShape="1">
          <a:blip r:embed="rId3">
            <a:alphaModFix/>
          </a:blip>
          <a:srcRect b="0" l="0" r="0" t="0"/>
          <a:stretch/>
        </p:blipFill>
        <p:spPr>
          <a:xfrm>
            <a:off x="879775" y="1435510"/>
            <a:ext cx="10474025" cy="5422490"/>
          </a:xfrm>
          <a:prstGeom prst="rect">
            <a:avLst/>
          </a:prstGeom>
          <a:noFill/>
          <a:ln>
            <a:noFill/>
          </a:ln>
        </p:spPr>
      </p:pic>
      <p:pic>
        <p:nvPicPr>
          <p:cNvPr id="104" name="Google Shape;104;p2"/>
          <p:cNvPicPr preferRelativeResize="0"/>
          <p:nvPr/>
        </p:nvPicPr>
        <p:blipFill rotWithShape="1">
          <a:blip r:embed="rId4">
            <a:alphaModFix/>
          </a:blip>
          <a:srcRect b="84513" l="65561" r="11449" t="9006"/>
          <a:stretch/>
        </p:blipFill>
        <p:spPr>
          <a:xfrm>
            <a:off x="6371519" y="365125"/>
            <a:ext cx="4916129" cy="779463"/>
          </a:xfrm>
          <a:prstGeom prst="rect">
            <a:avLst/>
          </a:prstGeom>
          <a:noFill/>
          <a:ln>
            <a:noFill/>
          </a:ln>
        </p:spPr>
      </p:pic>
      <p:sp>
        <p:nvSpPr>
          <p:cNvPr id="105" name="Google Shape;105;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2" name="Google Shape;112;p3"/>
          <p:cNvPicPr preferRelativeResize="0"/>
          <p:nvPr>
            <p:ph idx="1" type="body"/>
          </p:nvPr>
        </p:nvPicPr>
        <p:blipFill rotWithShape="1">
          <a:blip r:embed="rId3">
            <a:alphaModFix/>
          </a:blip>
          <a:srcRect b="0" l="0" r="0" t="0"/>
          <a:stretch/>
        </p:blipFill>
        <p:spPr>
          <a:xfrm>
            <a:off x="0" y="0"/>
            <a:ext cx="4997885" cy="6951092"/>
          </a:xfrm>
          <a:prstGeom prst="rect">
            <a:avLst/>
          </a:prstGeom>
          <a:noFill/>
          <a:ln>
            <a:noFill/>
          </a:ln>
        </p:spPr>
      </p:pic>
      <p:pic>
        <p:nvPicPr>
          <p:cNvPr descr="cmd-f 2021: British Columbia's largest all-women* hackathon - Devpost" id="113" name="Google Shape;113;p3"/>
          <p:cNvPicPr preferRelativeResize="0"/>
          <p:nvPr/>
        </p:nvPicPr>
        <p:blipFill rotWithShape="1">
          <a:blip r:embed="rId4">
            <a:alphaModFix/>
          </a:blip>
          <a:srcRect b="4653" l="5075" r="5062" t="23527"/>
          <a:stretch/>
        </p:blipFill>
        <p:spPr>
          <a:xfrm>
            <a:off x="6716003" y="2996926"/>
            <a:ext cx="2567836" cy="2052270"/>
          </a:xfrm>
          <a:prstGeom prst="rect">
            <a:avLst/>
          </a:prstGeom>
          <a:noFill/>
          <a:ln>
            <a:noFill/>
          </a:ln>
        </p:spPr>
      </p:pic>
      <p:pic>
        <p:nvPicPr>
          <p:cNvPr id="114" name="Google Shape;114;p3"/>
          <p:cNvPicPr preferRelativeResize="0"/>
          <p:nvPr/>
        </p:nvPicPr>
        <p:blipFill rotWithShape="1">
          <a:blip r:embed="rId5">
            <a:alphaModFix/>
          </a:blip>
          <a:srcRect b="83745" l="62833" r="13416" t="8401"/>
          <a:stretch/>
        </p:blipFill>
        <p:spPr>
          <a:xfrm>
            <a:off x="5694570" y="576196"/>
            <a:ext cx="5996384" cy="1115407"/>
          </a:xfrm>
          <a:prstGeom prst="rect">
            <a:avLst/>
          </a:prstGeom>
          <a:noFill/>
          <a:ln>
            <a:noFill/>
          </a:ln>
        </p:spPr>
      </p:pic>
      <p:sp>
        <p:nvSpPr>
          <p:cNvPr id="115" name="Google Shape;11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22" name="Google Shape;122;p4"/>
          <p:cNvPicPr preferRelativeResize="0"/>
          <p:nvPr/>
        </p:nvPicPr>
        <p:blipFill rotWithShape="1">
          <a:blip r:embed="rId3">
            <a:alphaModFix/>
          </a:blip>
          <a:srcRect b="25247" l="81004" r="221" t="65222"/>
          <a:stretch/>
        </p:blipFill>
        <p:spPr>
          <a:xfrm>
            <a:off x="5672435" y="2055813"/>
            <a:ext cx="5959282" cy="4330348"/>
          </a:xfrm>
          <a:prstGeom prst="rect">
            <a:avLst/>
          </a:prstGeom>
          <a:noFill/>
          <a:ln>
            <a:noFill/>
          </a:ln>
        </p:spPr>
      </p:pic>
      <p:sp>
        <p:nvSpPr>
          <p:cNvPr id="123" name="Google Shape;123;p4"/>
          <p:cNvSpPr/>
          <p:nvPr/>
        </p:nvSpPr>
        <p:spPr>
          <a:xfrm>
            <a:off x="6863788" y="3074425"/>
            <a:ext cx="520860" cy="868101"/>
          </a:xfrm>
          <a:prstGeom prst="roundRect">
            <a:avLst>
              <a:gd fmla="val 16667" name="adj"/>
            </a:avLst>
          </a:prstGeom>
          <a:noFill/>
          <a:ln cap="flat" cmpd="sng" w="76200">
            <a:solidFill>
              <a:srgbClr val="FFD9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24" name="Google Shape;124;p4"/>
          <p:cNvPicPr preferRelativeResize="0"/>
          <p:nvPr/>
        </p:nvPicPr>
        <p:blipFill rotWithShape="1">
          <a:blip r:embed="rId4">
            <a:alphaModFix/>
          </a:blip>
          <a:srcRect b="83745" l="62833" r="13416" t="8401"/>
          <a:stretch/>
        </p:blipFill>
        <p:spPr>
          <a:xfrm>
            <a:off x="5694570" y="576196"/>
            <a:ext cx="5996384" cy="1115407"/>
          </a:xfrm>
          <a:prstGeom prst="rect">
            <a:avLst/>
          </a:prstGeom>
          <a:noFill/>
          <a:ln>
            <a:noFill/>
          </a:ln>
        </p:spPr>
      </p:pic>
      <p:sp>
        <p:nvSpPr>
          <p:cNvPr id="125" name="Google Shape;1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126" name="Google Shape;126;p4"/>
          <p:cNvPicPr preferRelativeResize="0"/>
          <p:nvPr/>
        </p:nvPicPr>
        <p:blipFill rotWithShape="1">
          <a:blip r:embed="rId3">
            <a:alphaModFix/>
          </a:blip>
          <a:srcRect b="0" l="0" r="0" t="0"/>
          <a:stretch/>
        </p:blipFill>
        <p:spPr>
          <a:xfrm>
            <a:off x="0" y="0"/>
            <a:ext cx="4997885" cy="695109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idx="1" type="body"/>
          </p:nvPr>
        </p:nvSpPr>
        <p:spPr>
          <a:xfrm>
            <a:off x="555320" y="5662117"/>
            <a:ext cx="11169041" cy="740666"/>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33" name="Google Shape;133;p5"/>
          <p:cNvSpPr txBox="1"/>
          <p:nvPr/>
        </p:nvSpPr>
        <p:spPr>
          <a:xfrm>
            <a:off x="340212" y="3274614"/>
            <a:ext cx="8131140" cy="261084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CA" sz="2800">
                <a:solidFill>
                  <a:schemeClr val="dk1"/>
                </a:solidFill>
                <a:latin typeface="Calibri"/>
                <a:ea typeface="Calibri"/>
                <a:cs typeface="Calibri"/>
                <a:sym typeface="Calibri"/>
              </a:rPr>
              <a:t>Optical Music Recognition </a:t>
            </a:r>
            <a:r>
              <a:rPr b="0" i="0" lang="en-CA" sz="2800">
                <a:solidFill>
                  <a:schemeClr val="dk1"/>
                </a:solidFill>
                <a:latin typeface="Calibri"/>
                <a:ea typeface="Calibri"/>
                <a:cs typeface="Calibri"/>
                <a:sym typeface="Calibri"/>
              </a:rPr>
              <a:t>(OMR) is the transformation of images of music notation into digital representations with limited direct human involvement. </a:t>
            </a:r>
            <a:endParaRPr sz="2800">
              <a:solidFill>
                <a:schemeClr val="dk1"/>
              </a:solidFill>
              <a:latin typeface="Calibri"/>
              <a:ea typeface="Calibri"/>
              <a:cs typeface="Calibri"/>
              <a:sym typeface="Calibri"/>
            </a:endParaRPr>
          </a:p>
        </p:txBody>
      </p:sp>
      <p:sp>
        <p:nvSpPr>
          <p:cNvPr id="134" name="Google Shape;13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descr="Deep Learning for Optical Music Recognition (2017) • Interactive ..." id="135" name="Google Shape;135;p5"/>
          <p:cNvPicPr preferRelativeResize="0"/>
          <p:nvPr/>
        </p:nvPicPr>
        <p:blipFill rotWithShape="1">
          <a:blip r:embed="rId3">
            <a:alphaModFix/>
          </a:blip>
          <a:srcRect b="0" l="0" r="0" t="0"/>
          <a:stretch/>
        </p:blipFill>
        <p:spPr>
          <a:xfrm>
            <a:off x="8981379" y="2723321"/>
            <a:ext cx="2372421" cy="23724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CA"/>
              <a:t>Why Would We Want to Encode Music</a:t>
            </a:r>
            <a:endParaRPr/>
          </a:p>
        </p:txBody>
      </p:sp>
      <p:sp>
        <p:nvSpPr>
          <p:cNvPr id="142" name="Google Shape;142;p6"/>
          <p:cNvSpPr txBox="1"/>
          <p:nvPr>
            <p:ph idx="1" type="body"/>
          </p:nvPr>
        </p:nvSpPr>
        <p:spPr>
          <a:xfrm>
            <a:off x="838200" y="1690688"/>
            <a:ext cx="10515600" cy="5167312"/>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150000"/>
              </a:lnSpc>
              <a:spcBef>
                <a:spcPts val="0"/>
              </a:spcBef>
              <a:spcAft>
                <a:spcPts val="0"/>
              </a:spcAft>
              <a:buClr>
                <a:schemeClr val="dk1"/>
              </a:buClr>
              <a:buSzPts val="3200"/>
              <a:buChar char="•"/>
            </a:pPr>
            <a:r>
              <a:rPr lang="en-CA" sz="3200"/>
              <a:t>Machine-readable files → ask the computer:</a:t>
            </a:r>
            <a:endParaRPr/>
          </a:p>
          <a:p>
            <a:pPr indent="-228600" lvl="1" marL="685800" rtl="0" algn="l">
              <a:lnSpc>
                <a:spcPct val="150000"/>
              </a:lnSpc>
              <a:spcBef>
                <a:spcPts val="500"/>
              </a:spcBef>
              <a:spcAft>
                <a:spcPts val="0"/>
              </a:spcAft>
              <a:buClr>
                <a:schemeClr val="dk1"/>
              </a:buClr>
              <a:buSzPts val="2800"/>
              <a:buChar char="•"/>
            </a:pPr>
            <a:r>
              <a:rPr lang="en-CA" sz="2800"/>
              <a:t>Perform searches</a:t>
            </a:r>
            <a:endParaRPr/>
          </a:p>
          <a:p>
            <a:pPr indent="-228600" lvl="2" marL="1143000" rtl="0" algn="l">
              <a:lnSpc>
                <a:spcPct val="150000"/>
              </a:lnSpc>
              <a:spcBef>
                <a:spcPts val="500"/>
              </a:spcBef>
              <a:spcAft>
                <a:spcPts val="0"/>
              </a:spcAft>
              <a:buClr>
                <a:schemeClr val="dk1"/>
              </a:buClr>
              <a:buSzPts val="2400"/>
              <a:buChar char="•"/>
            </a:pPr>
            <a:r>
              <a:rPr lang="en-CA" sz="2400"/>
              <a:t>Melodic search</a:t>
            </a:r>
            <a:endParaRPr/>
          </a:p>
          <a:p>
            <a:pPr indent="-228600" lvl="2" marL="1143000" rtl="0" algn="l">
              <a:lnSpc>
                <a:spcPct val="150000"/>
              </a:lnSpc>
              <a:spcBef>
                <a:spcPts val="500"/>
              </a:spcBef>
              <a:spcAft>
                <a:spcPts val="0"/>
              </a:spcAft>
              <a:buClr>
                <a:schemeClr val="dk1"/>
              </a:buClr>
              <a:buSzPts val="2400"/>
              <a:buChar char="•"/>
            </a:pPr>
            <a:r>
              <a:rPr lang="en-CA" sz="2400"/>
              <a:t>Search for ornamental neume shapes</a:t>
            </a:r>
            <a:endParaRPr/>
          </a:p>
          <a:p>
            <a:pPr indent="-228600" lvl="2" marL="1143000" rtl="0" algn="l">
              <a:lnSpc>
                <a:spcPct val="150000"/>
              </a:lnSpc>
              <a:spcBef>
                <a:spcPts val="500"/>
              </a:spcBef>
              <a:spcAft>
                <a:spcPts val="0"/>
              </a:spcAft>
              <a:buClr>
                <a:schemeClr val="dk1"/>
              </a:buClr>
              <a:buSzPts val="2400"/>
              <a:buChar char="•"/>
            </a:pPr>
            <a:r>
              <a:rPr lang="en-CA" sz="2400"/>
              <a:t>Look for melismatic passages</a:t>
            </a:r>
            <a:endParaRPr/>
          </a:p>
          <a:p>
            <a:pPr indent="-228600" lvl="1" marL="685800" rtl="0" algn="l">
              <a:lnSpc>
                <a:spcPct val="150000"/>
              </a:lnSpc>
              <a:spcBef>
                <a:spcPts val="500"/>
              </a:spcBef>
              <a:spcAft>
                <a:spcPts val="0"/>
              </a:spcAft>
              <a:buClr>
                <a:schemeClr val="dk1"/>
              </a:buClr>
              <a:buSzPts val="2800"/>
              <a:buChar char="•"/>
            </a:pPr>
            <a:r>
              <a:rPr lang="en-CA" sz="2800"/>
              <a:t>Music analysis</a:t>
            </a:r>
            <a:endParaRPr/>
          </a:p>
          <a:p>
            <a:pPr indent="-228600" lvl="2" marL="1143000" rtl="0" algn="l">
              <a:lnSpc>
                <a:spcPct val="150000"/>
              </a:lnSpc>
              <a:spcBef>
                <a:spcPts val="500"/>
              </a:spcBef>
              <a:spcAft>
                <a:spcPts val="0"/>
              </a:spcAft>
              <a:buClr>
                <a:schemeClr val="dk1"/>
              </a:buClr>
              <a:buSzPts val="2400"/>
              <a:buChar char="•"/>
            </a:pPr>
            <a:r>
              <a:rPr lang="en-CA" sz="2400"/>
              <a:t>Cross-comparsion</a:t>
            </a:r>
            <a:endParaRPr/>
          </a:p>
          <a:p>
            <a:pPr indent="-228600" lvl="2" marL="1143000" rtl="0" algn="l">
              <a:lnSpc>
                <a:spcPct val="150000"/>
              </a:lnSpc>
              <a:spcBef>
                <a:spcPts val="500"/>
              </a:spcBef>
              <a:spcAft>
                <a:spcPts val="0"/>
              </a:spcAft>
              <a:buClr>
                <a:schemeClr val="dk1"/>
              </a:buClr>
              <a:buSzPts val="2400"/>
              <a:buChar char="•"/>
            </a:pPr>
            <a:r>
              <a:rPr lang="en-CA" sz="2400"/>
              <a:t>Compute the mode based on: finalis, repercussio, and range</a:t>
            </a:r>
            <a:endParaRPr/>
          </a:p>
          <a:p>
            <a:pPr indent="-76200" lvl="1" marL="685800" rtl="0" algn="l">
              <a:lnSpc>
                <a:spcPct val="150000"/>
              </a:lnSpc>
              <a:spcBef>
                <a:spcPts val="500"/>
              </a:spcBef>
              <a:spcAft>
                <a:spcPts val="0"/>
              </a:spcAft>
              <a:buClr>
                <a:schemeClr val="dk1"/>
              </a:buClr>
              <a:buSzPts val="2400"/>
              <a:buNone/>
            </a:pPr>
            <a:r>
              <a:t/>
            </a:r>
            <a:endParaRPr/>
          </a:p>
        </p:txBody>
      </p:sp>
      <p:sp>
        <p:nvSpPr>
          <p:cNvPr id="143" name="Google Shape;1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idx="1" type="body"/>
          </p:nvPr>
        </p:nvSpPr>
        <p:spPr>
          <a:xfrm>
            <a:off x="838200" y="1825625"/>
            <a:ext cx="77724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50000"/>
              </a:lnSpc>
              <a:spcBef>
                <a:spcPts val="0"/>
              </a:spcBef>
              <a:spcAft>
                <a:spcPts val="0"/>
              </a:spcAft>
              <a:buClr>
                <a:schemeClr val="dk1"/>
              </a:buClr>
              <a:buSzPts val="2800"/>
              <a:buNone/>
            </a:pPr>
            <a:r>
              <a:rPr lang="en-CA" sz="2800"/>
              <a:t>The Music Encoding Initiative (</a:t>
            </a:r>
            <a:r>
              <a:rPr b="1" lang="en-CA" sz="2800"/>
              <a:t>MEI</a:t>
            </a:r>
            <a:r>
              <a:rPr lang="en-CA" sz="2800"/>
              <a:t>), inspired by the Text Encoding Initiative (</a:t>
            </a:r>
            <a:r>
              <a:rPr b="1" lang="en-CA" sz="2800"/>
              <a:t>TEI</a:t>
            </a:r>
            <a:r>
              <a:rPr lang="en-CA" sz="2800"/>
              <a:t>), is a joint effort of an open and cosmopolitan community of technologists, musicologists, musicians, librarians, and music enthusiasts who discuss and approve rules aiming at </a:t>
            </a:r>
            <a:r>
              <a:rPr b="1" lang="en-CA" sz="2800" u="sng"/>
              <a:t>fully capturing music documents into a machine-readable format</a:t>
            </a:r>
            <a:endParaRPr b="1" u="sng"/>
          </a:p>
        </p:txBody>
      </p:sp>
      <p:sp>
        <p:nvSpPr>
          <p:cNvPr id="150" name="Google Shape;1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151" name="Google Shape;151;p7"/>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200"/>
              <a:buFont typeface="Calibri"/>
              <a:buNone/>
            </a:pPr>
            <a:r>
              <a:rPr lang="en-CA" sz="4200">
                <a:solidFill>
                  <a:schemeClr val="dk1"/>
                </a:solidFill>
                <a:latin typeface="Calibri"/>
                <a:ea typeface="Calibri"/>
                <a:cs typeface="Calibri"/>
                <a:sym typeface="Calibri"/>
              </a:rPr>
              <a:t>Why Would We Want to Encode Music </a:t>
            </a:r>
            <a:r>
              <a:rPr b="1" lang="en-CA" sz="4200">
                <a:solidFill>
                  <a:schemeClr val="dk1"/>
                </a:solidFill>
                <a:latin typeface="Calibri"/>
                <a:ea typeface="Calibri"/>
                <a:cs typeface="Calibri"/>
                <a:sym typeface="Calibri"/>
              </a:rPr>
              <a:t>in MEI?</a:t>
            </a:r>
            <a:endParaRPr/>
          </a:p>
        </p:txBody>
      </p:sp>
      <p:pic>
        <p:nvPicPr>
          <p:cNvPr id="152" name="Google Shape;152;p7"/>
          <p:cNvPicPr preferRelativeResize="0"/>
          <p:nvPr/>
        </p:nvPicPr>
        <p:blipFill rotWithShape="1">
          <a:blip r:embed="rId3">
            <a:alphaModFix/>
          </a:blip>
          <a:srcRect b="0" l="0" r="0" t="0"/>
          <a:stretch/>
        </p:blipFill>
        <p:spPr>
          <a:xfrm>
            <a:off x="8759276" y="2911549"/>
            <a:ext cx="2988474" cy="1690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159" name="Google Shape;159;p8"/>
          <p:cNvPicPr preferRelativeResize="0"/>
          <p:nvPr/>
        </p:nvPicPr>
        <p:blipFill rotWithShape="1">
          <a:blip r:embed="rId3">
            <a:alphaModFix/>
          </a:blip>
          <a:srcRect b="31507" l="32707" r="20684" t="20639"/>
          <a:stretch/>
        </p:blipFill>
        <p:spPr>
          <a:xfrm>
            <a:off x="469796" y="1478643"/>
            <a:ext cx="6753964" cy="3900711"/>
          </a:xfrm>
          <a:prstGeom prst="rect">
            <a:avLst/>
          </a:prstGeom>
          <a:noFill/>
          <a:ln>
            <a:noFill/>
          </a:ln>
        </p:spPr>
      </p:pic>
      <p:sp>
        <p:nvSpPr>
          <p:cNvPr id="160" name="Google Shape;160;p8"/>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200"/>
              <a:buFont typeface="Calibri"/>
              <a:buNone/>
            </a:pPr>
            <a:r>
              <a:rPr lang="en-CA" sz="4200">
                <a:solidFill>
                  <a:schemeClr val="dk1"/>
                </a:solidFill>
                <a:latin typeface="Calibri"/>
                <a:ea typeface="Calibri"/>
                <a:cs typeface="Calibri"/>
                <a:sym typeface="Calibri"/>
              </a:rPr>
              <a:t>Why Would We Want to Encode Music </a:t>
            </a:r>
            <a:r>
              <a:rPr b="1" lang="en-CA" sz="4200">
                <a:solidFill>
                  <a:schemeClr val="dk1"/>
                </a:solidFill>
                <a:latin typeface="Calibri"/>
                <a:ea typeface="Calibri"/>
                <a:cs typeface="Calibri"/>
                <a:sym typeface="Calibri"/>
              </a:rPr>
              <a:t>in MEI?</a:t>
            </a:r>
            <a:endParaRPr/>
          </a:p>
        </p:txBody>
      </p:sp>
      <p:sp>
        <p:nvSpPr>
          <p:cNvPr id="161" name="Google Shape;161;p8"/>
          <p:cNvSpPr txBox="1"/>
          <p:nvPr/>
        </p:nvSpPr>
        <p:spPr>
          <a:xfrm>
            <a:off x="507492" y="5640405"/>
            <a:ext cx="1117701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800">
                <a:solidFill>
                  <a:schemeClr val="dk1"/>
                </a:solidFill>
                <a:latin typeface="Calibri"/>
                <a:ea typeface="Calibri"/>
                <a:cs typeface="Calibri"/>
                <a:sym typeface="Calibri"/>
              </a:rPr>
              <a:t>OMR recognizes the symbols on the page</a:t>
            </a:r>
            <a:endParaRPr/>
          </a:p>
          <a:p>
            <a:pPr indent="0" lvl="0" marL="0" marR="0" rtl="0" algn="l">
              <a:spcBef>
                <a:spcPts val="0"/>
              </a:spcBef>
              <a:spcAft>
                <a:spcPts val="0"/>
              </a:spcAft>
              <a:buNone/>
            </a:pPr>
            <a:r>
              <a:rPr lang="en-CA" sz="2800">
                <a:solidFill>
                  <a:schemeClr val="dk1"/>
                </a:solidFill>
                <a:latin typeface="Calibri"/>
                <a:ea typeface="Calibri"/>
                <a:cs typeface="Calibri"/>
                <a:sym typeface="Calibri"/>
              </a:rPr>
              <a:t>MEI provides information on the </a:t>
            </a:r>
            <a:r>
              <a:rPr i="1" lang="en-CA" sz="2800">
                <a:solidFill>
                  <a:schemeClr val="dk1"/>
                </a:solidFill>
                <a:latin typeface="Calibri"/>
                <a:ea typeface="Calibri"/>
                <a:cs typeface="Calibri"/>
                <a:sym typeface="Calibri"/>
              </a:rPr>
              <a:t>meaning</a:t>
            </a:r>
            <a:r>
              <a:rPr i="0" lang="en-CA" sz="2800">
                <a:solidFill>
                  <a:schemeClr val="dk1"/>
                </a:solidFill>
                <a:latin typeface="Calibri"/>
                <a:ea typeface="Calibri"/>
                <a:cs typeface="Calibri"/>
                <a:sym typeface="Calibri"/>
              </a:rPr>
              <a:t> of the musical symbols</a:t>
            </a:r>
            <a:endParaRPr sz="2800">
              <a:solidFill>
                <a:schemeClr val="dk1"/>
              </a:solidFill>
              <a:latin typeface="Calibri"/>
              <a:ea typeface="Calibri"/>
              <a:cs typeface="Calibri"/>
              <a:sym typeface="Calibri"/>
            </a:endParaRPr>
          </a:p>
        </p:txBody>
      </p:sp>
      <p:pic>
        <p:nvPicPr>
          <p:cNvPr id="162" name="Google Shape;162;p8"/>
          <p:cNvPicPr preferRelativeResize="0"/>
          <p:nvPr/>
        </p:nvPicPr>
        <p:blipFill rotWithShape="1">
          <a:blip r:embed="rId4">
            <a:alphaModFix/>
          </a:blip>
          <a:srcRect b="0" l="0" r="0" t="0"/>
          <a:stretch/>
        </p:blipFill>
        <p:spPr>
          <a:xfrm>
            <a:off x="8365326" y="2820109"/>
            <a:ext cx="2988474" cy="1690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idx="1" type="body"/>
          </p:nvPr>
        </p:nvSpPr>
        <p:spPr>
          <a:xfrm>
            <a:off x="838075" y="1618875"/>
            <a:ext cx="10515600" cy="5102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en-CA" sz="2400"/>
              <a:t>MEI (or </a:t>
            </a:r>
            <a:r>
              <a:rPr i="1" lang="en-CA" sz="2400"/>
              <a:t>Music Encoding Initiative</a:t>
            </a:r>
            <a:r>
              <a:rPr lang="en-CA" sz="2400"/>
              <a:t>) is a machine-readable format that allows for the encoding of </a:t>
            </a:r>
            <a:r>
              <a:rPr lang="en-CA" sz="2400">
                <a:solidFill>
                  <a:schemeClr val="accent1"/>
                </a:solidFill>
              </a:rPr>
              <a:t>early music </a:t>
            </a:r>
            <a:r>
              <a:rPr lang="en-CA" sz="2400"/>
              <a:t>among other things:</a:t>
            </a:r>
            <a:endParaRPr sz="2400"/>
          </a:p>
          <a:p>
            <a:pPr indent="-203200" lvl="0" marL="228600" rtl="0" algn="l">
              <a:lnSpc>
                <a:spcPct val="150000"/>
              </a:lnSpc>
              <a:spcBef>
                <a:spcPts val="1000"/>
              </a:spcBef>
              <a:spcAft>
                <a:spcPts val="0"/>
              </a:spcAft>
              <a:buClr>
                <a:schemeClr val="accent1"/>
              </a:buClr>
              <a:buSzPts val="2400"/>
              <a:buChar char="•"/>
            </a:pPr>
            <a:r>
              <a:rPr lang="en-CA" sz="2400">
                <a:solidFill>
                  <a:schemeClr val="accent1"/>
                </a:solidFill>
              </a:rPr>
              <a:t>Neume | Mensural | Tablature </a:t>
            </a:r>
            <a:r>
              <a:rPr lang="en-CA" sz="2400"/>
              <a:t>(plus common Western music notation, CMN)</a:t>
            </a:r>
            <a:endParaRPr sz="2400"/>
          </a:p>
          <a:p>
            <a:pPr indent="-203200" lvl="0" marL="228600" rtl="0" algn="l">
              <a:lnSpc>
                <a:spcPct val="150000"/>
              </a:lnSpc>
              <a:spcBef>
                <a:spcPts val="1000"/>
              </a:spcBef>
              <a:spcAft>
                <a:spcPts val="0"/>
              </a:spcAft>
              <a:buClr>
                <a:srgbClr val="C00000"/>
              </a:buClr>
              <a:buSzPts val="2400"/>
              <a:buChar char="•"/>
            </a:pPr>
            <a:r>
              <a:rPr lang="en-CA" sz="2400">
                <a:solidFill>
                  <a:srgbClr val="C00000"/>
                </a:solidFill>
              </a:rPr>
              <a:t>Rich metadata</a:t>
            </a:r>
            <a:endParaRPr sz="2400"/>
          </a:p>
          <a:p>
            <a:pPr indent="-203200" lvl="0" marL="228600" rtl="0" algn="l">
              <a:lnSpc>
                <a:spcPct val="150000"/>
              </a:lnSpc>
              <a:spcBef>
                <a:spcPts val="1000"/>
              </a:spcBef>
              <a:spcAft>
                <a:spcPts val="0"/>
              </a:spcAft>
              <a:buClr>
                <a:schemeClr val="accent6"/>
              </a:buClr>
              <a:buSzPts val="2400"/>
              <a:buChar char="•"/>
            </a:pPr>
            <a:r>
              <a:rPr lang="en-CA" sz="2400">
                <a:solidFill>
                  <a:schemeClr val="accent6"/>
                </a:solidFill>
              </a:rPr>
              <a:t>Relation to facsimiles &amp; recordings</a:t>
            </a:r>
            <a:endParaRPr sz="2400">
              <a:solidFill>
                <a:schemeClr val="accent6"/>
              </a:solidFill>
            </a:endParaRPr>
          </a:p>
          <a:p>
            <a:pPr indent="-203200" lvl="0" marL="228600" rtl="0" algn="l">
              <a:lnSpc>
                <a:spcPct val="150000"/>
              </a:lnSpc>
              <a:spcBef>
                <a:spcPts val="1000"/>
              </a:spcBef>
              <a:spcAft>
                <a:spcPts val="0"/>
              </a:spcAft>
              <a:buClr>
                <a:srgbClr val="C55A11"/>
              </a:buClr>
              <a:buSzPts val="2400"/>
              <a:buChar char="•"/>
            </a:pPr>
            <a:r>
              <a:rPr lang="en-CA" sz="2400">
                <a:solidFill>
                  <a:srgbClr val="C55A11"/>
                </a:solidFill>
              </a:rPr>
              <a:t>Markup for Analysis and Harmonies</a:t>
            </a:r>
            <a:endParaRPr sz="2400"/>
          </a:p>
          <a:p>
            <a:pPr indent="-203200" lvl="0" marL="228600" rtl="0" algn="l">
              <a:lnSpc>
                <a:spcPct val="150000"/>
              </a:lnSpc>
              <a:spcBef>
                <a:spcPts val="1000"/>
              </a:spcBef>
              <a:spcAft>
                <a:spcPts val="0"/>
              </a:spcAft>
              <a:buClr>
                <a:srgbClr val="7030A0"/>
              </a:buClr>
              <a:buSzPts val="2400"/>
              <a:buChar char="•"/>
            </a:pPr>
            <a:r>
              <a:rPr lang="en-CA" sz="2400">
                <a:solidFill>
                  <a:srgbClr val="7030A0"/>
                </a:solidFill>
              </a:rPr>
              <a:t>Scholar editions</a:t>
            </a:r>
            <a:endParaRPr sz="2400"/>
          </a:p>
        </p:txBody>
      </p:sp>
      <p:sp>
        <p:nvSpPr>
          <p:cNvPr id="169" name="Google Shape;16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170" name="Google Shape;170;p9"/>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200"/>
              <a:buFont typeface="Calibri"/>
              <a:buNone/>
            </a:pPr>
            <a:r>
              <a:rPr lang="en-CA" sz="4200">
                <a:solidFill>
                  <a:schemeClr val="dk1"/>
                </a:solidFill>
                <a:latin typeface="Calibri"/>
                <a:ea typeface="Calibri"/>
                <a:cs typeface="Calibri"/>
                <a:sym typeface="Calibri"/>
              </a:rPr>
              <a:t>Why Would We Want to Encode Music </a:t>
            </a:r>
            <a:r>
              <a:rPr b="1" lang="en-CA" sz="4200">
                <a:solidFill>
                  <a:schemeClr val="dk1"/>
                </a:solidFill>
                <a:latin typeface="Calibri"/>
                <a:ea typeface="Calibri"/>
                <a:cs typeface="Calibri"/>
                <a:sym typeface="Calibri"/>
              </a:rPr>
              <a:t>in MEI?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idx="1" type="body"/>
          </p:nvPr>
        </p:nvSpPr>
        <p:spPr>
          <a:xfrm>
            <a:off x="838200" y="1618884"/>
            <a:ext cx="10515600" cy="4596989"/>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CA" sz="2400"/>
              <a:t>MEI (or </a:t>
            </a:r>
            <a:r>
              <a:rPr i="1" lang="en-CA" sz="2400"/>
              <a:t>Music Encoding Initiative</a:t>
            </a:r>
            <a:r>
              <a:rPr lang="en-CA" sz="2400"/>
              <a:t>) is a machine-readable format that allows for the encoding of </a:t>
            </a:r>
            <a:r>
              <a:rPr lang="en-CA" sz="2400">
                <a:solidFill>
                  <a:schemeClr val="accent1"/>
                </a:solidFill>
              </a:rPr>
              <a:t>early music </a:t>
            </a:r>
            <a:r>
              <a:rPr lang="en-CA" sz="2400"/>
              <a:t>among other things:</a:t>
            </a:r>
            <a:endParaRPr/>
          </a:p>
          <a:p>
            <a:pPr indent="-228600" lvl="0" marL="228600" rtl="0" algn="l">
              <a:lnSpc>
                <a:spcPct val="150000"/>
              </a:lnSpc>
              <a:spcBef>
                <a:spcPts val="1000"/>
              </a:spcBef>
              <a:spcAft>
                <a:spcPts val="0"/>
              </a:spcAft>
              <a:buClr>
                <a:schemeClr val="accent1"/>
              </a:buClr>
              <a:buSzPts val="2400"/>
              <a:buChar char="•"/>
            </a:pPr>
            <a:r>
              <a:rPr lang="en-CA" sz="2400">
                <a:solidFill>
                  <a:schemeClr val="accent1"/>
                </a:solidFill>
              </a:rPr>
              <a:t>Neume | Mensural | Tablature </a:t>
            </a:r>
            <a:r>
              <a:rPr lang="en-CA" sz="2400"/>
              <a:t>(plus common Western music notation, CMN)</a:t>
            </a:r>
            <a:endParaRPr/>
          </a:p>
          <a:p>
            <a:pPr indent="-228600" lvl="0" marL="228600" rtl="0" algn="l">
              <a:lnSpc>
                <a:spcPct val="150000"/>
              </a:lnSpc>
              <a:spcBef>
                <a:spcPts val="1000"/>
              </a:spcBef>
              <a:spcAft>
                <a:spcPts val="0"/>
              </a:spcAft>
              <a:buClr>
                <a:srgbClr val="C00000"/>
              </a:buClr>
              <a:buSzPts val="2400"/>
              <a:buChar char="•"/>
            </a:pPr>
            <a:r>
              <a:rPr lang="en-CA" sz="2400">
                <a:solidFill>
                  <a:srgbClr val="C00000"/>
                </a:solidFill>
              </a:rPr>
              <a:t>Rich metadata</a:t>
            </a:r>
            <a:endParaRPr/>
          </a:p>
          <a:p>
            <a:pPr indent="-228600" lvl="0" marL="228600" rtl="0" algn="l">
              <a:lnSpc>
                <a:spcPct val="150000"/>
              </a:lnSpc>
              <a:spcBef>
                <a:spcPts val="1000"/>
              </a:spcBef>
              <a:spcAft>
                <a:spcPts val="0"/>
              </a:spcAft>
              <a:buClr>
                <a:schemeClr val="accent6"/>
              </a:buClr>
              <a:buSzPts val="2400"/>
              <a:buChar char="•"/>
            </a:pPr>
            <a:r>
              <a:rPr lang="en-CA" sz="2400">
                <a:solidFill>
                  <a:schemeClr val="accent6"/>
                </a:solidFill>
              </a:rPr>
              <a:t>Relation to facsimiles &amp; recordings</a:t>
            </a:r>
            <a:endParaRPr>
              <a:solidFill>
                <a:schemeClr val="accent6"/>
              </a:solidFill>
            </a:endParaRPr>
          </a:p>
          <a:p>
            <a:pPr indent="-228600" lvl="0" marL="228600" rtl="0" algn="l">
              <a:lnSpc>
                <a:spcPct val="150000"/>
              </a:lnSpc>
              <a:spcBef>
                <a:spcPts val="1000"/>
              </a:spcBef>
              <a:spcAft>
                <a:spcPts val="0"/>
              </a:spcAft>
              <a:buClr>
                <a:srgbClr val="C55A11"/>
              </a:buClr>
              <a:buSzPts val="2400"/>
              <a:buChar char="•"/>
            </a:pPr>
            <a:r>
              <a:rPr lang="en-CA" sz="2400">
                <a:solidFill>
                  <a:srgbClr val="C55A11"/>
                </a:solidFill>
              </a:rPr>
              <a:t>Markup for Analysis and Harmonies</a:t>
            </a:r>
            <a:endParaRPr/>
          </a:p>
          <a:p>
            <a:pPr indent="-228600" lvl="0" marL="228600" rtl="0" algn="l">
              <a:lnSpc>
                <a:spcPct val="150000"/>
              </a:lnSpc>
              <a:spcBef>
                <a:spcPts val="1000"/>
              </a:spcBef>
              <a:spcAft>
                <a:spcPts val="0"/>
              </a:spcAft>
              <a:buClr>
                <a:srgbClr val="7030A0"/>
              </a:buClr>
              <a:buSzPts val="2400"/>
              <a:buChar char="•"/>
            </a:pPr>
            <a:r>
              <a:rPr lang="en-CA" sz="2400">
                <a:solidFill>
                  <a:srgbClr val="7030A0"/>
                </a:solidFill>
              </a:rPr>
              <a:t>Scholar editions</a:t>
            </a:r>
            <a:endParaRPr/>
          </a:p>
        </p:txBody>
      </p:sp>
      <p:sp>
        <p:nvSpPr>
          <p:cNvPr id="177" name="Google Shape;17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178" name="Google Shape;178;p10"/>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200"/>
              <a:buFont typeface="Calibri"/>
              <a:buNone/>
            </a:pPr>
            <a:r>
              <a:rPr lang="en-CA" sz="4200">
                <a:solidFill>
                  <a:schemeClr val="dk1"/>
                </a:solidFill>
                <a:latin typeface="Calibri"/>
                <a:ea typeface="Calibri"/>
                <a:cs typeface="Calibri"/>
                <a:sym typeface="Calibri"/>
              </a:rPr>
              <a:t>Why Would We Want to Encode Music </a:t>
            </a:r>
            <a:r>
              <a:rPr b="1" lang="en-CA" sz="4200">
                <a:solidFill>
                  <a:schemeClr val="dk1"/>
                </a:solidFill>
                <a:latin typeface="Calibri"/>
                <a:ea typeface="Calibri"/>
                <a:cs typeface="Calibri"/>
                <a:sym typeface="Calibri"/>
              </a:rPr>
              <a:t>in MEI?</a:t>
            </a:r>
            <a:endParaRPr/>
          </a:p>
        </p:txBody>
      </p:sp>
      <p:sp>
        <p:nvSpPr>
          <p:cNvPr id="179" name="Google Shape;179;p10"/>
          <p:cNvSpPr/>
          <p:nvPr/>
        </p:nvSpPr>
        <p:spPr>
          <a:xfrm>
            <a:off x="829147" y="4183203"/>
            <a:ext cx="4975800" cy="503400"/>
          </a:xfrm>
          <a:prstGeom prst="roundRect">
            <a:avLst>
              <a:gd fmla="val 16667" name="adj"/>
            </a:avLst>
          </a:prstGeom>
          <a:solidFill>
            <a:srgbClr val="BABABA">
              <a:alpha val="20000"/>
            </a:srgbClr>
          </a:solidFill>
          <a:ln cap="flat" cmpd="sng" w="12700">
            <a:solidFill>
              <a:srgbClr val="3A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10"/>
          <p:cNvSpPr/>
          <p:nvPr/>
        </p:nvSpPr>
        <p:spPr>
          <a:xfrm>
            <a:off x="829150" y="2791300"/>
            <a:ext cx="10515600" cy="563100"/>
          </a:xfrm>
          <a:prstGeom prst="roundRect">
            <a:avLst>
              <a:gd fmla="val 16667" name="adj"/>
            </a:avLst>
          </a:prstGeom>
          <a:solidFill>
            <a:srgbClr val="BABABA">
              <a:alpha val="20000"/>
            </a:srgbClr>
          </a:solidFill>
          <a:ln cap="flat" cmpd="sng" w="12700">
            <a:solidFill>
              <a:srgbClr val="3A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screenshot of a computer&#10;&#10;Description automatically generated" id="181" name="Google Shape;181;p10"/>
          <p:cNvPicPr preferRelativeResize="0"/>
          <p:nvPr/>
        </p:nvPicPr>
        <p:blipFill rotWithShape="1">
          <a:blip r:embed="rId3">
            <a:alphaModFix/>
          </a:blip>
          <a:srcRect b="0" l="0" r="0" t="0"/>
          <a:stretch/>
        </p:blipFill>
        <p:spPr>
          <a:xfrm>
            <a:off x="5814050" y="3516991"/>
            <a:ext cx="5539750" cy="27560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graphicFrame>
        <p:nvGraphicFramePr>
          <p:cNvPr id="188" name="Google Shape;188;p11"/>
          <p:cNvGraphicFramePr/>
          <p:nvPr/>
        </p:nvGraphicFramePr>
        <p:xfrm>
          <a:off x="3294144" y="3292414"/>
          <a:ext cx="851773" cy="1462210"/>
        </p:xfrm>
        <a:graphic>
          <a:graphicData uri="http://schemas.openxmlformats.org/presentationml/2006/ole">
            <mc:AlternateContent>
              <mc:Choice Requires="v">
                <p:oleObj r:id="rId4" imgH="1462210" imgW="851773" progId="Paint.Picture" spid="_x0000_s1">
                  <p:embed/>
                </p:oleObj>
              </mc:Choice>
              <mc:Fallback>
                <p:oleObj r:id="rId5" imgH="1462210" imgW="851773" progId="Paint.Picture">
                  <p:embed/>
                  <p:pic>
                    <p:nvPicPr>
                      <p:cNvPr id="188" name="Google Shape;188;p11"/>
                      <p:cNvPicPr preferRelativeResize="0"/>
                      <p:nvPr/>
                    </p:nvPicPr>
                    <p:blipFill rotWithShape="1">
                      <a:blip r:embed="rId6">
                        <a:alphaModFix/>
                      </a:blip>
                      <a:srcRect b="0" l="0" r="0" t="0"/>
                      <a:stretch/>
                    </p:blipFill>
                    <p:spPr>
                      <a:xfrm>
                        <a:off x="3294144" y="3292414"/>
                        <a:ext cx="851773" cy="1462210"/>
                      </a:xfrm>
                      <a:prstGeom prst="rect">
                        <a:avLst/>
                      </a:prstGeom>
                      <a:noFill/>
                      <a:ln>
                        <a:noFill/>
                      </a:ln>
                    </p:spPr>
                  </p:pic>
                </p:oleObj>
              </mc:Fallback>
            </mc:AlternateContent>
          </a:graphicData>
        </a:graphic>
      </p:graphicFrame>
      <p:graphicFrame>
        <p:nvGraphicFramePr>
          <p:cNvPr id="189" name="Google Shape;189;p11"/>
          <p:cNvGraphicFramePr/>
          <p:nvPr/>
        </p:nvGraphicFramePr>
        <p:xfrm>
          <a:off x="664423" y="2010575"/>
          <a:ext cx="1812220" cy="2759146"/>
        </p:xfrm>
        <a:graphic>
          <a:graphicData uri="http://schemas.openxmlformats.org/presentationml/2006/ole">
            <mc:AlternateContent>
              <mc:Choice Requires="v">
                <p:oleObj r:id="rId7" imgH="2759146" imgW="1812220" progId="Paint.Picture" spid="_x0000_s2">
                  <p:embed/>
                </p:oleObj>
              </mc:Choice>
              <mc:Fallback>
                <p:oleObj r:id="rId8" imgH="2759146" imgW="1812220" progId="Paint.Picture">
                  <p:embed/>
                  <p:pic>
                    <p:nvPicPr>
                      <p:cNvPr id="189" name="Google Shape;189;p11"/>
                      <p:cNvPicPr preferRelativeResize="0"/>
                      <p:nvPr/>
                    </p:nvPicPr>
                    <p:blipFill rotWithShape="1">
                      <a:blip r:embed="rId9">
                        <a:alphaModFix/>
                      </a:blip>
                      <a:srcRect b="0" l="0" r="0" t="0"/>
                      <a:stretch/>
                    </p:blipFill>
                    <p:spPr>
                      <a:xfrm>
                        <a:off x="664423" y="2010575"/>
                        <a:ext cx="1812220" cy="2759146"/>
                      </a:xfrm>
                      <a:prstGeom prst="rect">
                        <a:avLst/>
                      </a:prstGeom>
                      <a:noFill/>
                      <a:ln>
                        <a:noFill/>
                      </a:ln>
                    </p:spPr>
                  </p:pic>
                </p:oleObj>
              </mc:Fallback>
            </mc:AlternateContent>
          </a:graphicData>
        </a:graphic>
      </p:graphicFrame>
      <p:sp>
        <p:nvSpPr>
          <p:cNvPr id="190" name="Google Shape;190;p11"/>
          <p:cNvSpPr txBox="1"/>
          <p:nvPr/>
        </p:nvSpPr>
        <p:spPr>
          <a:xfrm>
            <a:off x="4963418" y="2810695"/>
            <a:ext cx="618243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600">
                <a:solidFill>
                  <a:schemeClr val="dk1"/>
                </a:solidFill>
                <a:latin typeface="Calibri"/>
                <a:ea typeface="Calibri"/>
                <a:cs typeface="Calibri"/>
                <a:sym typeface="Calibri"/>
              </a:rPr>
              <a:t>&lt;</a:t>
            </a:r>
            <a:r>
              <a:rPr lang="en-CA" sz="3600">
                <a:solidFill>
                  <a:srgbClr val="0070C0"/>
                </a:solidFill>
                <a:latin typeface="Calibri"/>
                <a:ea typeface="Calibri"/>
                <a:cs typeface="Calibri"/>
                <a:sym typeface="Calibri"/>
              </a:rPr>
              <a:t>neume</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    &lt;</a:t>
            </a:r>
            <a:r>
              <a:rPr lang="en-CA" sz="3600">
                <a:solidFill>
                  <a:srgbClr val="0070C0"/>
                </a:solidFill>
                <a:latin typeface="Calibri"/>
                <a:ea typeface="Calibri"/>
                <a:cs typeface="Calibri"/>
                <a:sym typeface="Calibri"/>
              </a:rPr>
              <a:t>nc</a:t>
            </a:r>
            <a:r>
              <a:rPr lang="en-CA" sz="3600">
                <a:solidFill>
                  <a:schemeClr val="dk1"/>
                </a:solidFill>
                <a:latin typeface="Calibri"/>
                <a:ea typeface="Calibri"/>
                <a:cs typeface="Calibri"/>
                <a:sym typeface="Calibri"/>
              </a:rPr>
              <a:t> </a:t>
            </a:r>
            <a:r>
              <a:rPr lang="en-CA" sz="3600">
                <a:solidFill>
                  <a:srgbClr val="ED1BD4"/>
                </a:solidFill>
                <a:latin typeface="Calibri"/>
                <a:ea typeface="Calibri"/>
                <a:cs typeface="Calibri"/>
                <a:sym typeface="Calibri"/>
              </a:rPr>
              <a:t>curve</a:t>
            </a:r>
            <a:r>
              <a:rPr lang="en-CA" sz="3600">
                <a:solidFill>
                  <a:schemeClr val="dk1"/>
                </a:solidFill>
                <a:latin typeface="Calibri"/>
                <a:ea typeface="Calibri"/>
                <a:cs typeface="Calibri"/>
                <a:sym typeface="Calibri"/>
              </a:rPr>
              <a:t>= </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a</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     &lt;</a:t>
            </a:r>
            <a:r>
              <a:rPr lang="en-CA" sz="3600">
                <a:solidFill>
                  <a:srgbClr val="0070C0"/>
                </a:solidFill>
                <a:latin typeface="Calibri"/>
                <a:ea typeface="Calibri"/>
                <a:cs typeface="Calibri"/>
                <a:sym typeface="Calibri"/>
              </a:rPr>
              <a:t>nc</a:t>
            </a:r>
            <a:r>
              <a:rPr lang="en-CA" sz="3600">
                <a:solidFill>
                  <a:schemeClr val="dk1"/>
                </a:solidFill>
                <a:latin typeface="Calibri"/>
                <a:ea typeface="Calibri"/>
                <a:cs typeface="Calibri"/>
                <a:sym typeface="Calibri"/>
              </a:rPr>
              <a:t> </a:t>
            </a:r>
            <a:r>
              <a:rPr lang="en-CA" sz="3600">
                <a:solidFill>
                  <a:srgbClr val="E46E16"/>
                </a:solidFill>
                <a:latin typeface="Calibri"/>
                <a:ea typeface="Calibri"/>
                <a:cs typeface="Calibri"/>
                <a:sym typeface="Calibri"/>
              </a:rPr>
              <a:t>tilt</a:t>
            </a:r>
            <a:r>
              <a:rPr lang="en-CA" sz="3600">
                <a:solidFill>
                  <a:schemeClr val="dk1"/>
                </a:solidFill>
                <a:latin typeface="Calibri"/>
                <a:ea typeface="Calibri"/>
                <a:cs typeface="Calibri"/>
                <a:sym typeface="Calibri"/>
              </a:rPr>
              <a:t>=</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ne</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 </a:t>
            </a:r>
            <a:r>
              <a:rPr lang="en-CA" sz="3600">
                <a:solidFill>
                  <a:srgbClr val="E46E16"/>
                </a:solidFill>
                <a:latin typeface="Calibri"/>
                <a:ea typeface="Calibri"/>
                <a:cs typeface="Calibri"/>
                <a:sym typeface="Calibri"/>
              </a:rPr>
              <a:t>intm</a:t>
            </a:r>
            <a:r>
              <a:rPr lang="en-CA" sz="3600">
                <a:solidFill>
                  <a:schemeClr val="dk1"/>
                </a:solidFill>
                <a:latin typeface="Calibri"/>
                <a:ea typeface="Calibri"/>
                <a:cs typeface="Calibri"/>
                <a:sym typeface="Calibri"/>
              </a:rPr>
              <a:t>=</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d</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&lt;/</a:t>
            </a:r>
            <a:r>
              <a:rPr lang="en-CA" sz="3600">
                <a:solidFill>
                  <a:srgbClr val="0070C0"/>
                </a:solidFill>
                <a:latin typeface="Calibri"/>
                <a:ea typeface="Calibri"/>
                <a:cs typeface="Calibri"/>
                <a:sym typeface="Calibri"/>
              </a:rPr>
              <a:t> neume </a:t>
            </a:r>
            <a:r>
              <a:rPr lang="en-CA" sz="3600">
                <a:solidFill>
                  <a:schemeClr val="dk1"/>
                </a:solidFill>
                <a:latin typeface="Calibri"/>
                <a:ea typeface="Calibri"/>
                <a:cs typeface="Calibri"/>
                <a:sym typeface="Calibri"/>
              </a:rPr>
              <a:t>&gt;</a:t>
            </a:r>
            <a:endParaRPr/>
          </a:p>
        </p:txBody>
      </p:sp>
      <p:sp>
        <p:nvSpPr>
          <p:cNvPr id="191" name="Google Shape;191;p11"/>
          <p:cNvSpPr txBox="1"/>
          <p:nvPr/>
        </p:nvSpPr>
        <p:spPr>
          <a:xfrm>
            <a:off x="664423" y="0"/>
            <a:ext cx="11140440" cy="1325563"/>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200"/>
              <a:buFont typeface="Calibri"/>
              <a:buNone/>
            </a:pPr>
            <a:r>
              <a:rPr i="1" lang="en-CA" sz="4200">
                <a:solidFill>
                  <a:schemeClr val="dk1"/>
                </a:solidFill>
                <a:latin typeface="Calibri"/>
                <a:ea typeface="Calibri"/>
                <a:cs typeface="Calibri"/>
                <a:sym typeface="Calibri"/>
              </a:rPr>
              <a:t>Two practical examples        </a:t>
            </a:r>
            <a:r>
              <a:rPr lang="en-CA" sz="4200">
                <a:solidFill>
                  <a:schemeClr val="dk1"/>
                </a:solidFill>
                <a:latin typeface="Calibri"/>
                <a:ea typeface="Calibri"/>
                <a:cs typeface="Calibri"/>
                <a:sym typeface="Calibri"/>
              </a:rPr>
              <a:t>#1</a:t>
            </a:r>
            <a:endParaRPr sz="4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12"/>
          <p:cNvPicPr preferRelativeResize="0"/>
          <p:nvPr/>
        </p:nvPicPr>
        <p:blipFill rotWithShape="1">
          <a:blip r:embed="rId3">
            <a:alphaModFix/>
          </a:blip>
          <a:srcRect b="0" l="0" r="0" t="0"/>
          <a:stretch/>
        </p:blipFill>
        <p:spPr>
          <a:xfrm>
            <a:off x="1005135" y="2560540"/>
            <a:ext cx="7626801" cy="3486806"/>
          </a:xfrm>
          <a:prstGeom prst="rect">
            <a:avLst/>
          </a:prstGeom>
          <a:noFill/>
          <a:ln>
            <a:noFill/>
          </a:ln>
        </p:spPr>
      </p:pic>
      <p:sp>
        <p:nvSpPr>
          <p:cNvPr id="198" name="Google Shape;198;p12"/>
          <p:cNvSpPr txBox="1"/>
          <p:nvPr/>
        </p:nvSpPr>
        <p:spPr>
          <a:xfrm>
            <a:off x="625825" y="0"/>
            <a:ext cx="11179200" cy="132570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200"/>
              <a:buFont typeface="Calibri"/>
              <a:buNone/>
            </a:pPr>
            <a:r>
              <a:rPr i="1" lang="en-CA" sz="4200">
                <a:solidFill>
                  <a:schemeClr val="dk1"/>
                </a:solidFill>
                <a:latin typeface="Calibri"/>
                <a:ea typeface="Calibri"/>
                <a:cs typeface="Calibri"/>
                <a:sym typeface="Calibri"/>
              </a:rPr>
              <a:t>T</a:t>
            </a:r>
            <a:r>
              <a:rPr i="1" lang="en-CA" sz="4200">
                <a:solidFill>
                  <a:schemeClr val="dk1"/>
                </a:solidFill>
                <a:latin typeface="Calibri"/>
                <a:ea typeface="Calibri"/>
                <a:cs typeface="Calibri"/>
                <a:sym typeface="Calibri"/>
              </a:rPr>
              <a:t>wo practical examples        </a:t>
            </a:r>
            <a:r>
              <a:rPr lang="en-CA" sz="4200">
                <a:solidFill>
                  <a:schemeClr val="dk1"/>
                </a:solidFill>
                <a:latin typeface="Calibri"/>
                <a:ea typeface="Calibri"/>
                <a:cs typeface="Calibri"/>
                <a:sym typeface="Calibri"/>
              </a:rPr>
              <a:t>#1</a:t>
            </a:r>
            <a:endParaRPr sz="4200">
              <a:solidFill>
                <a:schemeClr val="dk1"/>
              </a:solidFill>
              <a:latin typeface="Calibri"/>
              <a:ea typeface="Calibri"/>
              <a:cs typeface="Calibri"/>
              <a:sym typeface="Calibri"/>
            </a:endParaRPr>
          </a:p>
        </p:txBody>
      </p:sp>
      <p:sp>
        <p:nvSpPr>
          <p:cNvPr id="199" name="Google Shape;199;p1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p:nvPr/>
        </p:nvSpPr>
        <p:spPr>
          <a:xfrm>
            <a:off x="0" y="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206" name="Google Shape;206;p13"/>
          <p:cNvGraphicFramePr/>
          <p:nvPr/>
        </p:nvGraphicFramePr>
        <p:xfrm>
          <a:off x="838200" y="1831844"/>
          <a:ext cx="1245054" cy="1909083"/>
        </p:xfrm>
        <a:graphic>
          <a:graphicData uri="http://schemas.openxmlformats.org/presentationml/2006/ole">
            <mc:AlternateContent>
              <mc:Choice Requires="v">
                <p:oleObj r:id="rId4" imgH="1909083" imgW="1245054" progId="Paint.Picture" spid="_x0000_s1">
                  <p:embed/>
                </p:oleObj>
              </mc:Choice>
              <mc:Fallback>
                <p:oleObj r:id="rId5" imgH="1909083" imgW="1245054" progId="Paint.Picture">
                  <p:embed/>
                  <p:pic>
                    <p:nvPicPr>
                      <p:cNvPr id="206" name="Google Shape;206;p13"/>
                      <p:cNvPicPr preferRelativeResize="0"/>
                      <p:nvPr/>
                    </p:nvPicPr>
                    <p:blipFill rotWithShape="1">
                      <a:blip r:embed="rId6">
                        <a:alphaModFix/>
                      </a:blip>
                      <a:srcRect b="0" l="0" r="0" t="0"/>
                      <a:stretch/>
                    </p:blipFill>
                    <p:spPr>
                      <a:xfrm>
                        <a:off x="838200" y="1831844"/>
                        <a:ext cx="1245054" cy="1909083"/>
                      </a:xfrm>
                      <a:prstGeom prst="rect">
                        <a:avLst/>
                      </a:prstGeom>
                      <a:noFill/>
                      <a:ln>
                        <a:noFill/>
                      </a:ln>
                    </p:spPr>
                  </p:pic>
                </p:oleObj>
              </mc:Fallback>
            </mc:AlternateContent>
          </a:graphicData>
        </a:graphic>
      </p:graphicFrame>
      <p:sp>
        <p:nvSpPr>
          <p:cNvPr id="207" name="Google Shape;207;p13"/>
          <p:cNvSpPr/>
          <p:nvPr/>
        </p:nvSpPr>
        <p:spPr>
          <a:xfrm flipH="1" rot="10800000">
            <a:off x="-12743802" y="5371236"/>
            <a:ext cx="34744821" cy="4571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208" name="Google Shape;208;p13"/>
          <p:cNvGraphicFramePr/>
          <p:nvPr/>
        </p:nvGraphicFramePr>
        <p:xfrm>
          <a:off x="943330" y="4427039"/>
          <a:ext cx="1245054" cy="2192379"/>
        </p:xfrm>
        <a:graphic>
          <a:graphicData uri="http://schemas.openxmlformats.org/presentationml/2006/ole">
            <mc:AlternateContent>
              <mc:Choice Requires="v">
                <p:oleObj r:id="rId7" imgH="2192379" imgW="1245054" progId="Paint.Picture" spid="_x0000_s2">
                  <p:embed/>
                </p:oleObj>
              </mc:Choice>
              <mc:Fallback>
                <p:oleObj r:id="rId8" imgH="2192379" imgW="1245054" progId="Paint.Picture">
                  <p:embed/>
                  <p:pic>
                    <p:nvPicPr>
                      <p:cNvPr id="208" name="Google Shape;208;p13"/>
                      <p:cNvPicPr preferRelativeResize="0"/>
                      <p:nvPr/>
                    </p:nvPicPr>
                    <p:blipFill rotWithShape="1">
                      <a:blip r:embed="rId9">
                        <a:alphaModFix/>
                      </a:blip>
                      <a:srcRect b="0" l="0" r="0" t="0"/>
                      <a:stretch/>
                    </p:blipFill>
                    <p:spPr>
                      <a:xfrm>
                        <a:off x="943330" y="4427039"/>
                        <a:ext cx="1245054" cy="2192379"/>
                      </a:xfrm>
                      <a:prstGeom prst="rect">
                        <a:avLst/>
                      </a:prstGeom>
                      <a:noFill/>
                      <a:ln>
                        <a:noFill/>
                      </a:ln>
                    </p:spPr>
                  </p:pic>
                </p:oleObj>
              </mc:Fallback>
            </mc:AlternateContent>
          </a:graphicData>
        </a:graphic>
      </p:graphicFrame>
      <p:sp>
        <p:nvSpPr>
          <p:cNvPr id="209" name="Google Shape;209;p13"/>
          <p:cNvSpPr txBox="1"/>
          <p:nvPr/>
        </p:nvSpPr>
        <p:spPr>
          <a:xfrm>
            <a:off x="3093052" y="1690688"/>
            <a:ext cx="748076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600">
                <a:solidFill>
                  <a:schemeClr val="dk1"/>
                </a:solidFill>
                <a:latin typeface="Calibri"/>
                <a:ea typeface="Calibri"/>
                <a:cs typeface="Calibri"/>
                <a:sym typeface="Calibri"/>
              </a:rPr>
              <a:t>&lt;</a:t>
            </a:r>
            <a:r>
              <a:rPr lang="en-CA" sz="3600">
                <a:solidFill>
                  <a:srgbClr val="0070C0"/>
                </a:solidFill>
                <a:latin typeface="Calibri"/>
                <a:ea typeface="Calibri"/>
                <a:cs typeface="Calibri"/>
                <a:sym typeface="Calibri"/>
              </a:rPr>
              <a:t>neume</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    &lt;</a:t>
            </a:r>
            <a:r>
              <a:rPr lang="en-CA" sz="3600">
                <a:solidFill>
                  <a:srgbClr val="0070C0"/>
                </a:solidFill>
                <a:latin typeface="Calibri"/>
                <a:ea typeface="Calibri"/>
                <a:cs typeface="Calibri"/>
                <a:sym typeface="Calibri"/>
              </a:rPr>
              <a:t>nc</a:t>
            </a:r>
            <a:r>
              <a:rPr lang="en-CA" sz="3600">
                <a:solidFill>
                  <a:schemeClr val="dk1"/>
                </a:solidFill>
                <a:latin typeface="Calibri"/>
                <a:ea typeface="Calibri"/>
                <a:cs typeface="Calibri"/>
                <a:sym typeface="Calibri"/>
              </a:rPr>
              <a:t> </a:t>
            </a:r>
            <a:r>
              <a:rPr lang="en-CA" sz="3600">
                <a:solidFill>
                  <a:srgbClr val="E46E16"/>
                </a:solidFill>
                <a:latin typeface="Calibri"/>
                <a:ea typeface="Calibri"/>
                <a:cs typeface="Calibri"/>
                <a:sym typeface="Calibri"/>
              </a:rPr>
              <a:t>tilt</a:t>
            </a:r>
            <a:r>
              <a:rPr lang="en-CA" sz="3600">
                <a:solidFill>
                  <a:schemeClr val="dk1"/>
                </a:solidFill>
                <a:latin typeface="Calibri"/>
                <a:ea typeface="Calibri"/>
                <a:cs typeface="Calibri"/>
                <a:sym typeface="Calibri"/>
              </a:rPr>
              <a:t>=</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ne</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    &lt;</a:t>
            </a:r>
            <a:r>
              <a:rPr lang="en-CA" sz="3600">
                <a:solidFill>
                  <a:srgbClr val="0070C0"/>
                </a:solidFill>
                <a:latin typeface="Calibri"/>
                <a:ea typeface="Calibri"/>
                <a:cs typeface="Calibri"/>
                <a:sym typeface="Calibri"/>
              </a:rPr>
              <a:t>nc</a:t>
            </a:r>
            <a:r>
              <a:rPr lang="en-CA" sz="3600">
                <a:solidFill>
                  <a:schemeClr val="dk1"/>
                </a:solidFill>
                <a:latin typeface="Calibri"/>
                <a:ea typeface="Calibri"/>
                <a:cs typeface="Calibri"/>
                <a:sym typeface="Calibri"/>
              </a:rPr>
              <a:t> </a:t>
            </a:r>
            <a:r>
              <a:rPr lang="en-CA" sz="3600">
                <a:solidFill>
                  <a:srgbClr val="E46E16"/>
                </a:solidFill>
                <a:latin typeface="Calibri"/>
                <a:ea typeface="Calibri"/>
                <a:cs typeface="Calibri"/>
                <a:sym typeface="Calibri"/>
              </a:rPr>
              <a:t>tilt</a:t>
            </a:r>
            <a:r>
              <a:rPr lang="en-CA" sz="3600">
                <a:solidFill>
                  <a:schemeClr val="dk1"/>
                </a:solidFill>
                <a:latin typeface="Calibri"/>
                <a:ea typeface="Calibri"/>
                <a:cs typeface="Calibri"/>
                <a:sym typeface="Calibri"/>
              </a:rPr>
              <a:t>=</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se</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 </a:t>
            </a:r>
            <a:r>
              <a:rPr lang="en-CA" sz="3600">
                <a:solidFill>
                  <a:srgbClr val="E46E16"/>
                </a:solidFill>
                <a:highlight>
                  <a:srgbClr val="FFFF00"/>
                </a:highlight>
                <a:latin typeface="Calibri"/>
                <a:ea typeface="Calibri"/>
                <a:cs typeface="Calibri"/>
                <a:sym typeface="Calibri"/>
              </a:rPr>
              <a:t>rellen</a:t>
            </a:r>
            <a:r>
              <a:rPr lang="en-CA" sz="3600">
                <a:solidFill>
                  <a:schemeClr val="dk1"/>
                </a:solidFill>
                <a:highlight>
                  <a:srgbClr val="FFFF00"/>
                </a:highlight>
                <a:latin typeface="Calibri"/>
                <a:ea typeface="Calibri"/>
                <a:cs typeface="Calibri"/>
                <a:sym typeface="Calibri"/>
              </a:rPr>
              <a:t>=</a:t>
            </a:r>
            <a:r>
              <a:rPr lang="en-CA" sz="3600">
                <a:solidFill>
                  <a:schemeClr val="dk1"/>
                </a:solidFill>
                <a:highlight>
                  <a:srgbClr val="FFFF00"/>
                </a:highlight>
                <a:latin typeface="Consolas"/>
                <a:ea typeface="Consolas"/>
                <a:cs typeface="Consolas"/>
                <a:sym typeface="Consolas"/>
              </a:rPr>
              <a:t>"</a:t>
            </a:r>
            <a:r>
              <a:rPr lang="en-CA" sz="3600">
                <a:solidFill>
                  <a:srgbClr val="548135"/>
                </a:solidFill>
                <a:highlight>
                  <a:srgbClr val="FFFF00"/>
                </a:highlight>
                <a:latin typeface="Calibri"/>
                <a:ea typeface="Calibri"/>
                <a:cs typeface="Calibri"/>
                <a:sym typeface="Calibri"/>
              </a:rPr>
              <a:t>s</a:t>
            </a:r>
            <a:r>
              <a:rPr lang="en-CA" sz="3600">
                <a:solidFill>
                  <a:schemeClr val="dk1"/>
                </a:solidFill>
                <a:highlight>
                  <a:srgbClr val="FFFF00"/>
                </a:highlight>
                <a:latin typeface="Consolas"/>
                <a:ea typeface="Consolas"/>
                <a:cs typeface="Consolas"/>
                <a:sym typeface="Consolas"/>
              </a:rPr>
              <a:t>"</a:t>
            </a:r>
            <a:r>
              <a:rPr lang="en-CA" sz="3600">
                <a:solidFill>
                  <a:schemeClr val="dk1"/>
                </a:solidFill>
                <a:latin typeface="Calibri"/>
                <a:ea typeface="Calibri"/>
                <a:cs typeface="Calibri"/>
                <a:sym typeface="Calibri"/>
              </a:rPr>
              <a:t> </a:t>
            </a:r>
            <a:r>
              <a:rPr lang="en-CA" sz="3600">
                <a:solidFill>
                  <a:srgbClr val="E46E16"/>
                </a:solidFill>
                <a:latin typeface="Calibri"/>
                <a:ea typeface="Calibri"/>
                <a:cs typeface="Calibri"/>
                <a:sym typeface="Calibri"/>
              </a:rPr>
              <a:t>intm</a:t>
            </a:r>
            <a:r>
              <a:rPr lang="en-CA" sz="3600">
                <a:solidFill>
                  <a:schemeClr val="dk1"/>
                </a:solidFill>
                <a:latin typeface="Calibri"/>
                <a:ea typeface="Calibri"/>
                <a:cs typeface="Calibri"/>
                <a:sym typeface="Calibri"/>
              </a:rPr>
              <a:t>=</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d</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&lt;/</a:t>
            </a:r>
            <a:r>
              <a:rPr lang="en-CA" sz="3600">
                <a:solidFill>
                  <a:srgbClr val="0070C0"/>
                </a:solidFill>
                <a:latin typeface="Calibri"/>
                <a:ea typeface="Calibri"/>
                <a:cs typeface="Calibri"/>
                <a:sym typeface="Calibri"/>
              </a:rPr>
              <a:t>neume</a:t>
            </a:r>
            <a:r>
              <a:rPr lang="en-CA" sz="3600">
                <a:solidFill>
                  <a:schemeClr val="dk1"/>
                </a:solidFill>
                <a:latin typeface="Calibri"/>
                <a:ea typeface="Calibri"/>
                <a:cs typeface="Calibri"/>
                <a:sym typeface="Calibri"/>
              </a:rPr>
              <a:t>&gt;</a:t>
            </a:r>
            <a:endParaRPr/>
          </a:p>
        </p:txBody>
      </p:sp>
      <p:sp>
        <p:nvSpPr>
          <p:cNvPr id="210" name="Google Shape;210;p13"/>
          <p:cNvSpPr txBox="1"/>
          <p:nvPr/>
        </p:nvSpPr>
        <p:spPr>
          <a:xfrm>
            <a:off x="3093052" y="4427039"/>
            <a:ext cx="851431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600">
                <a:solidFill>
                  <a:schemeClr val="dk1"/>
                </a:solidFill>
                <a:latin typeface="Calibri"/>
                <a:ea typeface="Calibri"/>
                <a:cs typeface="Calibri"/>
                <a:sym typeface="Calibri"/>
              </a:rPr>
              <a:t>&lt;</a:t>
            </a:r>
            <a:r>
              <a:rPr lang="en-CA" sz="3600">
                <a:solidFill>
                  <a:srgbClr val="0070C0"/>
                </a:solidFill>
                <a:latin typeface="Calibri"/>
                <a:ea typeface="Calibri"/>
                <a:cs typeface="Calibri"/>
                <a:sym typeface="Calibri"/>
              </a:rPr>
              <a:t>neume</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    &lt;</a:t>
            </a:r>
            <a:r>
              <a:rPr lang="en-CA" sz="3600">
                <a:solidFill>
                  <a:srgbClr val="0070C0"/>
                </a:solidFill>
                <a:latin typeface="Calibri"/>
                <a:ea typeface="Calibri"/>
                <a:cs typeface="Calibri"/>
                <a:sym typeface="Calibri"/>
              </a:rPr>
              <a:t>nc</a:t>
            </a:r>
            <a:r>
              <a:rPr lang="en-CA" sz="3600">
                <a:solidFill>
                  <a:schemeClr val="dk1"/>
                </a:solidFill>
                <a:latin typeface="Calibri"/>
                <a:ea typeface="Calibri"/>
                <a:cs typeface="Calibri"/>
                <a:sym typeface="Calibri"/>
              </a:rPr>
              <a:t> </a:t>
            </a:r>
            <a:r>
              <a:rPr lang="en-CA" sz="3600">
                <a:solidFill>
                  <a:srgbClr val="E46E16"/>
                </a:solidFill>
                <a:latin typeface="Calibri"/>
                <a:ea typeface="Calibri"/>
                <a:cs typeface="Calibri"/>
                <a:sym typeface="Calibri"/>
              </a:rPr>
              <a:t>tilt</a:t>
            </a:r>
            <a:r>
              <a:rPr lang="en-CA" sz="3600">
                <a:solidFill>
                  <a:schemeClr val="dk1"/>
                </a:solidFill>
                <a:latin typeface="Calibri"/>
                <a:ea typeface="Calibri"/>
                <a:cs typeface="Calibri"/>
                <a:sym typeface="Calibri"/>
              </a:rPr>
              <a:t>=</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ne</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    &lt;</a:t>
            </a:r>
            <a:r>
              <a:rPr lang="en-CA" sz="3600">
                <a:solidFill>
                  <a:srgbClr val="0070C0"/>
                </a:solidFill>
                <a:latin typeface="Calibri"/>
                <a:ea typeface="Calibri"/>
                <a:cs typeface="Calibri"/>
                <a:sym typeface="Calibri"/>
              </a:rPr>
              <a:t>nc</a:t>
            </a:r>
            <a:r>
              <a:rPr lang="en-CA" sz="3600">
                <a:solidFill>
                  <a:schemeClr val="dk1"/>
                </a:solidFill>
                <a:latin typeface="Calibri"/>
                <a:ea typeface="Calibri"/>
                <a:cs typeface="Calibri"/>
                <a:sym typeface="Calibri"/>
              </a:rPr>
              <a:t> </a:t>
            </a:r>
            <a:r>
              <a:rPr lang="en-CA" sz="3600">
                <a:solidFill>
                  <a:srgbClr val="E46E16"/>
                </a:solidFill>
                <a:latin typeface="Calibri"/>
                <a:ea typeface="Calibri"/>
                <a:cs typeface="Calibri"/>
                <a:sym typeface="Calibri"/>
              </a:rPr>
              <a:t>tilt</a:t>
            </a:r>
            <a:r>
              <a:rPr lang="en-CA" sz="3600">
                <a:solidFill>
                  <a:schemeClr val="dk1"/>
                </a:solidFill>
                <a:latin typeface="Calibri"/>
                <a:ea typeface="Calibri"/>
                <a:cs typeface="Calibri"/>
                <a:sym typeface="Calibri"/>
              </a:rPr>
              <a:t>=</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se</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 </a:t>
            </a:r>
            <a:r>
              <a:rPr lang="en-CA" sz="3600">
                <a:solidFill>
                  <a:srgbClr val="E46E16"/>
                </a:solidFill>
                <a:highlight>
                  <a:srgbClr val="FFFF00"/>
                </a:highlight>
                <a:latin typeface="Calibri"/>
                <a:ea typeface="Calibri"/>
                <a:cs typeface="Calibri"/>
                <a:sym typeface="Calibri"/>
              </a:rPr>
              <a:t>rellen</a:t>
            </a:r>
            <a:r>
              <a:rPr lang="en-CA" sz="3600">
                <a:solidFill>
                  <a:schemeClr val="dk1"/>
                </a:solidFill>
                <a:highlight>
                  <a:srgbClr val="FFFF00"/>
                </a:highlight>
                <a:latin typeface="Calibri"/>
                <a:ea typeface="Calibri"/>
                <a:cs typeface="Calibri"/>
                <a:sym typeface="Calibri"/>
              </a:rPr>
              <a:t>=</a:t>
            </a:r>
            <a:r>
              <a:rPr lang="en-CA" sz="3600">
                <a:solidFill>
                  <a:schemeClr val="dk1"/>
                </a:solidFill>
                <a:highlight>
                  <a:srgbClr val="FFFF00"/>
                </a:highlight>
                <a:latin typeface="Consolas"/>
                <a:ea typeface="Consolas"/>
                <a:cs typeface="Consolas"/>
                <a:sym typeface="Consolas"/>
              </a:rPr>
              <a:t>"</a:t>
            </a:r>
            <a:r>
              <a:rPr lang="en-CA" sz="3600">
                <a:solidFill>
                  <a:srgbClr val="548135"/>
                </a:solidFill>
                <a:highlight>
                  <a:srgbClr val="FFFF00"/>
                </a:highlight>
                <a:latin typeface="Calibri"/>
                <a:ea typeface="Calibri"/>
                <a:cs typeface="Calibri"/>
                <a:sym typeface="Calibri"/>
              </a:rPr>
              <a:t>l</a:t>
            </a:r>
            <a:r>
              <a:rPr lang="en-CA" sz="3600">
                <a:solidFill>
                  <a:schemeClr val="dk1"/>
                </a:solidFill>
                <a:highlight>
                  <a:srgbClr val="FFFF00"/>
                </a:highlight>
                <a:latin typeface="Consolas"/>
                <a:ea typeface="Consolas"/>
                <a:cs typeface="Consolas"/>
                <a:sym typeface="Consolas"/>
              </a:rPr>
              <a:t>"</a:t>
            </a:r>
            <a:r>
              <a:rPr lang="en-CA" sz="3600">
                <a:solidFill>
                  <a:schemeClr val="dk1"/>
                </a:solidFill>
                <a:latin typeface="Consolas"/>
                <a:ea typeface="Consolas"/>
                <a:cs typeface="Consolas"/>
                <a:sym typeface="Consolas"/>
              </a:rPr>
              <a:t> </a:t>
            </a:r>
            <a:r>
              <a:rPr lang="en-CA" sz="3600">
                <a:solidFill>
                  <a:srgbClr val="E46E16"/>
                </a:solidFill>
                <a:latin typeface="Calibri"/>
                <a:ea typeface="Calibri"/>
                <a:cs typeface="Calibri"/>
                <a:sym typeface="Calibri"/>
              </a:rPr>
              <a:t>intm</a:t>
            </a:r>
            <a:r>
              <a:rPr lang="en-CA" sz="3600">
                <a:solidFill>
                  <a:schemeClr val="dk1"/>
                </a:solidFill>
                <a:latin typeface="Calibri"/>
                <a:ea typeface="Calibri"/>
                <a:cs typeface="Calibri"/>
                <a:sym typeface="Calibri"/>
              </a:rPr>
              <a:t>=</a:t>
            </a:r>
            <a:r>
              <a:rPr lang="en-CA" sz="3600">
                <a:solidFill>
                  <a:schemeClr val="dk1"/>
                </a:solidFill>
                <a:latin typeface="Consolas"/>
                <a:ea typeface="Consolas"/>
                <a:cs typeface="Consolas"/>
                <a:sym typeface="Consolas"/>
              </a:rPr>
              <a:t>"</a:t>
            </a:r>
            <a:r>
              <a:rPr lang="en-CA" sz="3600">
                <a:solidFill>
                  <a:srgbClr val="548135"/>
                </a:solidFill>
                <a:latin typeface="Calibri"/>
                <a:ea typeface="Calibri"/>
                <a:cs typeface="Calibri"/>
                <a:sym typeface="Calibri"/>
              </a:rPr>
              <a:t>d</a:t>
            </a:r>
            <a:r>
              <a:rPr lang="en-CA" sz="3600">
                <a:solidFill>
                  <a:schemeClr val="dk1"/>
                </a:solidFill>
                <a:latin typeface="Consolas"/>
                <a:ea typeface="Consolas"/>
                <a:cs typeface="Consolas"/>
                <a:sym typeface="Consolas"/>
              </a:rPr>
              <a:t>"</a:t>
            </a:r>
            <a:r>
              <a:rPr lang="en-CA" sz="36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600">
                <a:solidFill>
                  <a:schemeClr val="dk1"/>
                </a:solidFill>
                <a:latin typeface="Calibri"/>
                <a:ea typeface="Calibri"/>
                <a:cs typeface="Calibri"/>
                <a:sym typeface="Calibri"/>
              </a:rPr>
              <a:t>&lt;/</a:t>
            </a:r>
            <a:r>
              <a:rPr lang="en-CA" sz="3600">
                <a:solidFill>
                  <a:srgbClr val="0070C0"/>
                </a:solidFill>
                <a:latin typeface="Calibri"/>
                <a:ea typeface="Calibri"/>
                <a:cs typeface="Calibri"/>
                <a:sym typeface="Calibri"/>
              </a:rPr>
              <a:t>neume</a:t>
            </a:r>
            <a:r>
              <a:rPr lang="en-CA" sz="3600">
                <a:solidFill>
                  <a:schemeClr val="dk1"/>
                </a:solidFill>
                <a:latin typeface="Calibri"/>
                <a:ea typeface="Calibri"/>
                <a:cs typeface="Calibri"/>
                <a:sym typeface="Calibri"/>
              </a:rPr>
              <a:t>&gt;</a:t>
            </a:r>
            <a:endParaRPr/>
          </a:p>
        </p:txBody>
      </p:sp>
      <p:sp>
        <p:nvSpPr>
          <p:cNvPr id="211" name="Google Shape;211;p13"/>
          <p:cNvSpPr txBox="1"/>
          <p:nvPr/>
        </p:nvSpPr>
        <p:spPr>
          <a:xfrm>
            <a:off x="664423" y="0"/>
            <a:ext cx="11140440" cy="1325563"/>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200"/>
              <a:buFont typeface="Calibri"/>
              <a:buNone/>
            </a:pPr>
            <a:r>
              <a:rPr i="1" lang="en-CA" sz="4200">
                <a:solidFill>
                  <a:schemeClr val="dk1"/>
                </a:solidFill>
                <a:latin typeface="Calibri"/>
                <a:ea typeface="Calibri"/>
                <a:cs typeface="Calibri"/>
                <a:sym typeface="Calibri"/>
              </a:rPr>
              <a:t>Two practical examples        </a:t>
            </a:r>
            <a:r>
              <a:rPr lang="en-CA" sz="4200">
                <a:solidFill>
                  <a:schemeClr val="dk1"/>
                </a:solidFill>
                <a:latin typeface="Calibri"/>
                <a:ea typeface="Calibri"/>
                <a:cs typeface="Calibri"/>
                <a:sym typeface="Calibri"/>
              </a:rPr>
              <a:t>#2</a:t>
            </a:r>
            <a:endParaRPr sz="4200">
              <a:solidFill>
                <a:schemeClr val="dk1"/>
              </a:solidFill>
              <a:latin typeface="Calibri"/>
              <a:ea typeface="Calibri"/>
              <a:cs typeface="Calibri"/>
              <a:sym typeface="Calibri"/>
            </a:endParaRPr>
          </a:p>
        </p:txBody>
      </p:sp>
      <p:sp>
        <p:nvSpPr>
          <p:cNvPr id="212" name="Google Shape;212;p1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4"/>
          <p:cNvSpPr txBox="1"/>
          <p:nvPr>
            <p:ph idx="1" type="body"/>
          </p:nvPr>
        </p:nvSpPr>
        <p:spPr>
          <a:xfrm>
            <a:off x="725399" y="178495"/>
            <a:ext cx="8418601" cy="399737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3200"/>
              <a:buNone/>
            </a:pPr>
            <a:r>
              <a:rPr lang="en-CA" sz="3200"/>
              <a:t>MEI is a hierarchical </a:t>
            </a:r>
            <a:r>
              <a:rPr b="1" lang="en-CA" sz="3200"/>
              <a:t>system of tags </a:t>
            </a:r>
            <a:r>
              <a:rPr lang="en-CA" sz="3200"/>
              <a:t>employed to describe in a machine-readable language the notation of a specific manuscript</a:t>
            </a:r>
            <a:endParaRPr sz="3200"/>
          </a:p>
        </p:txBody>
      </p:sp>
      <p:sp>
        <p:nvSpPr>
          <p:cNvPr id="219" name="Google Shape;21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220" name="Google Shape;220;p14"/>
          <p:cNvPicPr preferRelativeResize="0"/>
          <p:nvPr/>
        </p:nvPicPr>
        <p:blipFill rotWithShape="1">
          <a:blip r:embed="rId3">
            <a:alphaModFix/>
          </a:blip>
          <a:srcRect b="53258" l="14300" r="44008" t="12976"/>
          <a:stretch/>
        </p:blipFill>
        <p:spPr>
          <a:xfrm>
            <a:off x="852134" y="2022426"/>
            <a:ext cx="10614466" cy="4835574"/>
          </a:xfrm>
          <a:prstGeom prst="rect">
            <a:avLst/>
          </a:prstGeom>
          <a:noFill/>
          <a:ln>
            <a:noFill/>
          </a:ln>
        </p:spPr>
      </p:pic>
      <p:pic>
        <p:nvPicPr>
          <p:cNvPr id="221" name="Google Shape;221;p14"/>
          <p:cNvPicPr preferRelativeResize="0"/>
          <p:nvPr/>
        </p:nvPicPr>
        <p:blipFill rotWithShape="1">
          <a:blip r:embed="rId4">
            <a:alphaModFix/>
          </a:blip>
          <a:srcRect b="33880" l="24964" r="48117" t="50000"/>
          <a:stretch/>
        </p:blipFill>
        <p:spPr>
          <a:xfrm>
            <a:off x="5802515" y="4937760"/>
            <a:ext cx="6021274" cy="2028159"/>
          </a:xfrm>
          <a:prstGeom prst="rect">
            <a:avLst/>
          </a:prstGeom>
          <a:noFill/>
          <a:ln>
            <a:noFill/>
          </a:ln>
        </p:spPr>
      </p:pic>
      <p:sp>
        <p:nvSpPr>
          <p:cNvPr id="222" name="Google Shape;222;p14"/>
          <p:cNvSpPr/>
          <p:nvPr/>
        </p:nvSpPr>
        <p:spPr>
          <a:xfrm>
            <a:off x="7575458" y="2231280"/>
            <a:ext cx="522514" cy="565556"/>
          </a:xfrm>
          <a:prstGeom prst="roundRect">
            <a:avLst>
              <a:gd fmla="val 16667" name="adj"/>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4"/>
          <p:cNvSpPr/>
          <p:nvPr/>
        </p:nvSpPr>
        <p:spPr>
          <a:xfrm>
            <a:off x="7575458" y="4229828"/>
            <a:ext cx="522514" cy="565556"/>
          </a:xfrm>
          <a:prstGeom prst="roundRect">
            <a:avLst>
              <a:gd fmla="val 16667" name="adj"/>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4"/>
          <p:cNvSpPr/>
          <p:nvPr/>
        </p:nvSpPr>
        <p:spPr>
          <a:xfrm>
            <a:off x="7863839" y="5303806"/>
            <a:ext cx="794955" cy="1119367"/>
          </a:xfrm>
          <a:prstGeom prst="roundRect">
            <a:avLst>
              <a:gd fmla="val 16667" name="adj"/>
            </a:avLst>
          </a:prstGeom>
          <a:noFill/>
          <a:ln cap="flat" cmpd="sng" w="762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4"/>
          <p:cNvSpPr/>
          <p:nvPr/>
        </p:nvSpPr>
        <p:spPr>
          <a:xfrm>
            <a:off x="8658794" y="5407579"/>
            <a:ext cx="382958" cy="511628"/>
          </a:xfrm>
          <a:prstGeom prst="roundRect">
            <a:avLst>
              <a:gd fmla="val 16667" name="adj"/>
            </a:avLst>
          </a:prstGeom>
          <a:noFill/>
          <a:ln cap="flat" cmpd="sng" w="76200">
            <a:solidFill>
              <a:srgbClr val="ED1BD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4"/>
          <p:cNvSpPr/>
          <p:nvPr/>
        </p:nvSpPr>
        <p:spPr>
          <a:xfrm>
            <a:off x="235543" y="2518105"/>
            <a:ext cx="715433" cy="278732"/>
          </a:xfrm>
          <a:prstGeom prst="rightArrow">
            <a:avLst>
              <a:gd fmla="val 50000" name="adj1"/>
              <a:gd fmla="val 50000" name="adj2"/>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4"/>
          <p:cNvSpPr/>
          <p:nvPr/>
        </p:nvSpPr>
        <p:spPr>
          <a:xfrm>
            <a:off x="108467" y="4573478"/>
            <a:ext cx="842509" cy="278732"/>
          </a:xfrm>
          <a:prstGeom prst="rightArrow">
            <a:avLst>
              <a:gd fmla="val 50000" name="adj1"/>
              <a:gd fmla="val 50000" name="adj2"/>
            </a:avLst>
          </a:prstGeom>
          <a:solidFill>
            <a:srgbClr val="ED1BD4"/>
          </a:solidFill>
          <a:ln cap="flat" cmpd="sng" w="127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14"/>
          <p:cNvSpPr/>
          <p:nvPr/>
        </p:nvSpPr>
        <p:spPr>
          <a:xfrm>
            <a:off x="1014514" y="2670048"/>
            <a:ext cx="350990" cy="1072896"/>
          </a:xfrm>
          <a:prstGeom prst="leftBrace">
            <a:avLst>
              <a:gd fmla="val 8333" name="adj1"/>
              <a:gd fmla="val 50000" name="adj2"/>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4"/>
          <p:cNvSpPr/>
          <p:nvPr/>
        </p:nvSpPr>
        <p:spPr>
          <a:xfrm>
            <a:off x="1014515" y="4736763"/>
            <a:ext cx="350990" cy="567044"/>
          </a:xfrm>
          <a:prstGeom prst="leftBrace">
            <a:avLst>
              <a:gd fmla="val 8333" name="adj1"/>
              <a:gd fmla="val 50000" name="adj2"/>
            </a:avLst>
          </a:prstGeom>
          <a:noFill/>
          <a:ln cap="flat" cmpd="sng" w="76200">
            <a:solidFill>
              <a:srgbClr val="ED1BD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230" name="Google Shape;230;p14"/>
          <p:cNvPicPr preferRelativeResize="0"/>
          <p:nvPr/>
        </p:nvPicPr>
        <p:blipFill rotWithShape="1">
          <a:blip r:embed="rId5">
            <a:alphaModFix/>
          </a:blip>
          <a:srcRect b="0" l="0" r="0" t="0"/>
          <a:stretch/>
        </p:blipFill>
        <p:spPr>
          <a:xfrm>
            <a:off x="9304941" y="178495"/>
            <a:ext cx="2161659" cy="12230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6"/>
              </a:buClr>
              <a:buSzPts val="6000"/>
              <a:buFont typeface="Calibri"/>
              <a:buNone/>
            </a:pPr>
            <a:r>
              <a:rPr lang="en-CA">
                <a:solidFill>
                  <a:schemeClr val="accent6"/>
                </a:solidFill>
              </a:rPr>
              <a:t>Short Introduction to MEI</a:t>
            </a:r>
            <a:endParaRPr/>
          </a:p>
        </p:txBody>
      </p:sp>
      <p:sp>
        <p:nvSpPr>
          <p:cNvPr id="237" name="Google Shape;237;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238" name="Google Shape;23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6"/>
          <p:cNvSpPr txBox="1"/>
          <p:nvPr>
            <p:ph type="title"/>
          </p:nvPr>
        </p:nvSpPr>
        <p:spPr>
          <a:xfrm>
            <a:off x="838200" y="360305"/>
            <a:ext cx="10515600" cy="9660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CA" sz="4000"/>
              <a:t>Music Encoding Initiative (MEI)</a:t>
            </a:r>
            <a:endParaRPr sz="4000"/>
          </a:p>
        </p:txBody>
      </p:sp>
      <p:sp>
        <p:nvSpPr>
          <p:cNvPr id="245" name="Google Shape;245;p16"/>
          <p:cNvSpPr txBox="1"/>
          <p:nvPr>
            <p:ph idx="1" type="body"/>
          </p:nvPr>
        </p:nvSpPr>
        <p:spPr>
          <a:xfrm>
            <a:off x="969817" y="1327338"/>
            <a:ext cx="10383983" cy="3125254"/>
          </a:xfrm>
          <a:prstGeom prst="rect">
            <a:avLst/>
          </a:prstGeom>
          <a:noFill/>
          <a:ln>
            <a:noFill/>
          </a:ln>
        </p:spPr>
        <p:txBody>
          <a:bodyPr anchorCtr="0" anchor="ctr" bIns="45700" lIns="91425" spcFirstLastPara="1" rIns="91425" wrap="square" tIns="45700">
            <a:normAutofit fontScale="92500" lnSpcReduction="20000"/>
          </a:bodyPr>
          <a:lstStyle/>
          <a:p>
            <a:pPr indent="-237060" lvl="0" marL="237060" rtl="0" algn="l">
              <a:lnSpc>
                <a:spcPct val="90000"/>
              </a:lnSpc>
              <a:spcBef>
                <a:spcPts val="0"/>
              </a:spcBef>
              <a:spcAft>
                <a:spcPts val="0"/>
              </a:spcAft>
              <a:buClr>
                <a:schemeClr val="dk1"/>
              </a:buClr>
              <a:buSzPct val="79002"/>
              <a:buChar char="•"/>
            </a:pPr>
            <a:r>
              <a:rPr lang="en-CA" sz="2600"/>
              <a:t>A community and a format</a:t>
            </a:r>
            <a:endParaRPr sz="2600"/>
          </a:p>
          <a:p>
            <a:pPr indent="-237060" lvl="0" marL="237060" rtl="0" algn="l">
              <a:lnSpc>
                <a:spcPct val="90000"/>
              </a:lnSpc>
              <a:spcBef>
                <a:spcPts val="1000"/>
              </a:spcBef>
              <a:spcAft>
                <a:spcPts val="0"/>
              </a:spcAft>
              <a:buClr>
                <a:schemeClr val="dk1"/>
              </a:buClr>
              <a:buSzPct val="79002"/>
              <a:buChar char="•"/>
            </a:pPr>
            <a:r>
              <a:rPr b="1" lang="en-CA" sz="2600"/>
              <a:t>The format: </a:t>
            </a:r>
            <a:r>
              <a:rPr lang="en-CA" sz="2600"/>
              <a:t>Encodes music notation in XML (</a:t>
            </a:r>
            <a:r>
              <a:rPr i="1" lang="en-CA" sz="2600"/>
              <a:t>e</a:t>
            </a:r>
            <a:r>
              <a:rPr b="1" i="1" lang="en-CA" sz="2600"/>
              <a:t>X</a:t>
            </a:r>
            <a:r>
              <a:rPr i="1" lang="en-CA" sz="2600"/>
              <a:t>tensible </a:t>
            </a:r>
            <a:r>
              <a:rPr b="1" i="1" lang="en-CA" sz="2600"/>
              <a:t>M</a:t>
            </a:r>
            <a:r>
              <a:rPr i="1" lang="en-CA" sz="2600"/>
              <a:t>arkup </a:t>
            </a:r>
            <a:r>
              <a:rPr b="1" i="1" lang="en-CA" sz="2600"/>
              <a:t>L</a:t>
            </a:r>
            <a:r>
              <a:rPr i="1" lang="en-CA" sz="2600"/>
              <a:t>anguage</a:t>
            </a:r>
            <a:r>
              <a:rPr lang="en-CA" sz="2600"/>
              <a:t>)</a:t>
            </a:r>
            <a:endParaRPr/>
          </a:p>
          <a:p>
            <a:pPr indent="-245527" lvl="1" marL="846646" rtl="0" algn="l">
              <a:lnSpc>
                <a:spcPct val="90000"/>
              </a:lnSpc>
              <a:spcBef>
                <a:spcPts val="500"/>
              </a:spcBef>
              <a:spcAft>
                <a:spcPts val="0"/>
              </a:spcAft>
              <a:buClr>
                <a:schemeClr val="dk1"/>
              </a:buClr>
              <a:buSzPct val="79002"/>
              <a:buChar char="•"/>
            </a:pPr>
            <a:r>
              <a:rPr lang="en-CA" sz="2600"/>
              <a:t>Hierarchical encoding (tree structure)</a:t>
            </a:r>
            <a:endParaRPr/>
          </a:p>
          <a:p>
            <a:pPr indent="-245527" lvl="1" marL="846646" rtl="0" algn="l">
              <a:lnSpc>
                <a:spcPct val="90000"/>
              </a:lnSpc>
              <a:spcBef>
                <a:spcPts val="500"/>
              </a:spcBef>
              <a:spcAft>
                <a:spcPts val="0"/>
              </a:spcAft>
              <a:buClr>
                <a:schemeClr val="dk1"/>
              </a:buClr>
              <a:buSzPct val="79002"/>
              <a:buChar char="•"/>
            </a:pPr>
            <a:r>
              <a:rPr lang="en-CA" sz="2600"/>
              <a:t>Its core objects are </a:t>
            </a:r>
            <a:r>
              <a:rPr b="1" lang="en-CA" sz="2600">
                <a:solidFill>
                  <a:srgbClr val="0070C0"/>
                </a:solidFill>
              </a:rPr>
              <a:t>elements</a:t>
            </a:r>
            <a:r>
              <a:rPr lang="en-CA" sz="2600">
                <a:solidFill>
                  <a:schemeClr val="dk1"/>
                </a:solidFill>
              </a:rPr>
              <a:t> (tags, e.g. &lt;</a:t>
            </a:r>
            <a:r>
              <a:rPr lang="en-CA" sz="2600">
                <a:solidFill>
                  <a:srgbClr val="0070C0"/>
                </a:solidFill>
              </a:rPr>
              <a:t>note</a:t>
            </a:r>
            <a:r>
              <a:rPr lang="en-CA" sz="2600">
                <a:solidFill>
                  <a:schemeClr val="dk1"/>
                </a:solidFill>
              </a:rPr>
              <a:t>&gt;)</a:t>
            </a:r>
            <a:endParaRPr/>
          </a:p>
          <a:p>
            <a:pPr indent="-245526" lvl="2" marL="1456230" rtl="0" algn="l">
              <a:lnSpc>
                <a:spcPct val="90000"/>
              </a:lnSpc>
              <a:spcBef>
                <a:spcPts val="500"/>
              </a:spcBef>
              <a:spcAft>
                <a:spcPts val="0"/>
              </a:spcAft>
              <a:buClr>
                <a:schemeClr val="dk1"/>
              </a:buClr>
              <a:buSzPct val="93366"/>
              <a:buChar char="•"/>
            </a:pPr>
            <a:r>
              <a:rPr lang="en-CA" sz="2200">
                <a:solidFill>
                  <a:schemeClr val="dk1"/>
                </a:solidFill>
              </a:rPr>
              <a:t>Opening tags &amp; closing tags </a:t>
            </a:r>
            <a:r>
              <a:rPr lang="en-CA" sz="2200"/>
              <a:t>→</a:t>
            </a:r>
            <a:r>
              <a:rPr lang="en-CA" sz="2200">
                <a:solidFill>
                  <a:schemeClr val="dk1"/>
                </a:solidFill>
              </a:rPr>
              <a:t> when there is content in between</a:t>
            </a:r>
            <a:endParaRPr sz="2200">
              <a:solidFill>
                <a:schemeClr val="dk1"/>
              </a:solidFill>
            </a:endParaRPr>
          </a:p>
          <a:p>
            <a:pPr indent="-245526" lvl="2" marL="1456230" rtl="0" algn="l">
              <a:lnSpc>
                <a:spcPct val="90000"/>
              </a:lnSpc>
              <a:spcBef>
                <a:spcPts val="500"/>
              </a:spcBef>
              <a:spcAft>
                <a:spcPts val="0"/>
              </a:spcAft>
              <a:buClr>
                <a:schemeClr val="dk1"/>
              </a:buClr>
              <a:buSzPct val="93366"/>
              <a:buChar char="•"/>
            </a:pPr>
            <a:r>
              <a:rPr lang="en-CA" sz="2200">
                <a:solidFill>
                  <a:schemeClr val="dk1"/>
                </a:solidFill>
              </a:rPr>
              <a:t>Self-closing tags </a:t>
            </a:r>
            <a:r>
              <a:rPr lang="en-CA" sz="2200"/>
              <a:t>→</a:t>
            </a:r>
            <a:r>
              <a:rPr lang="en-CA" sz="2200">
                <a:solidFill>
                  <a:schemeClr val="dk1"/>
                </a:solidFill>
              </a:rPr>
              <a:t> when there is no content to be included in between tags</a:t>
            </a:r>
            <a:endParaRPr sz="2200">
              <a:solidFill>
                <a:schemeClr val="dk1"/>
              </a:solidFill>
            </a:endParaRPr>
          </a:p>
          <a:p>
            <a:pPr indent="-245527" lvl="1" marL="846646" rtl="0" algn="l">
              <a:lnSpc>
                <a:spcPct val="90000"/>
              </a:lnSpc>
              <a:spcBef>
                <a:spcPts val="500"/>
              </a:spcBef>
              <a:spcAft>
                <a:spcPts val="0"/>
              </a:spcAft>
              <a:buClr>
                <a:schemeClr val="dk1"/>
              </a:buClr>
              <a:buSzPct val="79002"/>
              <a:buChar char="•"/>
            </a:pPr>
            <a:r>
              <a:rPr lang="en-CA" sz="2600">
                <a:solidFill>
                  <a:schemeClr val="dk1"/>
                </a:solidFill>
              </a:rPr>
              <a:t>Uses</a:t>
            </a:r>
            <a:r>
              <a:rPr b="1" lang="en-CA" sz="2600">
                <a:solidFill>
                  <a:schemeClr val="dk1"/>
                </a:solidFill>
              </a:rPr>
              <a:t> </a:t>
            </a:r>
            <a:r>
              <a:rPr b="1" lang="en-CA" sz="2600">
                <a:solidFill>
                  <a:schemeClr val="accent2"/>
                </a:solidFill>
              </a:rPr>
              <a:t>attributes</a:t>
            </a:r>
            <a:r>
              <a:rPr lang="en-CA" sz="2600"/>
              <a:t> to define the properties of elements</a:t>
            </a:r>
            <a:endParaRPr/>
          </a:p>
          <a:p>
            <a:pPr indent="-245527" lvl="1" marL="846646" rtl="0" algn="l">
              <a:lnSpc>
                <a:spcPct val="90000"/>
              </a:lnSpc>
              <a:spcBef>
                <a:spcPts val="500"/>
              </a:spcBef>
              <a:spcAft>
                <a:spcPts val="0"/>
              </a:spcAft>
              <a:buClr>
                <a:schemeClr val="dk1"/>
              </a:buClr>
              <a:buSzPct val="79002"/>
              <a:buChar char="•"/>
            </a:pPr>
            <a:r>
              <a:rPr lang="en-CA" sz="2600"/>
              <a:t>XML does not ”do” anything, it is just information wrapped in tags</a:t>
            </a:r>
            <a:endParaRPr sz="2600"/>
          </a:p>
          <a:p>
            <a:pPr indent="-237060" lvl="0" marL="237060" rtl="0" algn="l">
              <a:lnSpc>
                <a:spcPct val="90000"/>
              </a:lnSpc>
              <a:spcBef>
                <a:spcPts val="1000"/>
              </a:spcBef>
              <a:spcAft>
                <a:spcPts val="0"/>
              </a:spcAft>
              <a:buClr>
                <a:schemeClr val="dk1"/>
              </a:buClr>
              <a:buSzPct val="79002"/>
              <a:buChar char="•"/>
            </a:pPr>
            <a:r>
              <a:rPr b="1" lang="en-CA" sz="2600"/>
              <a:t>Goal: </a:t>
            </a:r>
            <a:r>
              <a:rPr lang="en-CA" sz="2600"/>
              <a:t>Encode a wide variety of music documents</a:t>
            </a:r>
            <a:endParaRPr sz="2600"/>
          </a:p>
        </p:txBody>
      </p:sp>
      <p:grpSp>
        <p:nvGrpSpPr>
          <p:cNvPr id="246" name="Google Shape;246;p16"/>
          <p:cNvGrpSpPr/>
          <p:nvPr/>
        </p:nvGrpSpPr>
        <p:grpSpPr>
          <a:xfrm>
            <a:off x="985057" y="4518845"/>
            <a:ext cx="8983495" cy="1840843"/>
            <a:chOff x="985057" y="4518845"/>
            <a:chExt cx="8983495" cy="1840843"/>
          </a:xfrm>
        </p:grpSpPr>
        <p:sp>
          <p:nvSpPr>
            <p:cNvPr id="247" name="Google Shape;247;p16"/>
            <p:cNvSpPr txBox="1"/>
            <p:nvPr/>
          </p:nvSpPr>
          <p:spPr>
            <a:xfrm>
              <a:off x="3353008" y="4518845"/>
              <a:ext cx="6615544" cy="1840843"/>
            </a:xfrm>
            <a:prstGeom prst="rect">
              <a:avLst/>
            </a:prstGeom>
            <a:solidFill>
              <a:srgbClr val="F2F2F2"/>
            </a:solidFill>
            <a:ln cap="flat" cmpd="sng" w="12700">
              <a:solidFill>
                <a:schemeClr val="dk1"/>
              </a:solidFill>
              <a:prstDash val="solid"/>
              <a:round/>
              <a:headEnd len="sm" w="sm" type="none"/>
              <a:tailEnd len="sm" w="sm" type="none"/>
            </a:ln>
          </p:spPr>
          <p:txBody>
            <a:bodyPr anchorCtr="0" anchor="t" bIns="180000" lIns="216000" spcFirstLastPara="1" rIns="91425" wrap="square" tIns="180000">
              <a:spAutoFit/>
            </a:bodyPr>
            <a:lstStyle/>
            <a:p>
              <a:pPr indent="0" lvl="0" marL="0" marR="0" rtl="0" algn="l">
                <a:spcBef>
                  <a:spcPts val="0"/>
                </a:spcBef>
                <a:spcAft>
                  <a:spcPts val="0"/>
                </a:spcAft>
                <a:buNone/>
              </a:pPr>
              <a:r>
                <a:rPr lang="en-CA" sz="2400">
                  <a:solidFill>
                    <a:schemeClr val="dk1"/>
                  </a:solidFill>
                  <a:latin typeface="Consolas"/>
                  <a:ea typeface="Consolas"/>
                  <a:cs typeface="Consolas"/>
                  <a:sym typeface="Consolas"/>
                </a:rPr>
                <a:t>&lt;</a:t>
              </a:r>
              <a:r>
                <a:rPr lang="en-CA" sz="2400">
                  <a:solidFill>
                    <a:srgbClr val="0070C0"/>
                  </a:solidFill>
                  <a:latin typeface="Consolas"/>
                  <a:ea typeface="Consolas"/>
                  <a:cs typeface="Consolas"/>
                  <a:sym typeface="Consolas"/>
                </a:rPr>
                <a:t>beam</a:t>
              </a:r>
              <a:r>
                <a:rPr lang="en-CA" sz="2400">
                  <a:solidFill>
                    <a:schemeClr val="dk1"/>
                  </a:solidFill>
                  <a:latin typeface="Consolas"/>
                  <a:ea typeface="Consolas"/>
                  <a:cs typeface="Consolas"/>
                  <a:sym typeface="Consolas"/>
                </a:rPr>
                <a:t>&gt;</a:t>
              </a:r>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note</a:t>
              </a:r>
              <a:r>
                <a:rPr lang="en-CA" sz="2400">
                  <a:solidFill>
                    <a:schemeClr val="dk1"/>
                  </a:solidFill>
                  <a:latin typeface="Consolas"/>
                  <a:ea typeface="Consolas"/>
                  <a:cs typeface="Consolas"/>
                  <a:sym typeface="Consolas"/>
                </a:rPr>
                <a:t> </a:t>
              </a:r>
              <a:r>
                <a:rPr lang="en-CA" sz="2400">
                  <a:solidFill>
                    <a:schemeClr val="accent2"/>
                  </a:solidFill>
                  <a:latin typeface="Consolas"/>
                  <a:ea typeface="Consolas"/>
                  <a:cs typeface="Consolas"/>
                  <a:sym typeface="Consolas"/>
                </a:rPr>
                <a:t>pname</a:t>
              </a:r>
              <a:r>
                <a:rPr lang="en-CA" sz="2400">
                  <a:solidFill>
                    <a:schemeClr val="dk1"/>
                  </a:solidFill>
                  <a:latin typeface="Consolas"/>
                  <a:ea typeface="Consolas"/>
                  <a:cs typeface="Consolas"/>
                  <a:sym typeface="Consolas"/>
                </a:rPr>
                <a:t>="</a:t>
              </a:r>
              <a:r>
                <a:rPr lang="en-CA" sz="2400">
                  <a:solidFill>
                    <a:srgbClr val="00B050"/>
                  </a:solidFill>
                  <a:latin typeface="Consolas"/>
                  <a:ea typeface="Consolas"/>
                  <a:cs typeface="Consolas"/>
                  <a:sym typeface="Consolas"/>
                </a:rPr>
                <a:t>f</a:t>
              </a:r>
              <a:r>
                <a:rPr lang="en-CA" sz="2400">
                  <a:solidFill>
                    <a:schemeClr val="dk1"/>
                  </a:solidFill>
                  <a:latin typeface="Consolas"/>
                  <a:ea typeface="Consolas"/>
                  <a:cs typeface="Consolas"/>
                  <a:sym typeface="Consolas"/>
                </a:rPr>
                <a:t>" </a:t>
              </a:r>
              <a:r>
                <a:rPr lang="en-CA" sz="2400">
                  <a:solidFill>
                    <a:schemeClr val="accent2"/>
                  </a:solidFill>
                  <a:latin typeface="Consolas"/>
                  <a:ea typeface="Consolas"/>
                  <a:cs typeface="Consolas"/>
                  <a:sym typeface="Consolas"/>
                </a:rPr>
                <a:t>oct</a:t>
              </a:r>
              <a:r>
                <a:rPr lang="en-CA" sz="2400">
                  <a:solidFill>
                    <a:schemeClr val="dk1"/>
                  </a:solidFill>
                  <a:latin typeface="Consolas"/>
                  <a:ea typeface="Consolas"/>
                  <a:cs typeface="Consolas"/>
                  <a:sym typeface="Consolas"/>
                </a:rPr>
                <a:t>="</a:t>
              </a:r>
              <a:r>
                <a:rPr lang="en-CA" sz="2400">
                  <a:solidFill>
                    <a:srgbClr val="00B050"/>
                  </a:solidFill>
                  <a:latin typeface="Consolas"/>
                  <a:ea typeface="Consolas"/>
                  <a:cs typeface="Consolas"/>
                  <a:sym typeface="Consolas"/>
                </a:rPr>
                <a:t>4</a:t>
              </a:r>
              <a:r>
                <a:rPr lang="en-CA" sz="2400">
                  <a:solidFill>
                    <a:schemeClr val="dk1"/>
                  </a:solidFill>
                  <a:latin typeface="Consolas"/>
                  <a:ea typeface="Consolas"/>
                  <a:cs typeface="Consolas"/>
                  <a:sym typeface="Consolas"/>
                </a:rPr>
                <a:t>" </a:t>
              </a:r>
              <a:r>
                <a:rPr lang="en-CA" sz="2400">
                  <a:solidFill>
                    <a:schemeClr val="accent2"/>
                  </a:solidFill>
                  <a:latin typeface="Consolas"/>
                  <a:ea typeface="Consolas"/>
                  <a:cs typeface="Consolas"/>
                  <a:sym typeface="Consolas"/>
                </a:rPr>
                <a:t>dur</a:t>
              </a:r>
              <a:r>
                <a:rPr lang="en-CA" sz="2400">
                  <a:solidFill>
                    <a:schemeClr val="dk1"/>
                  </a:solidFill>
                  <a:latin typeface="Consolas"/>
                  <a:ea typeface="Consolas"/>
                  <a:cs typeface="Consolas"/>
                  <a:sym typeface="Consolas"/>
                </a:rPr>
                <a:t>="</a:t>
              </a:r>
              <a:r>
                <a:rPr lang="en-CA" sz="2400">
                  <a:solidFill>
                    <a:srgbClr val="00B050"/>
                  </a:solidFill>
                  <a:latin typeface="Consolas"/>
                  <a:ea typeface="Consolas"/>
                  <a:cs typeface="Consolas"/>
                  <a:sym typeface="Consolas"/>
                </a:rPr>
                <a:t>8</a:t>
              </a:r>
              <a:r>
                <a:rPr lang="en-CA" sz="2400">
                  <a:solidFill>
                    <a:schemeClr val="dk1"/>
                  </a:solidFill>
                  <a:latin typeface="Consolas"/>
                  <a:ea typeface="Consolas"/>
                  <a:cs typeface="Consolas"/>
                  <a:sym typeface="Consolas"/>
                </a:rPr>
                <a:t>"/&gt;</a:t>
              </a:r>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note</a:t>
              </a:r>
              <a:r>
                <a:rPr lang="en-CA" sz="2400">
                  <a:solidFill>
                    <a:schemeClr val="dk1"/>
                  </a:solidFill>
                  <a:latin typeface="Consolas"/>
                  <a:ea typeface="Consolas"/>
                  <a:cs typeface="Consolas"/>
                  <a:sym typeface="Consolas"/>
                </a:rPr>
                <a:t> </a:t>
              </a:r>
              <a:r>
                <a:rPr lang="en-CA" sz="2400">
                  <a:solidFill>
                    <a:schemeClr val="accent2"/>
                  </a:solidFill>
                  <a:latin typeface="Consolas"/>
                  <a:ea typeface="Consolas"/>
                  <a:cs typeface="Consolas"/>
                  <a:sym typeface="Consolas"/>
                </a:rPr>
                <a:t>pname</a:t>
              </a:r>
              <a:r>
                <a:rPr lang="en-CA" sz="2400">
                  <a:solidFill>
                    <a:schemeClr val="dk1"/>
                  </a:solidFill>
                  <a:latin typeface="Consolas"/>
                  <a:ea typeface="Consolas"/>
                  <a:cs typeface="Consolas"/>
                  <a:sym typeface="Consolas"/>
                </a:rPr>
                <a:t>="</a:t>
              </a:r>
              <a:r>
                <a:rPr lang="en-CA" sz="2400">
                  <a:solidFill>
                    <a:srgbClr val="00B050"/>
                  </a:solidFill>
                  <a:latin typeface="Consolas"/>
                  <a:ea typeface="Consolas"/>
                  <a:cs typeface="Consolas"/>
                  <a:sym typeface="Consolas"/>
                </a:rPr>
                <a:t>c</a:t>
              </a:r>
              <a:r>
                <a:rPr lang="en-CA" sz="2400">
                  <a:solidFill>
                    <a:schemeClr val="dk1"/>
                  </a:solidFill>
                  <a:latin typeface="Consolas"/>
                  <a:ea typeface="Consolas"/>
                  <a:cs typeface="Consolas"/>
                  <a:sym typeface="Consolas"/>
                </a:rPr>
                <a:t>" </a:t>
              </a:r>
              <a:r>
                <a:rPr lang="en-CA" sz="2400">
                  <a:solidFill>
                    <a:schemeClr val="accent2"/>
                  </a:solidFill>
                  <a:latin typeface="Consolas"/>
                  <a:ea typeface="Consolas"/>
                  <a:cs typeface="Consolas"/>
                  <a:sym typeface="Consolas"/>
                </a:rPr>
                <a:t>oct</a:t>
              </a:r>
              <a:r>
                <a:rPr lang="en-CA" sz="2400">
                  <a:solidFill>
                    <a:schemeClr val="dk1"/>
                  </a:solidFill>
                  <a:latin typeface="Consolas"/>
                  <a:ea typeface="Consolas"/>
                  <a:cs typeface="Consolas"/>
                  <a:sym typeface="Consolas"/>
                </a:rPr>
                <a:t>="</a:t>
              </a:r>
              <a:r>
                <a:rPr lang="en-CA" sz="2400">
                  <a:solidFill>
                    <a:srgbClr val="00B050"/>
                  </a:solidFill>
                  <a:latin typeface="Consolas"/>
                  <a:ea typeface="Consolas"/>
                  <a:cs typeface="Consolas"/>
                  <a:sym typeface="Consolas"/>
                </a:rPr>
                <a:t>4</a:t>
              </a:r>
              <a:r>
                <a:rPr lang="en-CA" sz="2400">
                  <a:solidFill>
                    <a:schemeClr val="dk1"/>
                  </a:solidFill>
                  <a:latin typeface="Consolas"/>
                  <a:ea typeface="Consolas"/>
                  <a:cs typeface="Consolas"/>
                  <a:sym typeface="Consolas"/>
                </a:rPr>
                <a:t>" </a:t>
              </a:r>
              <a:r>
                <a:rPr lang="en-CA" sz="2400">
                  <a:solidFill>
                    <a:schemeClr val="accent2"/>
                  </a:solidFill>
                  <a:latin typeface="Consolas"/>
                  <a:ea typeface="Consolas"/>
                  <a:cs typeface="Consolas"/>
                  <a:sym typeface="Consolas"/>
                </a:rPr>
                <a:t>dur</a:t>
              </a:r>
              <a:r>
                <a:rPr lang="en-CA" sz="2400">
                  <a:solidFill>
                    <a:schemeClr val="dk1"/>
                  </a:solidFill>
                  <a:latin typeface="Consolas"/>
                  <a:ea typeface="Consolas"/>
                  <a:cs typeface="Consolas"/>
                  <a:sym typeface="Consolas"/>
                </a:rPr>
                <a:t>="</a:t>
              </a:r>
              <a:r>
                <a:rPr lang="en-CA" sz="2400">
                  <a:solidFill>
                    <a:srgbClr val="00B050"/>
                  </a:solidFill>
                  <a:latin typeface="Consolas"/>
                  <a:ea typeface="Consolas"/>
                  <a:cs typeface="Consolas"/>
                  <a:sym typeface="Consolas"/>
                </a:rPr>
                <a:t>8</a:t>
              </a:r>
              <a:r>
                <a:rPr lang="en-CA" sz="2400">
                  <a:solidFill>
                    <a:schemeClr val="dk1"/>
                  </a:solidFill>
                  <a:latin typeface="Consolas"/>
                  <a:ea typeface="Consolas"/>
                  <a:cs typeface="Consolas"/>
                  <a:sym typeface="Consolas"/>
                </a:rPr>
                <a:t>"/&gt;</a:t>
              </a:r>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&lt;/</a:t>
              </a:r>
              <a:r>
                <a:rPr lang="en-CA" sz="2400">
                  <a:solidFill>
                    <a:srgbClr val="0070C0"/>
                  </a:solidFill>
                  <a:latin typeface="Consolas"/>
                  <a:ea typeface="Consolas"/>
                  <a:cs typeface="Consolas"/>
                  <a:sym typeface="Consolas"/>
                </a:rPr>
                <a:t>beam</a:t>
              </a:r>
              <a:r>
                <a:rPr lang="en-CA" sz="2400">
                  <a:solidFill>
                    <a:schemeClr val="dk1"/>
                  </a:solidFill>
                  <a:latin typeface="Consolas"/>
                  <a:ea typeface="Consolas"/>
                  <a:cs typeface="Consolas"/>
                  <a:sym typeface="Consolas"/>
                </a:rPr>
                <a:t>&gt;</a:t>
              </a:r>
              <a:endParaRPr/>
            </a:p>
          </p:txBody>
        </p:sp>
        <p:pic>
          <p:nvPicPr>
            <p:cNvPr descr="A black and white image of a treble clef and a treble clef on a black and white background&#10;&#10;Description automatically generated" id="248" name="Google Shape;248;p16"/>
            <p:cNvPicPr preferRelativeResize="0"/>
            <p:nvPr/>
          </p:nvPicPr>
          <p:blipFill rotWithShape="1">
            <a:blip r:embed="rId3">
              <a:alphaModFix/>
            </a:blip>
            <a:srcRect b="0" l="0" r="0" t="0"/>
            <a:stretch/>
          </p:blipFill>
          <p:spPr>
            <a:xfrm>
              <a:off x="985057" y="4533462"/>
              <a:ext cx="2373642" cy="1825200"/>
            </a:xfrm>
            <a:prstGeom prst="rect">
              <a:avLst/>
            </a:prstGeom>
            <a:noFill/>
            <a:ln cap="flat" cmpd="sng" w="12700">
              <a:solidFill>
                <a:schemeClr val="dk1"/>
              </a:solidFill>
              <a:prstDash val="solid"/>
              <a:round/>
              <a:headEnd len="sm" w="sm" type="none"/>
              <a:tailEnd len="sm" w="sm" type="none"/>
            </a:ln>
          </p:spPr>
        </p:pic>
      </p:grpSp>
      <p:pic>
        <p:nvPicPr>
          <p:cNvPr id="249" name="Google Shape;249;p16"/>
          <p:cNvPicPr preferRelativeResize="0"/>
          <p:nvPr/>
        </p:nvPicPr>
        <p:blipFill rotWithShape="1">
          <a:blip r:embed="rId4">
            <a:alphaModFix/>
          </a:blip>
          <a:srcRect b="0" l="0" r="0" t="0"/>
          <a:stretch/>
        </p:blipFill>
        <p:spPr>
          <a:xfrm>
            <a:off x="10493139" y="230188"/>
            <a:ext cx="1128208" cy="966006"/>
          </a:xfrm>
          <a:prstGeom prst="rect">
            <a:avLst/>
          </a:prstGeom>
          <a:noFill/>
          <a:ln>
            <a:noFill/>
          </a:ln>
        </p:spPr>
      </p:pic>
      <p:sp>
        <p:nvSpPr>
          <p:cNvPr id="250" name="Google Shape;25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251" name="Google Shape;251;p16"/>
          <p:cNvSpPr/>
          <p:nvPr/>
        </p:nvSpPr>
        <p:spPr>
          <a:xfrm>
            <a:off x="3972451" y="5061033"/>
            <a:ext cx="5760485" cy="375658"/>
          </a:xfrm>
          <a:prstGeom prst="roundRect">
            <a:avLst>
              <a:gd fmla="val 16667" name="adj"/>
            </a:avLst>
          </a:prstGeom>
          <a:solidFill>
            <a:srgbClr val="FF40FF">
              <a:alpha val="14901"/>
            </a:srgbClr>
          </a:solidFill>
          <a:ln cap="flat" cmpd="sng" w="12700">
            <a:solidFill>
              <a:srgbClr val="FF4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16"/>
          <p:cNvSpPr/>
          <p:nvPr/>
        </p:nvSpPr>
        <p:spPr>
          <a:xfrm>
            <a:off x="3456122" y="5814052"/>
            <a:ext cx="1394847" cy="346364"/>
          </a:xfrm>
          <a:prstGeom prst="roundRect">
            <a:avLst>
              <a:gd fmla="val 16667" name="adj"/>
            </a:avLst>
          </a:prstGeom>
          <a:solidFill>
            <a:srgbClr val="00E0E3">
              <a:alpha val="14901"/>
            </a:srgbClr>
          </a:solidFill>
          <a:ln cap="flat" cmpd="sng" w="12700">
            <a:solidFill>
              <a:srgbClr val="00E0E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16"/>
          <p:cNvSpPr/>
          <p:nvPr/>
        </p:nvSpPr>
        <p:spPr>
          <a:xfrm>
            <a:off x="3456122" y="4699170"/>
            <a:ext cx="1239866" cy="346364"/>
          </a:xfrm>
          <a:prstGeom prst="roundRect">
            <a:avLst>
              <a:gd fmla="val 16667" name="adj"/>
            </a:avLst>
          </a:prstGeom>
          <a:solidFill>
            <a:srgbClr val="00E0E3">
              <a:alpha val="14901"/>
            </a:srgbClr>
          </a:solidFill>
          <a:ln cap="flat" cmpd="sng" w="12700">
            <a:solidFill>
              <a:srgbClr val="00E0E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4" name="Google Shape;254;p16"/>
          <p:cNvSpPr txBox="1"/>
          <p:nvPr/>
        </p:nvSpPr>
        <p:spPr>
          <a:xfrm>
            <a:off x="4695988" y="4683729"/>
            <a:ext cx="168026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000">
                <a:solidFill>
                  <a:srgbClr val="00B0F0"/>
                </a:solidFill>
                <a:latin typeface="Calibri"/>
                <a:ea typeface="Calibri"/>
                <a:cs typeface="Calibri"/>
                <a:sym typeface="Calibri"/>
              </a:rPr>
              <a:t>Opening tag</a:t>
            </a:r>
            <a:endParaRPr/>
          </a:p>
        </p:txBody>
      </p:sp>
      <p:sp>
        <p:nvSpPr>
          <p:cNvPr id="255" name="Google Shape;255;p16"/>
          <p:cNvSpPr txBox="1"/>
          <p:nvPr/>
        </p:nvSpPr>
        <p:spPr>
          <a:xfrm>
            <a:off x="4860594" y="5813995"/>
            <a:ext cx="15808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000">
                <a:solidFill>
                  <a:srgbClr val="00B0F0"/>
                </a:solidFill>
                <a:latin typeface="Calibri"/>
                <a:ea typeface="Calibri"/>
                <a:cs typeface="Calibri"/>
                <a:sym typeface="Calibri"/>
              </a:rPr>
              <a:t>Closing tag</a:t>
            </a:r>
            <a:endParaRPr/>
          </a:p>
        </p:txBody>
      </p:sp>
      <p:sp>
        <p:nvSpPr>
          <p:cNvPr id="256" name="Google Shape;256;p16"/>
          <p:cNvSpPr txBox="1"/>
          <p:nvPr/>
        </p:nvSpPr>
        <p:spPr>
          <a:xfrm>
            <a:off x="9732936" y="5048807"/>
            <a:ext cx="22234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000">
                <a:solidFill>
                  <a:srgbClr val="FF40FF"/>
                </a:solidFill>
                <a:latin typeface="Calibri"/>
                <a:ea typeface="Calibri"/>
                <a:cs typeface="Calibri"/>
                <a:sym typeface="Calibri"/>
              </a:rPr>
              <a:t>Self-closing tag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6"/>
              </a:buClr>
              <a:buSzPts val="4400"/>
              <a:buFont typeface="Calibri"/>
              <a:buNone/>
            </a:pPr>
            <a:r>
              <a:rPr b="1" lang="en-CA">
                <a:solidFill>
                  <a:schemeClr val="accent6"/>
                </a:solidFill>
              </a:rPr>
              <a:t>XML </a:t>
            </a:r>
            <a:r>
              <a:rPr lang="en-CA"/>
              <a:t>is a hierarchical encoding system</a:t>
            </a:r>
            <a:br>
              <a:rPr lang="en-CA"/>
            </a:br>
            <a:endParaRPr b="1">
              <a:solidFill>
                <a:schemeClr val="accent6"/>
              </a:solidFill>
            </a:endParaRPr>
          </a:p>
        </p:txBody>
      </p:sp>
      <p:pic>
        <p:nvPicPr>
          <p:cNvPr id="263" name="Google Shape;263;p17"/>
          <p:cNvPicPr preferRelativeResize="0"/>
          <p:nvPr>
            <p:ph idx="1" type="body"/>
          </p:nvPr>
        </p:nvPicPr>
        <p:blipFill rotWithShape="1">
          <a:blip r:embed="rId4">
            <a:alphaModFix/>
          </a:blip>
          <a:srcRect b="0" l="0" r="0" t="0"/>
          <a:stretch/>
        </p:blipFill>
        <p:spPr>
          <a:xfrm>
            <a:off x="11081711" y="136525"/>
            <a:ext cx="1005567" cy="860997"/>
          </a:xfrm>
          <a:prstGeom prst="rect">
            <a:avLst/>
          </a:prstGeom>
          <a:noFill/>
          <a:ln>
            <a:noFill/>
          </a:ln>
        </p:spPr>
      </p:pic>
      <p:sp>
        <p:nvSpPr>
          <p:cNvPr id="264" name="Google Shape;264;p17"/>
          <p:cNvSpPr/>
          <p:nvPr/>
        </p:nvSpPr>
        <p:spPr>
          <a:xfrm>
            <a:off x="6589881" y="4415608"/>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aphicFrame>
        <p:nvGraphicFramePr>
          <p:cNvPr id="265" name="Google Shape;265;p17"/>
          <p:cNvGraphicFramePr/>
          <p:nvPr/>
        </p:nvGraphicFramePr>
        <p:xfrm>
          <a:off x="2800004" y="1317816"/>
          <a:ext cx="874881" cy="1662274"/>
        </p:xfrm>
        <a:graphic>
          <a:graphicData uri="http://schemas.openxmlformats.org/presentationml/2006/ole">
            <mc:AlternateContent>
              <mc:Choice Requires="v">
                <p:oleObj r:id="rId5" imgH="1662274" imgW="874881" progId="Paint.Picture" spid="_x0000_s1">
                  <p:embed/>
                </p:oleObj>
              </mc:Choice>
              <mc:Fallback>
                <p:oleObj r:id="rId6" imgH="1662274" imgW="874881" progId="Paint.Picture">
                  <p:embed/>
                  <p:pic>
                    <p:nvPicPr>
                      <p:cNvPr id="265" name="Google Shape;265;p17"/>
                      <p:cNvPicPr preferRelativeResize="0"/>
                      <p:nvPr/>
                    </p:nvPicPr>
                    <p:blipFill rotWithShape="1">
                      <a:blip r:embed="rId7">
                        <a:alphaModFix/>
                      </a:blip>
                      <a:srcRect b="0" l="0" r="0" t="0"/>
                      <a:stretch/>
                    </p:blipFill>
                    <p:spPr>
                      <a:xfrm>
                        <a:off x="2800004" y="1317816"/>
                        <a:ext cx="874881" cy="1662274"/>
                      </a:xfrm>
                      <a:prstGeom prst="rect">
                        <a:avLst/>
                      </a:prstGeom>
                      <a:noFill/>
                      <a:ln>
                        <a:noFill/>
                      </a:ln>
                    </p:spPr>
                  </p:pic>
                </p:oleObj>
              </mc:Fallback>
            </mc:AlternateContent>
          </a:graphicData>
        </a:graphic>
      </p:graphicFrame>
      <p:sp>
        <p:nvSpPr>
          <p:cNvPr id="266" name="Google Shape;266;p17"/>
          <p:cNvSpPr/>
          <p:nvPr/>
        </p:nvSpPr>
        <p:spPr>
          <a:xfrm>
            <a:off x="5080358" y="1296393"/>
            <a:ext cx="4542369" cy="1695849"/>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Clr>
                <a:srgbClr val="0070C0"/>
              </a:buClr>
              <a:buSzPts val="2000"/>
              <a:buFont typeface="Consolas"/>
              <a:buNone/>
            </a:pPr>
            <a:r>
              <a:rPr b="0" i="0" lang="en-CA" sz="2000" u="none" cap="none" strike="noStrike">
                <a:solidFill>
                  <a:srgbClr val="0070C0"/>
                </a:solidFill>
                <a:latin typeface="Consolas"/>
                <a:ea typeface="Consolas"/>
                <a:cs typeface="Consolas"/>
                <a:sym typeface="Consolas"/>
              </a:rPr>
              <a:t>&lt;</a:t>
            </a:r>
            <a:r>
              <a:rPr b="0" i="0" lang="en-CA" sz="2000" u="none" cap="none" strike="noStrike">
                <a:solidFill>
                  <a:srgbClr val="002060"/>
                </a:solidFill>
                <a:latin typeface="Consolas"/>
                <a:ea typeface="Consolas"/>
                <a:cs typeface="Consolas"/>
                <a:sym typeface="Consolas"/>
              </a:rPr>
              <a:t>neume</a:t>
            </a:r>
            <a:r>
              <a:rPr b="0" i="0" lang="en-CA" sz="2000" u="none" cap="none" strike="noStrike">
                <a:solidFill>
                  <a:srgbClr val="0070C0"/>
                </a:solidFill>
                <a:latin typeface="Consolas"/>
                <a:ea typeface="Consolas"/>
                <a:cs typeface="Consolas"/>
                <a:sym typeface="Consolas"/>
              </a:rPr>
              <a:t>&gt;</a:t>
            </a:r>
            <a:endParaRPr b="0" i="0" sz="2000" u="none" cap="none" strike="noStrike">
              <a:solidFill>
                <a:srgbClr val="0070C0"/>
              </a:solidFill>
              <a:latin typeface="Consolas"/>
              <a:ea typeface="Consolas"/>
              <a:cs typeface="Consolas"/>
              <a:sym typeface="Consolas"/>
            </a:endParaRPr>
          </a:p>
          <a:p>
            <a:pPr indent="0" lvl="0" marL="0" marR="0" rtl="0" algn="just">
              <a:lnSpc>
                <a:spcPct val="107000"/>
              </a:lnSpc>
              <a:spcBef>
                <a:spcPts val="800"/>
              </a:spcBef>
              <a:spcAft>
                <a:spcPts val="0"/>
              </a:spcAft>
              <a:buClr>
                <a:srgbClr val="000000"/>
              </a:buClr>
              <a:buSzPts val="2000"/>
              <a:buFont typeface="Consolas"/>
              <a:buNone/>
            </a:pPr>
            <a:r>
              <a:rPr lang="en-CA" sz="2000">
                <a:solidFill>
                  <a:srgbClr val="000000"/>
                </a:solidFill>
                <a:latin typeface="Consolas"/>
                <a:ea typeface="Consolas"/>
                <a:cs typeface="Consolas"/>
                <a:sym typeface="Consolas"/>
              </a:rPr>
              <a:t>  </a:t>
            </a:r>
            <a:r>
              <a:rPr b="0" i="0" lang="en-CA" sz="2000" u="none" cap="none" strike="noStrike">
                <a:solidFill>
                  <a:srgbClr val="0070C0"/>
                </a:solidFill>
                <a:latin typeface="Consolas"/>
                <a:ea typeface="Consolas"/>
                <a:cs typeface="Consolas"/>
                <a:sym typeface="Consolas"/>
              </a:rPr>
              <a:t>&lt;</a:t>
            </a:r>
            <a:r>
              <a:rPr b="0" i="0" lang="en-CA" sz="2000" u="none" cap="none" strike="noStrike">
                <a:solidFill>
                  <a:srgbClr val="002060"/>
                </a:solidFill>
                <a:latin typeface="Consolas"/>
                <a:ea typeface="Consolas"/>
                <a:cs typeface="Consolas"/>
                <a:sym typeface="Consolas"/>
              </a:rPr>
              <a:t>nc</a:t>
            </a:r>
            <a:r>
              <a:rPr lang="en-CA" sz="2000">
                <a:solidFill>
                  <a:srgbClr val="002060"/>
                </a:solidFill>
                <a:latin typeface="Consolas"/>
                <a:ea typeface="Consolas"/>
                <a:cs typeface="Consolas"/>
                <a:sym typeface="Consolas"/>
              </a:rPr>
              <a:t> </a:t>
            </a:r>
            <a:r>
              <a:rPr b="0" i="0" lang="en-CA" sz="2000" u="none" cap="none" strike="noStrike">
                <a:solidFill>
                  <a:srgbClr val="C00000"/>
                </a:solidFill>
                <a:latin typeface="Consolas"/>
                <a:ea typeface="Consolas"/>
                <a:cs typeface="Consolas"/>
                <a:sym typeface="Consolas"/>
              </a:rPr>
              <a:t>tilt</a:t>
            </a:r>
            <a:r>
              <a:rPr lang="en-CA" sz="2000">
                <a:solidFill>
                  <a:schemeClr val="dk1"/>
                </a:solidFill>
                <a:latin typeface="Consolas"/>
                <a:ea typeface="Consolas"/>
                <a:cs typeface="Consolas"/>
                <a:sym typeface="Consolas"/>
              </a:rPr>
              <a:t>="</a:t>
            </a:r>
            <a:r>
              <a:rPr b="0" i="0" lang="en-CA" sz="2000" u="none" cap="none" strike="noStrike">
                <a:solidFill>
                  <a:srgbClr val="548135"/>
                </a:solidFill>
                <a:latin typeface="Consolas"/>
                <a:ea typeface="Consolas"/>
                <a:cs typeface="Consolas"/>
                <a:sym typeface="Consolas"/>
              </a:rPr>
              <a:t>e</a:t>
            </a:r>
            <a:r>
              <a:rPr lang="en-CA" sz="2000">
                <a:solidFill>
                  <a:schemeClr val="dk1"/>
                </a:solidFill>
                <a:latin typeface="Consolas"/>
                <a:ea typeface="Consolas"/>
                <a:cs typeface="Consolas"/>
                <a:sym typeface="Consolas"/>
              </a:rPr>
              <a:t>" </a:t>
            </a:r>
            <a:r>
              <a:rPr b="0" i="0" lang="en-CA" sz="2000" u="none" cap="none" strike="noStrike">
                <a:solidFill>
                  <a:srgbClr val="002060"/>
                </a:solidFill>
                <a:latin typeface="Consolas"/>
                <a:ea typeface="Consolas"/>
                <a:cs typeface="Consolas"/>
                <a:sym typeface="Consolas"/>
              </a:rPr>
              <a:t>/&gt;</a:t>
            </a:r>
            <a:r>
              <a:rPr b="0" i="0" lang="en-CA" sz="2000" u="none" cap="none" strike="noStrike">
                <a:solidFill>
                  <a:srgbClr val="0070C0"/>
                </a:solidFill>
                <a:latin typeface="Consolas"/>
                <a:ea typeface="Consolas"/>
                <a:cs typeface="Consolas"/>
                <a:sym typeface="Consolas"/>
              </a:rPr>
              <a:t> </a:t>
            </a:r>
            <a:endParaRPr b="0" i="0" sz="2000" u="none" cap="none" strike="noStrike">
              <a:solidFill>
                <a:srgbClr val="000000"/>
              </a:solidFill>
              <a:latin typeface="Consolas"/>
              <a:ea typeface="Consolas"/>
              <a:cs typeface="Consolas"/>
              <a:sym typeface="Consolas"/>
            </a:endParaRPr>
          </a:p>
          <a:p>
            <a:pPr indent="0" lvl="0" marL="0" marR="0" rtl="0" algn="just">
              <a:lnSpc>
                <a:spcPct val="107000"/>
              </a:lnSpc>
              <a:spcBef>
                <a:spcPts val="800"/>
              </a:spcBef>
              <a:spcAft>
                <a:spcPts val="0"/>
              </a:spcAft>
              <a:buClr>
                <a:srgbClr val="0070C0"/>
              </a:buClr>
              <a:buSzPts val="2000"/>
              <a:buFont typeface="Consolas"/>
              <a:buNone/>
            </a:pPr>
            <a:r>
              <a:rPr b="0" i="0" lang="en-CA" sz="2000" u="none" cap="none" strike="noStrike">
                <a:solidFill>
                  <a:srgbClr val="0070C0"/>
                </a:solidFill>
                <a:latin typeface="Consolas"/>
                <a:ea typeface="Consolas"/>
                <a:cs typeface="Consolas"/>
                <a:sym typeface="Consolas"/>
              </a:rPr>
              <a:t>  &lt;</a:t>
            </a:r>
            <a:r>
              <a:rPr b="0" i="0" lang="en-CA" sz="2000" u="none" cap="none" strike="noStrike">
                <a:solidFill>
                  <a:srgbClr val="002060"/>
                </a:solidFill>
                <a:latin typeface="Consolas"/>
                <a:ea typeface="Consolas"/>
                <a:cs typeface="Consolas"/>
                <a:sym typeface="Consolas"/>
              </a:rPr>
              <a:t>nc</a:t>
            </a:r>
            <a:r>
              <a:rPr lang="en-CA" sz="2000">
                <a:solidFill>
                  <a:srgbClr val="C00000"/>
                </a:solidFill>
                <a:latin typeface="Consolas"/>
                <a:ea typeface="Consolas"/>
                <a:cs typeface="Consolas"/>
                <a:sym typeface="Consolas"/>
              </a:rPr>
              <a:t> </a:t>
            </a:r>
            <a:r>
              <a:rPr b="0" i="0" lang="en-CA" sz="2000" u="none" cap="none" strike="noStrike">
                <a:solidFill>
                  <a:srgbClr val="C00000"/>
                </a:solidFill>
                <a:latin typeface="Consolas"/>
                <a:ea typeface="Consolas"/>
                <a:cs typeface="Consolas"/>
                <a:sym typeface="Consolas"/>
              </a:rPr>
              <a:t>tilt</a:t>
            </a:r>
            <a:r>
              <a:rPr lang="en-CA" sz="2000">
                <a:solidFill>
                  <a:schemeClr val="dk1"/>
                </a:solidFill>
                <a:latin typeface="Consolas"/>
                <a:ea typeface="Consolas"/>
                <a:cs typeface="Consolas"/>
                <a:sym typeface="Consolas"/>
              </a:rPr>
              <a:t>="</a:t>
            </a:r>
            <a:r>
              <a:rPr b="0" i="0" lang="en-CA" sz="2000" u="none" cap="none" strike="noStrike">
                <a:solidFill>
                  <a:srgbClr val="548135"/>
                </a:solidFill>
                <a:latin typeface="Consolas"/>
                <a:ea typeface="Consolas"/>
                <a:cs typeface="Consolas"/>
                <a:sym typeface="Consolas"/>
              </a:rPr>
              <a:t>n</a:t>
            </a:r>
            <a:r>
              <a:rPr lang="en-CA" sz="2000">
                <a:solidFill>
                  <a:schemeClr val="dk1"/>
                </a:solidFill>
                <a:latin typeface="Consolas"/>
                <a:ea typeface="Consolas"/>
                <a:cs typeface="Consolas"/>
                <a:sym typeface="Consolas"/>
              </a:rPr>
              <a:t>" </a:t>
            </a:r>
            <a:r>
              <a:rPr b="0" i="0" lang="en-CA" sz="2000" u="none" cap="none" strike="noStrike">
                <a:solidFill>
                  <a:srgbClr val="C00000"/>
                </a:solidFill>
                <a:latin typeface="Consolas"/>
                <a:ea typeface="Consolas"/>
                <a:cs typeface="Consolas"/>
                <a:sym typeface="Consolas"/>
              </a:rPr>
              <a:t>intm</a:t>
            </a:r>
            <a:r>
              <a:rPr lang="en-CA" sz="2000">
                <a:solidFill>
                  <a:schemeClr val="dk1"/>
                </a:solidFill>
                <a:latin typeface="Consolas"/>
                <a:ea typeface="Consolas"/>
                <a:cs typeface="Consolas"/>
                <a:sym typeface="Consolas"/>
              </a:rPr>
              <a:t>="</a:t>
            </a:r>
            <a:r>
              <a:rPr b="0" i="0" lang="en-CA" sz="2000" u="none" cap="none" strike="noStrike">
                <a:solidFill>
                  <a:srgbClr val="548135"/>
                </a:solidFill>
                <a:latin typeface="Consolas"/>
                <a:ea typeface="Consolas"/>
                <a:cs typeface="Consolas"/>
                <a:sym typeface="Consolas"/>
              </a:rPr>
              <a:t>u</a:t>
            </a:r>
            <a:r>
              <a:rPr lang="en-CA" sz="2000">
                <a:solidFill>
                  <a:schemeClr val="dk1"/>
                </a:solidFill>
                <a:latin typeface="Consolas"/>
                <a:ea typeface="Consolas"/>
                <a:cs typeface="Consolas"/>
                <a:sym typeface="Consolas"/>
              </a:rPr>
              <a:t>" </a:t>
            </a:r>
            <a:r>
              <a:rPr b="0" i="0" lang="en-CA" sz="2000" u="none" cap="none" strike="noStrike">
                <a:solidFill>
                  <a:srgbClr val="002060"/>
                </a:solidFill>
                <a:latin typeface="Consolas"/>
                <a:ea typeface="Consolas"/>
                <a:cs typeface="Consolas"/>
                <a:sym typeface="Consolas"/>
              </a:rPr>
              <a:t>/&gt;</a:t>
            </a:r>
            <a:endParaRPr b="0" i="0" sz="2000" u="none" cap="none" strike="noStrike">
              <a:solidFill>
                <a:srgbClr val="002060"/>
              </a:solidFill>
              <a:latin typeface="Consolas"/>
              <a:ea typeface="Consolas"/>
              <a:cs typeface="Consolas"/>
              <a:sym typeface="Consolas"/>
            </a:endParaRPr>
          </a:p>
          <a:p>
            <a:pPr indent="0" lvl="0" marL="0" marR="0" rtl="0" algn="l">
              <a:lnSpc>
                <a:spcPct val="100000"/>
              </a:lnSpc>
              <a:spcBef>
                <a:spcPts val="800"/>
              </a:spcBef>
              <a:spcAft>
                <a:spcPts val="0"/>
              </a:spcAft>
              <a:buClr>
                <a:srgbClr val="0070C0"/>
              </a:buClr>
              <a:buSzPts val="2000"/>
              <a:buFont typeface="Consolas"/>
              <a:buNone/>
            </a:pPr>
            <a:r>
              <a:rPr b="0" i="0" lang="en-CA" sz="2000" u="none" cap="none" strike="noStrike">
                <a:solidFill>
                  <a:srgbClr val="0070C0"/>
                </a:solidFill>
                <a:latin typeface="Consolas"/>
                <a:ea typeface="Consolas"/>
                <a:cs typeface="Consolas"/>
                <a:sym typeface="Consolas"/>
              </a:rPr>
              <a:t>&lt;</a:t>
            </a:r>
            <a:r>
              <a:rPr b="0" i="0" lang="en-CA" sz="2000" u="none" cap="none" strike="noStrike">
                <a:solidFill>
                  <a:srgbClr val="002060"/>
                </a:solidFill>
                <a:latin typeface="Consolas"/>
                <a:ea typeface="Consolas"/>
                <a:cs typeface="Consolas"/>
                <a:sym typeface="Consolas"/>
              </a:rPr>
              <a:t>/neume</a:t>
            </a:r>
            <a:r>
              <a:rPr b="0" i="0" lang="en-CA" sz="2000" u="none" cap="none" strike="noStrike">
                <a:solidFill>
                  <a:srgbClr val="0070C0"/>
                </a:solidFill>
                <a:latin typeface="Consolas"/>
                <a:ea typeface="Consolas"/>
                <a:cs typeface="Consolas"/>
                <a:sym typeface="Consolas"/>
              </a:rPr>
              <a:t>&gt;</a:t>
            </a:r>
            <a:endParaRPr b="0" i="0" sz="2000" u="none" cap="none" strike="noStrike">
              <a:solidFill>
                <a:srgbClr val="000000"/>
              </a:solidFill>
              <a:latin typeface="Consolas"/>
              <a:ea typeface="Consolas"/>
              <a:cs typeface="Consolas"/>
              <a:sym typeface="Consolas"/>
            </a:endParaRPr>
          </a:p>
        </p:txBody>
      </p:sp>
      <p:cxnSp>
        <p:nvCxnSpPr>
          <p:cNvPr id="267" name="Google Shape;267;p17"/>
          <p:cNvCxnSpPr/>
          <p:nvPr/>
        </p:nvCxnSpPr>
        <p:spPr>
          <a:xfrm>
            <a:off x="0" y="1285321"/>
            <a:ext cx="12192000" cy="0"/>
          </a:xfrm>
          <a:prstGeom prst="straightConnector1">
            <a:avLst/>
          </a:prstGeom>
          <a:noFill/>
          <a:ln cap="flat" cmpd="sng" w="9525">
            <a:solidFill>
              <a:schemeClr val="accent6"/>
            </a:solidFill>
            <a:prstDash val="solid"/>
            <a:miter lim="800000"/>
            <a:headEnd len="sm" w="sm" type="none"/>
            <a:tailEnd len="sm" w="sm" type="none"/>
          </a:ln>
        </p:spPr>
      </p:cxnSp>
      <p:cxnSp>
        <p:nvCxnSpPr>
          <p:cNvPr id="268" name="Google Shape;268;p17"/>
          <p:cNvCxnSpPr/>
          <p:nvPr/>
        </p:nvCxnSpPr>
        <p:spPr>
          <a:xfrm>
            <a:off x="0" y="2980090"/>
            <a:ext cx="12192000" cy="0"/>
          </a:xfrm>
          <a:prstGeom prst="straightConnector1">
            <a:avLst/>
          </a:prstGeom>
          <a:noFill/>
          <a:ln cap="flat" cmpd="sng" w="9525">
            <a:solidFill>
              <a:schemeClr val="accent6"/>
            </a:solidFill>
            <a:prstDash val="solid"/>
            <a:miter lim="800000"/>
            <a:headEnd len="sm" w="sm" type="none"/>
            <a:tailEnd len="sm" w="sm" type="none"/>
          </a:ln>
        </p:spPr>
      </p:cxnSp>
      <p:sp>
        <p:nvSpPr>
          <p:cNvPr id="269" name="Google Shape;269;p17"/>
          <p:cNvSpPr/>
          <p:nvPr/>
        </p:nvSpPr>
        <p:spPr>
          <a:xfrm>
            <a:off x="309920" y="3097749"/>
            <a:ext cx="6075446"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3600"/>
              <a:buFont typeface="Calibri"/>
              <a:buNone/>
            </a:pPr>
            <a:r>
              <a:rPr b="0" i="0" lang="en-CA" sz="3600" u="none" cap="none" strike="noStrike">
                <a:solidFill>
                  <a:srgbClr val="2F5496"/>
                </a:solidFill>
                <a:latin typeface="Calibri"/>
                <a:ea typeface="Calibri"/>
                <a:cs typeface="Calibri"/>
                <a:sym typeface="Calibri"/>
              </a:rPr>
              <a:t>&lt;neume&gt; is the parent element</a:t>
            </a:r>
            <a:endParaRPr b="0" i="0" sz="36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E66914"/>
              </a:buClr>
              <a:buSzPts val="3600"/>
              <a:buFont typeface="Calibri"/>
              <a:buNone/>
            </a:pPr>
            <a:r>
              <a:rPr b="0" i="0" lang="en-CA" sz="3600" u="none" cap="none" strike="noStrike">
                <a:solidFill>
                  <a:srgbClr val="E66914"/>
                </a:solidFill>
                <a:latin typeface="Calibri"/>
                <a:ea typeface="Calibri"/>
                <a:cs typeface="Calibri"/>
                <a:sym typeface="Calibri"/>
              </a:rPr>
              <a:t>&lt;nc&gt; is a child element </a:t>
            </a:r>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85623"/>
              </a:buClr>
              <a:buSzPts val="3600"/>
              <a:buFont typeface="Calibri"/>
              <a:buNone/>
            </a:pPr>
            <a:r>
              <a:rPr b="0" i="0" lang="en-CA" sz="3600" u="none" cap="none" strike="noStrike">
                <a:solidFill>
                  <a:srgbClr val="385623"/>
                </a:solidFill>
                <a:latin typeface="Calibri"/>
                <a:ea typeface="Calibri"/>
                <a:cs typeface="Calibri"/>
                <a:sym typeface="Calibri"/>
              </a:rPr>
              <a:t>@tilt is an attribute of &lt;nc&gt;</a:t>
            </a:r>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FF0066"/>
              </a:solidFill>
              <a:latin typeface="Calibri"/>
              <a:ea typeface="Calibri"/>
              <a:cs typeface="Calibri"/>
              <a:sym typeface="Calibri"/>
            </a:endParaRPr>
          </a:p>
          <a:p>
            <a:pPr indent="0" lvl="0" marL="0" marR="0" rtl="0" algn="l">
              <a:lnSpc>
                <a:spcPct val="100000"/>
              </a:lnSpc>
              <a:spcBef>
                <a:spcPts val="0"/>
              </a:spcBef>
              <a:spcAft>
                <a:spcPts val="0"/>
              </a:spcAft>
              <a:buClr>
                <a:srgbClr val="FF0066"/>
              </a:buClr>
              <a:buSzPts val="3600"/>
              <a:buFont typeface="Calibri"/>
              <a:buNone/>
            </a:pPr>
            <a:r>
              <a:rPr b="0" i="0" lang="en-CA" sz="3600" u="none" cap="none" strike="noStrike">
                <a:solidFill>
                  <a:srgbClr val="FF0066"/>
                </a:solidFill>
                <a:latin typeface="Calibri"/>
                <a:ea typeface="Calibri"/>
                <a:cs typeface="Calibri"/>
                <a:sym typeface="Calibri"/>
              </a:rPr>
              <a:t>@intm is an attribute of &lt;nc&gt;</a:t>
            </a:r>
            <a:endParaRPr/>
          </a:p>
        </p:txBody>
      </p:sp>
      <p:sp>
        <p:nvSpPr>
          <p:cNvPr id="270" name="Google Shape;270;p17"/>
          <p:cNvSpPr txBox="1"/>
          <p:nvPr/>
        </p:nvSpPr>
        <p:spPr>
          <a:xfrm>
            <a:off x="6332589" y="4061665"/>
            <a:ext cx="5680529"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66914"/>
              </a:buClr>
              <a:buSzPts val="2000"/>
              <a:buFont typeface="Calibri"/>
              <a:buNone/>
            </a:pPr>
            <a:r>
              <a:rPr b="0" i="0" lang="en-CA" sz="2000" u="none" cap="none" strike="noStrike">
                <a:solidFill>
                  <a:srgbClr val="E66914"/>
                </a:solidFill>
                <a:latin typeface="Calibri"/>
                <a:ea typeface="Calibri"/>
                <a:cs typeface="Calibri"/>
                <a:sym typeface="Calibri"/>
              </a:rPr>
              <a:t>=  Sign representing a single pitched event, although </a:t>
            </a:r>
            <a:endParaRPr/>
          </a:p>
          <a:p>
            <a:pPr indent="0" lvl="0" marL="0" marR="0" rtl="0" algn="l">
              <a:lnSpc>
                <a:spcPct val="100000"/>
              </a:lnSpc>
              <a:spcBef>
                <a:spcPts val="0"/>
              </a:spcBef>
              <a:spcAft>
                <a:spcPts val="0"/>
              </a:spcAft>
              <a:buClr>
                <a:srgbClr val="E66914"/>
              </a:buClr>
              <a:buSzPts val="2000"/>
              <a:buFont typeface="Calibri"/>
              <a:buNone/>
            </a:pPr>
            <a:r>
              <a:rPr lang="en-CA" sz="2000">
                <a:solidFill>
                  <a:srgbClr val="E66914"/>
                </a:solidFill>
                <a:latin typeface="Calibri"/>
                <a:ea typeface="Calibri"/>
                <a:cs typeface="Calibri"/>
                <a:sym typeface="Calibri"/>
              </a:rPr>
              <a:t>    </a:t>
            </a:r>
            <a:r>
              <a:rPr b="0" i="0" lang="en-CA" sz="2000" u="none" cap="none" strike="noStrike">
                <a:solidFill>
                  <a:srgbClr val="E66914"/>
                </a:solidFill>
                <a:latin typeface="Calibri"/>
                <a:ea typeface="Calibri"/>
                <a:cs typeface="Calibri"/>
                <a:sym typeface="Calibri"/>
              </a:rPr>
              <a:t>the exact pitch may not be known</a:t>
            </a:r>
            <a:endParaRPr b="0" i="0" sz="2000" u="none" cap="none" strike="noStrike">
              <a:solidFill>
                <a:srgbClr val="E66914"/>
              </a:solidFill>
              <a:latin typeface="Calibri"/>
              <a:ea typeface="Calibri"/>
              <a:cs typeface="Calibri"/>
              <a:sym typeface="Calibri"/>
            </a:endParaRPr>
          </a:p>
        </p:txBody>
      </p:sp>
      <p:sp>
        <p:nvSpPr>
          <p:cNvPr id="271" name="Google Shape;271;p17"/>
          <p:cNvSpPr/>
          <p:nvPr/>
        </p:nvSpPr>
        <p:spPr>
          <a:xfrm>
            <a:off x="6415592" y="3307664"/>
            <a:ext cx="525637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F3864"/>
              </a:buClr>
              <a:buSzPts val="2000"/>
              <a:buFont typeface="Calibri"/>
              <a:buNone/>
            </a:pPr>
            <a:r>
              <a:rPr b="0" i="0" lang="en-CA" sz="2000" u="none" cap="none" strike="noStrike">
                <a:solidFill>
                  <a:srgbClr val="1F3864"/>
                </a:solidFill>
                <a:latin typeface="Calibri"/>
                <a:ea typeface="Calibri"/>
                <a:cs typeface="Calibri"/>
                <a:sym typeface="Calibri"/>
              </a:rPr>
              <a:t>=  Sign representing one or more musical pitches</a:t>
            </a:r>
            <a:endParaRPr b="0" i="0" sz="2000" u="none" cap="none" strike="noStrike">
              <a:solidFill>
                <a:srgbClr val="1F3864"/>
              </a:solidFill>
              <a:latin typeface="Calibri"/>
              <a:ea typeface="Calibri"/>
              <a:cs typeface="Calibri"/>
              <a:sym typeface="Calibri"/>
            </a:endParaRPr>
          </a:p>
        </p:txBody>
      </p:sp>
      <p:sp>
        <p:nvSpPr>
          <p:cNvPr id="272" name="Google Shape;272;p17"/>
          <p:cNvSpPr/>
          <p:nvPr/>
        </p:nvSpPr>
        <p:spPr>
          <a:xfrm>
            <a:off x="6385366" y="5133302"/>
            <a:ext cx="3237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48135"/>
              </a:buClr>
              <a:buSzPts val="2000"/>
              <a:buFont typeface="Calibri"/>
              <a:buNone/>
            </a:pPr>
            <a:r>
              <a:rPr b="0" i="0" lang="en-CA" sz="2000" u="none" cap="none" strike="noStrike">
                <a:solidFill>
                  <a:srgbClr val="548135"/>
                </a:solidFill>
                <a:latin typeface="Calibri"/>
                <a:ea typeface="Calibri"/>
                <a:cs typeface="Calibri"/>
                <a:sym typeface="Calibri"/>
              </a:rPr>
              <a:t>=  Direction of the pen-stroke</a:t>
            </a:r>
            <a:endParaRPr b="0" i="0" sz="2000" u="none" cap="none" strike="noStrike">
              <a:solidFill>
                <a:srgbClr val="548135"/>
              </a:solidFill>
              <a:latin typeface="Calibri"/>
              <a:ea typeface="Calibri"/>
              <a:cs typeface="Calibri"/>
              <a:sym typeface="Calibri"/>
            </a:endParaRPr>
          </a:p>
        </p:txBody>
      </p:sp>
      <p:sp>
        <p:nvSpPr>
          <p:cNvPr id="273" name="Google Shape;273;p17"/>
          <p:cNvSpPr/>
          <p:nvPr/>
        </p:nvSpPr>
        <p:spPr>
          <a:xfrm>
            <a:off x="6332589" y="6087358"/>
            <a:ext cx="54223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66"/>
              </a:buClr>
              <a:buSzPts val="1800"/>
              <a:buFont typeface="Calibri"/>
              <a:buNone/>
            </a:pPr>
            <a:r>
              <a:rPr b="0" i="0" lang="en-CA" sz="1800" u="none" cap="none" strike="noStrike">
                <a:solidFill>
                  <a:srgbClr val="FF0066"/>
                </a:solidFill>
                <a:latin typeface="Calibri"/>
                <a:ea typeface="Calibri"/>
                <a:cs typeface="Calibri"/>
                <a:sym typeface="Calibri"/>
              </a:rPr>
              <a:t>=  Encodes the melodic interval from the previous pitch </a:t>
            </a:r>
            <a:endParaRPr b="0" i="0" sz="1800" u="none" cap="none" strike="noStrike">
              <a:solidFill>
                <a:srgbClr val="FF0066"/>
              </a:solidFill>
              <a:latin typeface="Calibri"/>
              <a:ea typeface="Calibri"/>
              <a:cs typeface="Calibri"/>
              <a:sym typeface="Calibri"/>
            </a:endParaRPr>
          </a:p>
        </p:txBody>
      </p:sp>
      <p:sp>
        <p:nvSpPr>
          <p:cNvPr id="274" name="Google Shape;27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6"/>
              </a:buClr>
              <a:buSzPts val="6000"/>
              <a:buFont typeface="Calibri"/>
              <a:buNone/>
            </a:pPr>
            <a:r>
              <a:rPr lang="en-CA">
                <a:solidFill>
                  <a:schemeClr val="accent6"/>
                </a:solidFill>
              </a:rPr>
              <a:t>Basic Structure of an MEI File</a:t>
            </a:r>
            <a:endParaRPr/>
          </a:p>
        </p:txBody>
      </p:sp>
      <p:sp>
        <p:nvSpPr>
          <p:cNvPr id="280" name="Google Shape;280;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281" name="Google Shape;28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CA"/>
              <a:t>Basic Structure of an MEI File</a:t>
            </a:r>
            <a:endParaRPr/>
          </a:p>
        </p:txBody>
      </p:sp>
      <p:pic>
        <p:nvPicPr>
          <p:cNvPr id="288" name="Google Shape;288;p19"/>
          <p:cNvPicPr preferRelativeResize="0"/>
          <p:nvPr>
            <p:ph idx="1" type="body"/>
          </p:nvPr>
        </p:nvPicPr>
        <p:blipFill rotWithShape="1">
          <a:blip r:embed="rId3">
            <a:alphaModFix/>
          </a:blip>
          <a:srcRect b="0" l="0" r="0" t="0"/>
          <a:stretch/>
        </p:blipFill>
        <p:spPr>
          <a:xfrm>
            <a:off x="838200" y="1690688"/>
            <a:ext cx="5333979" cy="3031332"/>
          </a:xfrm>
          <a:prstGeom prst="rect">
            <a:avLst/>
          </a:prstGeom>
          <a:noFill/>
          <a:ln>
            <a:noFill/>
          </a:ln>
        </p:spPr>
      </p:pic>
      <p:grpSp>
        <p:nvGrpSpPr>
          <p:cNvPr id="289" name="Google Shape;289;p19"/>
          <p:cNvGrpSpPr/>
          <p:nvPr/>
        </p:nvGrpSpPr>
        <p:grpSpPr>
          <a:xfrm>
            <a:off x="5815584" y="2554586"/>
            <a:ext cx="3413760" cy="523220"/>
            <a:chOff x="5815584" y="2554586"/>
            <a:chExt cx="3413760" cy="523220"/>
          </a:xfrm>
        </p:grpSpPr>
        <p:cxnSp>
          <p:nvCxnSpPr>
            <p:cNvPr id="290" name="Google Shape;290;p19"/>
            <p:cNvCxnSpPr/>
            <p:nvPr/>
          </p:nvCxnSpPr>
          <p:spPr>
            <a:xfrm>
              <a:off x="5815584" y="2816196"/>
              <a:ext cx="1079202" cy="0"/>
            </a:xfrm>
            <a:prstGeom prst="straightConnector1">
              <a:avLst/>
            </a:prstGeom>
            <a:noFill/>
            <a:ln cap="flat" cmpd="sng" w="38100">
              <a:solidFill>
                <a:srgbClr val="C00000"/>
              </a:solidFill>
              <a:prstDash val="solid"/>
              <a:miter lim="800000"/>
              <a:headEnd len="sm" w="sm" type="none"/>
              <a:tailEnd len="med" w="med" type="triangle"/>
            </a:ln>
          </p:spPr>
        </p:cxnSp>
        <p:sp>
          <p:nvSpPr>
            <p:cNvPr id="291" name="Google Shape;291;p19"/>
            <p:cNvSpPr txBox="1"/>
            <p:nvPr/>
          </p:nvSpPr>
          <p:spPr>
            <a:xfrm>
              <a:off x="7153645" y="2554586"/>
              <a:ext cx="2075699" cy="523220"/>
            </a:xfrm>
            <a:prstGeom prst="rect">
              <a:avLst/>
            </a:prstGeom>
            <a:solidFill>
              <a:srgbClr val="FFD6DA"/>
            </a:solidFill>
            <a:ln cap="flat" cmpd="sng" w="28575">
              <a:solidFill>
                <a:srgbClr val="C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CA" sz="2800" u="none" cap="none" strike="noStrike">
                  <a:solidFill>
                    <a:srgbClr val="000000"/>
                  </a:solidFill>
                  <a:latin typeface="Calibri"/>
                  <a:ea typeface="Calibri"/>
                  <a:cs typeface="Calibri"/>
                  <a:sym typeface="Calibri"/>
                </a:rPr>
                <a:t>Metadata</a:t>
              </a:r>
              <a:endParaRPr/>
            </a:p>
          </p:txBody>
        </p:sp>
      </p:grpSp>
      <p:grpSp>
        <p:nvGrpSpPr>
          <p:cNvPr id="292" name="Google Shape;292;p19"/>
          <p:cNvGrpSpPr/>
          <p:nvPr/>
        </p:nvGrpSpPr>
        <p:grpSpPr>
          <a:xfrm>
            <a:off x="5276193" y="3206354"/>
            <a:ext cx="3953150" cy="523220"/>
            <a:chOff x="5276193" y="3206354"/>
            <a:chExt cx="3953150" cy="523220"/>
          </a:xfrm>
        </p:grpSpPr>
        <p:sp>
          <p:nvSpPr>
            <p:cNvPr id="293" name="Google Shape;293;p19"/>
            <p:cNvSpPr txBox="1"/>
            <p:nvPr/>
          </p:nvSpPr>
          <p:spPr>
            <a:xfrm>
              <a:off x="7153644" y="3206354"/>
              <a:ext cx="2075699" cy="523220"/>
            </a:xfrm>
            <a:prstGeom prst="rect">
              <a:avLst/>
            </a:prstGeom>
            <a:solidFill>
              <a:srgbClr val="CDE1FF"/>
            </a:solidFill>
            <a:ln cap="flat" cmpd="sng" w="285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CA" sz="2800" u="none" cap="none" strike="noStrike">
                  <a:solidFill>
                    <a:srgbClr val="000000"/>
                  </a:solidFill>
                  <a:latin typeface="Calibri"/>
                  <a:ea typeface="Calibri"/>
                  <a:cs typeface="Calibri"/>
                  <a:sym typeface="Calibri"/>
                </a:rPr>
                <a:t>Music</a:t>
              </a:r>
              <a:endParaRPr/>
            </a:p>
          </p:txBody>
        </p:sp>
        <p:cxnSp>
          <p:nvCxnSpPr>
            <p:cNvPr id="294" name="Google Shape;294;p19"/>
            <p:cNvCxnSpPr/>
            <p:nvPr/>
          </p:nvCxnSpPr>
          <p:spPr>
            <a:xfrm>
              <a:off x="5276193" y="3467964"/>
              <a:ext cx="1618593" cy="0"/>
            </a:xfrm>
            <a:prstGeom prst="straightConnector1">
              <a:avLst/>
            </a:prstGeom>
            <a:noFill/>
            <a:ln cap="flat" cmpd="sng" w="38100">
              <a:solidFill>
                <a:schemeClr val="accent1"/>
              </a:solidFill>
              <a:prstDash val="solid"/>
              <a:miter lim="800000"/>
              <a:headEnd len="sm" w="sm" type="none"/>
              <a:tailEnd len="med" w="med" type="triangle"/>
            </a:ln>
          </p:spPr>
        </p:cxnSp>
      </p:grpSp>
      <p:sp>
        <p:nvSpPr>
          <p:cNvPr id="295" name="Google Shape;29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CA"/>
              <a:t>Basic Structure of an MEI File</a:t>
            </a:r>
            <a:endParaRPr/>
          </a:p>
        </p:txBody>
      </p:sp>
      <p:pic>
        <p:nvPicPr>
          <p:cNvPr id="302" name="Google Shape;302;p20"/>
          <p:cNvPicPr preferRelativeResize="0"/>
          <p:nvPr>
            <p:ph idx="1" type="body"/>
          </p:nvPr>
        </p:nvPicPr>
        <p:blipFill rotWithShape="1">
          <a:blip r:embed="rId3">
            <a:alphaModFix/>
          </a:blip>
          <a:srcRect b="0" l="0" r="0" t="0"/>
          <a:stretch/>
        </p:blipFill>
        <p:spPr>
          <a:xfrm>
            <a:off x="838200" y="1690688"/>
            <a:ext cx="5333979" cy="3031332"/>
          </a:xfrm>
          <a:prstGeom prst="rect">
            <a:avLst/>
          </a:prstGeom>
          <a:noFill/>
          <a:ln>
            <a:noFill/>
          </a:ln>
        </p:spPr>
      </p:pic>
      <p:grpSp>
        <p:nvGrpSpPr>
          <p:cNvPr id="303" name="Google Shape;303;p20"/>
          <p:cNvGrpSpPr/>
          <p:nvPr/>
        </p:nvGrpSpPr>
        <p:grpSpPr>
          <a:xfrm>
            <a:off x="5815584" y="2554586"/>
            <a:ext cx="3413760" cy="523220"/>
            <a:chOff x="5815584" y="2554586"/>
            <a:chExt cx="3413760" cy="523220"/>
          </a:xfrm>
        </p:grpSpPr>
        <p:cxnSp>
          <p:nvCxnSpPr>
            <p:cNvPr id="304" name="Google Shape;304;p20"/>
            <p:cNvCxnSpPr/>
            <p:nvPr/>
          </p:nvCxnSpPr>
          <p:spPr>
            <a:xfrm>
              <a:off x="5815584" y="2816196"/>
              <a:ext cx="1079202" cy="0"/>
            </a:xfrm>
            <a:prstGeom prst="straightConnector1">
              <a:avLst/>
            </a:prstGeom>
            <a:noFill/>
            <a:ln cap="flat" cmpd="sng" w="38100">
              <a:solidFill>
                <a:srgbClr val="C00000"/>
              </a:solidFill>
              <a:prstDash val="solid"/>
              <a:miter lim="800000"/>
              <a:headEnd len="sm" w="sm" type="none"/>
              <a:tailEnd len="med" w="med" type="triangle"/>
            </a:ln>
          </p:spPr>
        </p:cxnSp>
        <p:sp>
          <p:nvSpPr>
            <p:cNvPr id="305" name="Google Shape;305;p20"/>
            <p:cNvSpPr txBox="1"/>
            <p:nvPr/>
          </p:nvSpPr>
          <p:spPr>
            <a:xfrm>
              <a:off x="7153645" y="2554586"/>
              <a:ext cx="2075699" cy="523220"/>
            </a:xfrm>
            <a:prstGeom prst="rect">
              <a:avLst/>
            </a:prstGeom>
            <a:solidFill>
              <a:srgbClr val="FFD6DA"/>
            </a:solidFill>
            <a:ln cap="flat" cmpd="sng" w="28575">
              <a:solidFill>
                <a:srgbClr val="C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CA" sz="2800" u="none" cap="none" strike="noStrike">
                  <a:solidFill>
                    <a:srgbClr val="000000"/>
                  </a:solidFill>
                  <a:latin typeface="Calibri"/>
                  <a:ea typeface="Calibri"/>
                  <a:cs typeface="Calibri"/>
                  <a:sym typeface="Calibri"/>
                </a:rPr>
                <a:t>Metadata</a:t>
              </a:r>
              <a:endParaRPr/>
            </a:p>
          </p:txBody>
        </p:sp>
      </p:grpSp>
      <p:sp>
        <p:nvSpPr>
          <p:cNvPr id="306" name="Google Shape;30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1"/>
          <p:cNvSpPr txBox="1"/>
          <p:nvPr>
            <p:ph type="title"/>
          </p:nvPr>
        </p:nvSpPr>
        <p:spPr>
          <a:xfrm>
            <a:off x="838200" y="365126"/>
            <a:ext cx="10515600" cy="9350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CA"/>
              <a:t>&lt;meiHead&gt; </a:t>
            </a:r>
            <a:r>
              <a:rPr lang="en-CA"/>
              <a:t>basic elements</a:t>
            </a:r>
            <a:endParaRPr/>
          </a:p>
        </p:txBody>
      </p:sp>
      <p:pic>
        <p:nvPicPr>
          <p:cNvPr id="313" name="Google Shape;313;p21"/>
          <p:cNvPicPr preferRelativeResize="0"/>
          <p:nvPr>
            <p:ph idx="1" type="body"/>
          </p:nvPr>
        </p:nvPicPr>
        <p:blipFill rotWithShape="1">
          <a:blip r:embed="rId3">
            <a:alphaModFix/>
          </a:blip>
          <a:srcRect b="0" l="0" r="0" t="0"/>
          <a:stretch/>
        </p:blipFill>
        <p:spPr>
          <a:xfrm>
            <a:off x="1096309" y="1533525"/>
            <a:ext cx="5780088" cy="4075287"/>
          </a:xfrm>
          <a:prstGeom prst="rect">
            <a:avLst/>
          </a:prstGeom>
          <a:noFill/>
          <a:ln>
            <a:noFill/>
          </a:ln>
        </p:spPr>
      </p:pic>
      <p:grpSp>
        <p:nvGrpSpPr>
          <p:cNvPr id="314" name="Google Shape;314;p21"/>
          <p:cNvGrpSpPr/>
          <p:nvPr/>
        </p:nvGrpSpPr>
        <p:grpSpPr>
          <a:xfrm>
            <a:off x="6984729" y="1300164"/>
            <a:ext cx="4369071" cy="4564608"/>
            <a:chOff x="7194932" y="1300164"/>
            <a:chExt cx="4369071" cy="4564608"/>
          </a:xfrm>
        </p:grpSpPr>
        <p:sp>
          <p:nvSpPr>
            <p:cNvPr id="315" name="Google Shape;315;p21"/>
            <p:cNvSpPr/>
            <p:nvPr/>
          </p:nvSpPr>
          <p:spPr>
            <a:xfrm>
              <a:off x="7194932" y="1300164"/>
              <a:ext cx="676715" cy="4564608"/>
            </a:xfrm>
            <a:prstGeom prst="rightBrace">
              <a:avLst>
                <a:gd fmla="val 33736" name="adj1"/>
                <a:gd fmla="val 50241" name="adj2"/>
              </a:avLst>
            </a:prstGeom>
            <a:noFill/>
            <a:ln cap="flat" cmpd="sng"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4472C4"/>
                </a:solidFill>
                <a:latin typeface="Calibri"/>
                <a:ea typeface="Calibri"/>
                <a:cs typeface="Calibri"/>
                <a:sym typeface="Calibri"/>
              </a:endParaRPr>
            </a:p>
          </p:txBody>
        </p:sp>
        <p:sp>
          <p:nvSpPr>
            <p:cNvPr id="316" name="Google Shape;316;p21"/>
            <p:cNvSpPr txBox="1"/>
            <p:nvPr/>
          </p:nvSpPr>
          <p:spPr>
            <a:xfrm>
              <a:off x="7966238" y="1817594"/>
              <a:ext cx="3597765" cy="3693319"/>
            </a:xfrm>
            <a:prstGeom prst="rect">
              <a:avLst/>
            </a:prstGeom>
            <a:noFill/>
            <a:ln cap="flat" cmpd="sng" w="9525">
              <a:solidFill>
                <a:srgbClr val="D0CEC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CA" sz="2000" u="none" cap="none" strike="noStrike">
                  <a:solidFill>
                    <a:srgbClr val="000000"/>
                  </a:solidFill>
                  <a:latin typeface="Calibri"/>
                  <a:ea typeface="Calibri"/>
                  <a:cs typeface="Calibri"/>
                  <a:sym typeface="Calibri"/>
                </a:rPr>
                <a:t>TUTORIALS</a:t>
              </a:r>
              <a:endParaRPr b="0" i="0" sz="2000" u="sng" cap="none" strike="noStrike">
                <a:solidFill>
                  <a:srgbClr val="000000"/>
                </a:solidFill>
                <a:latin typeface="Calibri"/>
                <a:ea typeface="Calibri"/>
                <a:cs typeface="Calibri"/>
                <a:sym typeface="Calibri"/>
                <a:hlinkClick r:id="rId4">
                  <a:extLst>
                    <a:ext uri="{A12FA001-AC4F-418D-AE19-62706E023703}">
                      <ahyp:hlinkClr val="tx"/>
                    </a:ext>
                  </a:extLst>
                </a:hlinkClick>
              </a:endParaRPr>
            </a:p>
            <a:p>
              <a:pPr indent="0" lvl="0" marL="0" marR="0" rtl="0" algn="ctr">
                <a:lnSpc>
                  <a:spcPct val="100000"/>
                </a:lnSpc>
                <a:spcBef>
                  <a:spcPts val="0"/>
                </a:spcBef>
                <a:spcAft>
                  <a:spcPts val="0"/>
                </a:spcAft>
                <a:buClr>
                  <a:srgbClr val="000000"/>
                </a:buClr>
                <a:buSzPts val="2000"/>
                <a:buFont typeface="Calibri"/>
                <a:buNone/>
              </a:pPr>
              <a:r>
                <a:rPr b="0" i="0" lang="en-CA" sz="2000" u="sng" cap="none" strike="noStrike">
                  <a:solidFill>
                    <a:srgbClr val="000000"/>
                  </a:solidFill>
                  <a:latin typeface="Calibri"/>
                  <a:ea typeface="Calibri"/>
                  <a:cs typeface="Calibri"/>
                  <a:sym typeface="Calibri"/>
                  <a:hlinkClick r:id="rId5">
                    <a:extLst>
                      <a:ext uri="{A12FA001-AC4F-418D-AE19-62706E023703}">
                        <ahyp:hlinkClr val="tx"/>
                      </a:ext>
                    </a:extLst>
                  </a:hlinkClick>
                </a:rPr>
                <a:t>https://music-encoding.org/</a:t>
              </a:r>
              <a:br>
                <a:rPr b="0" i="0" lang="en-CA" sz="2000" u="sng" cap="none" strike="noStrike">
                  <a:solidFill>
                    <a:srgbClr val="000000"/>
                  </a:solidFill>
                  <a:latin typeface="Calibri"/>
                  <a:ea typeface="Calibri"/>
                  <a:cs typeface="Calibri"/>
                  <a:sym typeface="Calibri"/>
                  <a:hlinkClick r:id="rId6">
                    <a:extLst>
                      <a:ext uri="{A12FA001-AC4F-418D-AE19-62706E023703}">
                        <ahyp:hlinkClr val="tx"/>
                      </a:ext>
                    </a:extLst>
                  </a:hlinkClick>
                </a:rPr>
              </a:br>
              <a:r>
                <a:rPr b="0" i="0" lang="en-CA" sz="2000" u="sng" cap="none" strike="noStrike">
                  <a:solidFill>
                    <a:srgbClr val="000000"/>
                  </a:solidFill>
                  <a:latin typeface="Calibri"/>
                  <a:ea typeface="Calibri"/>
                  <a:cs typeface="Calibri"/>
                  <a:sym typeface="Calibri"/>
                  <a:hlinkClick r:id="rId7">
                    <a:extLst>
                      <a:ext uri="{A12FA001-AC4F-418D-AE19-62706E023703}">
                        <ahyp:hlinkClr val="tx"/>
                      </a:ext>
                    </a:extLst>
                  </a:hlinkClick>
                </a:rPr>
                <a:t>resources/tutorials.html</a:t>
              </a:r>
              <a:endParaRPr b="0" i="0" sz="20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2000"/>
                <a:buFont typeface="Calibri"/>
                <a:buNone/>
              </a:pPr>
              <a:r>
                <a:t/>
              </a:r>
              <a:endParaRPr b="1" i="0" sz="20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Calibri"/>
                <a:buNone/>
              </a:pPr>
              <a:r>
                <a:rPr b="1" i="0" lang="en-CA" sz="2000" u="none" cap="none" strike="noStrike">
                  <a:solidFill>
                    <a:srgbClr val="000000"/>
                  </a:solidFill>
                  <a:latin typeface="Calibri"/>
                  <a:ea typeface="Calibri"/>
                  <a:cs typeface="Calibri"/>
                  <a:sym typeface="Calibri"/>
                </a:rPr>
                <a:t>XML Basics and Minimal MEI File Structure</a:t>
              </a:r>
              <a:endParaRPr/>
            </a:p>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Calibri"/>
                <a:buNone/>
              </a:pPr>
              <a:r>
                <a:rPr b="0" i="0" lang="en-CA" sz="1600" u="none" cap="none" strike="noStrike">
                  <a:solidFill>
                    <a:srgbClr val="000000"/>
                  </a:solidFill>
                  <a:latin typeface="Calibri"/>
                  <a:ea typeface="Calibri"/>
                  <a:cs typeface="Calibri"/>
                  <a:sym typeface="Calibri"/>
                </a:rPr>
                <a:t>Outermost basic structure of </a:t>
              </a:r>
              <a:br>
                <a:rPr b="0" i="0" lang="en-CA" sz="1600" u="none" cap="none" strike="noStrike">
                  <a:solidFill>
                    <a:srgbClr val="000000"/>
                  </a:solidFill>
                  <a:latin typeface="Calibri"/>
                  <a:ea typeface="Calibri"/>
                  <a:cs typeface="Calibri"/>
                  <a:sym typeface="Calibri"/>
                </a:rPr>
              </a:br>
              <a:r>
                <a:rPr b="0" i="0" lang="en-CA" sz="1600" u="none" cap="none" strike="noStrike">
                  <a:solidFill>
                    <a:srgbClr val="000000"/>
                  </a:solidFill>
                  <a:latin typeface="Calibri"/>
                  <a:ea typeface="Calibri"/>
                  <a:cs typeface="Calibri"/>
                  <a:sym typeface="Calibri"/>
                </a:rPr>
                <a:t>an </a:t>
              </a:r>
              <a:r>
                <a:rPr b="1" i="0" lang="en-CA" sz="1600" u="none" cap="none" strike="noStrike">
                  <a:solidFill>
                    <a:srgbClr val="000000"/>
                  </a:solidFill>
                  <a:latin typeface="Calibri"/>
                  <a:ea typeface="Calibri"/>
                  <a:cs typeface="Calibri"/>
                  <a:sym typeface="Calibri"/>
                </a:rPr>
                <a:t>MEI-conformant</a:t>
              </a:r>
              <a:r>
                <a:rPr b="0" i="0" lang="en-CA" sz="1600" u="none" cap="none" strike="noStrike">
                  <a:solidFill>
                    <a:srgbClr val="000000"/>
                  </a:solidFill>
                  <a:latin typeface="Calibri"/>
                  <a:ea typeface="Calibri"/>
                  <a:cs typeface="Calibri"/>
                  <a:sym typeface="Calibri"/>
                </a:rPr>
                <a:t> document</a:t>
              </a:r>
              <a:endParaRPr/>
            </a:p>
            <a:p>
              <a:pPr indent="0" lvl="0" marL="0" marR="0" rtl="0" algn="ctr">
                <a:lnSpc>
                  <a:spcPct val="100000"/>
                </a:lnSpc>
                <a:spcBef>
                  <a:spcPts val="0"/>
                </a:spcBef>
                <a:spcAft>
                  <a:spcPts val="0"/>
                </a:spcAft>
                <a:buClr>
                  <a:srgbClr val="000000"/>
                </a:buClr>
                <a:buSzPts val="1600"/>
                <a:buFont typeface="Calibri"/>
                <a:buNone/>
              </a:pPr>
              <a:r>
                <a:rPr b="0" i="0" lang="en-CA" sz="1600" u="none" cap="none" strike="noStrike">
                  <a:solidFill>
                    <a:srgbClr val="000000"/>
                  </a:solidFill>
                  <a:latin typeface="Calibri"/>
                  <a:ea typeface="Calibri"/>
                  <a:cs typeface="Calibri"/>
                  <a:sym typeface="Calibri"/>
                </a:rPr>
                <a:t>(conforms to the </a:t>
              </a:r>
              <a:r>
                <a:rPr b="1" i="0" lang="en-CA" sz="1600" u="none" cap="none" strike="noStrike">
                  <a:solidFill>
                    <a:srgbClr val="000000"/>
                  </a:solidFill>
                  <a:latin typeface="Calibri"/>
                  <a:ea typeface="Calibri"/>
                  <a:cs typeface="Calibri"/>
                  <a:sym typeface="Calibri"/>
                </a:rPr>
                <a:t>schema</a:t>
              </a:r>
              <a:r>
                <a:rPr b="0" i="0" lang="en-CA" sz="1600" u="none" cap="none" strike="noStrike">
                  <a:solidFill>
                    <a:srgbClr val="000000"/>
                  </a:solidFill>
                  <a:latin typeface="Calibri"/>
                  <a:ea typeface="Calibri"/>
                  <a:cs typeface="Calibri"/>
                  <a:sym typeface="Calibri"/>
                </a:rPr>
                <a:t> of MEI)</a:t>
              </a:r>
              <a:endParaRPr/>
            </a:p>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Calibri"/>
                <a:buNone/>
              </a:pPr>
              <a:r>
                <a:rPr b="0" i="0" lang="en-CA" sz="1600" u="none" cap="none" strike="noStrike">
                  <a:solidFill>
                    <a:srgbClr val="000000"/>
                  </a:solidFill>
                  <a:latin typeface="Calibri"/>
                  <a:ea typeface="Calibri"/>
                  <a:cs typeface="Calibri"/>
                  <a:sym typeface="Calibri"/>
                </a:rPr>
                <a:t>Basic structure </a:t>
              </a:r>
              <a:br>
                <a:rPr b="0" i="0" lang="en-CA" sz="1600" u="none" cap="none" strike="noStrike">
                  <a:solidFill>
                    <a:srgbClr val="000000"/>
                  </a:solidFill>
                  <a:latin typeface="Calibri"/>
                  <a:ea typeface="Calibri"/>
                  <a:cs typeface="Calibri"/>
                  <a:sym typeface="Calibri"/>
                </a:rPr>
              </a:br>
              <a:r>
                <a:rPr b="0" i="0" lang="en-CA" sz="1600" u="none" cap="none" strike="noStrike">
                  <a:solidFill>
                    <a:srgbClr val="000000"/>
                  </a:solidFill>
                  <a:latin typeface="Calibri"/>
                  <a:ea typeface="Calibri"/>
                  <a:cs typeface="Calibri"/>
                  <a:sym typeface="Calibri"/>
                </a:rPr>
                <a:t>of a “valid” MEI file</a:t>
              </a:r>
              <a:endParaRPr/>
            </a:p>
          </p:txBody>
        </p:sp>
      </p:grpSp>
      <p:sp>
        <p:nvSpPr>
          <p:cNvPr id="317" name="Google Shape;317;p21"/>
          <p:cNvSpPr/>
          <p:nvPr/>
        </p:nvSpPr>
        <p:spPr>
          <a:xfrm>
            <a:off x="1881356" y="1996966"/>
            <a:ext cx="4824248" cy="2743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8" name="Google Shape;31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CA"/>
              <a:t>Basic Structure of an MEI File</a:t>
            </a:r>
            <a:endParaRPr/>
          </a:p>
        </p:txBody>
      </p:sp>
      <p:pic>
        <p:nvPicPr>
          <p:cNvPr id="325" name="Google Shape;325;p22"/>
          <p:cNvPicPr preferRelativeResize="0"/>
          <p:nvPr>
            <p:ph idx="1" type="body"/>
          </p:nvPr>
        </p:nvPicPr>
        <p:blipFill rotWithShape="1">
          <a:blip r:embed="rId3">
            <a:alphaModFix/>
          </a:blip>
          <a:srcRect b="0" l="0" r="0" t="0"/>
          <a:stretch/>
        </p:blipFill>
        <p:spPr>
          <a:xfrm>
            <a:off x="838200" y="1690688"/>
            <a:ext cx="5333979" cy="3031332"/>
          </a:xfrm>
          <a:prstGeom prst="rect">
            <a:avLst/>
          </a:prstGeom>
          <a:noFill/>
          <a:ln>
            <a:noFill/>
          </a:ln>
        </p:spPr>
      </p:pic>
      <p:grpSp>
        <p:nvGrpSpPr>
          <p:cNvPr id="326" name="Google Shape;326;p22"/>
          <p:cNvGrpSpPr/>
          <p:nvPr/>
        </p:nvGrpSpPr>
        <p:grpSpPr>
          <a:xfrm>
            <a:off x="5276193" y="3206354"/>
            <a:ext cx="3953150" cy="523220"/>
            <a:chOff x="5276193" y="3206354"/>
            <a:chExt cx="3953150" cy="523220"/>
          </a:xfrm>
        </p:grpSpPr>
        <p:sp>
          <p:nvSpPr>
            <p:cNvPr id="327" name="Google Shape;327;p22"/>
            <p:cNvSpPr txBox="1"/>
            <p:nvPr/>
          </p:nvSpPr>
          <p:spPr>
            <a:xfrm>
              <a:off x="7153644" y="3206354"/>
              <a:ext cx="2075699" cy="523220"/>
            </a:xfrm>
            <a:prstGeom prst="rect">
              <a:avLst/>
            </a:prstGeom>
            <a:solidFill>
              <a:srgbClr val="CDE1FF"/>
            </a:solidFill>
            <a:ln cap="flat" cmpd="sng" w="285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CA" sz="2800" u="none" cap="none" strike="noStrike">
                  <a:solidFill>
                    <a:srgbClr val="000000"/>
                  </a:solidFill>
                  <a:latin typeface="Calibri"/>
                  <a:ea typeface="Calibri"/>
                  <a:cs typeface="Calibri"/>
                  <a:sym typeface="Calibri"/>
                </a:rPr>
                <a:t>Music</a:t>
              </a:r>
              <a:endParaRPr/>
            </a:p>
          </p:txBody>
        </p:sp>
        <p:cxnSp>
          <p:nvCxnSpPr>
            <p:cNvPr id="328" name="Google Shape;328;p22"/>
            <p:cNvCxnSpPr/>
            <p:nvPr/>
          </p:nvCxnSpPr>
          <p:spPr>
            <a:xfrm>
              <a:off x="5276193" y="3467964"/>
              <a:ext cx="1618593" cy="0"/>
            </a:xfrm>
            <a:prstGeom prst="straightConnector1">
              <a:avLst/>
            </a:prstGeom>
            <a:noFill/>
            <a:ln cap="flat" cmpd="sng" w="38100">
              <a:solidFill>
                <a:schemeClr val="accent1"/>
              </a:solidFill>
              <a:prstDash val="solid"/>
              <a:miter lim="800000"/>
              <a:headEnd len="sm" w="sm" type="none"/>
              <a:tailEnd len="med" w="med" type="triangle"/>
            </a:ln>
          </p:spPr>
        </p:cxnSp>
      </p:grpSp>
      <p:sp>
        <p:nvSpPr>
          <p:cNvPr id="329" name="Google Shape;32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23"/>
          <p:cNvPicPr preferRelativeResize="0"/>
          <p:nvPr/>
        </p:nvPicPr>
        <p:blipFill rotWithShape="1">
          <a:blip r:embed="rId3">
            <a:alphaModFix/>
          </a:blip>
          <a:srcRect b="0" l="0" r="0" t="0"/>
          <a:stretch/>
        </p:blipFill>
        <p:spPr>
          <a:xfrm>
            <a:off x="1209674" y="1512887"/>
            <a:ext cx="6048376" cy="4605013"/>
          </a:xfrm>
          <a:prstGeom prst="rect">
            <a:avLst/>
          </a:prstGeom>
          <a:noFill/>
          <a:ln>
            <a:noFill/>
          </a:ln>
        </p:spPr>
      </p:pic>
      <p:sp>
        <p:nvSpPr>
          <p:cNvPr id="336" name="Google Shape;336;p23"/>
          <p:cNvSpPr/>
          <p:nvPr/>
        </p:nvSpPr>
        <p:spPr>
          <a:xfrm>
            <a:off x="2091556" y="2270233"/>
            <a:ext cx="4932000" cy="3321269"/>
          </a:xfrm>
          <a:prstGeom prst="rect">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 name="Google Shape;337;p23"/>
          <p:cNvSpPr txBox="1"/>
          <p:nvPr/>
        </p:nvSpPr>
        <p:spPr>
          <a:xfrm>
            <a:off x="838200" y="365126"/>
            <a:ext cx="10515600" cy="90646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400"/>
              <a:buFont typeface="Calibri"/>
              <a:buNone/>
            </a:pPr>
            <a:r>
              <a:rPr b="1" i="0" lang="en-CA" sz="4400" u="none" cap="none" strike="noStrike">
                <a:solidFill>
                  <a:srgbClr val="000000"/>
                </a:solidFill>
                <a:latin typeface="Calibri"/>
                <a:ea typeface="Calibri"/>
                <a:cs typeface="Calibri"/>
                <a:sym typeface="Calibri"/>
              </a:rPr>
              <a:t>&lt;music&gt; </a:t>
            </a:r>
            <a:r>
              <a:rPr b="0" i="0" lang="en-CA" sz="4400" u="none" cap="none" strike="noStrike">
                <a:solidFill>
                  <a:srgbClr val="000000"/>
                </a:solidFill>
                <a:latin typeface="Calibri"/>
                <a:ea typeface="Calibri"/>
                <a:cs typeface="Calibri"/>
                <a:sym typeface="Calibri"/>
              </a:rPr>
              <a:t>basic elements</a:t>
            </a:r>
            <a:endParaRPr/>
          </a:p>
        </p:txBody>
      </p:sp>
      <p:grpSp>
        <p:nvGrpSpPr>
          <p:cNvPr id="338" name="Google Shape;338;p23"/>
          <p:cNvGrpSpPr/>
          <p:nvPr/>
        </p:nvGrpSpPr>
        <p:grpSpPr>
          <a:xfrm>
            <a:off x="6960496" y="1682421"/>
            <a:ext cx="3153688" cy="2085653"/>
            <a:chOff x="5772827" y="808007"/>
            <a:chExt cx="3153688" cy="2085654"/>
          </a:xfrm>
        </p:grpSpPr>
        <p:cxnSp>
          <p:nvCxnSpPr>
            <p:cNvPr id="339" name="Google Shape;339;p23"/>
            <p:cNvCxnSpPr>
              <a:stCxn id="340" idx="3"/>
              <a:endCxn id="341" idx="1"/>
            </p:cNvCxnSpPr>
            <p:nvPr/>
          </p:nvCxnSpPr>
          <p:spPr>
            <a:xfrm flipH="1" rot="10800000">
              <a:off x="5772827" y="1162061"/>
              <a:ext cx="1077900" cy="1731600"/>
            </a:xfrm>
            <a:prstGeom prst="bentConnector3">
              <a:avLst>
                <a:gd fmla="val 44666" name="adj1"/>
              </a:avLst>
            </a:prstGeom>
            <a:solidFill>
              <a:srgbClr val="FF0000">
                <a:alpha val="10196"/>
              </a:srgbClr>
            </a:solidFill>
            <a:ln cap="flat" cmpd="sng" w="38100">
              <a:solidFill>
                <a:srgbClr val="BF9000"/>
              </a:solidFill>
              <a:prstDash val="solid"/>
              <a:miter lim="800000"/>
              <a:headEnd len="sm" w="sm" type="none"/>
              <a:tailEnd len="med" w="med" type="triangle"/>
            </a:ln>
          </p:spPr>
        </p:cxnSp>
        <p:sp>
          <p:nvSpPr>
            <p:cNvPr id="341" name="Google Shape;341;p23"/>
            <p:cNvSpPr txBox="1"/>
            <p:nvPr/>
          </p:nvSpPr>
          <p:spPr>
            <a:xfrm>
              <a:off x="6850816" y="808007"/>
              <a:ext cx="2075699" cy="707886"/>
            </a:xfrm>
            <a:prstGeom prst="rect">
              <a:avLst/>
            </a:prstGeom>
            <a:solidFill>
              <a:srgbClr val="BF9000">
                <a:alpha val="14901"/>
              </a:srgbClr>
            </a:solidFill>
            <a:ln cap="flat" cmpd="sng" w="28575">
              <a:solidFill>
                <a:srgbClr val="BF9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CA" sz="2000" u="none" cap="none" strike="noStrike">
                  <a:solidFill>
                    <a:srgbClr val="000000"/>
                  </a:solidFill>
                  <a:latin typeface="Calibri"/>
                  <a:ea typeface="Calibri"/>
                  <a:cs typeface="Calibri"/>
                  <a:sym typeface="Calibri"/>
                </a:rPr>
                <a:t>“Metadata,” but for the voices</a:t>
              </a:r>
              <a:endParaRPr/>
            </a:p>
          </p:txBody>
        </p:sp>
      </p:grpSp>
      <p:grpSp>
        <p:nvGrpSpPr>
          <p:cNvPr id="342" name="Google Shape;342;p23"/>
          <p:cNvGrpSpPr/>
          <p:nvPr/>
        </p:nvGrpSpPr>
        <p:grpSpPr>
          <a:xfrm>
            <a:off x="6960496" y="4101404"/>
            <a:ext cx="3111280" cy="1715096"/>
            <a:chOff x="5258714" y="3455794"/>
            <a:chExt cx="4743528" cy="3355696"/>
          </a:xfrm>
        </p:grpSpPr>
        <p:sp>
          <p:nvSpPr>
            <p:cNvPr id="343" name="Google Shape;343;p23"/>
            <p:cNvSpPr txBox="1"/>
            <p:nvPr/>
          </p:nvSpPr>
          <p:spPr>
            <a:xfrm>
              <a:off x="6837242" y="5426390"/>
              <a:ext cx="3165000" cy="1385100"/>
            </a:xfrm>
            <a:prstGeom prst="rect">
              <a:avLst/>
            </a:prstGeom>
            <a:solidFill>
              <a:schemeClr val="accent6">
                <a:alpha val="14509"/>
              </a:schemeClr>
            </a:solidFill>
            <a:ln cap="flat" cmpd="sng" w="2857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CA" sz="2000" u="none" cap="none" strike="noStrike">
                  <a:solidFill>
                    <a:srgbClr val="000000"/>
                  </a:solidFill>
                  <a:latin typeface="Calibri"/>
                  <a:ea typeface="Calibri"/>
                  <a:cs typeface="Calibri"/>
                  <a:sym typeface="Calibri"/>
                </a:rPr>
                <a:t>Actual music content</a:t>
              </a:r>
              <a:endParaRPr/>
            </a:p>
          </p:txBody>
        </p:sp>
        <p:cxnSp>
          <p:nvCxnSpPr>
            <p:cNvPr id="344" name="Google Shape;344;p23"/>
            <p:cNvCxnSpPr>
              <a:stCxn id="345" idx="3"/>
              <a:endCxn id="343" idx="1"/>
            </p:cNvCxnSpPr>
            <p:nvPr/>
          </p:nvCxnSpPr>
          <p:spPr>
            <a:xfrm>
              <a:off x="5258714" y="3455794"/>
              <a:ext cx="1578600" cy="2663100"/>
            </a:xfrm>
            <a:prstGeom prst="bentConnector3">
              <a:avLst>
                <a:gd fmla="val 43877" name="adj1"/>
              </a:avLst>
            </a:prstGeom>
            <a:noFill/>
            <a:ln cap="flat" cmpd="sng" w="38100">
              <a:solidFill>
                <a:schemeClr val="accent6"/>
              </a:solidFill>
              <a:prstDash val="solid"/>
              <a:miter lim="800000"/>
              <a:headEnd len="sm" w="sm" type="none"/>
              <a:tailEnd len="med" w="med" type="triangle"/>
            </a:ln>
          </p:spPr>
        </p:cxnSp>
      </p:grpSp>
      <p:sp>
        <p:nvSpPr>
          <p:cNvPr id="340" name="Google Shape;340;p23"/>
          <p:cNvSpPr/>
          <p:nvPr/>
        </p:nvSpPr>
        <p:spPr>
          <a:xfrm>
            <a:off x="4887310" y="3602285"/>
            <a:ext cx="2073186" cy="331579"/>
          </a:xfrm>
          <a:prstGeom prst="rect">
            <a:avLst/>
          </a:prstGeom>
          <a:noFill/>
          <a:ln cap="flat" cmpd="sng" w="19050">
            <a:solidFill>
              <a:srgbClr val="BF9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5" name="Google Shape;345;p23"/>
          <p:cNvSpPr/>
          <p:nvPr/>
        </p:nvSpPr>
        <p:spPr>
          <a:xfrm>
            <a:off x="4887310" y="3935614"/>
            <a:ext cx="2073186" cy="331579"/>
          </a:xfrm>
          <a:prstGeom prst="rect">
            <a:avLst/>
          </a:prstGeom>
          <a:noFill/>
          <a:ln cap="flat" cmpd="sng" w="19050">
            <a:solidFill>
              <a:schemeClr val="accent6"/>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346" name="Google Shape;346;p23"/>
          <p:cNvPicPr preferRelativeResize="0"/>
          <p:nvPr/>
        </p:nvPicPr>
        <p:blipFill rotWithShape="1">
          <a:blip r:embed="rId4">
            <a:alphaModFix/>
          </a:blip>
          <a:srcRect b="0" l="0" r="0" t="13124"/>
          <a:stretch/>
        </p:blipFill>
        <p:spPr>
          <a:xfrm>
            <a:off x="7899392" y="2493941"/>
            <a:ext cx="2268000" cy="2507039"/>
          </a:xfrm>
          <a:prstGeom prst="rect">
            <a:avLst/>
          </a:prstGeom>
          <a:noFill/>
          <a:ln cap="flat" cmpd="sng" w="9525">
            <a:solidFill>
              <a:schemeClr val="dk1"/>
            </a:solidFill>
            <a:prstDash val="solid"/>
            <a:round/>
            <a:headEnd len="sm" w="sm" type="none"/>
            <a:tailEnd len="sm" w="sm" type="none"/>
          </a:ln>
        </p:spPr>
      </p:pic>
      <p:sp>
        <p:nvSpPr>
          <p:cNvPr id="347" name="Google Shape;347;p23"/>
          <p:cNvSpPr/>
          <p:nvPr/>
        </p:nvSpPr>
        <p:spPr>
          <a:xfrm>
            <a:off x="7921646" y="3070075"/>
            <a:ext cx="1600653" cy="1905539"/>
          </a:xfrm>
          <a:prstGeom prst="rect">
            <a:avLst/>
          </a:prstGeom>
          <a:solidFill>
            <a:srgbClr val="BF9000">
              <a:alpha val="20000"/>
            </a:srgbClr>
          </a:solidFill>
          <a:ln cap="flat" cmpd="sng" w="19050">
            <a:solidFill>
              <a:srgbClr val="BF9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8" name="Google Shape;348;p23"/>
          <p:cNvSpPr/>
          <p:nvPr/>
        </p:nvSpPr>
        <p:spPr>
          <a:xfrm>
            <a:off x="9522298" y="3070075"/>
            <a:ext cx="578146" cy="1905539"/>
          </a:xfrm>
          <a:prstGeom prst="rect">
            <a:avLst/>
          </a:prstGeom>
          <a:solidFill>
            <a:srgbClr val="70AD47">
              <a:alpha val="20000"/>
            </a:srgbClr>
          </a:solidFill>
          <a:ln cap="flat" cmpd="sng" w="19050">
            <a:solidFill>
              <a:schemeClr val="accent6"/>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9" name="Google Shape;349;p23"/>
          <p:cNvSpPr/>
          <p:nvPr/>
        </p:nvSpPr>
        <p:spPr>
          <a:xfrm>
            <a:off x="4140678" y="3285150"/>
            <a:ext cx="2869091" cy="1317600"/>
          </a:xfrm>
          <a:prstGeom prst="rect">
            <a:avLst/>
          </a:prstGeom>
          <a:no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0" name="Google Shape;35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id="356" name="Google Shape;356;p24"/>
          <p:cNvPicPr preferRelativeResize="0"/>
          <p:nvPr/>
        </p:nvPicPr>
        <p:blipFill rotWithShape="1">
          <a:blip r:embed="rId3">
            <a:alphaModFix/>
          </a:blip>
          <a:srcRect b="0" l="0" r="0" t="0"/>
          <a:stretch/>
        </p:blipFill>
        <p:spPr>
          <a:xfrm>
            <a:off x="1209674" y="1512887"/>
            <a:ext cx="6048376" cy="4605013"/>
          </a:xfrm>
          <a:prstGeom prst="rect">
            <a:avLst/>
          </a:prstGeom>
          <a:noFill/>
          <a:ln>
            <a:noFill/>
          </a:ln>
        </p:spPr>
      </p:pic>
      <p:sp>
        <p:nvSpPr>
          <p:cNvPr id="357" name="Google Shape;357;p24"/>
          <p:cNvSpPr/>
          <p:nvPr/>
        </p:nvSpPr>
        <p:spPr>
          <a:xfrm>
            <a:off x="2091556" y="2270233"/>
            <a:ext cx="4932000" cy="3321300"/>
          </a:xfrm>
          <a:prstGeom prst="rect">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8" name="Google Shape;358;p24"/>
          <p:cNvSpPr txBox="1"/>
          <p:nvPr/>
        </p:nvSpPr>
        <p:spPr>
          <a:xfrm>
            <a:off x="838200" y="365126"/>
            <a:ext cx="10515600" cy="90646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400"/>
              <a:buFont typeface="Calibri"/>
              <a:buNone/>
            </a:pPr>
            <a:r>
              <a:rPr b="1" i="0" lang="en-CA" sz="4400" u="none" cap="none" strike="noStrike">
                <a:solidFill>
                  <a:srgbClr val="000000"/>
                </a:solidFill>
                <a:latin typeface="Calibri"/>
                <a:ea typeface="Calibri"/>
                <a:cs typeface="Calibri"/>
                <a:sym typeface="Calibri"/>
              </a:rPr>
              <a:t>&lt;music&gt; </a:t>
            </a:r>
            <a:r>
              <a:rPr b="0" i="0" lang="en-CA" sz="4400" u="none" cap="none" strike="noStrike">
                <a:solidFill>
                  <a:srgbClr val="000000"/>
                </a:solidFill>
                <a:latin typeface="Calibri"/>
                <a:ea typeface="Calibri"/>
                <a:cs typeface="Calibri"/>
                <a:sym typeface="Calibri"/>
              </a:rPr>
              <a:t>basic elements</a:t>
            </a:r>
            <a:endParaRPr/>
          </a:p>
        </p:txBody>
      </p:sp>
      <p:grpSp>
        <p:nvGrpSpPr>
          <p:cNvPr id="359" name="Google Shape;359;p24"/>
          <p:cNvGrpSpPr/>
          <p:nvPr/>
        </p:nvGrpSpPr>
        <p:grpSpPr>
          <a:xfrm>
            <a:off x="6960496" y="1682421"/>
            <a:ext cx="3153689" cy="2085653"/>
            <a:chOff x="5772827" y="808007"/>
            <a:chExt cx="3153689" cy="2085654"/>
          </a:xfrm>
        </p:grpSpPr>
        <p:cxnSp>
          <p:nvCxnSpPr>
            <p:cNvPr id="360" name="Google Shape;360;p24"/>
            <p:cNvCxnSpPr>
              <a:stCxn id="361" idx="3"/>
              <a:endCxn id="362" idx="1"/>
            </p:cNvCxnSpPr>
            <p:nvPr/>
          </p:nvCxnSpPr>
          <p:spPr>
            <a:xfrm flipH="1" rot="10800000">
              <a:off x="5772827" y="1162061"/>
              <a:ext cx="1077900" cy="1731600"/>
            </a:xfrm>
            <a:prstGeom prst="bentConnector3">
              <a:avLst>
                <a:gd fmla="val 47185" name="adj1"/>
              </a:avLst>
            </a:prstGeom>
            <a:solidFill>
              <a:srgbClr val="FF0000">
                <a:alpha val="10196"/>
              </a:srgbClr>
            </a:solidFill>
            <a:ln cap="flat" cmpd="sng" w="38100">
              <a:solidFill>
                <a:srgbClr val="BF9000"/>
              </a:solidFill>
              <a:prstDash val="solid"/>
              <a:miter lim="800000"/>
              <a:headEnd len="sm" w="sm" type="none"/>
              <a:tailEnd len="med" w="med" type="triangle"/>
            </a:ln>
          </p:spPr>
        </p:cxnSp>
        <p:sp>
          <p:nvSpPr>
            <p:cNvPr id="362" name="Google Shape;362;p24"/>
            <p:cNvSpPr txBox="1"/>
            <p:nvPr/>
          </p:nvSpPr>
          <p:spPr>
            <a:xfrm>
              <a:off x="6850816" y="808007"/>
              <a:ext cx="2075700" cy="708000"/>
            </a:xfrm>
            <a:prstGeom prst="rect">
              <a:avLst/>
            </a:prstGeom>
            <a:solidFill>
              <a:srgbClr val="BF9000">
                <a:alpha val="14901"/>
              </a:srgbClr>
            </a:solidFill>
            <a:ln cap="flat" cmpd="sng" w="28575">
              <a:solidFill>
                <a:srgbClr val="BF9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CA" sz="2000" u="none" cap="none" strike="noStrike">
                  <a:solidFill>
                    <a:srgbClr val="000000"/>
                  </a:solidFill>
                  <a:latin typeface="Calibri"/>
                  <a:ea typeface="Calibri"/>
                  <a:cs typeface="Calibri"/>
                  <a:sym typeface="Calibri"/>
                </a:rPr>
                <a:t>“Metadata,” but for the voices</a:t>
              </a:r>
              <a:endParaRPr/>
            </a:p>
          </p:txBody>
        </p:sp>
      </p:grpSp>
      <p:sp>
        <p:nvSpPr>
          <p:cNvPr id="361" name="Google Shape;361;p24"/>
          <p:cNvSpPr/>
          <p:nvPr/>
        </p:nvSpPr>
        <p:spPr>
          <a:xfrm>
            <a:off x="4887310" y="3602285"/>
            <a:ext cx="2073186" cy="331579"/>
          </a:xfrm>
          <a:prstGeom prst="rect">
            <a:avLst/>
          </a:prstGeom>
          <a:noFill/>
          <a:ln cap="flat" cmpd="sng" w="19050">
            <a:solidFill>
              <a:srgbClr val="BF9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363" name="Google Shape;363;p24"/>
          <p:cNvPicPr preferRelativeResize="0"/>
          <p:nvPr/>
        </p:nvPicPr>
        <p:blipFill rotWithShape="1">
          <a:blip r:embed="rId4">
            <a:alphaModFix/>
          </a:blip>
          <a:srcRect b="0" l="0" r="0" t="13124"/>
          <a:stretch/>
        </p:blipFill>
        <p:spPr>
          <a:xfrm>
            <a:off x="7899392" y="2493941"/>
            <a:ext cx="2268000" cy="2507039"/>
          </a:xfrm>
          <a:prstGeom prst="rect">
            <a:avLst/>
          </a:prstGeom>
          <a:noFill/>
          <a:ln cap="flat" cmpd="sng" w="9525">
            <a:solidFill>
              <a:schemeClr val="dk1"/>
            </a:solidFill>
            <a:prstDash val="solid"/>
            <a:round/>
            <a:headEnd len="sm" w="sm" type="none"/>
            <a:tailEnd len="sm" w="sm" type="none"/>
          </a:ln>
        </p:spPr>
      </p:pic>
      <p:sp>
        <p:nvSpPr>
          <p:cNvPr id="364" name="Google Shape;364;p24"/>
          <p:cNvSpPr/>
          <p:nvPr/>
        </p:nvSpPr>
        <p:spPr>
          <a:xfrm>
            <a:off x="7921646" y="3070075"/>
            <a:ext cx="1600653" cy="1905539"/>
          </a:xfrm>
          <a:prstGeom prst="rect">
            <a:avLst/>
          </a:prstGeom>
          <a:solidFill>
            <a:srgbClr val="BF9000">
              <a:alpha val="20000"/>
            </a:srgbClr>
          </a:solidFill>
          <a:ln cap="flat" cmpd="sng" w="19050">
            <a:solidFill>
              <a:srgbClr val="BF9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5" name="Google Shape;365;p24"/>
          <p:cNvSpPr/>
          <p:nvPr/>
        </p:nvSpPr>
        <p:spPr>
          <a:xfrm>
            <a:off x="4140678" y="3285150"/>
            <a:ext cx="2869091" cy="1317600"/>
          </a:xfrm>
          <a:prstGeom prst="rect">
            <a:avLst/>
          </a:prstGeom>
          <a:no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 name="Google Shape;36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25"/>
          <p:cNvPicPr preferRelativeResize="0"/>
          <p:nvPr/>
        </p:nvPicPr>
        <p:blipFill rotWithShape="1">
          <a:blip r:embed="rId3">
            <a:alphaModFix/>
          </a:blip>
          <a:srcRect b="0" l="0" r="0" t="13124"/>
          <a:stretch/>
        </p:blipFill>
        <p:spPr>
          <a:xfrm>
            <a:off x="8125428" y="3802407"/>
            <a:ext cx="2248281" cy="2485243"/>
          </a:xfrm>
          <a:prstGeom prst="rect">
            <a:avLst/>
          </a:prstGeom>
          <a:noFill/>
          <a:ln cap="flat" cmpd="sng" w="9525">
            <a:solidFill>
              <a:schemeClr val="dk1"/>
            </a:solidFill>
            <a:prstDash val="solid"/>
            <a:round/>
            <a:headEnd len="sm" w="sm" type="none"/>
            <a:tailEnd len="sm" w="sm" type="none"/>
          </a:ln>
        </p:spPr>
      </p:pic>
      <p:sp>
        <p:nvSpPr>
          <p:cNvPr id="373" name="Google Shape;373;p25"/>
          <p:cNvSpPr/>
          <p:nvPr/>
        </p:nvSpPr>
        <p:spPr>
          <a:xfrm>
            <a:off x="8131778" y="4381580"/>
            <a:ext cx="1620000" cy="1900034"/>
          </a:xfrm>
          <a:prstGeom prst="rect">
            <a:avLst/>
          </a:prstGeom>
          <a:solidFill>
            <a:srgbClr val="BF9000">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4" name="Google Shape;374;p25"/>
          <p:cNvSpPr txBox="1"/>
          <p:nvPr>
            <p:ph type="title"/>
          </p:nvPr>
        </p:nvSpPr>
        <p:spPr>
          <a:xfrm>
            <a:off x="838200" y="297292"/>
            <a:ext cx="10515600" cy="10287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CA"/>
              <a:t>&lt;scoreDef&gt; - </a:t>
            </a:r>
            <a:r>
              <a:rPr lang="en-CA"/>
              <a:t>General Information for Voices</a:t>
            </a:r>
            <a:endParaRPr/>
          </a:p>
        </p:txBody>
      </p:sp>
      <p:pic>
        <p:nvPicPr>
          <p:cNvPr id="375" name="Google Shape;375;p25"/>
          <p:cNvPicPr preferRelativeResize="0"/>
          <p:nvPr>
            <p:ph idx="1" type="body"/>
          </p:nvPr>
        </p:nvPicPr>
        <p:blipFill rotWithShape="1">
          <a:blip r:embed="rId4">
            <a:alphaModFix/>
          </a:blip>
          <a:srcRect b="0" l="0" r="0" t="0"/>
          <a:stretch/>
        </p:blipFill>
        <p:spPr>
          <a:xfrm>
            <a:off x="1084887" y="1396753"/>
            <a:ext cx="5307806" cy="3285785"/>
          </a:xfrm>
          <a:prstGeom prst="rect">
            <a:avLst/>
          </a:prstGeom>
          <a:noFill/>
          <a:ln>
            <a:noFill/>
          </a:ln>
        </p:spPr>
      </p:pic>
      <p:sp>
        <p:nvSpPr>
          <p:cNvPr id="376" name="Google Shape;376;p25"/>
          <p:cNvSpPr txBox="1"/>
          <p:nvPr/>
        </p:nvSpPr>
        <p:spPr>
          <a:xfrm>
            <a:off x="6793938" y="1377672"/>
            <a:ext cx="3487172" cy="877163"/>
          </a:xfrm>
          <a:prstGeom prst="rect">
            <a:avLst/>
          </a:prstGeom>
          <a:noFill/>
          <a:ln cap="flat" cmpd="sng" w="19050">
            <a:solidFill>
              <a:srgbClr val="7F6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Calibri"/>
              <a:buNone/>
            </a:pPr>
            <a:r>
              <a:rPr b="0" i="0" lang="en-CA" sz="1700" u="none" cap="none" strike="noStrike">
                <a:solidFill>
                  <a:srgbClr val="000000"/>
                </a:solidFill>
                <a:latin typeface="Calibri"/>
                <a:ea typeface="Calibri"/>
                <a:cs typeface="Calibri"/>
                <a:sym typeface="Calibri"/>
              </a:rPr>
              <a:t>General information for </a:t>
            </a:r>
            <a:r>
              <a:rPr b="1" i="0" lang="en-CA" sz="1700" u="none" cap="none" strike="noStrike">
                <a:solidFill>
                  <a:srgbClr val="000000"/>
                </a:solidFill>
                <a:latin typeface="Calibri"/>
                <a:ea typeface="Calibri"/>
                <a:cs typeface="Calibri"/>
                <a:sym typeface="Calibri"/>
              </a:rPr>
              <a:t>ALL voices</a:t>
            </a:r>
            <a:endParaRPr/>
          </a:p>
          <a:p>
            <a:pPr indent="-285750" lvl="0" marL="285750" marR="0" rtl="0" algn="l">
              <a:lnSpc>
                <a:spcPct val="100000"/>
              </a:lnSpc>
              <a:spcBef>
                <a:spcPts val="0"/>
              </a:spcBef>
              <a:spcAft>
                <a:spcPts val="0"/>
              </a:spcAft>
              <a:buClr>
                <a:srgbClr val="000000"/>
              </a:buClr>
              <a:buSzPts val="1700"/>
              <a:buFont typeface="Arial"/>
              <a:buChar char="•"/>
            </a:pPr>
            <a:r>
              <a:rPr b="0" i="0" lang="en-CA" sz="1700" u="none" cap="none" strike="noStrike">
                <a:solidFill>
                  <a:srgbClr val="000000"/>
                </a:solidFill>
                <a:latin typeface="Calibri"/>
                <a:ea typeface="Calibri"/>
                <a:cs typeface="Calibri"/>
                <a:sym typeface="Calibri"/>
              </a:rPr>
              <a:t>Meter</a:t>
            </a:r>
            <a:endParaRPr/>
          </a:p>
          <a:p>
            <a:pPr indent="-285750" lvl="0" marL="285750" marR="0" rtl="0" algn="l">
              <a:lnSpc>
                <a:spcPct val="100000"/>
              </a:lnSpc>
              <a:spcBef>
                <a:spcPts val="0"/>
              </a:spcBef>
              <a:spcAft>
                <a:spcPts val="0"/>
              </a:spcAft>
              <a:buClr>
                <a:srgbClr val="000000"/>
              </a:buClr>
              <a:buSzPts val="1700"/>
              <a:buFont typeface="Arial"/>
              <a:buChar char="•"/>
            </a:pPr>
            <a:r>
              <a:rPr b="0" i="0" lang="en-CA" sz="1700" u="none" cap="none" strike="noStrike">
                <a:solidFill>
                  <a:srgbClr val="000000"/>
                </a:solidFill>
                <a:latin typeface="Calibri"/>
                <a:ea typeface="Calibri"/>
                <a:cs typeface="Calibri"/>
                <a:sym typeface="Calibri"/>
              </a:rPr>
              <a:t>Key</a:t>
            </a:r>
            <a:endParaRPr/>
          </a:p>
        </p:txBody>
      </p:sp>
      <p:sp>
        <p:nvSpPr>
          <p:cNvPr id="377" name="Google Shape;377;p25"/>
          <p:cNvSpPr txBox="1"/>
          <p:nvPr/>
        </p:nvSpPr>
        <p:spPr>
          <a:xfrm>
            <a:off x="1114426" y="5829303"/>
            <a:ext cx="990600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000" u="sng">
                <a:solidFill>
                  <a:srgbClr val="000000"/>
                </a:solidFill>
                <a:latin typeface="Calibri"/>
                <a:ea typeface="Calibri"/>
                <a:cs typeface="Calibri"/>
                <a:sym typeface="Calibri"/>
                <a:hlinkClick r:id="rId5">
                  <a:extLst>
                    <a:ext uri="{A12FA001-AC4F-418D-AE19-62706E023703}">
                      <ahyp:hlinkClr val="tx"/>
                    </a:ext>
                  </a:extLst>
                </a:hlinkClick>
              </a:rPr>
              <a:t>https://music-encoding.org/guidelines/v5/content/shared.html</a:t>
            </a:r>
            <a:endParaRPr sz="2000">
              <a:solidFill>
                <a:srgbClr val="000000"/>
              </a:solidFill>
              <a:latin typeface="Calibri"/>
              <a:ea typeface="Calibri"/>
              <a:cs typeface="Calibri"/>
              <a:sym typeface="Calibri"/>
            </a:endParaRPr>
          </a:p>
        </p:txBody>
      </p:sp>
      <p:sp>
        <p:nvSpPr>
          <p:cNvPr id="378" name="Google Shape;378;p25"/>
          <p:cNvSpPr/>
          <p:nvPr/>
        </p:nvSpPr>
        <p:spPr>
          <a:xfrm>
            <a:off x="1813714" y="1731296"/>
            <a:ext cx="4483975" cy="2336071"/>
          </a:xfrm>
          <a:prstGeom prst="rect">
            <a:avLst/>
          </a:prstGeom>
          <a:noFill/>
          <a:ln cap="flat" cmpd="sng" w="28575">
            <a:solidFill>
              <a:srgbClr val="BF9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79" name="Google Shape;379;p25"/>
          <p:cNvCxnSpPr>
            <a:endCxn id="380" idx="1"/>
          </p:cNvCxnSpPr>
          <p:nvPr/>
        </p:nvCxnSpPr>
        <p:spPr>
          <a:xfrm>
            <a:off x="6181937" y="2573875"/>
            <a:ext cx="612000" cy="455400"/>
          </a:xfrm>
          <a:prstGeom prst="bentConnector3">
            <a:avLst>
              <a:gd fmla="val 50011" name="adj1"/>
            </a:avLst>
          </a:prstGeom>
          <a:noFill/>
          <a:ln cap="flat" cmpd="sng" w="38100">
            <a:solidFill>
              <a:srgbClr val="A40670"/>
            </a:solidFill>
            <a:prstDash val="solid"/>
            <a:miter lim="800000"/>
            <a:headEnd len="sm" w="sm" type="none"/>
            <a:tailEnd len="med" w="med" type="triangle"/>
          </a:ln>
        </p:spPr>
      </p:cxnSp>
      <p:cxnSp>
        <p:nvCxnSpPr>
          <p:cNvPr id="381" name="Google Shape;381;p25"/>
          <p:cNvCxnSpPr>
            <a:endCxn id="376" idx="1"/>
          </p:cNvCxnSpPr>
          <p:nvPr/>
        </p:nvCxnSpPr>
        <p:spPr>
          <a:xfrm flipH="1" rot="10800000">
            <a:off x="3680538" y="1816254"/>
            <a:ext cx="3113400" cy="116400"/>
          </a:xfrm>
          <a:prstGeom prst="bentConnector3">
            <a:avLst>
              <a:gd fmla="val 50001" name="adj1"/>
            </a:avLst>
          </a:prstGeom>
          <a:noFill/>
          <a:ln cap="flat" cmpd="sng" w="38100">
            <a:solidFill>
              <a:srgbClr val="7F6000"/>
            </a:solidFill>
            <a:prstDash val="solid"/>
            <a:miter lim="800000"/>
            <a:headEnd len="sm" w="sm" type="none"/>
            <a:tailEnd len="med" w="med" type="triangle"/>
          </a:ln>
        </p:spPr>
      </p:cxnSp>
      <p:sp>
        <p:nvSpPr>
          <p:cNvPr id="382" name="Google Shape;382;p25"/>
          <p:cNvSpPr/>
          <p:nvPr/>
        </p:nvSpPr>
        <p:spPr>
          <a:xfrm>
            <a:off x="9188350" y="4381580"/>
            <a:ext cx="540000" cy="1882109"/>
          </a:xfrm>
          <a:prstGeom prst="rect">
            <a:avLst/>
          </a:prstGeom>
          <a:noFill/>
          <a:ln cap="flat" cmpd="sng" w="19050">
            <a:solidFill>
              <a:srgbClr val="7F6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83" name="Google Shape;383;p25"/>
          <p:cNvGrpSpPr/>
          <p:nvPr/>
        </p:nvGrpSpPr>
        <p:grpSpPr>
          <a:xfrm>
            <a:off x="8184096" y="4505592"/>
            <a:ext cx="650558" cy="1723821"/>
            <a:chOff x="8260296" y="4581792"/>
            <a:chExt cx="650558" cy="1624393"/>
          </a:xfrm>
        </p:grpSpPr>
        <p:sp>
          <p:nvSpPr>
            <p:cNvPr id="384" name="Google Shape;384;p25"/>
            <p:cNvSpPr/>
            <p:nvPr/>
          </p:nvSpPr>
          <p:spPr>
            <a:xfrm>
              <a:off x="8262854" y="4581792"/>
              <a:ext cx="648000" cy="400110"/>
            </a:xfrm>
            <a:prstGeom prst="ellipse">
              <a:avLst/>
            </a:prstGeom>
            <a:noFill/>
            <a:ln cap="flat" cmpd="sng" w="12700">
              <a:solidFill>
                <a:srgbClr val="A4067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 name="Google Shape;385;p25"/>
            <p:cNvSpPr/>
            <p:nvPr/>
          </p:nvSpPr>
          <p:spPr>
            <a:xfrm>
              <a:off x="8262854" y="5192014"/>
              <a:ext cx="648000" cy="400110"/>
            </a:xfrm>
            <a:prstGeom prst="ellipse">
              <a:avLst/>
            </a:prstGeom>
            <a:noFill/>
            <a:ln cap="flat" cmpd="sng" w="12700">
              <a:solidFill>
                <a:srgbClr val="A4067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 name="Google Shape;386;p25"/>
            <p:cNvSpPr/>
            <p:nvPr/>
          </p:nvSpPr>
          <p:spPr>
            <a:xfrm>
              <a:off x="8260296" y="5806075"/>
              <a:ext cx="648000" cy="400110"/>
            </a:xfrm>
            <a:prstGeom prst="ellipse">
              <a:avLst/>
            </a:prstGeom>
            <a:noFill/>
            <a:ln cap="flat" cmpd="sng" w="12700">
              <a:solidFill>
                <a:srgbClr val="A4067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387" name="Google Shape;387;p25"/>
          <p:cNvGrpSpPr/>
          <p:nvPr/>
        </p:nvGrpSpPr>
        <p:grpSpPr>
          <a:xfrm>
            <a:off x="8889728" y="4416579"/>
            <a:ext cx="279347" cy="1832050"/>
            <a:chOff x="8946878" y="4486429"/>
            <a:chExt cx="279347" cy="1832050"/>
          </a:xfrm>
        </p:grpSpPr>
        <p:sp>
          <p:nvSpPr>
            <p:cNvPr id="388" name="Google Shape;388;p25"/>
            <p:cNvSpPr/>
            <p:nvPr/>
          </p:nvSpPr>
          <p:spPr>
            <a:xfrm>
              <a:off x="8950824" y="4486429"/>
              <a:ext cx="270000" cy="648000"/>
            </a:xfrm>
            <a:prstGeom prst="roundRect">
              <a:avLst>
                <a:gd fmla="val 16667" name="adj"/>
              </a:avLst>
            </a:prstGeom>
            <a:noFill/>
            <a:ln cap="flat" cmpd="sng" w="19050">
              <a:solidFill>
                <a:srgbClr val="A40670"/>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 name="Google Shape;389;p25"/>
            <p:cNvSpPr/>
            <p:nvPr/>
          </p:nvSpPr>
          <p:spPr>
            <a:xfrm>
              <a:off x="8946878" y="5191356"/>
              <a:ext cx="270000" cy="497224"/>
            </a:xfrm>
            <a:prstGeom prst="roundRect">
              <a:avLst>
                <a:gd fmla="val 16667" name="adj"/>
              </a:avLst>
            </a:prstGeom>
            <a:noFill/>
            <a:ln cap="flat" cmpd="sng" w="19050">
              <a:solidFill>
                <a:srgbClr val="A40670"/>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0" name="Google Shape;390;p25"/>
            <p:cNvSpPr/>
            <p:nvPr/>
          </p:nvSpPr>
          <p:spPr>
            <a:xfrm>
              <a:off x="8956225" y="5821679"/>
              <a:ext cx="270000" cy="496800"/>
            </a:xfrm>
            <a:prstGeom prst="roundRect">
              <a:avLst>
                <a:gd fmla="val 16667" name="adj"/>
              </a:avLst>
            </a:prstGeom>
            <a:noFill/>
            <a:ln cap="flat" cmpd="sng" w="19050">
              <a:solidFill>
                <a:srgbClr val="A40670"/>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391" name="Google Shape;391;p25"/>
          <p:cNvGrpSpPr/>
          <p:nvPr/>
        </p:nvGrpSpPr>
        <p:grpSpPr>
          <a:xfrm>
            <a:off x="6793937" y="2329083"/>
            <a:ext cx="4765459" cy="1429627"/>
            <a:chOff x="6793937" y="2329083"/>
            <a:chExt cx="4765459" cy="1429627"/>
          </a:xfrm>
        </p:grpSpPr>
        <p:sp>
          <p:nvSpPr>
            <p:cNvPr id="380" name="Google Shape;380;p25"/>
            <p:cNvSpPr txBox="1"/>
            <p:nvPr/>
          </p:nvSpPr>
          <p:spPr>
            <a:xfrm>
              <a:off x="6793937" y="2329083"/>
              <a:ext cx="3487173" cy="1400383"/>
            </a:xfrm>
            <a:prstGeom prst="rect">
              <a:avLst/>
            </a:prstGeom>
            <a:noFill/>
            <a:ln cap="flat" cmpd="sng" w="19050">
              <a:solidFill>
                <a:srgbClr val="A4067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Calibri"/>
                <a:buNone/>
              </a:pPr>
              <a:r>
                <a:rPr b="0" i="0" lang="en-CA" sz="1700" u="none" cap="none" strike="noStrike">
                  <a:solidFill>
                    <a:srgbClr val="000000"/>
                  </a:solidFill>
                  <a:latin typeface="Calibri"/>
                  <a:ea typeface="Calibri"/>
                  <a:cs typeface="Calibri"/>
                  <a:sym typeface="Calibri"/>
                </a:rPr>
                <a:t>Specific information for </a:t>
              </a:r>
              <a:r>
                <a:rPr b="1" i="0" lang="en-CA" sz="1700" u="none" cap="none" strike="noStrike">
                  <a:solidFill>
                    <a:srgbClr val="000000"/>
                  </a:solidFill>
                  <a:latin typeface="Calibri"/>
                  <a:ea typeface="Calibri"/>
                  <a:cs typeface="Calibri"/>
                  <a:sym typeface="Calibri"/>
                </a:rPr>
                <a:t>EACH voice</a:t>
              </a:r>
              <a:endParaRPr/>
            </a:p>
            <a:p>
              <a:pPr indent="-285750" lvl="0" marL="285750" marR="0" rtl="0" algn="l">
                <a:lnSpc>
                  <a:spcPct val="100000"/>
                </a:lnSpc>
                <a:spcBef>
                  <a:spcPts val="0"/>
                </a:spcBef>
                <a:spcAft>
                  <a:spcPts val="0"/>
                </a:spcAft>
                <a:buClr>
                  <a:srgbClr val="000000"/>
                </a:buClr>
                <a:buSzPts val="1700"/>
                <a:buFont typeface="Arial"/>
                <a:buChar char="•"/>
              </a:pPr>
              <a:r>
                <a:rPr b="0" i="0" lang="en-CA" sz="1700" u="none" cap="none" strike="noStrike">
                  <a:solidFill>
                    <a:srgbClr val="000000"/>
                  </a:solidFill>
                  <a:latin typeface="Calibri"/>
                  <a:ea typeface="Calibri"/>
                  <a:cs typeface="Calibri"/>
                  <a:sym typeface="Calibri"/>
                </a:rPr>
                <a:t>Clef</a:t>
              </a:r>
              <a:endParaRPr/>
            </a:p>
            <a:p>
              <a:pPr indent="-285750" lvl="0" marL="285750" marR="0" rtl="0" algn="l">
                <a:lnSpc>
                  <a:spcPct val="100000"/>
                </a:lnSpc>
                <a:spcBef>
                  <a:spcPts val="0"/>
                </a:spcBef>
                <a:spcAft>
                  <a:spcPts val="0"/>
                </a:spcAft>
                <a:buClr>
                  <a:srgbClr val="000000"/>
                </a:buClr>
                <a:buSzPts val="1700"/>
                <a:buFont typeface="Arial"/>
                <a:buChar char="•"/>
              </a:pPr>
              <a:r>
                <a:rPr b="0" i="0" lang="en-CA" sz="1700" u="none" cap="none" strike="noStrike">
                  <a:solidFill>
                    <a:srgbClr val="000000"/>
                  </a:solidFill>
                  <a:latin typeface="Calibri"/>
                  <a:ea typeface="Calibri"/>
                  <a:cs typeface="Calibri"/>
                  <a:sym typeface="Calibri"/>
                </a:rPr>
                <a:t>Label</a:t>
              </a:r>
              <a:endParaRPr/>
            </a:p>
            <a:p>
              <a:pPr indent="-285750" lvl="0" marL="285750" marR="0" rtl="0" algn="l">
                <a:lnSpc>
                  <a:spcPct val="100000"/>
                </a:lnSpc>
                <a:spcBef>
                  <a:spcPts val="0"/>
                </a:spcBef>
                <a:spcAft>
                  <a:spcPts val="0"/>
                </a:spcAft>
                <a:buClr>
                  <a:srgbClr val="A40670"/>
                </a:buClr>
                <a:buSzPts val="1700"/>
                <a:buFont typeface="Arial"/>
                <a:buChar char="•"/>
              </a:pPr>
              <a:r>
                <a:rPr b="1" i="0" lang="en-CA" sz="1700" u="none" cap="none" strike="noStrike">
                  <a:solidFill>
                    <a:srgbClr val="A40670"/>
                  </a:solidFill>
                  <a:latin typeface="Calibri"/>
                  <a:ea typeface="Calibri"/>
                  <a:cs typeface="Calibri"/>
                  <a:sym typeface="Calibri"/>
                </a:rPr>
                <a:t>Number of staff-lines (@lines)</a:t>
              </a:r>
              <a:endParaRPr/>
            </a:p>
            <a:p>
              <a:pPr indent="-285750" lvl="0" marL="285750" marR="0" rtl="0" algn="l">
                <a:lnSpc>
                  <a:spcPct val="100000"/>
                </a:lnSpc>
                <a:spcBef>
                  <a:spcPts val="0"/>
                </a:spcBef>
                <a:spcAft>
                  <a:spcPts val="0"/>
                </a:spcAft>
                <a:buClr>
                  <a:srgbClr val="A40670"/>
                </a:buClr>
                <a:buSzPts val="1700"/>
                <a:buFont typeface="Arial"/>
                <a:buChar char="•"/>
              </a:pPr>
              <a:r>
                <a:rPr b="1" i="0" lang="en-CA" sz="1700" u="none" cap="none" strike="noStrike">
                  <a:solidFill>
                    <a:srgbClr val="A40670"/>
                  </a:solidFill>
                  <a:latin typeface="Calibri"/>
                  <a:ea typeface="Calibri"/>
                  <a:cs typeface="Calibri"/>
                  <a:sym typeface="Calibri"/>
                </a:rPr>
                <a:t>@n</a:t>
              </a:r>
              <a:endParaRPr/>
            </a:p>
          </p:txBody>
        </p:sp>
        <p:sp>
          <p:nvSpPr>
            <p:cNvPr id="392" name="Google Shape;392;p25"/>
            <p:cNvSpPr/>
            <p:nvPr/>
          </p:nvSpPr>
          <p:spPr>
            <a:xfrm>
              <a:off x="9972136" y="3204713"/>
              <a:ext cx="436079" cy="507500"/>
            </a:xfrm>
            <a:prstGeom prst="rightBrace">
              <a:avLst>
                <a:gd fmla="val 8333" name="adj1"/>
                <a:gd fmla="val 50000" name="adj2"/>
              </a:avLst>
            </a:prstGeom>
            <a:noFill/>
            <a:ln cap="flat" cmpd="sng" w="19050">
              <a:solidFill>
                <a:srgbClr val="CC008B"/>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25"/>
            <p:cNvSpPr txBox="1"/>
            <p:nvPr/>
          </p:nvSpPr>
          <p:spPr>
            <a:xfrm>
              <a:off x="10425469" y="3204712"/>
              <a:ext cx="1133927" cy="553998"/>
            </a:xfrm>
            <a:prstGeom prst="rect">
              <a:avLst/>
            </a:prstGeom>
            <a:noFill/>
            <a:ln cap="flat" cmpd="sng" w="9525">
              <a:solidFill>
                <a:srgbClr val="CC008B"/>
              </a:solidFill>
              <a:prstDash val="dash"/>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5007E"/>
                </a:buClr>
                <a:buSzPts val="1500"/>
                <a:buFont typeface="Calibri"/>
                <a:buNone/>
              </a:pPr>
              <a:r>
                <a:rPr b="0" i="0" lang="en-CA" sz="1500" u="none" cap="none" strike="noStrike">
                  <a:solidFill>
                    <a:srgbClr val="B5007E"/>
                  </a:solidFill>
                  <a:latin typeface="Calibri"/>
                  <a:ea typeface="Calibri"/>
                  <a:cs typeface="Calibri"/>
                  <a:sym typeface="Calibri"/>
                </a:rPr>
                <a:t>required for validation</a:t>
              </a:r>
              <a:endParaRPr/>
            </a:p>
          </p:txBody>
        </p:sp>
      </p:grpSp>
      <p:sp>
        <p:nvSpPr>
          <p:cNvPr id="394" name="Google Shape;394;p25"/>
          <p:cNvSpPr/>
          <p:nvPr/>
        </p:nvSpPr>
        <p:spPr>
          <a:xfrm>
            <a:off x="1813714" y="2688668"/>
            <a:ext cx="4483975" cy="707917"/>
          </a:xfrm>
          <a:prstGeom prst="rect">
            <a:avLst/>
          </a:prstGeom>
          <a:solidFill>
            <a:srgbClr val="FF00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5" name="Google Shape;395;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id="401" name="Google Shape;401;p26"/>
          <p:cNvPicPr preferRelativeResize="0"/>
          <p:nvPr/>
        </p:nvPicPr>
        <p:blipFill rotWithShape="1">
          <a:blip r:embed="rId3">
            <a:alphaModFix/>
          </a:blip>
          <a:srcRect b="0" l="0" r="0" t="13124"/>
          <a:stretch/>
        </p:blipFill>
        <p:spPr>
          <a:xfrm>
            <a:off x="7899392" y="2493941"/>
            <a:ext cx="2268000" cy="2507039"/>
          </a:xfrm>
          <a:prstGeom prst="rect">
            <a:avLst/>
          </a:prstGeom>
          <a:noFill/>
          <a:ln cap="flat" cmpd="sng" w="9525">
            <a:solidFill>
              <a:schemeClr val="dk1"/>
            </a:solidFill>
            <a:prstDash val="solid"/>
            <a:round/>
            <a:headEnd len="sm" w="sm" type="none"/>
            <a:tailEnd len="sm" w="sm" type="none"/>
          </a:ln>
        </p:spPr>
      </p:pic>
      <p:pic>
        <p:nvPicPr>
          <p:cNvPr id="402" name="Google Shape;402;p26"/>
          <p:cNvPicPr preferRelativeResize="0"/>
          <p:nvPr/>
        </p:nvPicPr>
        <p:blipFill rotWithShape="1">
          <a:blip r:embed="rId4">
            <a:alphaModFix/>
          </a:blip>
          <a:srcRect b="0" l="0" r="0" t="0"/>
          <a:stretch/>
        </p:blipFill>
        <p:spPr>
          <a:xfrm>
            <a:off x="1209674" y="1512887"/>
            <a:ext cx="6048376" cy="4605013"/>
          </a:xfrm>
          <a:prstGeom prst="rect">
            <a:avLst/>
          </a:prstGeom>
          <a:noFill/>
          <a:ln>
            <a:noFill/>
          </a:ln>
        </p:spPr>
      </p:pic>
      <p:sp>
        <p:nvSpPr>
          <p:cNvPr id="403" name="Google Shape;403;p26"/>
          <p:cNvSpPr/>
          <p:nvPr/>
        </p:nvSpPr>
        <p:spPr>
          <a:xfrm>
            <a:off x="2091556" y="2270233"/>
            <a:ext cx="4932000" cy="3321269"/>
          </a:xfrm>
          <a:prstGeom prst="rect">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4" name="Google Shape;404;p26"/>
          <p:cNvSpPr txBox="1"/>
          <p:nvPr/>
        </p:nvSpPr>
        <p:spPr>
          <a:xfrm>
            <a:off x="838200" y="365126"/>
            <a:ext cx="10515600" cy="90646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400"/>
              <a:buFont typeface="Calibri"/>
              <a:buNone/>
            </a:pPr>
            <a:r>
              <a:rPr b="1" i="0" lang="en-CA" sz="4400" u="none" cap="none" strike="noStrike">
                <a:solidFill>
                  <a:srgbClr val="000000"/>
                </a:solidFill>
                <a:latin typeface="Calibri"/>
                <a:ea typeface="Calibri"/>
                <a:cs typeface="Calibri"/>
                <a:sym typeface="Calibri"/>
              </a:rPr>
              <a:t>&lt;music&gt; </a:t>
            </a:r>
            <a:r>
              <a:rPr b="0" i="0" lang="en-CA" sz="4400" u="none" cap="none" strike="noStrike">
                <a:solidFill>
                  <a:srgbClr val="000000"/>
                </a:solidFill>
                <a:latin typeface="Calibri"/>
                <a:ea typeface="Calibri"/>
                <a:cs typeface="Calibri"/>
                <a:sym typeface="Calibri"/>
              </a:rPr>
              <a:t>basic elements</a:t>
            </a:r>
            <a:endParaRPr/>
          </a:p>
        </p:txBody>
      </p:sp>
      <p:grpSp>
        <p:nvGrpSpPr>
          <p:cNvPr id="405" name="Google Shape;405;p26"/>
          <p:cNvGrpSpPr/>
          <p:nvPr/>
        </p:nvGrpSpPr>
        <p:grpSpPr>
          <a:xfrm>
            <a:off x="6960496" y="4101404"/>
            <a:ext cx="3110745" cy="1715118"/>
            <a:chOff x="5259077" y="3455718"/>
            <a:chExt cx="4743040" cy="3355666"/>
          </a:xfrm>
        </p:grpSpPr>
        <p:sp>
          <p:nvSpPr>
            <p:cNvPr id="406" name="Google Shape;406;p26"/>
            <p:cNvSpPr txBox="1"/>
            <p:nvPr/>
          </p:nvSpPr>
          <p:spPr>
            <a:xfrm>
              <a:off x="6837242" y="5426390"/>
              <a:ext cx="3164875" cy="1384994"/>
            </a:xfrm>
            <a:prstGeom prst="rect">
              <a:avLst/>
            </a:prstGeom>
            <a:solidFill>
              <a:schemeClr val="accent6">
                <a:alpha val="14509"/>
              </a:schemeClr>
            </a:solidFill>
            <a:ln cap="flat" cmpd="sng" w="2857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CA" sz="2000" u="none" cap="none" strike="noStrike">
                  <a:solidFill>
                    <a:srgbClr val="000000"/>
                  </a:solidFill>
                  <a:latin typeface="Calibri"/>
                  <a:ea typeface="Calibri"/>
                  <a:cs typeface="Calibri"/>
                  <a:sym typeface="Calibri"/>
                </a:rPr>
                <a:t>Actual music content</a:t>
              </a:r>
              <a:endParaRPr/>
            </a:p>
          </p:txBody>
        </p:sp>
        <p:cxnSp>
          <p:nvCxnSpPr>
            <p:cNvPr id="407" name="Google Shape;407;p26"/>
            <p:cNvCxnSpPr>
              <a:stCxn id="408" idx="3"/>
              <a:endCxn id="406" idx="1"/>
            </p:cNvCxnSpPr>
            <p:nvPr/>
          </p:nvCxnSpPr>
          <p:spPr>
            <a:xfrm>
              <a:off x="5259077" y="3455718"/>
              <a:ext cx="1578300" cy="2663100"/>
            </a:xfrm>
            <a:prstGeom prst="bentConnector3">
              <a:avLst>
                <a:gd fmla="val 39941" name="adj1"/>
              </a:avLst>
            </a:prstGeom>
            <a:noFill/>
            <a:ln cap="flat" cmpd="sng" w="38100">
              <a:solidFill>
                <a:schemeClr val="accent6"/>
              </a:solidFill>
              <a:prstDash val="solid"/>
              <a:miter lim="800000"/>
              <a:headEnd len="sm" w="sm" type="none"/>
              <a:tailEnd len="med" w="med" type="triangle"/>
            </a:ln>
          </p:spPr>
        </p:cxnSp>
      </p:grpSp>
      <p:sp>
        <p:nvSpPr>
          <p:cNvPr id="408" name="Google Shape;408;p26"/>
          <p:cNvSpPr/>
          <p:nvPr/>
        </p:nvSpPr>
        <p:spPr>
          <a:xfrm>
            <a:off x="4887310" y="3935614"/>
            <a:ext cx="2073186" cy="331579"/>
          </a:xfrm>
          <a:prstGeom prst="rect">
            <a:avLst/>
          </a:prstGeom>
          <a:noFill/>
          <a:ln cap="flat" cmpd="sng" w="19050">
            <a:solidFill>
              <a:schemeClr val="accent6"/>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9" name="Google Shape;409;p26"/>
          <p:cNvSpPr/>
          <p:nvPr/>
        </p:nvSpPr>
        <p:spPr>
          <a:xfrm>
            <a:off x="9522298" y="3070075"/>
            <a:ext cx="578146" cy="1905539"/>
          </a:xfrm>
          <a:prstGeom prst="rect">
            <a:avLst/>
          </a:prstGeom>
          <a:solidFill>
            <a:srgbClr val="70AD47">
              <a:alpha val="20000"/>
            </a:srgbClr>
          </a:solidFill>
          <a:ln cap="flat" cmpd="sng" w="19050">
            <a:solidFill>
              <a:schemeClr val="accent6"/>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0" name="Google Shape;410;p26"/>
          <p:cNvSpPr/>
          <p:nvPr/>
        </p:nvSpPr>
        <p:spPr>
          <a:xfrm>
            <a:off x="4140678" y="3285150"/>
            <a:ext cx="2869091" cy="1317600"/>
          </a:xfrm>
          <a:prstGeom prst="rect">
            <a:avLst/>
          </a:prstGeom>
          <a:no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1" name="Google Shape;41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27"/>
          <p:cNvPicPr preferRelativeResize="0"/>
          <p:nvPr>
            <p:ph idx="1" type="body"/>
          </p:nvPr>
        </p:nvPicPr>
        <p:blipFill rotWithShape="1">
          <a:blip r:embed="rId3">
            <a:alphaModFix/>
          </a:blip>
          <a:srcRect b="0" l="0" r="0" t="0"/>
          <a:stretch/>
        </p:blipFill>
        <p:spPr>
          <a:xfrm>
            <a:off x="1114426" y="1455342"/>
            <a:ext cx="7290015" cy="4261644"/>
          </a:xfrm>
          <a:prstGeom prst="rect">
            <a:avLst/>
          </a:prstGeom>
          <a:noFill/>
          <a:ln>
            <a:noFill/>
          </a:ln>
        </p:spPr>
      </p:pic>
      <p:sp>
        <p:nvSpPr>
          <p:cNvPr id="418" name="Google Shape;418;p27"/>
          <p:cNvSpPr txBox="1"/>
          <p:nvPr>
            <p:ph type="title"/>
          </p:nvPr>
        </p:nvSpPr>
        <p:spPr>
          <a:xfrm>
            <a:off x="838200" y="685800"/>
            <a:ext cx="10515600" cy="65722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CA"/>
              <a:t>&lt;section&gt; - </a:t>
            </a:r>
            <a:r>
              <a:rPr lang="en-CA"/>
              <a:t>Actual Music</a:t>
            </a:r>
            <a:endParaRPr/>
          </a:p>
        </p:txBody>
      </p:sp>
      <p:sp>
        <p:nvSpPr>
          <p:cNvPr id="419" name="Google Shape;419;p27"/>
          <p:cNvSpPr txBox="1"/>
          <p:nvPr/>
        </p:nvSpPr>
        <p:spPr>
          <a:xfrm>
            <a:off x="1114426" y="5829303"/>
            <a:ext cx="990600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CA" sz="2000" u="sng" cap="none" strike="noStrike">
                <a:solidFill>
                  <a:srgbClr val="000000"/>
                </a:solidFill>
                <a:latin typeface="Calibri"/>
                <a:ea typeface="Calibri"/>
                <a:cs typeface="Calibri"/>
                <a:sym typeface="Calibri"/>
                <a:hlinkClick r:id="rId4">
                  <a:extLst>
                    <a:ext uri="{A12FA001-AC4F-418D-AE19-62706E023703}">
                      <ahyp:hlinkClr val="tx"/>
                    </a:ext>
                  </a:extLst>
                </a:hlinkClick>
              </a:rPr>
              <a:t>https://music-encoding.org/guidelines/v5/content/shared.html</a:t>
            </a:r>
            <a:endParaRPr b="0" i="0" sz="2000" u="none" cap="none" strike="noStrike">
              <a:solidFill>
                <a:srgbClr val="000000"/>
              </a:solidFill>
              <a:latin typeface="Calibri"/>
              <a:ea typeface="Calibri"/>
              <a:cs typeface="Calibri"/>
              <a:sym typeface="Calibri"/>
            </a:endParaRPr>
          </a:p>
        </p:txBody>
      </p:sp>
      <p:sp>
        <p:nvSpPr>
          <p:cNvPr id="420" name="Google Shape;420;p27"/>
          <p:cNvSpPr/>
          <p:nvPr/>
        </p:nvSpPr>
        <p:spPr>
          <a:xfrm>
            <a:off x="1692166" y="1975945"/>
            <a:ext cx="6589986" cy="3448509"/>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1" name="Google Shape;42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8"/>
          <p:cNvSpPr txBox="1"/>
          <p:nvPr>
            <p:ph type="title"/>
          </p:nvPr>
        </p:nvSpPr>
        <p:spPr>
          <a:xfrm>
            <a:off x="838200" y="685800"/>
            <a:ext cx="10515600" cy="65722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CA"/>
              <a:t>&lt;section&gt; - </a:t>
            </a:r>
            <a:r>
              <a:rPr lang="en-CA"/>
              <a:t>Actual Music</a:t>
            </a:r>
            <a:endParaRPr/>
          </a:p>
        </p:txBody>
      </p:sp>
      <p:pic>
        <p:nvPicPr>
          <p:cNvPr id="428" name="Google Shape;428;p28"/>
          <p:cNvPicPr preferRelativeResize="0"/>
          <p:nvPr/>
        </p:nvPicPr>
        <p:blipFill rotWithShape="1">
          <a:blip r:embed="rId3">
            <a:alphaModFix/>
          </a:blip>
          <a:srcRect b="0" l="0" r="0" t="0"/>
          <a:stretch/>
        </p:blipFill>
        <p:spPr>
          <a:xfrm>
            <a:off x="1114426" y="1455342"/>
            <a:ext cx="7290015" cy="4261644"/>
          </a:xfrm>
          <a:prstGeom prst="rect">
            <a:avLst/>
          </a:prstGeom>
          <a:noFill/>
          <a:ln>
            <a:noFill/>
          </a:ln>
        </p:spPr>
      </p:pic>
      <p:sp>
        <p:nvSpPr>
          <p:cNvPr id="429" name="Google Shape;429;p28"/>
          <p:cNvSpPr/>
          <p:nvPr/>
        </p:nvSpPr>
        <p:spPr>
          <a:xfrm>
            <a:off x="1692166" y="1975945"/>
            <a:ext cx="6589986" cy="3448509"/>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430" name="Google Shape;430;p28"/>
          <p:cNvPicPr preferRelativeResize="0"/>
          <p:nvPr/>
        </p:nvPicPr>
        <p:blipFill rotWithShape="1">
          <a:blip r:embed="rId4">
            <a:alphaModFix/>
          </a:blip>
          <a:srcRect b="0" l="0" r="0" t="0"/>
          <a:stretch/>
        </p:blipFill>
        <p:spPr>
          <a:xfrm>
            <a:off x="8610600" y="2542370"/>
            <a:ext cx="2963205" cy="1125812"/>
          </a:xfrm>
          <a:prstGeom prst="rect">
            <a:avLst/>
          </a:prstGeom>
          <a:noFill/>
          <a:ln>
            <a:noFill/>
          </a:ln>
        </p:spPr>
      </p:pic>
      <p:sp>
        <p:nvSpPr>
          <p:cNvPr id="431" name="Google Shape;431;p28"/>
          <p:cNvSpPr/>
          <p:nvPr/>
        </p:nvSpPr>
        <p:spPr>
          <a:xfrm>
            <a:off x="9212843" y="2177245"/>
            <a:ext cx="1702525" cy="365125"/>
          </a:xfrm>
          <a:prstGeom prst="rect">
            <a:avLst/>
          </a:prstGeom>
          <a:solidFill>
            <a:schemeClr val="lt2"/>
          </a:solidFill>
          <a:ln cap="flat" cmpd="sng" w="28575">
            <a:solidFill>
              <a:srgbClr val="FF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lang="en-CA" sz="1867">
                <a:solidFill>
                  <a:srgbClr val="FF0000"/>
                </a:solidFill>
                <a:latin typeface="Arial"/>
                <a:ea typeface="Arial"/>
                <a:cs typeface="Arial"/>
                <a:sym typeface="Arial"/>
              </a:rPr>
              <a:t>&lt;layer n=”1”&gt;</a:t>
            </a:r>
            <a:endParaRPr sz="1867">
              <a:solidFill>
                <a:srgbClr val="FF0000"/>
              </a:solidFill>
              <a:latin typeface="Arial"/>
              <a:ea typeface="Arial"/>
              <a:cs typeface="Arial"/>
              <a:sym typeface="Arial"/>
            </a:endParaRPr>
          </a:p>
        </p:txBody>
      </p:sp>
      <p:sp>
        <p:nvSpPr>
          <p:cNvPr id="432" name="Google Shape;432;p28"/>
          <p:cNvSpPr/>
          <p:nvPr/>
        </p:nvSpPr>
        <p:spPr>
          <a:xfrm>
            <a:off x="9212843" y="3608049"/>
            <a:ext cx="1702525" cy="365125"/>
          </a:xfrm>
          <a:prstGeom prst="rect">
            <a:avLst/>
          </a:prstGeom>
          <a:solidFill>
            <a:schemeClr val="lt2"/>
          </a:solidFill>
          <a:ln cap="flat" cmpd="sng" w="28575">
            <a:solidFill>
              <a:srgbClr val="0000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lang="en-CA" sz="1867">
                <a:solidFill>
                  <a:srgbClr val="0000FF"/>
                </a:solidFill>
                <a:latin typeface="Arial"/>
                <a:ea typeface="Arial"/>
                <a:cs typeface="Arial"/>
                <a:sym typeface="Arial"/>
              </a:rPr>
              <a:t>&lt;layer n=”2”&gt;</a:t>
            </a:r>
            <a:endParaRPr sz="1867">
              <a:solidFill>
                <a:srgbClr val="0000FF"/>
              </a:solidFill>
              <a:latin typeface="Arial"/>
              <a:ea typeface="Arial"/>
              <a:cs typeface="Arial"/>
              <a:sym typeface="Arial"/>
            </a:endParaRPr>
          </a:p>
        </p:txBody>
      </p:sp>
      <p:sp>
        <p:nvSpPr>
          <p:cNvPr id="433" name="Google Shape;433;p28"/>
          <p:cNvSpPr/>
          <p:nvPr/>
        </p:nvSpPr>
        <p:spPr>
          <a:xfrm>
            <a:off x="2743631" y="2524439"/>
            <a:ext cx="5538522" cy="1296000"/>
          </a:xfrm>
          <a:prstGeom prst="roundRect">
            <a:avLst>
              <a:gd fmla="val 16667" name="adj"/>
            </a:avLst>
          </a:prstGeom>
          <a:noFill/>
          <a:ln cap="flat" cmpd="sng" w="1905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34" name="Google Shape;434;p28"/>
          <p:cNvCxnSpPr>
            <a:endCxn id="431" idx="1"/>
          </p:cNvCxnSpPr>
          <p:nvPr/>
        </p:nvCxnSpPr>
        <p:spPr>
          <a:xfrm flipH="1" rot="10800000">
            <a:off x="8282243" y="2359808"/>
            <a:ext cx="930600" cy="345000"/>
          </a:xfrm>
          <a:prstGeom prst="straightConnector1">
            <a:avLst/>
          </a:prstGeom>
          <a:noFill/>
          <a:ln cap="flat" cmpd="sng" w="19050">
            <a:solidFill>
              <a:srgbClr val="7030A0"/>
            </a:solidFill>
            <a:prstDash val="solid"/>
            <a:miter lim="800000"/>
            <a:headEnd len="sm" w="sm" type="none"/>
            <a:tailEnd len="med" w="med" type="triangle"/>
          </a:ln>
        </p:spPr>
      </p:cxnSp>
      <p:cxnSp>
        <p:nvCxnSpPr>
          <p:cNvPr id="435" name="Google Shape;435;p28"/>
          <p:cNvCxnSpPr>
            <a:endCxn id="432" idx="1"/>
          </p:cNvCxnSpPr>
          <p:nvPr/>
        </p:nvCxnSpPr>
        <p:spPr>
          <a:xfrm>
            <a:off x="8282243" y="3691012"/>
            <a:ext cx="930600" cy="99600"/>
          </a:xfrm>
          <a:prstGeom prst="straightConnector1">
            <a:avLst/>
          </a:prstGeom>
          <a:noFill/>
          <a:ln cap="flat" cmpd="sng" w="19050">
            <a:solidFill>
              <a:srgbClr val="7030A0"/>
            </a:solidFill>
            <a:prstDash val="solid"/>
            <a:miter lim="800000"/>
            <a:headEnd len="sm" w="sm" type="none"/>
            <a:tailEnd len="med" w="med" type="triangle"/>
          </a:ln>
        </p:spPr>
      </p:cxnSp>
      <p:sp>
        <p:nvSpPr>
          <p:cNvPr id="436" name="Google Shape;436;p28"/>
          <p:cNvSpPr txBox="1"/>
          <p:nvPr/>
        </p:nvSpPr>
        <p:spPr>
          <a:xfrm>
            <a:off x="1114426" y="5829303"/>
            <a:ext cx="990600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CA" sz="2000" u="sng" cap="none" strike="noStrike">
                <a:solidFill>
                  <a:srgbClr val="000000"/>
                </a:solidFill>
                <a:latin typeface="Calibri"/>
                <a:ea typeface="Calibri"/>
                <a:cs typeface="Calibri"/>
                <a:sym typeface="Calibri"/>
                <a:hlinkClick r:id="rId5">
                  <a:extLst>
                    <a:ext uri="{A12FA001-AC4F-418D-AE19-62706E023703}">
                      <ahyp:hlinkClr val="tx"/>
                    </a:ext>
                  </a:extLst>
                </a:hlinkClick>
              </a:rPr>
              <a:t>https://music-encoding.org/guidelines/v5/content/shared.html</a:t>
            </a:r>
            <a:endParaRPr b="0" i="0" sz="2000" u="none" cap="none" strike="noStrike">
              <a:solidFill>
                <a:srgbClr val="000000"/>
              </a:solidFill>
              <a:latin typeface="Calibri"/>
              <a:ea typeface="Calibri"/>
              <a:cs typeface="Calibri"/>
              <a:sym typeface="Calibri"/>
            </a:endParaRPr>
          </a:p>
        </p:txBody>
      </p:sp>
      <p:sp>
        <p:nvSpPr>
          <p:cNvPr id="437" name="Google Shape;43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29"/>
          <p:cNvPicPr preferRelativeResize="0"/>
          <p:nvPr/>
        </p:nvPicPr>
        <p:blipFill rotWithShape="1">
          <a:blip r:embed="rId3">
            <a:alphaModFix/>
          </a:blip>
          <a:srcRect b="0" l="0" r="0" t="0"/>
          <a:stretch/>
        </p:blipFill>
        <p:spPr>
          <a:xfrm>
            <a:off x="1114426" y="1455342"/>
            <a:ext cx="7290015" cy="4261644"/>
          </a:xfrm>
          <a:prstGeom prst="rect">
            <a:avLst/>
          </a:prstGeom>
          <a:noFill/>
          <a:ln>
            <a:noFill/>
          </a:ln>
        </p:spPr>
      </p:pic>
      <p:sp>
        <p:nvSpPr>
          <p:cNvPr id="444" name="Google Shape;444;p29"/>
          <p:cNvSpPr txBox="1"/>
          <p:nvPr>
            <p:ph type="title"/>
          </p:nvPr>
        </p:nvSpPr>
        <p:spPr>
          <a:xfrm>
            <a:off x="838200" y="658725"/>
            <a:ext cx="10515600" cy="65722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CA"/>
              <a:t>Early Music </a:t>
            </a:r>
            <a:r>
              <a:rPr lang="en-CA"/>
              <a:t>has </a:t>
            </a:r>
            <a:r>
              <a:rPr b="1" lang="en-CA"/>
              <a:t>No Measures!</a:t>
            </a:r>
            <a:endParaRPr/>
          </a:p>
        </p:txBody>
      </p:sp>
      <p:sp>
        <p:nvSpPr>
          <p:cNvPr id="445" name="Google Shape;445;p29"/>
          <p:cNvSpPr/>
          <p:nvPr/>
        </p:nvSpPr>
        <p:spPr>
          <a:xfrm>
            <a:off x="2218301" y="2248081"/>
            <a:ext cx="6030000" cy="302400"/>
          </a:xfrm>
          <a:prstGeom prst="rect">
            <a:avLst/>
          </a:prstGeom>
          <a:solidFill>
            <a:srgbClr val="FF00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CA" sz="1800" u="none" cap="none" strike="noStrike">
                <a:solidFill>
                  <a:srgbClr val="FFFFFF"/>
                </a:solidFill>
                <a:latin typeface="Calibri"/>
                <a:ea typeface="Calibri"/>
                <a:cs typeface="Calibri"/>
                <a:sym typeface="Calibri"/>
              </a:rPr>
              <a:t>  </a:t>
            </a:r>
            <a:endParaRPr/>
          </a:p>
        </p:txBody>
      </p:sp>
      <p:sp>
        <p:nvSpPr>
          <p:cNvPr id="446" name="Google Shape;446;p29"/>
          <p:cNvSpPr/>
          <p:nvPr/>
        </p:nvSpPr>
        <p:spPr>
          <a:xfrm>
            <a:off x="2218300" y="4371793"/>
            <a:ext cx="6030000" cy="769349"/>
          </a:xfrm>
          <a:prstGeom prst="rect">
            <a:avLst/>
          </a:prstGeom>
          <a:solidFill>
            <a:srgbClr val="FF00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7" name="Google Shape;447;p29"/>
          <p:cNvSpPr/>
          <p:nvPr/>
        </p:nvSpPr>
        <p:spPr>
          <a:xfrm>
            <a:off x="1688952" y="1973244"/>
            <a:ext cx="6589986" cy="3448509"/>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8" name="Google Shape;448;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0"/>
          <p:cNvSpPr txBox="1"/>
          <p:nvPr>
            <p:ph type="title"/>
          </p:nvPr>
        </p:nvSpPr>
        <p:spPr>
          <a:xfrm>
            <a:off x="838200" y="658725"/>
            <a:ext cx="10515600" cy="65722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CA"/>
              <a:t>Monophonic Music </a:t>
            </a:r>
            <a:r>
              <a:rPr lang="en-CA"/>
              <a:t>has a</a:t>
            </a:r>
            <a:r>
              <a:rPr b="1" lang="en-CA"/>
              <a:t> Single Staff</a:t>
            </a:r>
            <a:endParaRPr/>
          </a:p>
        </p:txBody>
      </p:sp>
      <p:grpSp>
        <p:nvGrpSpPr>
          <p:cNvPr id="455" name="Google Shape;455;p30"/>
          <p:cNvGrpSpPr/>
          <p:nvPr/>
        </p:nvGrpSpPr>
        <p:grpSpPr>
          <a:xfrm>
            <a:off x="967283" y="1626251"/>
            <a:ext cx="7291309" cy="3231499"/>
            <a:chOff x="967283" y="1626251"/>
            <a:chExt cx="7291309" cy="3231499"/>
          </a:xfrm>
        </p:grpSpPr>
        <p:grpSp>
          <p:nvGrpSpPr>
            <p:cNvPr id="456" name="Google Shape;456;p30"/>
            <p:cNvGrpSpPr/>
            <p:nvPr/>
          </p:nvGrpSpPr>
          <p:grpSpPr>
            <a:xfrm>
              <a:off x="967283" y="1626251"/>
              <a:ext cx="7291309" cy="3231499"/>
              <a:chOff x="967283" y="1626251"/>
              <a:chExt cx="7291309" cy="3231499"/>
            </a:xfrm>
          </p:grpSpPr>
          <p:pic>
            <p:nvPicPr>
              <p:cNvPr id="457" name="Google Shape;457;p30"/>
              <p:cNvPicPr preferRelativeResize="0"/>
              <p:nvPr/>
            </p:nvPicPr>
            <p:blipFill rotWithShape="1">
              <a:blip r:embed="rId3">
                <a:alphaModFix/>
              </a:blip>
              <a:srcRect b="26063" l="0" r="0" t="0"/>
              <a:stretch/>
            </p:blipFill>
            <p:spPr>
              <a:xfrm>
                <a:off x="967283" y="1626251"/>
                <a:ext cx="7291309" cy="3151489"/>
              </a:xfrm>
              <a:prstGeom prst="rect">
                <a:avLst/>
              </a:prstGeom>
              <a:noFill/>
              <a:ln>
                <a:noFill/>
              </a:ln>
            </p:spPr>
          </p:pic>
          <p:pic>
            <p:nvPicPr>
              <p:cNvPr id="458" name="Google Shape;458;p30"/>
              <p:cNvPicPr preferRelativeResize="0"/>
              <p:nvPr/>
            </p:nvPicPr>
            <p:blipFill rotWithShape="1">
              <a:blip r:embed="rId3">
                <a:alphaModFix/>
              </a:blip>
              <a:srcRect b="31248" l="23521" r="2227" t="25311"/>
              <a:stretch/>
            </p:blipFill>
            <p:spPr>
              <a:xfrm>
                <a:off x="2118360" y="2446019"/>
                <a:ext cx="5414010" cy="1851661"/>
              </a:xfrm>
              <a:prstGeom prst="rect">
                <a:avLst/>
              </a:prstGeom>
              <a:noFill/>
              <a:ln>
                <a:noFill/>
              </a:ln>
            </p:spPr>
          </p:pic>
          <p:pic>
            <p:nvPicPr>
              <p:cNvPr id="459" name="Google Shape;459;p30"/>
              <p:cNvPicPr preferRelativeResize="0"/>
              <p:nvPr/>
            </p:nvPicPr>
            <p:blipFill rotWithShape="1">
              <a:blip r:embed="rId3">
                <a:alphaModFix/>
              </a:blip>
              <a:srcRect b="566" l="0" r="0" t="86294"/>
              <a:stretch/>
            </p:blipFill>
            <p:spPr>
              <a:xfrm>
                <a:off x="967283" y="4297680"/>
                <a:ext cx="7291309" cy="560070"/>
              </a:xfrm>
              <a:prstGeom prst="rect">
                <a:avLst/>
              </a:prstGeom>
              <a:noFill/>
              <a:ln>
                <a:noFill/>
              </a:ln>
            </p:spPr>
          </p:pic>
        </p:grpSp>
        <p:sp>
          <p:nvSpPr>
            <p:cNvPr id="460" name="Google Shape;460;p30"/>
            <p:cNvSpPr/>
            <p:nvPr/>
          </p:nvSpPr>
          <p:spPr>
            <a:xfrm>
              <a:off x="7532370" y="2370339"/>
              <a:ext cx="572943" cy="1927342"/>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61" name="Google Shape;461;p30"/>
          <p:cNvSpPr/>
          <p:nvPr/>
        </p:nvSpPr>
        <p:spPr>
          <a:xfrm>
            <a:off x="2068499" y="3781635"/>
            <a:ext cx="5463871" cy="516043"/>
          </a:xfrm>
          <a:prstGeom prst="rect">
            <a:avLst/>
          </a:prstGeom>
          <a:solidFill>
            <a:srgbClr val="FF00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 name="Google Shape;462;p30"/>
          <p:cNvSpPr/>
          <p:nvPr/>
        </p:nvSpPr>
        <p:spPr>
          <a:xfrm>
            <a:off x="1524440" y="2156286"/>
            <a:ext cx="6589986" cy="2442347"/>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 name="Google Shape;46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grpSp>
        <p:nvGrpSpPr>
          <p:cNvPr id="469" name="Google Shape;469;p31"/>
          <p:cNvGrpSpPr/>
          <p:nvPr/>
        </p:nvGrpSpPr>
        <p:grpSpPr>
          <a:xfrm>
            <a:off x="501601" y="1327176"/>
            <a:ext cx="4236805" cy="2884299"/>
            <a:chOff x="1096309" y="1533525"/>
            <a:chExt cx="5780088" cy="4062965"/>
          </a:xfrm>
        </p:grpSpPr>
        <p:pic>
          <p:nvPicPr>
            <p:cNvPr id="470" name="Google Shape;470;p31"/>
            <p:cNvPicPr preferRelativeResize="0"/>
            <p:nvPr/>
          </p:nvPicPr>
          <p:blipFill rotWithShape="1">
            <a:blip r:embed="rId3">
              <a:alphaModFix/>
            </a:blip>
            <a:srcRect b="302" l="0" r="0" t="0"/>
            <a:stretch/>
          </p:blipFill>
          <p:spPr>
            <a:xfrm>
              <a:off x="1096309" y="1533525"/>
              <a:ext cx="5780088" cy="4062965"/>
            </a:xfrm>
            <a:prstGeom prst="rect">
              <a:avLst/>
            </a:prstGeom>
            <a:noFill/>
            <a:ln>
              <a:noFill/>
            </a:ln>
          </p:spPr>
        </p:pic>
        <p:sp>
          <p:nvSpPr>
            <p:cNvPr id="471" name="Google Shape;471;p31"/>
            <p:cNvSpPr/>
            <p:nvPr/>
          </p:nvSpPr>
          <p:spPr>
            <a:xfrm>
              <a:off x="1881356" y="1996966"/>
              <a:ext cx="4824248" cy="2743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72" name="Google Shape;472;p31"/>
          <p:cNvGrpSpPr/>
          <p:nvPr/>
        </p:nvGrpSpPr>
        <p:grpSpPr>
          <a:xfrm>
            <a:off x="500670" y="3644298"/>
            <a:ext cx="4237263" cy="2731846"/>
            <a:chOff x="5431825" y="2290868"/>
            <a:chExt cx="6011155" cy="3847671"/>
          </a:xfrm>
        </p:grpSpPr>
        <p:pic>
          <p:nvPicPr>
            <p:cNvPr id="473" name="Google Shape;473;p31"/>
            <p:cNvPicPr preferRelativeResize="0"/>
            <p:nvPr/>
          </p:nvPicPr>
          <p:blipFill rotWithShape="1">
            <a:blip r:embed="rId4">
              <a:alphaModFix/>
            </a:blip>
            <a:srcRect b="0" l="442" r="172" t="16446"/>
            <a:stretch/>
          </p:blipFill>
          <p:spPr>
            <a:xfrm>
              <a:off x="5431825" y="2290868"/>
              <a:ext cx="6011155" cy="3847671"/>
            </a:xfrm>
            <a:prstGeom prst="rect">
              <a:avLst/>
            </a:prstGeom>
            <a:noFill/>
            <a:ln>
              <a:noFill/>
            </a:ln>
          </p:spPr>
        </p:pic>
        <p:sp>
          <p:nvSpPr>
            <p:cNvPr id="474" name="Google Shape;474;p31"/>
            <p:cNvSpPr/>
            <p:nvPr/>
          </p:nvSpPr>
          <p:spPr>
            <a:xfrm>
              <a:off x="6248255" y="2290871"/>
              <a:ext cx="5017103" cy="3321268"/>
            </a:xfrm>
            <a:prstGeom prst="rect">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75" name="Google Shape;475;p31"/>
          <p:cNvGrpSpPr/>
          <p:nvPr/>
        </p:nvGrpSpPr>
        <p:grpSpPr>
          <a:xfrm>
            <a:off x="2546823" y="4367459"/>
            <a:ext cx="1973743" cy="930983"/>
            <a:chOff x="3034480" y="3903406"/>
            <a:chExt cx="2376000" cy="1078400"/>
          </a:xfrm>
        </p:grpSpPr>
        <p:sp>
          <p:nvSpPr>
            <p:cNvPr id="476" name="Google Shape;476;p31"/>
            <p:cNvSpPr/>
            <p:nvPr/>
          </p:nvSpPr>
          <p:spPr>
            <a:xfrm>
              <a:off x="3565422" y="4149212"/>
              <a:ext cx="1769807" cy="285137"/>
            </a:xfrm>
            <a:prstGeom prst="rect">
              <a:avLst/>
            </a:prstGeom>
            <a:solidFill>
              <a:srgbClr val="BF9000">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 name="Google Shape;477;p31"/>
            <p:cNvSpPr/>
            <p:nvPr/>
          </p:nvSpPr>
          <p:spPr>
            <a:xfrm>
              <a:off x="3565422" y="4431347"/>
              <a:ext cx="1769807" cy="285137"/>
            </a:xfrm>
            <a:prstGeom prst="rect">
              <a:avLst/>
            </a:prstGeom>
            <a:solidFill>
              <a:srgbClr val="70AD47">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 name="Google Shape;478;p31"/>
            <p:cNvSpPr/>
            <p:nvPr/>
          </p:nvSpPr>
          <p:spPr>
            <a:xfrm>
              <a:off x="3034480" y="3903406"/>
              <a:ext cx="2376000" cy="1078400"/>
            </a:xfrm>
            <a:prstGeom prst="rect">
              <a:avLst/>
            </a:prstGeom>
            <a:no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79" name="Google Shape;479;p31"/>
          <p:cNvGrpSpPr/>
          <p:nvPr/>
        </p:nvGrpSpPr>
        <p:grpSpPr>
          <a:xfrm>
            <a:off x="4458055" y="641397"/>
            <a:ext cx="3980004" cy="4061346"/>
            <a:chOff x="4458055" y="641397"/>
            <a:chExt cx="3980004" cy="4061346"/>
          </a:xfrm>
        </p:grpSpPr>
        <p:cxnSp>
          <p:nvCxnSpPr>
            <p:cNvPr id="480" name="Google Shape;480;p31"/>
            <p:cNvCxnSpPr>
              <a:stCxn id="476" idx="3"/>
              <a:endCxn id="481" idx="1"/>
            </p:cNvCxnSpPr>
            <p:nvPr/>
          </p:nvCxnSpPr>
          <p:spPr>
            <a:xfrm flipH="1" rot="10800000">
              <a:off x="4458055" y="995343"/>
              <a:ext cx="1389300" cy="3707400"/>
            </a:xfrm>
            <a:prstGeom prst="bentConnector3">
              <a:avLst>
                <a:gd fmla="val 50003" name="adj1"/>
              </a:avLst>
            </a:prstGeom>
            <a:solidFill>
              <a:srgbClr val="FF0000">
                <a:alpha val="10196"/>
              </a:srgbClr>
            </a:solidFill>
            <a:ln cap="flat" cmpd="sng" w="38100">
              <a:solidFill>
                <a:srgbClr val="BF9000"/>
              </a:solidFill>
              <a:prstDash val="solid"/>
              <a:miter lim="800000"/>
              <a:headEnd len="sm" w="sm" type="none"/>
              <a:tailEnd len="med" w="med" type="triangle"/>
            </a:ln>
          </p:spPr>
        </p:cxnSp>
        <p:sp>
          <p:nvSpPr>
            <p:cNvPr id="481" name="Google Shape;481;p31"/>
            <p:cNvSpPr txBox="1"/>
            <p:nvPr/>
          </p:nvSpPr>
          <p:spPr>
            <a:xfrm>
              <a:off x="5847427" y="641397"/>
              <a:ext cx="2590632" cy="707886"/>
            </a:xfrm>
            <a:prstGeom prst="rect">
              <a:avLst/>
            </a:prstGeom>
            <a:solidFill>
              <a:srgbClr val="BF9000">
                <a:alpha val="14901"/>
              </a:srgbClr>
            </a:solidFill>
            <a:ln cap="flat" cmpd="sng" w="28575">
              <a:solidFill>
                <a:srgbClr val="BF9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CA" sz="2000" u="none" cap="none" strike="noStrike">
                  <a:solidFill>
                    <a:srgbClr val="000000"/>
                  </a:solidFill>
                  <a:latin typeface="Calibri"/>
                  <a:ea typeface="Calibri"/>
                  <a:cs typeface="Calibri"/>
                  <a:sym typeface="Calibri"/>
                </a:rPr>
                <a:t>“Metadata,” </a:t>
              </a:r>
              <a:br>
                <a:rPr b="0" i="0" lang="en-CA" sz="2000" u="none" cap="none" strike="noStrike">
                  <a:solidFill>
                    <a:srgbClr val="000000"/>
                  </a:solidFill>
                  <a:latin typeface="Calibri"/>
                  <a:ea typeface="Calibri"/>
                  <a:cs typeface="Calibri"/>
                  <a:sym typeface="Calibri"/>
                </a:rPr>
              </a:br>
              <a:r>
                <a:rPr b="0" i="0" lang="en-CA" sz="2000" u="none" cap="none" strike="noStrike">
                  <a:solidFill>
                    <a:srgbClr val="000000"/>
                  </a:solidFill>
                  <a:latin typeface="Calibri"/>
                  <a:ea typeface="Calibri"/>
                  <a:cs typeface="Calibri"/>
                  <a:sym typeface="Calibri"/>
                </a:rPr>
                <a:t>but for the voices</a:t>
              </a:r>
              <a:endParaRPr/>
            </a:p>
          </p:txBody>
        </p:sp>
      </p:grpSp>
      <p:grpSp>
        <p:nvGrpSpPr>
          <p:cNvPr id="482" name="Google Shape;482;p31"/>
          <p:cNvGrpSpPr/>
          <p:nvPr/>
        </p:nvGrpSpPr>
        <p:grpSpPr>
          <a:xfrm>
            <a:off x="5847427" y="1426887"/>
            <a:ext cx="2305973" cy="2620867"/>
            <a:chOff x="6464625" y="3189299"/>
            <a:chExt cx="2088232" cy="2308324"/>
          </a:xfrm>
        </p:grpSpPr>
        <p:pic>
          <p:nvPicPr>
            <p:cNvPr id="483" name="Google Shape;483;p31"/>
            <p:cNvPicPr preferRelativeResize="0"/>
            <p:nvPr/>
          </p:nvPicPr>
          <p:blipFill rotWithShape="1">
            <a:blip r:embed="rId5">
              <a:alphaModFix/>
            </a:blip>
            <a:srcRect b="0" l="0" r="0" t="13124"/>
            <a:stretch/>
          </p:blipFill>
          <p:spPr>
            <a:xfrm>
              <a:off x="6464625" y="3189299"/>
              <a:ext cx="2088232" cy="2308324"/>
            </a:xfrm>
            <a:prstGeom prst="rect">
              <a:avLst/>
            </a:prstGeom>
            <a:noFill/>
            <a:ln cap="flat" cmpd="sng" w="9525">
              <a:solidFill>
                <a:schemeClr val="dk1"/>
              </a:solidFill>
              <a:prstDash val="solid"/>
              <a:round/>
              <a:headEnd len="sm" w="sm" type="none"/>
              <a:tailEnd len="sm" w="sm" type="none"/>
            </a:ln>
          </p:spPr>
        </p:pic>
        <p:sp>
          <p:nvSpPr>
            <p:cNvPr id="484" name="Google Shape;484;p31"/>
            <p:cNvSpPr/>
            <p:nvPr/>
          </p:nvSpPr>
          <p:spPr>
            <a:xfrm>
              <a:off x="6486733" y="3725606"/>
              <a:ext cx="1478146" cy="1756835"/>
            </a:xfrm>
            <a:prstGeom prst="rect">
              <a:avLst/>
            </a:prstGeom>
            <a:solidFill>
              <a:srgbClr val="BF9000">
                <a:alpha val="20000"/>
              </a:srgbClr>
            </a:solidFill>
            <a:ln cap="flat" cmpd="sng" w="19050">
              <a:solidFill>
                <a:srgbClr val="BF9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 name="Google Shape;485;p31"/>
            <p:cNvSpPr/>
            <p:nvPr/>
          </p:nvSpPr>
          <p:spPr>
            <a:xfrm>
              <a:off x="7964878" y="3725606"/>
              <a:ext cx="540000" cy="1756835"/>
            </a:xfrm>
            <a:prstGeom prst="rect">
              <a:avLst/>
            </a:prstGeom>
            <a:solidFill>
              <a:srgbClr val="70AD47">
                <a:alpha val="20000"/>
              </a:srgbClr>
            </a:solidFill>
            <a:ln cap="flat" cmpd="sng" w="19050">
              <a:solidFill>
                <a:schemeClr val="accent6"/>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86" name="Google Shape;486;p31"/>
          <p:cNvSpPr txBox="1"/>
          <p:nvPr/>
        </p:nvSpPr>
        <p:spPr>
          <a:xfrm>
            <a:off x="501600" y="221850"/>
            <a:ext cx="5196300" cy="9309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740"/>
              <a:buFont typeface="Calibri"/>
              <a:buNone/>
            </a:pPr>
            <a:r>
              <a:rPr b="1" i="0" lang="en-CA" sz="3540" u="none" cap="none" strike="noStrike">
                <a:solidFill>
                  <a:srgbClr val="000000"/>
                </a:solidFill>
                <a:latin typeface="Calibri"/>
                <a:ea typeface="Calibri"/>
                <a:cs typeface="Calibri"/>
                <a:sym typeface="Calibri"/>
              </a:rPr>
              <a:t>Common Structure</a:t>
            </a:r>
            <a:r>
              <a:rPr b="1" lang="en-CA" sz="3540">
                <a:latin typeface="Calibri"/>
                <a:ea typeface="Calibri"/>
                <a:cs typeface="Calibri"/>
                <a:sym typeface="Calibri"/>
              </a:rPr>
              <a:t> for M</a:t>
            </a:r>
            <a:r>
              <a:rPr b="1" i="0" lang="en-CA" sz="3540" u="none" cap="none" strike="noStrike">
                <a:solidFill>
                  <a:srgbClr val="000000"/>
                </a:solidFill>
                <a:latin typeface="Calibri"/>
                <a:ea typeface="Calibri"/>
                <a:cs typeface="Calibri"/>
                <a:sym typeface="Calibri"/>
              </a:rPr>
              <a:t>onophonic Music</a:t>
            </a:r>
            <a:endParaRPr b="0" i="0" sz="3540" u="none" cap="none" strike="noStrike">
              <a:solidFill>
                <a:srgbClr val="000000"/>
              </a:solidFill>
              <a:latin typeface="Calibri"/>
              <a:ea typeface="Calibri"/>
              <a:cs typeface="Calibri"/>
              <a:sym typeface="Calibri"/>
            </a:endParaRPr>
          </a:p>
        </p:txBody>
      </p:sp>
      <p:pic>
        <p:nvPicPr>
          <p:cNvPr id="487" name="Google Shape;487;p31"/>
          <p:cNvPicPr preferRelativeResize="0"/>
          <p:nvPr>
            <p:ph idx="1" type="body"/>
          </p:nvPr>
        </p:nvPicPr>
        <p:blipFill rotWithShape="1">
          <a:blip r:embed="rId6">
            <a:alphaModFix/>
          </a:blip>
          <a:srcRect b="21146" l="13592" r="1928" t="10523"/>
          <a:stretch/>
        </p:blipFill>
        <p:spPr>
          <a:xfrm>
            <a:off x="8438059" y="662240"/>
            <a:ext cx="3199317" cy="1601950"/>
          </a:xfrm>
          <a:prstGeom prst="rect">
            <a:avLst/>
          </a:prstGeom>
          <a:noFill/>
          <a:ln>
            <a:noFill/>
          </a:ln>
        </p:spPr>
      </p:pic>
      <p:grpSp>
        <p:nvGrpSpPr>
          <p:cNvPr id="488" name="Google Shape;488;p31"/>
          <p:cNvGrpSpPr/>
          <p:nvPr/>
        </p:nvGrpSpPr>
        <p:grpSpPr>
          <a:xfrm>
            <a:off x="4458055" y="4171851"/>
            <a:ext cx="7195462" cy="2125655"/>
            <a:chOff x="4458055" y="4171851"/>
            <a:chExt cx="7195462" cy="2125655"/>
          </a:xfrm>
        </p:grpSpPr>
        <p:sp>
          <p:nvSpPr>
            <p:cNvPr id="489" name="Google Shape;489;p31"/>
            <p:cNvSpPr txBox="1"/>
            <p:nvPr/>
          </p:nvSpPr>
          <p:spPr>
            <a:xfrm>
              <a:off x="5429368" y="5589620"/>
              <a:ext cx="1513430" cy="707886"/>
            </a:xfrm>
            <a:prstGeom prst="rect">
              <a:avLst/>
            </a:prstGeom>
            <a:solidFill>
              <a:schemeClr val="accent6">
                <a:alpha val="14509"/>
              </a:schemeClr>
            </a:solidFill>
            <a:ln cap="flat" cmpd="sng" w="2857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CA" sz="2000" u="none" cap="none" strike="noStrike">
                  <a:solidFill>
                    <a:srgbClr val="000000"/>
                  </a:solidFill>
                  <a:latin typeface="Calibri"/>
                  <a:ea typeface="Calibri"/>
                  <a:cs typeface="Calibri"/>
                  <a:sym typeface="Calibri"/>
                </a:rPr>
                <a:t>Actual music content</a:t>
              </a:r>
              <a:endParaRPr/>
            </a:p>
          </p:txBody>
        </p:sp>
        <p:cxnSp>
          <p:nvCxnSpPr>
            <p:cNvPr id="490" name="Google Shape;490;p31"/>
            <p:cNvCxnSpPr>
              <a:stCxn id="477" idx="3"/>
              <a:endCxn id="489" idx="0"/>
            </p:cNvCxnSpPr>
            <p:nvPr/>
          </p:nvCxnSpPr>
          <p:spPr>
            <a:xfrm>
              <a:off x="4458055" y="4946310"/>
              <a:ext cx="1728000" cy="643200"/>
            </a:xfrm>
            <a:prstGeom prst="bentConnector2">
              <a:avLst/>
            </a:prstGeom>
            <a:noFill/>
            <a:ln cap="flat" cmpd="sng" w="38100">
              <a:solidFill>
                <a:schemeClr val="accent6"/>
              </a:solidFill>
              <a:prstDash val="solid"/>
              <a:miter lim="800000"/>
              <a:headEnd len="sm" w="sm" type="none"/>
              <a:tailEnd len="med" w="med" type="triangle"/>
            </a:ln>
          </p:spPr>
        </p:cxnSp>
        <p:grpSp>
          <p:nvGrpSpPr>
            <p:cNvPr id="491" name="Google Shape;491;p31"/>
            <p:cNvGrpSpPr/>
            <p:nvPr/>
          </p:nvGrpSpPr>
          <p:grpSpPr>
            <a:xfrm>
              <a:off x="6942680" y="4171851"/>
              <a:ext cx="4710837" cy="2124000"/>
              <a:chOff x="6946700" y="3910477"/>
              <a:chExt cx="4756619" cy="2124000"/>
            </a:xfrm>
          </p:grpSpPr>
          <p:grpSp>
            <p:nvGrpSpPr>
              <p:cNvPr id="492" name="Google Shape;492;p31"/>
              <p:cNvGrpSpPr/>
              <p:nvPr/>
            </p:nvGrpSpPr>
            <p:grpSpPr>
              <a:xfrm>
                <a:off x="6946700" y="3910477"/>
                <a:ext cx="4752000" cy="2124000"/>
                <a:chOff x="5787730" y="-1365046"/>
                <a:chExt cx="4752000" cy="2124000"/>
              </a:xfrm>
            </p:grpSpPr>
            <p:grpSp>
              <p:nvGrpSpPr>
                <p:cNvPr id="493" name="Google Shape;493;p31"/>
                <p:cNvGrpSpPr/>
                <p:nvPr/>
              </p:nvGrpSpPr>
              <p:grpSpPr>
                <a:xfrm>
                  <a:off x="5787730" y="-1323608"/>
                  <a:ext cx="4731340" cy="2071014"/>
                  <a:chOff x="7908586" y="6223967"/>
                  <a:chExt cx="3109275" cy="1407006"/>
                </a:xfrm>
              </p:grpSpPr>
              <p:pic>
                <p:nvPicPr>
                  <p:cNvPr id="494" name="Google Shape;494;p31"/>
                  <p:cNvPicPr preferRelativeResize="0"/>
                  <p:nvPr/>
                </p:nvPicPr>
                <p:blipFill rotWithShape="1">
                  <a:blip r:embed="rId7">
                    <a:alphaModFix/>
                  </a:blip>
                  <a:srcRect b="33782" l="7833" r="15865" t="14184"/>
                  <a:stretch/>
                </p:blipFill>
                <p:spPr>
                  <a:xfrm>
                    <a:off x="7908586" y="6223967"/>
                    <a:ext cx="3103204" cy="1237116"/>
                  </a:xfrm>
                  <a:prstGeom prst="rect">
                    <a:avLst/>
                  </a:prstGeom>
                  <a:noFill/>
                  <a:ln>
                    <a:noFill/>
                  </a:ln>
                </p:spPr>
              </p:pic>
              <p:pic>
                <p:nvPicPr>
                  <p:cNvPr id="495" name="Google Shape;495;p31"/>
                  <p:cNvPicPr preferRelativeResize="0"/>
                  <p:nvPr/>
                </p:nvPicPr>
                <p:blipFill rotWithShape="1">
                  <a:blip r:embed="rId8">
                    <a:alphaModFix/>
                  </a:blip>
                  <a:srcRect b="31248" l="23521" r="2227" t="25311"/>
                  <a:stretch/>
                </p:blipFill>
                <p:spPr>
                  <a:xfrm>
                    <a:off x="8139359" y="6363338"/>
                    <a:ext cx="2872431" cy="1097745"/>
                  </a:xfrm>
                  <a:prstGeom prst="rect">
                    <a:avLst/>
                  </a:prstGeom>
                  <a:noFill/>
                  <a:ln>
                    <a:noFill/>
                  </a:ln>
                </p:spPr>
              </p:pic>
              <p:pic>
                <p:nvPicPr>
                  <p:cNvPr id="496" name="Google Shape;496;p31"/>
                  <p:cNvPicPr preferRelativeResize="0"/>
                  <p:nvPr/>
                </p:nvPicPr>
                <p:blipFill rotWithShape="1">
                  <a:blip r:embed="rId7">
                    <a:alphaModFix/>
                  </a:blip>
                  <a:srcRect b="6428" l="7982" r="15717" t="85824"/>
                  <a:stretch/>
                </p:blipFill>
                <p:spPr>
                  <a:xfrm>
                    <a:off x="7914657" y="7446749"/>
                    <a:ext cx="3103204" cy="184224"/>
                  </a:xfrm>
                  <a:prstGeom prst="rect">
                    <a:avLst/>
                  </a:prstGeom>
                  <a:noFill/>
                  <a:ln>
                    <a:noFill/>
                  </a:ln>
                </p:spPr>
              </p:pic>
            </p:grpSp>
            <p:sp>
              <p:nvSpPr>
                <p:cNvPr id="497" name="Google Shape;497;p31"/>
                <p:cNvSpPr/>
                <p:nvPr/>
              </p:nvSpPr>
              <p:spPr>
                <a:xfrm>
                  <a:off x="5787730" y="-1365046"/>
                  <a:ext cx="4752000" cy="21240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98" name="Google Shape;498;p31"/>
              <p:cNvSpPr/>
              <p:nvPr/>
            </p:nvSpPr>
            <p:spPr>
              <a:xfrm>
                <a:off x="6960398" y="5288898"/>
                <a:ext cx="4742921" cy="483965"/>
              </a:xfrm>
              <a:prstGeom prst="rect">
                <a:avLst/>
              </a:prstGeom>
              <a:solidFill>
                <a:srgbClr val="FF00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9" name="Google Shape;499;p31"/>
          <p:cNvGrpSpPr/>
          <p:nvPr/>
        </p:nvGrpSpPr>
        <p:grpSpPr>
          <a:xfrm>
            <a:off x="8438059" y="637409"/>
            <a:ext cx="3199317" cy="1651613"/>
            <a:chOff x="8068211" y="990429"/>
            <a:chExt cx="3199317" cy="1651613"/>
          </a:xfrm>
        </p:grpSpPr>
        <p:sp>
          <p:nvSpPr>
            <p:cNvPr id="500" name="Google Shape;500;p31"/>
            <p:cNvSpPr/>
            <p:nvPr/>
          </p:nvSpPr>
          <p:spPr>
            <a:xfrm>
              <a:off x="8068211" y="1698870"/>
              <a:ext cx="3199317" cy="460800"/>
            </a:xfrm>
            <a:prstGeom prst="rect">
              <a:avLst/>
            </a:prstGeom>
            <a:solidFill>
              <a:srgbClr val="FF00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 name="Google Shape;501;p31"/>
            <p:cNvSpPr/>
            <p:nvPr/>
          </p:nvSpPr>
          <p:spPr>
            <a:xfrm>
              <a:off x="8068211" y="990429"/>
              <a:ext cx="3199317" cy="1651613"/>
            </a:xfrm>
            <a:prstGeom prst="rect">
              <a:avLst/>
            </a:prstGeom>
            <a:noFill/>
            <a:ln cap="flat" cmpd="sng" w="28575">
              <a:solidFill>
                <a:srgbClr val="BF9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502" name="Google Shape;50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2"/>
          <p:cNvSpPr txBox="1"/>
          <p:nvPr>
            <p:ph type="title"/>
          </p:nvPr>
        </p:nvSpPr>
        <p:spPr>
          <a:xfrm>
            <a:off x="831851" y="1709737"/>
            <a:ext cx="10515600" cy="2852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2"/>
              </a:buClr>
              <a:buSzPts val="6000"/>
              <a:buFont typeface="Calibri"/>
              <a:buNone/>
            </a:pPr>
            <a:r>
              <a:rPr lang="en-CA">
                <a:solidFill>
                  <a:schemeClr val="accent2"/>
                </a:solidFill>
              </a:rPr>
              <a:t>MEI for Neume Notation</a:t>
            </a:r>
            <a:endParaRPr/>
          </a:p>
        </p:txBody>
      </p:sp>
      <p:sp>
        <p:nvSpPr>
          <p:cNvPr id="508" name="Google Shape;508;p32"/>
          <p:cNvSpPr txBox="1"/>
          <p:nvPr>
            <p:ph idx="1" type="body"/>
          </p:nvPr>
        </p:nvSpPr>
        <p:spPr>
          <a:xfrm>
            <a:off x="831851" y="4589463"/>
            <a:ext cx="10515600" cy="1500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404040"/>
              </a:buClr>
              <a:buSzPts val="2400"/>
              <a:buNone/>
            </a:pPr>
            <a:r>
              <a:rPr b="0" i="0" lang="en-CA" u="none" strike="noStrike">
                <a:solidFill>
                  <a:srgbClr val="404040"/>
                </a:solidFill>
                <a:highlight>
                  <a:srgbClr val="FFFFFF"/>
                </a:highlight>
                <a:latin typeface="Arial"/>
                <a:ea typeface="Arial"/>
                <a:cs typeface="Arial"/>
                <a:sym typeface="Arial"/>
              </a:rPr>
              <a:t>Most neume notation is used to set music to an existing text. Therefore, the “syllable” is the fundamental unit of structure, with the neumes themselves serving as a means of “sonifying” the text. </a:t>
            </a:r>
            <a:endParaRPr/>
          </a:p>
          <a:p>
            <a:pPr indent="0" lvl="0" marL="0" rtl="0" algn="l">
              <a:lnSpc>
                <a:spcPct val="90000"/>
              </a:lnSpc>
              <a:spcBef>
                <a:spcPts val="0"/>
              </a:spcBef>
              <a:spcAft>
                <a:spcPts val="0"/>
              </a:spcAft>
              <a:buClr>
                <a:srgbClr val="888888"/>
              </a:buClr>
              <a:buSzPts val="2400"/>
              <a:buNone/>
            </a:pPr>
            <a:r>
              <a:rPr i="1" lang="en-CA"/>
              <a:t>Therefore, the syllable element provides high-level organization in this repertoire.</a:t>
            </a:r>
            <a:endParaRPr/>
          </a:p>
          <a:p>
            <a:pPr indent="0" lvl="0" marL="0" rtl="0" algn="l">
              <a:lnSpc>
                <a:spcPct val="90000"/>
              </a:lnSpc>
              <a:spcBef>
                <a:spcPts val="0"/>
              </a:spcBef>
              <a:spcAft>
                <a:spcPts val="0"/>
              </a:spcAft>
              <a:buClr>
                <a:srgbClr val="888888"/>
              </a:buClr>
              <a:buSzPts val="2400"/>
              <a:buNone/>
            </a:pPr>
            <a:r>
              <a:t/>
            </a:r>
            <a:endParaRPr/>
          </a:p>
        </p:txBody>
      </p:sp>
      <p:sp>
        <p:nvSpPr>
          <p:cNvPr id="509" name="Google Shape;50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3"/>
          <p:cNvSpPr txBox="1"/>
          <p:nvPr/>
        </p:nvSpPr>
        <p:spPr>
          <a:xfrm>
            <a:off x="6096000" y="2836543"/>
            <a:ext cx="3461657" cy="3170099"/>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syl</a:t>
            </a:r>
            <a:r>
              <a:rPr lang="en-CA" sz="2000">
                <a:solidFill>
                  <a:schemeClr val="dk1"/>
                </a:solidFill>
                <a:latin typeface="Calibri"/>
                <a:ea typeface="Calibri"/>
                <a:cs typeface="Calibri"/>
                <a:sym typeface="Calibri"/>
              </a:rPr>
              <a:t>&gt;Do&lt;/</a:t>
            </a:r>
            <a:r>
              <a:rPr lang="en-CA" sz="2000">
                <a:solidFill>
                  <a:srgbClr val="0070C0"/>
                </a:solidFill>
                <a:latin typeface="Calibri"/>
                <a:ea typeface="Calibri"/>
                <a:cs typeface="Calibri"/>
                <a:sym typeface="Calibri"/>
              </a:rPr>
              <a:t>syl</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neume</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nc </a:t>
            </a:r>
            <a:r>
              <a:rPr lang="en-CA" sz="2000">
                <a:solidFill>
                  <a:schemeClr val="accent2"/>
                </a:solidFill>
                <a:latin typeface="Calibri"/>
                <a:ea typeface="Calibri"/>
                <a:cs typeface="Calibri"/>
                <a:sym typeface="Calibri"/>
              </a:rPr>
              <a:t>loc</a:t>
            </a:r>
            <a:r>
              <a:rPr lang="en-CA" sz="2000">
                <a:solidFill>
                  <a:schemeClr val="dk1"/>
                </a:solidFill>
                <a:latin typeface="Calibri"/>
                <a:ea typeface="Calibri"/>
                <a:cs typeface="Calibri"/>
                <a:sym typeface="Calibri"/>
              </a:rPr>
              <a:t>=</a:t>
            </a:r>
            <a:r>
              <a:rPr lang="en-CA" sz="2000">
                <a:solidFill>
                  <a:srgbClr val="000000"/>
                </a:solidFill>
                <a:latin typeface="Calibri"/>
                <a:ea typeface="Calibri"/>
                <a:cs typeface="Calibri"/>
                <a:sym typeface="Calibri"/>
              </a:rPr>
              <a:t>"</a:t>
            </a:r>
            <a:r>
              <a:rPr lang="en-CA" sz="2000">
                <a:solidFill>
                  <a:schemeClr val="accent6"/>
                </a:solidFill>
                <a:latin typeface="Calibri"/>
                <a:ea typeface="Calibri"/>
                <a:cs typeface="Calibri"/>
                <a:sym typeface="Calibri"/>
              </a:rPr>
              <a:t>2</a:t>
            </a:r>
            <a:r>
              <a:rPr lang="en-CA" sz="2000">
                <a:solidFill>
                  <a:srgbClr val="000000"/>
                </a:solidFill>
                <a:latin typeface="Calibri"/>
                <a:ea typeface="Calibri"/>
                <a:cs typeface="Calibri"/>
                <a:sym typeface="Calibri"/>
              </a:rPr>
              <a:t>" </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neume</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neume</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nc </a:t>
            </a:r>
            <a:r>
              <a:rPr lang="en-CA" sz="2000">
                <a:solidFill>
                  <a:schemeClr val="accent2"/>
                </a:solidFill>
                <a:latin typeface="Calibri"/>
                <a:ea typeface="Calibri"/>
                <a:cs typeface="Calibri"/>
                <a:sym typeface="Calibri"/>
              </a:rPr>
              <a:t>loc</a:t>
            </a:r>
            <a:r>
              <a:rPr lang="en-CA" sz="2000">
                <a:solidFill>
                  <a:schemeClr val="dk1"/>
                </a:solidFill>
                <a:latin typeface="Calibri"/>
                <a:ea typeface="Calibri"/>
                <a:cs typeface="Calibri"/>
                <a:sym typeface="Calibri"/>
              </a:rPr>
              <a:t>=</a:t>
            </a:r>
            <a:r>
              <a:rPr lang="en-CA" sz="2000">
                <a:solidFill>
                  <a:srgbClr val="000000"/>
                </a:solidFill>
                <a:latin typeface="Calibri"/>
                <a:ea typeface="Calibri"/>
                <a:cs typeface="Calibri"/>
                <a:sym typeface="Calibri"/>
              </a:rPr>
              <a:t>"</a:t>
            </a:r>
            <a:r>
              <a:rPr lang="en-CA" sz="2000">
                <a:solidFill>
                  <a:schemeClr val="accent6"/>
                </a:solidFill>
                <a:latin typeface="Calibri"/>
                <a:ea typeface="Calibri"/>
                <a:cs typeface="Calibri"/>
                <a:sym typeface="Calibri"/>
              </a:rPr>
              <a:t>2</a:t>
            </a:r>
            <a:r>
              <a:rPr lang="en-CA" sz="2000">
                <a:solidFill>
                  <a:srgbClr val="000000"/>
                </a:solidFill>
                <a:latin typeface="Calibri"/>
                <a:ea typeface="Calibri"/>
                <a:cs typeface="Calibri"/>
                <a:sym typeface="Calibri"/>
              </a:rPr>
              <a:t>" </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nc</a:t>
            </a:r>
            <a:r>
              <a:rPr lang="en-CA" sz="2000">
                <a:solidFill>
                  <a:schemeClr val="accent2"/>
                </a:solidFill>
                <a:latin typeface="Calibri"/>
                <a:ea typeface="Calibri"/>
                <a:cs typeface="Calibri"/>
                <a:sym typeface="Calibri"/>
              </a:rPr>
              <a:t> loc</a:t>
            </a:r>
            <a:r>
              <a:rPr lang="en-CA" sz="2000">
                <a:solidFill>
                  <a:schemeClr val="dk1"/>
                </a:solidFill>
                <a:latin typeface="Calibri"/>
                <a:ea typeface="Calibri"/>
                <a:cs typeface="Calibri"/>
                <a:sym typeface="Calibri"/>
              </a:rPr>
              <a:t>=</a:t>
            </a:r>
            <a:r>
              <a:rPr lang="en-CA" sz="2000">
                <a:solidFill>
                  <a:srgbClr val="000000"/>
                </a:solidFill>
                <a:latin typeface="Calibri"/>
                <a:ea typeface="Calibri"/>
                <a:cs typeface="Calibri"/>
                <a:sym typeface="Calibri"/>
              </a:rPr>
              <a:t>"</a:t>
            </a:r>
            <a:r>
              <a:rPr lang="en-CA" sz="2000">
                <a:solidFill>
                  <a:schemeClr val="accent6"/>
                </a:solidFill>
                <a:latin typeface="Calibri"/>
                <a:ea typeface="Calibri"/>
                <a:cs typeface="Calibri"/>
                <a:sym typeface="Calibri"/>
              </a:rPr>
              <a:t>4</a:t>
            </a:r>
            <a:r>
              <a:rPr lang="en-CA" sz="2000">
                <a:solidFill>
                  <a:srgbClr val="000000"/>
                </a:solidFill>
                <a:latin typeface="Calibri"/>
                <a:ea typeface="Calibri"/>
                <a:cs typeface="Calibri"/>
                <a:sym typeface="Calibri"/>
              </a:rPr>
              <a:t>" </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neume</a:t>
            </a:r>
            <a:r>
              <a:rPr lang="en-CA" sz="20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 &lt;/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p:txBody>
      </p:sp>
      <p:pic>
        <p:nvPicPr>
          <p:cNvPr id="516" name="Google Shape;516;p33"/>
          <p:cNvPicPr preferRelativeResize="0"/>
          <p:nvPr/>
        </p:nvPicPr>
        <p:blipFill rotWithShape="1">
          <a:blip r:embed="rId3">
            <a:alphaModFix/>
          </a:blip>
          <a:srcRect b="0" l="0" r="0" t="0"/>
          <a:stretch/>
        </p:blipFill>
        <p:spPr>
          <a:xfrm>
            <a:off x="6096000" y="734938"/>
            <a:ext cx="2559222" cy="1751896"/>
          </a:xfrm>
          <a:prstGeom prst="rect">
            <a:avLst/>
          </a:prstGeom>
          <a:noFill/>
          <a:ln cap="flat" cmpd="sng" w="9525">
            <a:solidFill>
              <a:schemeClr val="dk1"/>
            </a:solidFill>
            <a:prstDash val="solid"/>
            <a:round/>
            <a:headEnd len="sm" w="sm" type="none"/>
            <a:tailEnd len="sm" w="sm" type="none"/>
          </a:ln>
        </p:spPr>
      </p:pic>
      <p:sp>
        <p:nvSpPr>
          <p:cNvPr id="517" name="Google Shape;517;p33"/>
          <p:cNvSpPr/>
          <p:nvPr/>
        </p:nvSpPr>
        <p:spPr>
          <a:xfrm>
            <a:off x="6542317" y="3505200"/>
            <a:ext cx="2841172" cy="925287"/>
          </a:xfrm>
          <a:prstGeom prst="rect">
            <a:avLst/>
          </a:prstGeom>
          <a:solidFill>
            <a:srgbClr val="FF6C6B">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8" name="Google Shape;518;p33"/>
          <p:cNvSpPr/>
          <p:nvPr/>
        </p:nvSpPr>
        <p:spPr>
          <a:xfrm>
            <a:off x="6542317" y="4430487"/>
            <a:ext cx="2841172" cy="1208313"/>
          </a:xfrm>
          <a:prstGeom prst="rect">
            <a:avLst/>
          </a:prstGeom>
          <a:solidFill>
            <a:schemeClr val="accent1">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19" name="Google Shape;519;p33"/>
          <p:cNvCxnSpPr/>
          <p:nvPr/>
        </p:nvCxnSpPr>
        <p:spPr>
          <a:xfrm>
            <a:off x="6466115" y="3200400"/>
            <a:ext cx="0" cy="2438400"/>
          </a:xfrm>
          <a:prstGeom prst="straightConnector1">
            <a:avLst/>
          </a:prstGeom>
          <a:noFill/>
          <a:ln cap="flat" cmpd="sng" w="9525">
            <a:solidFill>
              <a:srgbClr val="222A35"/>
            </a:solidFill>
            <a:prstDash val="dash"/>
            <a:miter lim="800000"/>
            <a:headEnd len="sm" w="sm" type="none"/>
            <a:tailEnd len="sm" w="sm" type="none"/>
          </a:ln>
        </p:spPr>
      </p:cxnSp>
      <p:sp>
        <p:nvSpPr>
          <p:cNvPr id="520" name="Google Shape;520;p33"/>
          <p:cNvSpPr txBox="1"/>
          <p:nvPr/>
        </p:nvSpPr>
        <p:spPr>
          <a:xfrm>
            <a:off x="548646" y="510252"/>
            <a:ext cx="4937700" cy="29862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 part of the neume</a:t>
            </a:r>
            <a:endParaRPr b="1" i="0" sz="2000" u="none" cap="none" strike="noStrike">
              <a:solidFill>
                <a:schemeClr val="accent6"/>
              </a:solidFill>
              <a:latin typeface="Calibri"/>
              <a:ea typeface="Calibri"/>
              <a:cs typeface="Calibri"/>
              <a:sym typeface="Calibri"/>
            </a:endParaRPr>
          </a:p>
        </p:txBody>
      </p:sp>
      <p:cxnSp>
        <p:nvCxnSpPr>
          <p:cNvPr id="521" name="Google Shape;521;p33"/>
          <p:cNvCxnSpPr/>
          <p:nvPr/>
        </p:nvCxnSpPr>
        <p:spPr>
          <a:xfrm>
            <a:off x="5759309" y="476966"/>
            <a:ext cx="0" cy="5846099"/>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522" name="Google Shape;52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cxnSp>
        <p:nvCxnSpPr>
          <p:cNvPr id="528" name="Google Shape;528;p34"/>
          <p:cNvCxnSpPr/>
          <p:nvPr/>
        </p:nvCxnSpPr>
        <p:spPr>
          <a:xfrm>
            <a:off x="5759309" y="476966"/>
            <a:ext cx="0" cy="5846099"/>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529" name="Google Shape;529;p34"/>
          <p:cNvSpPr txBox="1"/>
          <p:nvPr/>
        </p:nvSpPr>
        <p:spPr>
          <a:xfrm>
            <a:off x="548646" y="510252"/>
            <a:ext cx="4937700" cy="29862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 part of the neume</a:t>
            </a:r>
            <a:endParaRPr b="1" i="0" sz="2000" u="none" cap="none" strike="noStrike">
              <a:solidFill>
                <a:schemeClr val="accent6"/>
              </a:solidFill>
              <a:latin typeface="Calibri"/>
              <a:ea typeface="Calibri"/>
              <a:cs typeface="Calibri"/>
              <a:sym typeface="Calibri"/>
            </a:endParaRPr>
          </a:p>
        </p:txBody>
      </p:sp>
      <p:sp>
        <p:nvSpPr>
          <p:cNvPr id="530" name="Google Shape;530;p34"/>
          <p:cNvSpPr txBox="1"/>
          <p:nvPr/>
        </p:nvSpPr>
        <p:spPr>
          <a:xfrm>
            <a:off x="5912289" y="476966"/>
            <a:ext cx="5731065" cy="5416868"/>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Attributes of neume components:</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Pitch</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@pname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d</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e</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f</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g</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b</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@oct </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3</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4</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@loc</a:t>
            </a:r>
            <a:r>
              <a:rPr b="0" i="0" lang="en-CA" sz="2000" u="none" cap="none" strike="noStrike">
                <a:solidFill>
                  <a:schemeClr val="dk1"/>
                </a:solidFill>
                <a:latin typeface="Calibri"/>
                <a:ea typeface="Calibri"/>
                <a:cs typeface="Calibri"/>
                <a:sym typeface="Calibri"/>
              </a:rPr>
              <a:t>: position in the staff (integer, 0 is the first line)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@intm</a:t>
            </a:r>
            <a:r>
              <a:rPr b="0" i="0" lang="en-CA" sz="2000" u="none" cap="none" strike="noStrike">
                <a:solidFill>
                  <a:schemeClr val="dk1"/>
                </a:solidFill>
                <a:latin typeface="Calibri"/>
                <a:ea typeface="Calibri"/>
                <a:cs typeface="Calibri"/>
                <a:sym typeface="Calibri"/>
              </a:rPr>
              <a:t>: melodic interval (integer: negative, zero, positive)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Shape</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@tilt</a:t>
            </a:r>
            <a:r>
              <a:rPr b="0" i="0" lang="en-CA" sz="2000" u="none" cap="none" strike="noStrike">
                <a:solidFill>
                  <a:schemeClr val="dk1"/>
                </a:solidFill>
                <a:latin typeface="Calibri"/>
                <a:ea typeface="Calibri"/>
                <a:cs typeface="Calibri"/>
                <a:sym typeface="Calibri"/>
              </a:rPr>
              <a:t>: direction of penstroke = </a:t>
            </a:r>
            <a:r>
              <a:rPr b="0" i="0" lang="en-CA" sz="2000" u="none" cap="none" strike="noStrike">
                <a:solidFill>
                  <a:schemeClr val="accent6"/>
                </a:solidFill>
                <a:latin typeface="Calibri"/>
                <a:ea typeface="Calibri"/>
                <a:cs typeface="Calibri"/>
                <a:sym typeface="Calibri"/>
              </a:rPr>
              <a:t>n</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@curve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a:t>
            </a:r>
            <a:endParaRPr/>
          </a:p>
        </p:txBody>
      </p:sp>
      <p:sp>
        <p:nvSpPr>
          <p:cNvPr id="531" name="Google Shape;53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cxnSp>
        <p:nvCxnSpPr>
          <p:cNvPr id="537" name="Google Shape;537;p35"/>
          <p:cNvCxnSpPr/>
          <p:nvPr/>
        </p:nvCxnSpPr>
        <p:spPr>
          <a:xfrm>
            <a:off x="5759309" y="476966"/>
            <a:ext cx="0" cy="5846099"/>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538" name="Google Shape;538;p35"/>
          <p:cNvSpPr txBox="1"/>
          <p:nvPr/>
        </p:nvSpPr>
        <p:spPr>
          <a:xfrm>
            <a:off x="548646" y="510252"/>
            <a:ext cx="4937700" cy="29862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 part of the neume</a:t>
            </a:r>
            <a:endParaRPr b="1" i="0" sz="2000" u="none" cap="none" strike="noStrike">
              <a:solidFill>
                <a:schemeClr val="accent6"/>
              </a:solidFill>
              <a:latin typeface="Calibri"/>
              <a:ea typeface="Calibri"/>
              <a:cs typeface="Calibri"/>
              <a:sym typeface="Calibri"/>
            </a:endParaRPr>
          </a:p>
        </p:txBody>
      </p:sp>
      <p:sp>
        <p:nvSpPr>
          <p:cNvPr id="539" name="Google Shape;539;p35"/>
          <p:cNvSpPr txBox="1"/>
          <p:nvPr/>
        </p:nvSpPr>
        <p:spPr>
          <a:xfrm>
            <a:off x="5912289" y="476966"/>
            <a:ext cx="5731065" cy="5416868"/>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Attributes of neume components:</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Pitch</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@pname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d</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e</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f</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g</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b</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@oct </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3</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4</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@loc</a:t>
            </a:r>
            <a:r>
              <a:rPr b="0" i="0" lang="en-CA" sz="2000" u="none" cap="none" strike="noStrike">
                <a:solidFill>
                  <a:schemeClr val="dk1"/>
                </a:solidFill>
                <a:latin typeface="Calibri"/>
                <a:ea typeface="Calibri"/>
                <a:cs typeface="Calibri"/>
                <a:sym typeface="Calibri"/>
              </a:rPr>
              <a:t>: position in the staff (integer, 0 is the first line)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@intm</a:t>
            </a:r>
            <a:r>
              <a:rPr b="0" i="0" lang="en-CA" sz="2000" u="none" cap="none" strike="noStrike">
                <a:solidFill>
                  <a:schemeClr val="dk1"/>
                </a:solidFill>
                <a:latin typeface="Calibri"/>
                <a:ea typeface="Calibri"/>
                <a:cs typeface="Calibri"/>
                <a:sym typeface="Calibri"/>
              </a:rPr>
              <a:t>: melodic interval (integer: negative, zero, positive)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Shape</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@tilt</a:t>
            </a:r>
            <a:r>
              <a:rPr b="0" i="0" lang="en-CA" sz="2000" u="none" cap="none" strike="noStrike">
                <a:solidFill>
                  <a:schemeClr val="dk1"/>
                </a:solidFill>
                <a:latin typeface="Calibri"/>
                <a:ea typeface="Calibri"/>
                <a:cs typeface="Calibri"/>
                <a:sym typeface="Calibri"/>
              </a:rPr>
              <a:t>: direction of penstroke = </a:t>
            </a:r>
            <a:r>
              <a:rPr b="0" i="0" lang="en-CA" sz="2000" u="none" cap="none" strike="noStrike">
                <a:solidFill>
                  <a:schemeClr val="accent6"/>
                </a:solidFill>
                <a:latin typeface="Calibri"/>
                <a:ea typeface="Calibri"/>
                <a:cs typeface="Calibri"/>
                <a:sym typeface="Calibri"/>
              </a:rPr>
              <a:t>n</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@curve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a:t>
            </a:r>
            <a:endParaRPr/>
          </a:p>
        </p:txBody>
      </p:sp>
      <p:grpSp>
        <p:nvGrpSpPr>
          <p:cNvPr id="540" name="Google Shape;540;p35"/>
          <p:cNvGrpSpPr/>
          <p:nvPr/>
        </p:nvGrpSpPr>
        <p:grpSpPr>
          <a:xfrm>
            <a:off x="548646" y="4912986"/>
            <a:ext cx="6890452" cy="1446550"/>
            <a:chOff x="3031920" y="2850408"/>
            <a:chExt cx="6890452" cy="1446550"/>
          </a:xfrm>
        </p:grpSpPr>
        <p:sp>
          <p:nvSpPr>
            <p:cNvPr id="541" name="Google Shape;541;p35"/>
            <p:cNvSpPr txBox="1"/>
            <p:nvPr/>
          </p:nvSpPr>
          <p:spPr>
            <a:xfrm>
              <a:off x="4334930" y="2850408"/>
              <a:ext cx="5587442" cy="1446550"/>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CA" sz="2200">
                  <a:solidFill>
                    <a:schemeClr val="dk1"/>
                  </a:solidFill>
                  <a:latin typeface="Consolas"/>
                  <a:ea typeface="Consolas"/>
                  <a:cs typeface="Consolas"/>
                  <a:sym typeface="Consolas"/>
                </a:rPr>
                <a:t>&lt;</a:t>
              </a:r>
              <a:r>
                <a:rPr lang="en-CA" sz="2200">
                  <a:solidFill>
                    <a:srgbClr val="0070C0"/>
                  </a:solidFill>
                  <a:latin typeface="Consolas"/>
                  <a:ea typeface="Consolas"/>
                  <a:cs typeface="Consolas"/>
                  <a:sym typeface="Consolas"/>
                </a:rPr>
                <a:t>neume</a:t>
              </a:r>
              <a:r>
                <a:rPr lang="en-CA" sz="2200">
                  <a:solidFill>
                    <a:schemeClr val="dk1"/>
                  </a:solidFill>
                  <a:latin typeface="Consolas"/>
                  <a:ea typeface="Consolas"/>
                  <a:cs typeface="Consolas"/>
                  <a:sym typeface="Consolas"/>
                </a:rPr>
                <a:t>&gt;</a:t>
              </a:r>
              <a:endParaRPr/>
            </a:p>
            <a:p>
              <a:pPr indent="0" lvl="0" marL="0" marR="0" rtl="0" algn="l">
                <a:spcBef>
                  <a:spcPts val="0"/>
                </a:spcBef>
                <a:spcAft>
                  <a:spcPts val="0"/>
                </a:spcAft>
                <a:buNone/>
              </a:pPr>
              <a:r>
                <a:rPr lang="en-CA" sz="2200">
                  <a:solidFill>
                    <a:schemeClr val="dk1"/>
                  </a:solidFill>
                  <a:latin typeface="Consolas"/>
                  <a:ea typeface="Consolas"/>
                  <a:cs typeface="Consolas"/>
                  <a:sym typeface="Consolas"/>
                </a:rPr>
                <a:t>  &lt;</a:t>
              </a:r>
              <a:r>
                <a:rPr lang="en-CA" sz="2200">
                  <a:solidFill>
                    <a:srgbClr val="0070C0"/>
                  </a:solidFill>
                  <a:latin typeface="Consolas"/>
                  <a:ea typeface="Consolas"/>
                  <a:cs typeface="Consolas"/>
                  <a:sym typeface="Consolas"/>
                </a:rPr>
                <a:t>nc </a:t>
              </a:r>
              <a:r>
                <a:rPr lang="en-CA" sz="2200">
                  <a:solidFill>
                    <a:schemeClr val="accent2"/>
                  </a:solidFill>
                  <a:latin typeface="Consolas"/>
                  <a:ea typeface="Consolas"/>
                  <a:cs typeface="Consolas"/>
                  <a:sym typeface="Consolas"/>
                </a:rPr>
                <a:t>pname</a:t>
              </a:r>
              <a:r>
                <a:rPr lang="en-CA" sz="2200">
                  <a:solidFill>
                    <a:schemeClr val="dk1"/>
                  </a:solidFill>
                  <a:latin typeface="Consolas"/>
                  <a:ea typeface="Consolas"/>
                  <a:cs typeface="Consolas"/>
                  <a:sym typeface="Consolas"/>
                </a:rPr>
                <a:t>=</a:t>
              </a:r>
              <a:r>
                <a:rPr lang="en-CA" sz="2200">
                  <a:solidFill>
                    <a:srgbClr val="000000"/>
                  </a:solidFill>
                  <a:latin typeface="Consolas"/>
                  <a:ea typeface="Consolas"/>
                  <a:cs typeface="Consolas"/>
                  <a:sym typeface="Consolas"/>
                </a:rPr>
                <a:t>"</a:t>
              </a:r>
              <a:r>
                <a:rPr lang="en-CA" sz="2200">
                  <a:solidFill>
                    <a:schemeClr val="accent6"/>
                  </a:solidFill>
                  <a:latin typeface="Consolas"/>
                  <a:ea typeface="Consolas"/>
                  <a:cs typeface="Consolas"/>
                  <a:sym typeface="Consolas"/>
                </a:rPr>
                <a:t>d</a:t>
              </a:r>
              <a:r>
                <a:rPr lang="en-CA" sz="2200">
                  <a:solidFill>
                    <a:srgbClr val="000000"/>
                  </a:solidFill>
                  <a:latin typeface="Consolas"/>
                  <a:ea typeface="Consolas"/>
                  <a:cs typeface="Consolas"/>
                  <a:sym typeface="Consolas"/>
                </a:rPr>
                <a:t>"</a:t>
              </a:r>
              <a:r>
                <a:rPr lang="en-CA" sz="2200">
                  <a:solidFill>
                    <a:schemeClr val="dk1"/>
                  </a:solidFill>
                  <a:latin typeface="Consolas"/>
                  <a:ea typeface="Consolas"/>
                  <a:cs typeface="Consolas"/>
                  <a:sym typeface="Consolas"/>
                </a:rPr>
                <a:t> </a:t>
              </a:r>
              <a:r>
                <a:rPr lang="en-CA" sz="2200">
                  <a:solidFill>
                    <a:schemeClr val="accent2"/>
                  </a:solidFill>
                  <a:latin typeface="Consolas"/>
                  <a:ea typeface="Consolas"/>
                  <a:cs typeface="Consolas"/>
                  <a:sym typeface="Consolas"/>
                </a:rPr>
                <a:t>oct</a:t>
              </a:r>
              <a:r>
                <a:rPr lang="en-CA" sz="2200">
                  <a:solidFill>
                    <a:schemeClr val="dk1"/>
                  </a:solidFill>
                  <a:latin typeface="Consolas"/>
                  <a:ea typeface="Consolas"/>
                  <a:cs typeface="Consolas"/>
                  <a:sym typeface="Consolas"/>
                </a:rPr>
                <a:t>=</a:t>
              </a:r>
              <a:r>
                <a:rPr lang="en-CA" sz="2200">
                  <a:solidFill>
                    <a:srgbClr val="000000"/>
                  </a:solidFill>
                  <a:latin typeface="Consolas"/>
                  <a:ea typeface="Consolas"/>
                  <a:cs typeface="Consolas"/>
                  <a:sym typeface="Consolas"/>
                </a:rPr>
                <a:t>"</a:t>
              </a:r>
              <a:r>
                <a:rPr lang="en-CA" sz="2200">
                  <a:solidFill>
                    <a:schemeClr val="accent6"/>
                  </a:solidFill>
                  <a:latin typeface="Consolas"/>
                  <a:ea typeface="Consolas"/>
                  <a:cs typeface="Consolas"/>
                  <a:sym typeface="Consolas"/>
                </a:rPr>
                <a:t>3</a:t>
              </a:r>
              <a:r>
                <a:rPr lang="en-CA" sz="2200">
                  <a:solidFill>
                    <a:srgbClr val="000000"/>
                  </a:solidFill>
                  <a:latin typeface="Consolas"/>
                  <a:ea typeface="Consolas"/>
                  <a:cs typeface="Consolas"/>
                  <a:sym typeface="Consolas"/>
                </a:rPr>
                <a:t>"</a:t>
              </a:r>
              <a:r>
                <a:rPr lang="en-CA" sz="2200">
                  <a:solidFill>
                    <a:schemeClr val="dk1"/>
                  </a:solidFill>
                  <a:latin typeface="Consolas"/>
                  <a:ea typeface="Consolas"/>
                  <a:cs typeface="Consolas"/>
                  <a:sym typeface="Consolas"/>
                </a:rPr>
                <a:t> </a:t>
              </a:r>
              <a:r>
                <a:rPr lang="en-CA" sz="2200">
                  <a:solidFill>
                    <a:schemeClr val="accent2"/>
                  </a:solidFill>
                  <a:latin typeface="Consolas"/>
                  <a:ea typeface="Consolas"/>
                  <a:cs typeface="Consolas"/>
                  <a:sym typeface="Consolas"/>
                </a:rPr>
                <a:t>tilt</a:t>
              </a:r>
              <a:r>
                <a:rPr lang="en-CA" sz="2200">
                  <a:solidFill>
                    <a:schemeClr val="dk1"/>
                  </a:solidFill>
                  <a:latin typeface="Consolas"/>
                  <a:ea typeface="Consolas"/>
                  <a:cs typeface="Consolas"/>
                  <a:sym typeface="Consolas"/>
                </a:rPr>
                <a:t>=</a:t>
              </a:r>
              <a:r>
                <a:rPr lang="en-CA" sz="2200">
                  <a:solidFill>
                    <a:srgbClr val="000000"/>
                  </a:solidFill>
                  <a:latin typeface="Consolas"/>
                  <a:ea typeface="Consolas"/>
                  <a:cs typeface="Consolas"/>
                  <a:sym typeface="Consolas"/>
                </a:rPr>
                <a:t>"</a:t>
              </a:r>
              <a:r>
                <a:rPr lang="en-CA" sz="2200">
                  <a:solidFill>
                    <a:schemeClr val="accent6"/>
                  </a:solidFill>
                  <a:latin typeface="Consolas"/>
                  <a:ea typeface="Consolas"/>
                  <a:cs typeface="Consolas"/>
                  <a:sym typeface="Consolas"/>
                </a:rPr>
                <a:t>n</a:t>
              </a:r>
              <a:r>
                <a:rPr lang="en-CA" sz="2200">
                  <a:solidFill>
                    <a:srgbClr val="000000"/>
                  </a:solidFill>
                  <a:latin typeface="Consolas"/>
                  <a:ea typeface="Consolas"/>
                  <a:cs typeface="Consolas"/>
                  <a:sym typeface="Consolas"/>
                </a:rPr>
                <a:t>"</a:t>
              </a:r>
              <a:r>
                <a:rPr lang="en-CA" sz="2200">
                  <a:solidFill>
                    <a:schemeClr val="dk1"/>
                  </a:solidFill>
                  <a:latin typeface="Consolas"/>
                  <a:ea typeface="Consolas"/>
                  <a:cs typeface="Consolas"/>
                  <a:sym typeface="Consolas"/>
                </a:rPr>
                <a:t> /&gt;</a:t>
              </a:r>
              <a:endParaRPr/>
            </a:p>
            <a:p>
              <a:pPr indent="0" lvl="0" marL="0" marR="0" rtl="0" algn="l">
                <a:spcBef>
                  <a:spcPts val="0"/>
                </a:spcBef>
                <a:spcAft>
                  <a:spcPts val="0"/>
                </a:spcAft>
                <a:buNone/>
              </a:pPr>
              <a:r>
                <a:rPr lang="en-CA" sz="2200">
                  <a:solidFill>
                    <a:schemeClr val="dk1"/>
                  </a:solidFill>
                  <a:latin typeface="Consolas"/>
                  <a:ea typeface="Consolas"/>
                  <a:cs typeface="Consolas"/>
                  <a:sym typeface="Consolas"/>
                </a:rPr>
                <a:t>  &lt;</a:t>
              </a:r>
              <a:r>
                <a:rPr lang="en-CA" sz="2200">
                  <a:solidFill>
                    <a:srgbClr val="0070C0"/>
                  </a:solidFill>
                  <a:latin typeface="Consolas"/>
                  <a:ea typeface="Consolas"/>
                  <a:cs typeface="Consolas"/>
                  <a:sym typeface="Consolas"/>
                </a:rPr>
                <a:t>nc </a:t>
              </a:r>
              <a:r>
                <a:rPr lang="en-CA" sz="2200">
                  <a:solidFill>
                    <a:schemeClr val="accent2"/>
                  </a:solidFill>
                  <a:latin typeface="Consolas"/>
                  <a:ea typeface="Consolas"/>
                  <a:cs typeface="Consolas"/>
                  <a:sym typeface="Consolas"/>
                </a:rPr>
                <a:t>pname</a:t>
              </a:r>
              <a:r>
                <a:rPr lang="en-CA" sz="2200">
                  <a:solidFill>
                    <a:schemeClr val="dk1"/>
                  </a:solidFill>
                  <a:latin typeface="Consolas"/>
                  <a:ea typeface="Consolas"/>
                  <a:cs typeface="Consolas"/>
                  <a:sym typeface="Consolas"/>
                </a:rPr>
                <a:t>=</a:t>
              </a:r>
              <a:r>
                <a:rPr lang="en-CA" sz="2200">
                  <a:solidFill>
                    <a:srgbClr val="000000"/>
                  </a:solidFill>
                  <a:latin typeface="Consolas"/>
                  <a:ea typeface="Consolas"/>
                  <a:cs typeface="Consolas"/>
                  <a:sym typeface="Consolas"/>
                </a:rPr>
                <a:t>"</a:t>
              </a:r>
              <a:r>
                <a:rPr lang="en-CA" sz="2200">
                  <a:solidFill>
                    <a:schemeClr val="accent6"/>
                  </a:solidFill>
                  <a:latin typeface="Consolas"/>
                  <a:ea typeface="Consolas"/>
                  <a:cs typeface="Consolas"/>
                  <a:sym typeface="Consolas"/>
                </a:rPr>
                <a:t>c</a:t>
              </a:r>
              <a:r>
                <a:rPr lang="en-CA" sz="2200">
                  <a:solidFill>
                    <a:srgbClr val="000000"/>
                  </a:solidFill>
                  <a:latin typeface="Consolas"/>
                  <a:ea typeface="Consolas"/>
                  <a:cs typeface="Consolas"/>
                  <a:sym typeface="Consolas"/>
                </a:rPr>
                <a:t>"</a:t>
              </a:r>
              <a:r>
                <a:rPr lang="en-CA" sz="2200">
                  <a:solidFill>
                    <a:schemeClr val="dk1"/>
                  </a:solidFill>
                  <a:latin typeface="Consolas"/>
                  <a:ea typeface="Consolas"/>
                  <a:cs typeface="Consolas"/>
                  <a:sym typeface="Consolas"/>
                </a:rPr>
                <a:t> </a:t>
              </a:r>
              <a:r>
                <a:rPr lang="en-CA" sz="2200">
                  <a:solidFill>
                    <a:schemeClr val="accent2"/>
                  </a:solidFill>
                  <a:latin typeface="Consolas"/>
                  <a:ea typeface="Consolas"/>
                  <a:cs typeface="Consolas"/>
                  <a:sym typeface="Consolas"/>
                </a:rPr>
                <a:t>oct</a:t>
              </a:r>
              <a:r>
                <a:rPr lang="en-CA" sz="2200">
                  <a:solidFill>
                    <a:schemeClr val="dk1"/>
                  </a:solidFill>
                  <a:latin typeface="Consolas"/>
                  <a:ea typeface="Consolas"/>
                  <a:cs typeface="Consolas"/>
                  <a:sym typeface="Consolas"/>
                </a:rPr>
                <a:t>=</a:t>
              </a:r>
              <a:r>
                <a:rPr lang="en-CA" sz="2200">
                  <a:solidFill>
                    <a:srgbClr val="000000"/>
                  </a:solidFill>
                  <a:latin typeface="Consolas"/>
                  <a:ea typeface="Consolas"/>
                  <a:cs typeface="Consolas"/>
                  <a:sym typeface="Consolas"/>
                </a:rPr>
                <a:t>"</a:t>
              </a:r>
              <a:r>
                <a:rPr lang="en-CA" sz="2200">
                  <a:solidFill>
                    <a:schemeClr val="accent6"/>
                  </a:solidFill>
                  <a:latin typeface="Consolas"/>
                  <a:ea typeface="Consolas"/>
                  <a:cs typeface="Consolas"/>
                  <a:sym typeface="Consolas"/>
                </a:rPr>
                <a:t>3</a:t>
              </a:r>
              <a:r>
                <a:rPr lang="en-CA" sz="2200">
                  <a:solidFill>
                    <a:srgbClr val="000000"/>
                  </a:solidFill>
                  <a:latin typeface="Consolas"/>
                  <a:ea typeface="Consolas"/>
                  <a:cs typeface="Consolas"/>
                  <a:sym typeface="Consolas"/>
                </a:rPr>
                <a:t>" </a:t>
              </a:r>
              <a:r>
                <a:rPr lang="en-CA" sz="2200">
                  <a:solidFill>
                    <a:schemeClr val="dk1"/>
                  </a:solidFill>
                  <a:latin typeface="Consolas"/>
                  <a:ea typeface="Consolas"/>
                  <a:cs typeface="Consolas"/>
                  <a:sym typeface="Consolas"/>
                </a:rPr>
                <a:t>/&gt;</a:t>
              </a:r>
              <a:endParaRPr b="1" i="1" sz="2200">
                <a:solidFill>
                  <a:schemeClr val="accent6"/>
                </a:solidFill>
                <a:latin typeface="Consolas"/>
                <a:ea typeface="Consolas"/>
                <a:cs typeface="Consolas"/>
                <a:sym typeface="Consolas"/>
              </a:endParaRPr>
            </a:p>
            <a:p>
              <a:pPr indent="0" lvl="0" marL="0" marR="0" rtl="0" algn="l">
                <a:spcBef>
                  <a:spcPts val="0"/>
                </a:spcBef>
                <a:spcAft>
                  <a:spcPts val="0"/>
                </a:spcAft>
                <a:buNone/>
              </a:pPr>
              <a:r>
                <a:rPr lang="en-CA" sz="2200">
                  <a:solidFill>
                    <a:schemeClr val="dk1"/>
                  </a:solidFill>
                  <a:latin typeface="Consolas"/>
                  <a:ea typeface="Consolas"/>
                  <a:cs typeface="Consolas"/>
                  <a:sym typeface="Consolas"/>
                </a:rPr>
                <a:t>&lt;/</a:t>
              </a:r>
              <a:r>
                <a:rPr lang="en-CA" sz="2200">
                  <a:solidFill>
                    <a:srgbClr val="0070C0"/>
                  </a:solidFill>
                  <a:latin typeface="Consolas"/>
                  <a:ea typeface="Consolas"/>
                  <a:cs typeface="Consolas"/>
                  <a:sym typeface="Consolas"/>
                </a:rPr>
                <a:t>neume</a:t>
              </a:r>
              <a:r>
                <a:rPr lang="en-CA" sz="2200">
                  <a:solidFill>
                    <a:schemeClr val="dk1"/>
                  </a:solidFill>
                  <a:latin typeface="Consolas"/>
                  <a:ea typeface="Consolas"/>
                  <a:cs typeface="Consolas"/>
                  <a:sym typeface="Consolas"/>
                </a:rPr>
                <a:t>&gt;</a:t>
              </a:r>
              <a:endParaRPr/>
            </a:p>
          </p:txBody>
        </p:sp>
        <p:pic>
          <p:nvPicPr>
            <p:cNvPr id="542" name="Google Shape;542;p35"/>
            <p:cNvPicPr preferRelativeResize="0"/>
            <p:nvPr/>
          </p:nvPicPr>
          <p:blipFill rotWithShape="1">
            <a:blip r:embed="rId3">
              <a:alphaModFix/>
            </a:blip>
            <a:srcRect b="0" l="0" r="0" t="0"/>
            <a:stretch/>
          </p:blipFill>
          <p:spPr>
            <a:xfrm>
              <a:off x="3031920" y="2862934"/>
              <a:ext cx="1305034" cy="1432800"/>
            </a:xfrm>
            <a:prstGeom prst="rect">
              <a:avLst/>
            </a:prstGeom>
            <a:noFill/>
            <a:ln cap="flat" cmpd="sng" w="9525">
              <a:solidFill>
                <a:schemeClr val="dk1"/>
              </a:solidFill>
              <a:prstDash val="solid"/>
              <a:round/>
              <a:headEnd len="sm" w="sm" type="none"/>
              <a:tailEnd len="sm" w="sm" type="none"/>
            </a:ln>
          </p:spPr>
        </p:pic>
      </p:grpSp>
      <p:sp>
        <p:nvSpPr>
          <p:cNvPr id="543" name="Google Shape;54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cxnSp>
        <p:nvCxnSpPr>
          <p:cNvPr id="549" name="Google Shape;549;p36"/>
          <p:cNvCxnSpPr/>
          <p:nvPr/>
        </p:nvCxnSpPr>
        <p:spPr>
          <a:xfrm>
            <a:off x="5759309" y="476966"/>
            <a:ext cx="0" cy="5846099"/>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550" name="Google Shape;550;p36"/>
          <p:cNvSpPr txBox="1"/>
          <p:nvPr/>
        </p:nvSpPr>
        <p:spPr>
          <a:xfrm>
            <a:off x="548646" y="510252"/>
            <a:ext cx="4937700" cy="29862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 part of the neume</a:t>
            </a:r>
            <a:endParaRPr b="1" i="0" sz="2000" u="none" cap="none" strike="noStrike">
              <a:solidFill>
                <a:schemeClr val="accent6"/>
              </a:solidFill>
              <a:latin typeface="Calibri"/>
              <a:ea typeface="Calibri"/>
              <a:cs typeface="Calibri"/>
              <a:sym typeface="Calibri"/>
            </a:endParaRPr>
          </a:p>
        </p:txBody>
      </p:sp>
      <p:sp>
        <p:nvSpPr>
          <p:cNvPr id="551" name="Google Shape;551;p36"/>
          <p:cNvSpPr txBox="1"/>
          <p:nvPr/>
        </p:nvSpPr>
        <p:spPr>
          <a:xfrm>
            <a:off x="5912289" y="476966"/>
            <a:ext cx="5731065" cy="5416868"/>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Attributes of neume components:</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Pitch</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@pname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d</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e</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f</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g</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b</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@oct </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3</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4</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@loc</a:t>
            </a:r>
            <a:r>
              <a:rPr b="0" i="0" lang="en-CA" sz="2000" u="none" cap="none" strike="noStrike">
                <a:solidFill>
                  <a:schemeClr val="dk1"/>
                </a:solidFill>
                <a:latin typeface="Calibri"/>
                <a:ea typeface="Calibri"/>
                <a:cs typeface="Calibri"/>
                <a:sym typeface="Calibri"/>
              </a:rPr>
              <a:t>: position in the staff (integer, 0 is the first line)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@intm</a:t>
            </a:r>
            <a:r>
              <a:rPr b="0" i="0" lang="en-CA" sz="2000" u="none" cap="none" strike="noStrike">
                <a:solidFill>
                  <a:schemeClr val="dk1"/>
                </a:solidFill>
                <a:latin typeface="Calibri"/>
                <a:ea typeface="Calibri"/>
                <a:cs typeface="Calibri"/>
                <a:sym typeface="Calibri"/>
              </a:rPr>
              <a:t>: melodic interval (integer: negative, zero, positive)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Shape</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@tilt</a:t>
            </a:r>
            <a:r>
              <a:rPr b="0" i="0" lang="en-CA" sz="2000" u="none" cap="none" strike="noStrike">
                <a:solidFill>
                  <a:schemeClr val="dk1"/>
                </a:solidFill>
                <a:latin typeface="Calibri"/>
                <a:ea typeface="Calibri"/>
                <a:cs typeface="Calibri"/>
                <a:sym typeface="Calibri"/>
              </a:rPr>
              <a:t>: direction of penstroke = </a:t>
            </a:r>
            <a:r>
              <a:rPr b="0" i="0" lang="en-CA" sz="2000" u="none" cap="none" strike="noStrike">
                <a:solidFill>
                  <a:schemeClr val="accent6"/>
                </a:solidFill>
                <a:latin typeface="Calibri"/>
                <a:ea typeface="Calibri"/>
                <a:cs typeface="Calibri"/>
                <a:sym typeface="Calibri"/>
              </a:rPr>
              <a:t>n</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@curve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a:t>
            </a:r>
            <a:endParaRPr/>
          </a:p>
        </p:txBody>
      </p:sp>
      <p:grpSp>
        <p:nvGrpSpPr>
          <p:cNvPr id="552" name="Google Shape;552;p36"/>
          <p:cNvGrpSpPr/>
          <p:nvPr/>
        </p:nvGrpSpPr>
        <p:grpSpPr>
          <a:xfrm>
            <a:off x="553436" y="4915898"/>
            <a:ext cx="5542564" cy="1446550"/>
            <a:chOff x="-223556" y="4901640"/>
            <a:chExt cx="5542564" cy="1446550"/>
          </a:xfrm>
        </p:grpSpPr>
        <p:sp>
          <p:nvSpPr>
            <p:cNvPr id="553" name="Google Shape;553;p36"/>
            <p:cNvSpPr txBox="1"/>
            <p:nvPr/>
          </p:nvSpPr>
          <p:spPr>
            <a:xfrm>
              <a:off x="1068950" y="4901640"/>
              <a:ext cx="4250058" cy="1446550"/>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CA" sz="2200">
                  <a:solidFill>
                    <a:schemeClr val="dk1"/>
                  </a:solidFill>
                  <a:latin typeface="Consolas"/>
                  <a:ea typeface="Consolas"/>
                  <a:cs typeface="Consolas"/>
                  <a:sym typeface="Consolas"/>
                </a:rPr>
                <a:t>&lt;</a:t>
              </a:r>
              <a:r>
                <a:rPr lang="en-CA" sz="2200">
                  <a:solidFill>
                    <a:srgbClr val="0070C0"/>
                  </a:solidFill>
                  <a:latin typeface="Consolas"/>
                  <a:ea typeface="Consolas"/>
                  <a:cs typeface="Consolas"/>
                  <a:sym typeface="Consolas"/>
                </a:rPr>
                <a:t>neume</a:t>
              </a:r>
              <a:r>
                <a:rPr lang="en-CA" sz="2200">
                  <a:solidFill>
                    <a:schemeClr val="dk1"/>
                  </a:solidFill>
                  <a:latin typeface="Consolas"/>
                  <a:ea typeface="Consolas"/>
                  <a:cs typeface="Consolas"/>
                  <a:sym typeface="Consolas"/>
                </a:rPr>
                <a:t>&gt;</a:t>
              </a:r>
              <a:endParaRPr/>
            </a:p>
            <a:p>
              <a:pPr indent="0" lvl="0" marL="0" marR="0" rtl="0" algn="l">
                <a:spcBef>
                  <a:spcPts val="0"/>
                </a:spcBef>
                <a:spcAft>
                  <a:spcPts val="0"/>
                </a:spcAft>
                <a:buNone/>
              </a:pPr>
              <a:r>
                <a:rPr lang="en-CA" sz="2200">
                  <a:solidFill>
                    <a:schemeClr val="dk1"/>
                  </a:solidFill>
                  <a:latin typeface="Consolas"/>
                  <a:ea typeface="Consolas"/>
                  <a:cs typeface="Consolas"/>
                  <a:sym typeface="Consolas"/>
                </a:rPr>
                <a:t>  &lt;</a:t>
              </a:r>
              <a:r>
                <a:rPr lang="en-CA" sz="2200">
                  <a:solidFill>
                    <a:srgbClr val="0070C0"/>
                  </a:solidFill>
                  <a:latin typeface="Consolas"/>
                  <a:ea typeface="Consolas"/>
                  <a:cs typeface="Consolas"/>
                  <a:sym typeface="Consolas"/>
                </a:rPr>
                <a:t>nc </a:t>
              </a:r>
              <a:r>
                <a:rPr lang="en-CA" sz="2200">
                  <a:solidFill>
                    <a:schemeClr val="accent2"/>
                  </a:solidFill>
                  <a:latin typeface="Consolas"/>
                  <a:ea typeface="Consolas"/>
                  <a:cs typeface="Consolas"/>
                  <a:sym typeface="Consolas"/>
                </a:rPr>
                <a:t>loc</a:t>
              </a:r>
              <a:r>
                <a:rPr lang="en-CA" sz="2200">
                  <a:solidFill>
                    <a:schemeClr val="dk1"/>
                  </a:solidFill>
                  <a:latin typeface="Consolas"/>
                  <a:ea typeface="Consolas"/>
                  <a:cs typeface="Consolas"/>
                  <a:sym typeface="Consolas"/>
                </a:rPr>
                <a:t>=</a:t>
              </a:r>
              <a:r>
                <a:rPr lang="en-CA" sz="2200">
                  <a:solidFill>
                    <a:srgbClr val="000000"/>
                  </a:solidFill>
                  <a:latin typeface="Consolas"/>
                  <a:ea typeface="Consolas"/>
                  <a:cs typeface="Consolas"/>
                  <a:sym typeface="Consolas"/>
                </a:rPr>
                <a:t>"</a:t>
              </a:r>
              <a:r>
                <a:rPr lang="en-CA" sz="2200">
                  <a:solidFill>
                    <a:schemeClr val="accent6"/>
                  </a:solidFill>
                  <a:latin typeface="Consolas"/>
                  <a:ea typeface="Consolas"/>
                  <a:cs typeface="Consolas"/>
                  <a:sym typeface="Consolas"/>
                </a:rPr>
                <a:t>4</a:t>
              </a:r>
              <a:r>
                <a:rPr lang="en-CA" sz="2200">
                  <a:solidFill>
                    <a:srgbClr val="000000"/>
                  </a:solidFill>
                  <a:latin typeface="Consolas"/>
                  <a:ea typeface="Consolas"/>
                  <a:cs typeface="Consolas"/>
                  <a:sym typeface="Consolas"/>
                </a:rPr>
                <a:t>"</a:t>
              </a:r>
              <a:r>
                <a:rPr lang="en-CA" sz="2200">
                  <a:solidFill>
                    <a:schemeClr val="dk1"/>
                  </a:solidFill>
                  <a:latin typeface="Consolas"/>
                  <a:ea typeface="Consolas"/>
                  <a:cs typeface="Consolas"/>
                  <a:sym typeface="Consolas"/>
                </a:rPr>
                <a:t> /&gt;</a:t>
              </a:r>
              <a:endParaRPr/>
            </a:p>
            <a:p>
              <a:pPr indent="0" lvl="0" marL="0" marR="0" rtl="0" algn="l">
                <a:spcBef>
                  <a:spcPts val="0"/>
                </a:spcBef>
                <a:spcAft>
                  <a:spcPts val="0"/>
                </a:spcAft>
                <a:buNone/>
              </a:pPr>
              <a:r>
                <a:rPr lang="en-CA" sz="2200">
                  <a:solidFill>
                    <a:schemeClr val="dk1"/>
                  </a:solidFill>
                  <a:latin typeface="Consolas"/>
                  <a:ea typeface="Consolas"/>
                  <a:cs typeface="Consolas"/>
                  <a:sym typeface="Consolas"/>
                </a:rPr>
                <a:t>  &lt;</a:t>
              </a:r>
              <a:r>
                <a:rPr lang="en-CA" sz="2200">
                  <a:solidFill>
                    <a:srgbClr val="0070C0"/>
                  </a:solidFill>
                  <a:latin typeface="Consolas"/>
                  <a:ea typeface="Consolas"/>
                  <a:cs typeface="Consolas"/>
                  <a:sym typeface="Consolas"/>
                </a:rPr>
                <a:t>nc </a:t>
              </a:r>
              <a:r>
                <a:rPr lang="en-CA" sz="2200">
                  <a:solidFill>
                    <a:schemeClr val="accent2"/>
                  </a:solidFill>
                  <a:latin typeface="Consolas"/>
                  <a:ea typeface="Consolas"/>
                  <a:cs typeface="Consolas"/>
                  <a:sym typeface="Consolas"/>
                </a:rPr>
                <a:t>intm</a:t>
              </a:r>
              <a:r>
                <a:rPr lang="en-CA" sz="2200">
                  <a:solidFill>
                    <a:schemeClr val="dk1"/>
                  </a:solidFill>
                  <a:latin typeface="Consolas"/>
                  <a:ea typeface="Consolas"/>
                  <a:cs typeface="Consolas"/>
                  <a:sym typeface="Consolas"/>
                </a:rPr>
                <a:t>=</a:t>
              </a:r>
              <a:r>
                <a:rPr lang="en-CA" sz="2200">
                  <a:solidFill>
                    <a:srgbClr val="000000"/>
                  </a:solidFill>
                  <a:latin typeface="Consolas"/>
                  <a:ea typeface="Consolas"/>
                  <a:cs typeface="Consolas"/>
                  <a:sym typeface="Consolas"/>
                </a:rPr>
                <a:t>"</a:t>
              </a:r>
              <a:r>
                <a:rPr lang="en-CA" sz="2200">
                  <a:solidFill>
                    <a:schemeClr val="accent6"/>
                  </a:solidFill>
                  <a:latin typeface="Consolas"/>
                  <a:ea typeface="Consolas"/>
                  <a:cs typeface="Consolas"/>
                  <a:sym typeface="Consolas"/>
                </a:rPr>
                <a:t>1</a:t>
              </a:r>
              <a:r>
                <a:rPr lang="en-CA" sz="2200">
                  <a:solidFill>
                    <a:srgbClr val="000000"/>
                  </a:solidFill>
                  <a:latin typeface="Consolas"/>
                  <a:ea typeface="Consolas"/>
                  <a:cs typeface="Consolas"/>
                  <a:sym typeface="Consolas"/>
                </a:rPr>
                <a:t>"</a:t>
              </a:r>
              <a:r>
                <a:rPr lang="en-CA" sz="2200">
                  <a:solidFill>
                    <a:schemeClr val="dk1"/>
                  </a:solidFill>
                  <a:latin typeface="Consolas"/>
                  <a:ea typeface="Consolas"/>
                  <a:cs typeface="Consolas"/>
                  <a:sym typeface="Consolas"/>
                </a:rPr>
                <a:t> </a:t>
              </a:r>
              <a:r>
                <a:rPr lang="en-CA" sz="2200">
                  <a:solidFill>
                    <a:schemeClr val="accent2"/>
                  </a:solidFill>
                  <a:latin typeface="Consolas"/>
                  <a:ea typeface="Consolas"/>
                  <a:cs typeface="Consolas"/>
                  <a:sym typeface="Consolas"/>
                </a:rPr>
                <a:t>tilt</a:t>
              </a:r>
              <a:r>
                <a:rPr lang="en-CA" sz="2200">
                  <a:solidFill>
                    <a:schemeClr val="dk1"/>
                  </a:solidFill>
                  <a:latin typeface="Consolas"/>
                  <a:ea typeface="Consolas"/>
                  <a:cs typeface="Consolas"/>
                  <a:sym typeface="Consolas"/>
                </a:rPr>
                <a:t>=</a:t>
              </a:r>
              <a:r>
                <a:rPr lang="en-CA" sz="2200">
                  <a:solidFill>
                    <a:srgbClr val="000000"/>
                  </a:solidFill>
                  <a:latin typeface="Consolas"/>
                  <a:ea typeface="Consolas"/>
                  <a:cs typeface="Consolas"/>
                  <a:sym typeface="Consolas"/>
                </a:rPr>
                <a:t>"</a:t>
              </a:r>
              <a:r>
                <a:rPr lang="en-CA" sz="2200">
                  <a:solidFill>
                    <a:schemeClr val="accent6"/>
                  </a:solidFill>
                  <a:latin typeface="Consolas"/>
                  <a:ea typeface="Consolas"/>
                  <a:cs typeface="Consolas"/>
                  <a:sym typeface="Consolas"/>
                </a:rPr>
                <a:t>s</a:t>
              </a:r>
              <a:r>
                <a:rPr lang="en-CA" sz="2200">
                  <a:solidFill>
                    <a:srgbClr val="000000"/>
                  </a:solidFill>
                  <a:latin typeface="Consolas"/>
                  <a:ea typeface="Consolas"/>
                  <a:cs typeface="Consolas"/>
                  <a:sym typeface="Consolas"/>
                </a:rPr>
                <a:t>"</a:t>
              </a:r>
              <a:r>
                <a:rPr lang="en-CA" sz="2200">
                  <a:solidFill>
                    <a:schemeClr val="dk1"/>
                  </a:solidFill>
                  <a:latin typeface="Consolas"/>
                  <a:ea typeface="Consolas"/>
                  <a:cs typeface="Consolas"/>
                  <a:sym typeface="Consolas"/>
                </a:rPr>
                <a:t> /&gt;</a:t>
              </a:r>
              <a:endParaRPr b="1" i="1" sz="2200">
                <a:solidFill>
                  <a:schemeClr val="accent6"/>
                </a:solidFill>
                <a:latin typeface="Consolas"/>
                <a:ea typeface="Consolas"/>
                <a:cs typeface="Consolas"/>
                <a:sym typeface="Consolas"/>
              </a:endParaRPr>
            </a:p>
            <a:p>
              <a:pPr indent="0" lvl="0" marL="0" marR="0" rtl="0" algn="l">
                <a:spcBef>
                  <a:spcPts val="0"/>
                </a:spcBef>
                <a:spcAft>
                  <a:spcPts val="0"/>
                </a:spcAft>
                <a:buNone/>
              </a:pPr>
              <a:r>
                <a:rPr lang="en-CA" sz="2200">
                  <a:solidFill>
                    <a:schemeClr val="dk1"/>
                  </a:solidFill>
                  <a:latin typeface="Consolas"/>
                  <a:ea typeface="Consolas"/>
                  <a:cs typeface="Consolas"/>
                  <a:sym typeface="Consolas"/>
                </a:rPr>
                <a:t>&lt;/</a:t>
              </a:r>
              <a:r>
                <a:rPr lang="en-CA" sz="2200">
                  <a:solidFill>
                    <a:srgbClr val="0070C0"/>
                  </a:solidFill>
                  <a:latin typeface="Consolas"/>
                  <a:ea typeface="Consolas"/>
                  <a:cs typeface="Consolas"/>
                  <a:sym typeface="Consolas"/>
                </a:rPr>
                <a:t>neume</a:t>
              </a:r>
              <a:r>
                <a:rPr lang="en-CA" sz="2200">
                  <a:solidFill>
                    <a:schemeClr val="dk1"/>
                  </a:solidFill>
                  <a:latin typeface="Consolas"/>
                  <a:ea typeface="Consolas"/>
                  <a:cs typeface="Consolas"/>
                  <a:sym typeface="Consolas"/>
                </a:rPr>
                <a:t>&gt;</a:t>
              </a:r>
              <a:endParaRPr/>
            </a:p>
          </p:txBody>
        </p:sp>
        <p:pic>
          <p:nvPicPr>
            <p:cNvPr id="554" name="Google Shape;554;p36"/>
            <p:cNvPicPr preferRelativeResize="0"/>
            <p:nvPr/>
          </p:nvPicPr>
          <p:blipFill rotWithShape="1">
            <a:blip r:embed="rId3">
              <a:alphaModFix/>
            </a:blip>
            <a:srcRect b="0" l="0" r="0" t="0"/>
            <a:stretch/>
          </p:blipFill>
          <p:spPr>
            <a:xfrm>
              <a:off x="-223556" y="4918578"/>
              <a:ext cx="1301755" cy="1429200"/>
            </a:xfrm>
            <a:prstGeom prst="rect">
              <a:avLst/>
            </a:prstGeom>
            <a:noFill/>
            <a:ln cap="flat" cmpd="sng" w="9525">
              <a:solidFill>
                <a:schemeClr val="dk1"/>
              </a:solidFill>
              <a:prstDash val="solid"/>
              <a:round/>
              <a:headEnd len="sm" w="sm" type="none"/>
              <a:tailEnd len="sm" w="sm" type="none"/>
            </a:ln>
          </p:spPr>
        </p:pic>
      </p:grpSp>
      <p:sp>
        <p:nvSpPr>
          <p:cNvPr id="555" name="Google Shape;55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cxnSp>
        <p:nvCxnSpPr>
          <p:cNvPr id="561" name="Google Shape;561;p37"/>
          <p:cNvCxnSpPr/>
          <p:nvPr/>
        </p:nvCxnSpPr>
        <p:spPr>
          <a:xfrm>
            <a:off x="5759309" y="476966"/>
            <a:ext cx="0" cy="5846099"/>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562" name="Google Shape;562;p37"/>
          <p:cNvSpPr txBox="1"/>
          <p:nvPr/>
        </p:nvSpPr>
        <p:spPr>
          <a:xfrm>
            <a:off x="548646" y="510252"/>
            <a:ext cx="4937700" cy="29862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 part of the neume</a:t>
            </a:r>
            <a:endParaRPr b="1" i="0" sz="2000" u="none" cap="none" strike="noStrike">
              <a:solidFill>
                <a:schemeClr val="accent6"/>
              </a:solidFill>
              <a:latin typeface="Calibri"/>
              <a:ea typeface="Calibri"/>
              <a:cs typeface="Calibri"/>
              <a:sym typeface="Calibri"/>
            </a:endParaRPr>
          </a:p>
        </p:txBody>
      </p:sp>
      <p:sp>
        <p:nvSpPr>
          <p:cNvPr id="563" name="Google Shape;563;p37"/>
          <p:cNvSpPr txBox="1"/>
          <p:nvPr/>
        </p:nvSpPr>
        <p:spPr>
          <a:xfrm>
            <a:off x="5912289" y="476966"/>
            <a:ext cx="5731065" cy="5416868"/>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Attributes of neume components:</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Pitch</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@pname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d</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e</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f</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g</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b</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@oct </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3</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4</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@loc</a:t>
            </a:r>
            <a:r>
              <a:rPr b="0" i="0" lang="en-CA" sz="2000" u="none" cap="none" strike="noStrike">
                <a:solidFill>
                  <a:schemeClr val="dk1"/>
                </a:solidFill>
                <a:latin typeface="Calibri"/>
                <a:ea typeface="Calibri"/>
                <a:cs typeface="Calibri"/>
                <a:sym typeface="Calibri"/>
              </a:rPr>
              <a:t>: position in the staff (integer, 0 is the first line)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@intm</a:t>
            </a:r>
            <a:r>
              <a:rPr b="0" i="0" lang="en-CA" sz="2000" u="none" cap="none" strike="noStrike">
                <a:solidFill>
                  <a:schemeClr val="dk1"/>
                </a:solidFill>
                <a:latin typeface="Calibri"/>
                <a:ea typeface="Calibri"/>
                <a:cs typeface="Calibri"/>
                <a:sym typeface="Calibri"/>
              </a:rPr>
              <a:t>: melodic interval (integer: negative, zero, positive)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Shape</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@tilt</a:t>
            </a:r>
            <a:r>
              <a:rPr b="0" i="0" lang="en-CA" sz="2000" u="none" cap="none" strike="noStrike">
                <a:solidFill>
                  <a:schemeClr val="dk1"/>
                </a:solidFill>
                <a:latin typeface="Calibri"/>
                <a:ea typeface="Calibri"/>
                <a:cs typeface="Calibri"/>
                <a:sym typeface="Calibri"/>
              </a:rPr>
              <a:t>: direction of penstroke = </a:t>
            </a:r>
            <a:r>
              <a:rPr b="0" i="0" lang="en-CA" sz="2000" u="none" cap="none" strike="noStrike">
                <a:solidFill>
                  <a:schemeClr val="accent6"/>
                </a:solidFill>
                <a:latin typeface="Calibri"/>
                <a:ea typeface="Calibri"/>
                <a:cs typeface="Calibri"/>
                <a:sym typeface="Calibri"/>
              </a:rPr>
              <a:t>n</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@curve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a:t>
            </a:r>
            <a:endParaRPr/>
          </a:p>
        </p:txBody>
      </p:sp>
      <p:grpSp>
        <p:nvGrpSpPr>
          <p:cNvPr id="564" name="Google Shape;564;p37"/>
          <p:cNvGrpSpPr/>
          <p:nvPr/>
        </p:nvGrpSpPr>
        <p:grpSpPr>
          <a:xfrm>
            <a:off x="548640" y="4788573"/>
            <a:ext cx="5751775" cy="1574926"/>
            <a:chOff x="1279906" y="4253312"/>
            <a:chExt cx="5751775" cy="1574926"/>
          </a:xfrm>
        </p:grpSpPr>
        <p:sp>
          <p:nvSpPr>
            <p:cNvPr id="565" name="Google Shape;565;p37"/>
            <p:cNvSpPr txBox="1"/>
            <p:nvPr/>
          </p:nvSpPr>
          <p:spPr>
            <a:xfrm>
              <a:off x="2093921" y="4253312"/>
              <a:ext cx="4937760" cy="1569660"/>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neume</a:t>
              </a:r>
              <a:r>
                <a:rPr lang="en-CA" sz="2400">
                  <a:solidFill>
                    <a:schemeClr val="dk1"/>
                  </a:solidFill>
                  <a:latin typeface="Consolas"/>
                  <a:ea typeface="Consolas"/>
                  <a:cs typeface="Consolas"/>
                  <a:sym typeface="Consolas"/>
                </a:rPr>
                <a:t>&gt;</a:t>
              </a:r>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nc </a:t>
              </a:r>
              <a:r>
                <a:rPr lang="en-CA" sz="2400">
                  <a:solidFill>
                    <a:schemeClr val="accent2"/>
                  </a:solidFill>
                  <a:latin typeface="Consolas"/>
                  <a:ea typeface="Consolas"/>
                  <a:cs typeface="Consolas"/>
                  <a:sym typeface="Consolas"/>
                </a:rPr>
                <a:t>tilt</a:t>
              </a:r>
              <a:r>
                <a:rPr lang="en-CA" sz="2400">
                  <a:solidFill>
                    <a:schemeClr val="dk1"/>
                  </a:solidFill>
                  <a:latin typeface="Consolas"/>
                  <a:ea typeface="Consolas"/>
                  <a:cs typeface="Consolas"/>
                  <a:sym typeface="Consolas"/>
                </a:rPr>
                <a:t>=</a:t>
              </a:r>
              <a:r>
                <a:rPr lang="en-CA" sz="2400">
                  <a:solidFill>
                    <a:srgbClr val="000000"/>
                  </a:solidFill>
                  <a:latin typeface="Consolas"/>
                  <a:ea typeface="Consolas"/>
                  <a:cs typeface="Consolas"/>
                  <a:sym typeface="Consolas"/>
                </a:rPr>
                <a:t>"</a:t>
              </a:r>
              <a:r>
                <a:rPr lang="en-CA" sz="2400">
                  <a:solidFill>
                    <a:schemeClr val="accent6"/>
                  </a:solidFill>
                  <a:latin typeface="Consolas"/>
                  <a:ea typeface="Consolas"/>
                  <a:cs typeface="Consolas"/>
                  <a:sym typeface="Consolas"/>
                </a:rPr>
                <a:t>e</a:t>
              </a:r>
              <a:r>
                <a:rPr lang="en-CA" sz="2400">
                  <a:solidFill>
                    <a:srgbClr val="000000"/>
                  </a:solidFill>
                  <a:latin typeface="Consolas"/>
                  <a:ea typeface="Consolas"/>
                  <a:cs typeface="Consolas"/>
                  <a:sym typeface="Consolas"/>
                </a:rPr>
                <a:t>"</a:t>
              </a:r>
              <a:r>
                <a:rPr lang="en-CA" sz="2400">
                  <a:solidFill>
                    <a:schemeClr val="dk1"/>
                  </a:solidFill>
                  <a:latin typeface="Consolas"/>
                  <a:ea typeface="Consolas"/>
                  <a:cs typeface="Consolas"/>
                  <a:sym typeface="Consolas"/>
                </a:rPr>
                <a:t> /&gt;</a:t>
              </a:r>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nc</a:t>
              </a:r>
              <a:r>
                <a:rPr lang="en-CA" sz="2400">
                  <a:solidFill>
                    <a:schemeClr val="dk1"/>
                  </a:solidFill>
                  <a:latin typeface="Consolas"/>
                  <a:ea typeface="Consolas"/>
                  <a:cs typeface="Consolas"/>
                  <a:sym typeface="Consolas"/>
                </a:rPr>
                <a:t> </a:t>
              </a:r>
              <a:r>
                <a:rPr lang="en-CA" sz="2400">
                  <a:solidFill>
                    <a:schemeClr val="accent2"/>
                  </a:solidFill>
                  <a:latin typeface="Consolas"/>
                  <a:ea typeface="Consolas"/>
                  <a:cs typeface="Consolas"/>
                  <a:sym typeface="Consolas"/>
                </a:rPr>
                <a:t>tilt</a:t>
              </a:r>
              <a:r>
                <a:rPr lang="en-CA" sz="2400">
                  <a:solidFill>
                    <a:schemeClr val="dk1"/>
                  </a:solidFill>
                  <a:latin typeface="Consolas"/>
                  <a:ea typeface="Consolas"/>
                  <a:cs typeface="Consolas"/>
                  <a:sym typeface="Consolas"/>
                </a:rPr>
                <a:t>=</a:t>
              </a:r>
              <a:r>
                <a:rPr lang="en-CA" sz="2400">
                  <a:solidFill>
                    <a:srgbClr val="000000"/>
                  </a:solidFill>
                  <a:latin typeface="Consolas"/>
                  <a:ea typeface="Consolas"/>
                  <a:cs typeface="Consolas"/>
                  <a:sym typeface="Consolas"/>
                </a:rPr>
                <a:t>"</a:t>
              </a:r>
              <a:r>
                <a:rPr lang="en-CA" sz="2400">
                  <a:solidFill>
                    <a:schemeClr val="accent6"/>
                  </a:solidFill>
                  <a:latin typeface="Consolas"/>
                  <a:ea typeface="Consolas"/>
                  <a:cs typeface="Consolas"/>
                  <a:sym typeface="Consolas"/>
                </a:rPr>
                <a:t>n</a:t>
              </a:r>
              <a:r>
                <a:rPr lang="en-CA" sz="2400">
                  <a:solidFill>
                    <a:schemeClr val="dk1"/>
                  </a:solidFill>
                  <a:latin typeface="Consolas"/>
                  <a:ea typeface="Consolas"/>
                  <a:cs typeface="Consolas"/>
                  <a:sym typeface="Consolas"/>
                </a:rPr>
                <a:t>"</a:t>
              </a:r>
              <a:r>
                <a:rPr lang="en-CA" sz="2400">
                  <a:solidFill>
                    <a:srgbClr val="0070C0"/>
                  </a:solidFill>
                  <a:latin typeface="Consolas"/>
                  <a:ea typeface="Consolas"/>
                  <a:cs typeface="Consolas"/>
                  <a:sym typeface="Consolas"/>
                </a:rPr>
                <a:t> </a:t>
              </a:r>
              <a:r>
                <a:rPr lang="en-CA" sz="2400">
                  <a:solidFill>
                    <a:schemeClr val="accent2"/>
                  </a:solidFill>
                  <a:latin typeface="Consolas"/>
                  <a:ea typeface="Consolas"/>
                  <a:cs typeface="Consolas"/>
                  <a:sym typeface="Consolas"/>
                </a:rPr>
                <a:t>intm</a:t>
              </a:r>
              <a:r>
                <a:rPr lang="en-CA" sz="2400">
                  <a:solidFill>
                    <a:schemeClr val="dk1"/>
                  </a:solidFill>
                  <a:latin typeface="Consolas"/>
                  <a:ea typeface="Consolas"/>
                  <a:cs typeface="Consolas"/>
                  <a:sym typeface="Consolas"/>
                </a:rPr>
                <a:t>=</a:t>
              </a:r>
              <a:r>
                <a:rPr lang="en-CA" sz="2400">
                  <a:solidFill>
                    <a:srgbClr val="000000"/>
                  </a:solidFill>
                  <a:latin typeface="Consolas"/>
                  <a:ea typeface="Consolas"/>
                  <a:cs typeface="Consolas"/>
                  <a:sym typeface="Consolas"/>
                </a:rPr>
                <a:t>"</a:t>
              </a:r>
              <a:r>
                <a:rPr lang="en-CA" sz="2400">
                  <a:solidFill>
                    <a:schemeClr val="accent6"/>
                  </a:solidFill>
                  <a:latin typeface="Consolas"/>
                  <a:ea typeface="Consolas"/>
                  <a:cs typeface="Consolas"/>
                  <a:sym typeface="Consolas"/>
                </a:rPr>
                <a:t>u</a:t>
              </a:r>
              <a:r>
                <a:rPr lang="en-CA" sz="2400">
                  <a:solidFill>
                    <a:srgbClr val="000000"/>
                  </a:solidFill>
                  <a:latin typeface="Consolas"/>
                  <a:ea typeface="Consolas"/>
                  <a:cs typeface="Consolas"/>
                  <a:sym typeface="Consolas"/>
                </a:rPr>
                <a:t>"</a:t>
              </a:r>
              <a:r>
                <a:rPr lang="en-CA" sz="2400">
                  <a:solidFill>
                    <a:schemeClr val="dk1"/>
                  </a:solidFill>
                  <a:latin typeface="Consolas"/>
                  <a:ea typeface="Consolas"/>
                  <a:cs typeface="Consolas"/>
                  <a:sym typeface="Consolas"/>
                </a:rPr>
                <a:t> /&gt;</a:t>
              </a:r>
              <a:endParaRPr b="1" i="1" sz="2400">
                <a:solidFill>
                  <a:schemeClr val="accent6"/>
                </a:solidFill>
                <a:latin typeface="Consolas"/>
                <a:ea typeface="Consolas"/>
                <a:cs typeface="Consolas"/>
                <a:sym typeface="Consolas"/>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neume</a:t>
              </a:r>
              <a:r>
                <a:rPr lang="en-CA" sz="2400">
                  <a:solidFill>
                    <a:schemeClr val="dk1"/>
                  </a:solidFill>
                  <a:latin typeface="Consolas"/>
                  <a:ea typeface="Consolas"/>
                  <a:cs typeface="Consolas"/>
                  <a:sym typeface="Consolas"/>
                </a:rPr>
                <a:t>&gt;</a:t>
              </a:r>
              <a:endParaRPr/>
            </a:p>
          </p:txBody>
        </p:sp>
        <p:graphicFrame>
          <p:nvGraphicFramePr>
            <p:cNvPr id="566" name="Google Shape;566;p37"/>
            <p:cNvGraphicFramePr/>
            <p:nvPr/>
          </p:nvGraphicFramePr>
          <p:xfrm>
            <a:off x="1279906" y="4265838"/>
            <a:ext cx="822316" cy="1562400"/>
          </p:xfrm>
          <a:graphic>
            <a:graphicData uri="http://schemas.openxmlformats.org/presentationml/2006/ole">
              <mc:AlternateContent>
                <mc:Choice Requires="v">
                  <p:oleObj r:id="rId4" imgH="1562400" imgW="822316" progId="Paint.Picture" spid="_x0000_s1">
                    <p:embed/>
                  </p:oleObj>
                </mc:Choice>
                <mc:Fallback>
                  <p:oleObj r:id="rId5" imgH="1562400" imgW="822316" progId="Paint.Picture">
                    <p:embed/>
                    <p:pic>
                      <p:nvPicPr>
                        <p:cNvPr id="566" name="Google Shape;566;p37"/>
                        <p:cNvPicPr preferRelativeResize="0"/>
                        <p:nvPr/>
                      </p:nvPicPr>
                      <p:blipFill rotWithShape="1">
                        <a:blip r:embed="rId6">
                          <a:alphaModFix/>
                        </a:blip>
                        <a:srcRect b="0" l="0" r="0" t="0"/>
                        <a:stretch/>
                      </p:blipFill>
                      <p:spPr>
                        <a:xfrm>
                          <a:off x="1279906" y="4265838"/>
                          <a:ext cx="822316" cy="1562400"/>
                        </a:xfrm>
                        <a:prstGeom prst="rect">
                          <a:avLst/>
                        </a:prstGeom>
                        <a:noFill/>
                        <a:ln cap="flat" cmpd="sng" w="9525">
                          <a:solidFill>
                            <a:schemeClr val="dk1"/>
                          </a:solidFill>
                          <a:prstDash val="solid"/>
                          <a:round/>
                          <a:headEnd len="sm" w="sm" type="none"/>
                          <a:tailEnd len="sm" w="sm" type="none"/>
                        </a:ln>
                      </p:spPr>
                    </p:pic>
                  </p:oleObj>
                </mc:Fallback>
              </mc:AlternateContent>
            </a:graphicData>
          </a:graphic>
        </p:graphicFrame>
      </p:grpSp>
      <p:sp>
        <p:nvSpPr>
          <p:cNvPr id="567" name="Google Shape;56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cxnSp>
        <p:nvCxnSpPr>
          <p:cNvPr id="573" name="Google Shape;573;p38"/>
          <p:cNvCxnSpPr/>
          <p:nvPr/>
        </p:nvCxnSpPr>
        <p:spPr>
          <a:xfrm>
            <a:off x="5759309" y="476966"/>
            <a:ext cx="0" cy="5846099"/>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574" name="Google Shape;574;p38"/>
          <p:cNvSpPr txBox="1"/>
          <p:nvPr/>
        </p:nvSpPr>
        <p:spPr>
          <a:xfrm>
            <a:off x="548646" y="510252"/>
            <a:ext cx="4937700" cy="29862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 part of the neume</a:t>
            </a:r>
            <a:endParaRPr b="1" i="0" sz="2000" u="none" cap="none" strike="noStrike">
              <a:solidFill>
                <a:schemeClr val="accent6"/>
              </a:solidFill>
              <a:latin typeface="Calibri"/>
              <a:ea typeface="Calibri"/>
              <a:cs typeface="Calibri"/>
              <a:sym typeface="Calibri"/>
            </a:endParaRPr>
          </a:p>
        </p:txBody>
      </p:sp>
      <p:sp>
        <p:nvSpPr>
          <p:cNvPr id="575" name="Google Shape;575;p38"/>
          <p:cNvSpPr txBox="1"/>
          <p:nvPr/>
        </p:nvSpPr>
        <p:spPr>
          <a:xfrm>
            <a:off x="5912289" y="476966"/>
            <a:ext cx="5731065" cy="5416868"/>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Attributes of neume components:</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Pitch</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@pname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d</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e</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f</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g</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b</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@oct </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3</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4</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@loc</a:t>
            </a:r>
            <a:r>
              <a:rPr b="0" i="0" lang="en-CA" sz="2000" u="none" cap="none" strike="noStrike">
                <a:solidFill>
                  <a:schemeClr val="dk1"/>
                </a:solidFill>
                <a:latin typeface="Calibri"/>
                <a:ea typeface="Calibri"/>
                <a:cs typeface="Calibri"/>
                <a:sym typeface="Calibri"/>
              </a:rPr>
              <a:t>: position in the staff (integer, 0 is the first line)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@intm</a:t>
            </a:r>
            <a:r>
              <a:rPr b="0" i="0" lang="en-CA" sz="2000" u="none" cap="none" strike="noStrike">
                <a:solidFill>
                  <a:schemeClr val="dk1"/>
                </a:solidFill>
                <a:latin typeface="Calibri"/>
                <a:ea typeface="Calibri"/>
                <a:cs typeface="Calibri"/>
                <a:sym typeface="Calibri"/>
              </a:rPr>
              <a:t>: melodic interval (integer: negative, zero, positive) =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0</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1</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2</a:t>
            </a:r>
            <a:r>
              <a:rPr b="0" i="0" lang="en-CA" sz="2000" u="none" cap="none" strike="noStrike">
                <a:solidFill>
                  <a:schemeClr val="dk1"/>
                </a:solidFill>
                <a:latin typeface="Calibri"/>
                <a:ea typeface="Calibri"/>
                <a:cs typeface="Calibri"/>
                <a:sym typeface="Calibri"/>
              </a:rPr>
              <a:t> …</a:t>
            </a:r>
            <a:endParaRPr/>
          </a:p>
          <a:p>
            <a:pPr indent="-237049" lvl="0" marL="237049" marR="0" rtl="0" algn="l">
              <a:spcBef>
                <a:spcPts val="1200"/>
              </a:spcBef>
              <a:spcAft>
                <a:spcPts val="0"/>
              </a:spcAft>
              <a:buClr>
                <a:schemeClr val="dk1"/>
              </a:buClr>
              <a:buSzPts val="1800"/>
              <a:buFont typeface="Courier New"/>
              <a:buChar char="o"/>
            </a:pPr>
            <a:r>
              <a:rPr b="1" lang="en-CA" sz="2400">
                <a:solidFill>
                  <a:schemeClr val="dk1"/>
                </a:solidFill>
                <a:latin typeface="Calibri"/>
                <a:ea typeface="Calibri"/>
                <a:cs typeface="Calibri"/>
                <a:sym typeface="Calibri"/>
              </a:rPr>
              <a:t>Shape</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@tilt</a:t>
            </a:r>
            <a:r>
              <a:rPr b="0" i="0" lang="en-CA" sz="2000" u="none" cap="none" strike="noStrike">
                <a:solidFill>
                  <a:schemeClr val="dk1"/>
                </a:solidFill>
                <a:latin typeface="Calibri"/>
                <a:ea typeface="Calibri"/>
                <a:cs typeface="Calibri"/>
                <a:sym typeface="Calibri"/>
              </a:rPr>
              <a:t>: direction of penstroke = </a:t>
            </a:r>
            <a:r>
              <a:rPr b="0" i="0" lang="en-CA" sz="2000" u="none" cap="none" strike="noStrike">
                <a:solidFill>
                  <a:schemeClr val="accent6"/>
                </a:solidFill>
                <a:latin typeface="Calibri"/>
                <a:ea typeface="Calibri"/>
                <a:cs typeface="Calibri"/>
                <a:sym typeface="Calibri"/>
              </a:rPr>
              <a:t>n</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se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@curve </a:t>
            </a:r>
            <a:r>
              <a:rPr b="0" i="0" lang="en-CA" sz="2000" u="none" cap="none" strike="noStrike">
                <a:solidFill>
                  <a:schemeClr val="dk1"/>
                </a:solidFill>
                <a:latin typeface="Calibri"/>
                <a:ea typeface="Calibri"/>
                <a:cs typeface="Calibri"/>
                <a:sym typeface="Calibri"/>
              </a:rPr>
              <a:t>= </a:t>
            </a:r>
            <a:r>
              <a:rPr b="0" i="0" lang="en-CA" sz="2000" u="none" cap="none" strike="noStrike">
                <a:solidFill>
                  <a:schemeClr val="accent6"/>
                </a:solidFill>
                <a:latin typeface="Calibri"/>
                <a:ea typeface="Calibri"/>
                <a:cs typeface="Calibri"/>
                <a:sym typeface="Calibri"/>
              </a:rPr>
              <a:t>c</a:t>
            </a:r>
            <a:r>
              <a:rPr b="0" i="0" lang="en-CA" sz="2000" u="none" cap="none" strike="noStrike">
                <a:solidFill>
                  <a:schemeClr val="dk1"/>
                </a:solidFill>
                <a:latin typeface="Calibri"/>
                <a:ea typeface="Calibri"/>
                <a:cs typeface="Calibri"/>
                <a:sym typeface="Calibri"/>
              </a:rPr>
              <a:t> | </a:t>
            </a:r>
            <a:r>
              <a:rPr b="0" i="0" lang="en-CA" sz="2000" u="none" cap="none" strike="noStrike">
                <a:solidFill>
                  <a:schemeClr val="accent6"/>
                </a:solidFill>
                <a:latin typeface="Calibri"/>
                <a:ea typeface="Calibri"/>
                <a:cs typeface="Calibri"/>
                <a:sym typeface="Calibri"/>
              </a:rPr>
              <a:t>a</a:t>
            </a:r>
            <a:endParaRPr/>
          </a:p>
          <a:p>
            <a:pPr indent="-228594" lvl="1" marL="694238" marR="0" rtl="0" algn="l">
              <a:spcBef>
                <a:spcPts val="1200"/>
              </a:spcBef>
              <a:spcAft>
                <a:spcPts val="0"/>
              </a:spcAft>
              <a:buClr>
                <a:schemeClr val="accent2"/>
              </a:buClr>
              <a:buSzPts val="1500"/>
              <a:buFont typeface="Noto Sans Symbols"/>
              <a:buChar char="❖"/>
            </a:pPr>
            <a:r>
              <a:rPr b="0" i="0" lang="en-CA" sz="2000" u="none" cap="none" strike="noStrike">
                <a:solidFill>
                  <a:schemeClr val="accent2"/>
                </a:solidFill>
                <a:latin typeface="Calibri"/>
                <a:ea typeface="Calibri"/>
                <a:cs typeface="Calibri"/>
                <a:sym typeface="Calibri"/>
              </a:rPr>
              <a:t>… </a:t>
            </a:r>
            <a:endParaRPr/>
          </a:p>
        </p:txBody>
      </p:sp>
      <p:grpSp>
        <p:nvGrpSpPr>
          <p:cNvPr id="576" name="Google Shape;576;p38"/>
          <p:cNvGrpSpPr/>
          <p:nvPr/>
        </p:nvGrpSpPr>
        <p:grpSpPr>
          <a:xfrm>
            <a:off x="347051" y="4416444"/>
            <a:ext cx="5995629" cy="1992720"/>
            <a:chOff x="309484" y="4881691"/>
            <a:chExt cx="5995629" cy="2198400"/>
          </a:xfrm>
        </p:grpSpPr>
        <p:grpSp>
          <p:nvGrpSpPr>
            <p:cNvPr id="577" name="Google Shape;577;p38"/>
            <p:cNvGrpSpPr/>
            <p:nvPr/>
          </p:nvGrpSpPr>
          <p:grpSpPr>
            <a:xfrm>
              <a:off x="309484" y="4881691"/>
              <a:ext cx="5995629" cy="2198400"/>
              <a:chOff x="221849" y="4094073"/>
              <a:chExt cx="5995629" cy="2198400"/>
            </a:xfrm>
          </p:grpSpPr>
          <p:sp>
            <p:nvSpPr>
              <p:cNvPr id="578" name="Google Shape;578;p38"/>
              <p:cNvSpPr txBox="1"/>
              <p:nvPr/>
            </p:nvSpPr>
            <p:spPr>
              <a:xfrm>
                <a:off x="1621478" y="4094073"/>
                <a:ext cx="4596000" cy="2198400"/>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72000" lIns="90000" spcFirstLastPara="1" rIns="91425" wrap="square" tIns="72000">
                <a:spAutoFit/>
              </a:bodyPr>
              <a:lstStyle/>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neume</a:t>
                </a:r>
                <a:r>
                  <a:rPr lang="en-CA" sz="2400">
                    <a:solidFill>
                      <a:schemeClr val="dk1"/>
                    </a:solidFill>
                    <a:latin typeface="Consolas"/>
                    <a:ea typeface="Consolas"/>
                    <a:cs typeface="Consolas"/>
                    <a:sym typeface="Consolas"/>
                  </a:rPr>
                  <a:t>&gt;</a:t>
                </a:r>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nc </a:t>
                </a:r>
                <a:r>
                  <a:rPr lang="en-CA" sz="2400">
                    <a:solidFill>
                      <a:schemeClr val="accent2"/>
                    </a:solidFill>
                    <a:latin typeface="Consolas"/>
                    <a:ea typeface="Consolas"/>
                    <a:cs typeface="Consolas"/>
                    <a:sym typeface="Consolas"/>
                  </a:rPr>
                  <a:t>tilt</a:t>
                </a:r>
                <a:r>
                  <a:rPr lang="en-CA" sz="2400">
                    <a:solidFill>
                      <a:schemeClr val="dk1"/>
                    </a:solidFill>
                    <a:latin typeface="Consolas"/>
                    <a:ea typeface="Consolas"/>
                    <a:cs typeface="Consolas"/>
                    <a:sym typeface="Consolas"/>
                  </a:rPr>
                  <a:t>=</a:t>
                </a:r>
                <a:r>
                  <a:rPr lang="en-CA" sz="2400">
                    <a:solidFill>
                      <a:srgbClr val="000000"/>
                    </a:solidFill>
                    <a:latin typeface="Consolas"/>
                    <a:ea typeface="Consolas"/>
                    <a:cs typeface="Consolas"/>
                    <a:sym typeface="Consolas"/>
                  </a:rPr>
                  <a:t>"</a:t>
                </a:r>
                <a:r>
                  <a:rPr lang="en-CA" sz="2400">
                    <a:solidFill>
                      <a:schemeClr val="accent6"/>
                    </a:solidFill>
                    <a:latin typeface="Consolas"/>
                    <a:ea typeface="Consolas"/>
                    <a:cs typeface="Consolas"/>
                    <a:sym typeface="Consolas"/>
                  </a:rPr>
                  <a:t>ne</a:t>
                </a:r>
                <a:r>
                  <a:rPr lang="en-CA" sz="2400">
                    <a:solidFill>
                      <a:srgbClr val="000000"/>
                    </a:solidFill>
                    <a:latin typeface="Consolas"/>
                    <a:ea typeface="Consolas"/>
                    <a:cs typeface="Consolas"/>
                    <a:sym typeface="Consolas"/>
                  </a:rPr>
                  <a:t>"</a:t>
                </a:r>
                <a:r>
                  <a:rPr lang="en-CA" sz="2400">
                    <a:solidFill>
                      <a:schemeClr val="dk1"/>
                    </a:solidFill>
                    <a:latin typeface="Consolas"/>
                    <a:ea typeface="Consolas"/>
                    <a:cs typeface="Consolas"/>
                    <a:sym typeface="Consolas"/>
                  </a:rPr>
                  <a:t> /&gt;</a:t>
                </a:r>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nc</a:t>
                </a:r>
                <a:r>
                  <a:rPr lang="en-CA" sz="2400">
                    <a:solidFill>
                      <a:schemeClr val="dk1"/>
                    </a:solidFill>
                    <a:latin typeface="Consolas"/>
                    <a:ea typeface="Consolas"/>
                    <a:cs typeface="Consolas"/>
                    <a:sym typeface="Consolas"/>
                  </a:rPr>
                  <a:t> </a:t>
                </a:r>
                <a:r>
                  <a:rPr lang="en-CA" sz="2400">
                    <a:solidFill>
                      <a:schemeClr val="accent2"/>
                    </a:solidFill>
                    <a:latin typeface="Consolas"/>
                    <a:ea typeface="Consolas"/>
                    <a:cs typeface="Consolas"/>
                    <a:sym typeface="Consolas"/>
                  </a:rPr>
                  <a:t>tilt</a:t>
                </a:r>
                <a:r>
                  <a:rPr lang="en-CA" sz="2400">
                    <a:solidFill>
                      <a:schemeClr val="dk1"/>
                    </a:solidFill>
                    <a:latin typeface="Consolas"/>
                    <a:ea typeface="Consolas"/>
                    <a:cs typeface="Consolas"/>
                    <a:sym typeface="Consolas"/>
                  </a:rPr>
                  <a:t>=</a:t>
                </a:r>
                <a:r>
                  <a:rPr lang="en-CA" sz="2400">
                    <a:solidFill>
                      <a:srgbClr val="000000"/>
                    </a:solidFill>
                    <a:latin typeface="Consolas"/>
                    <a:ea typeface="Consolas"/>
                    <a:cs typeface="Consolas"/>
                    <a:sym typeface="Consolas"/>
                  </a:rPr>
                  <a:t>"</a:t>
                </a:r>
                <a:r>
                  <a:rPr lang="en-CA" sz="2400">
                    <a:solidFill>
                      <a:schemeClr val="accent6"/>
                    </a:solidFill>
                    <a:latin typeface="Consolas"/>
                    <a:ea typeface="Consolas"/>
                    <a:cs typeface="Consolas"/>
                    <a:sym typeface="Consolas"/>
                  </a:rPr>
                  <a:t>se</a:t>
                </a:r>
                <a:r>
                  <a:rPr lang="en-CA" sz="2400">
                    <a:solidFill>
                      <a:srgbClr val="000000"/>
                    </a:solidFill>
                    <a:latin typeface="Consolas"/>
                    <a:ea typeface="Consolas"/>
                    <a:cs typeface="Consolas"/>
                    <a:sym typeface="Consolas"/>
                  </a:rPr>
                  <a:t>"</a:t>
                </a:r>
                <a:r>
                  <a:rPr lang="en-CA" sz="2400">
                    <a:solidFill>
                      <a:srgbClr val="0070C0"/>
                    </a:solidFill>
                    <a:latin typeface="Consolas"/>
                    <a:ea typeface="Consolas"/>
                    <a:cs typeface="Consolas"/>
                    <a:sym typeface="Consolas"/>
                  </a:rPr>
                  <a:t> </a:t>
                </a:r>
                <a:r>
                  <a:rPr lang="en-CA" sz="2400">
                    <a:solidFill>
                      <a:schemeClr val="accent2"/>
                    </a:solidFill>
                    <a:latin typeface="Consolas"/>
                    <a:ea typeface="Consolas"/>
                    <a:cs typeface="Consolas"/>
                    <a:sym typeface="Consolas"/>
                  </a:rPr>
                  <a:t>curve</a:t>
                </a:r>
                <a:r>
                  <a:rPr lang="en-CA" sz="2400">
                    <a:solidFill>
                      <a:schemeClr val="dk1"/>
                    </a:solidFill>
                    <a:latin typeface="Consolas"/>
                    <a:ea typeface="Consolas"/>
                    <a:cs typeface="Consolas"/>
                    <a:sym typeface="Consolas"/>
                  </a:rPr>
                  <a:t>=</a:t>
                </a:r>
                <a:r>
                  <a:rPr lang="en-CA" sz="2400">
                    <a:solidFill>
                      <a:srgbClr val="000000"/>
                    </a:solidFill>
                    <a:latin typeface="Consolas"/>
                    <a:ea typeface="Consolas"/>
                    <a:cs typeface="Consolas"/>
                    <a:sym typeface="Consolas"/>
                  </a:rPr>
                  <a:t>"</a:t>
                </a:r>
                <a:r>
                  <a:rPr lang="en-CA" sz="2400">
                    <a:solidFill>
                      <a:schemeClr val="accent6"/>
                    </a:solidFill>
                    <a:latin typeface="Consolas"/>
                    <a:ea typeface="Consolas"/>
                    <a:cs typeface="Consolas"/>
                    <a:sym typeface="Consolas"/>
                  </a:rPr>
                  <a:t>c</a:t>
                </a:r>
                <a:r>
                  <a:rPr lang="en-CA" sz="2400">
                    <a:solidFill>
                      <a:srgbClr val="000000"/>
                    </a:solidFill>
                    <a:latin typeface="Consolas"/>
                    <a:ea typeface="Consolas"/>
                    <a:cs typeface="Consolas"/>
                    <a:sym typeface="Consolas"/>
                  </a:rPr>
                  <a:t>" </a:t>
                </a:r>
                <a:br>
                  <a:rPr lang="en-CA" sz="2400">
                    <a:solidFill>
                      <a:srgbClr val="000000"/>
                    </a:solidFill>
                    <a:latin typeface="Consolas"/>
                    <a:ea typeface="Consolas"/>
                    <a:cs typeface="Consolas"/>
                    <a:sym typeface="Consolas"/>
                  </a:rPr>
                </a:br>
                <a:r>
                  <a:rPr lang="en-CA" sz="2400">
                    <a:solidFill>
                      <a:srgbClr val="000000"/>
                    </a:solidFill>
                    <a:latin typeface="Consolas"/>
                    <a:ea typeface="Consolas"/>
                    <a:cs typeface="Consolas"/>
                    <a:sym typeface="Consolas"/>
                  </a:rPr>
                  <a:t>    </a:t>
                </a:r>
                <a:r>
                  <a:rPr lang="en-CA" sz="2400">
                    <a:solidFill>
                      <a:schemeClr val="accent2"/>
                    </a:solidFill>
                    <a:latin typeface="Consolas"/>
                    <a:ea typeface="Consolas"/>
                    <a:cs typeface="Consolas"/>
                    <a:sym typeface="Consolas"/>
                  </a:rPr>
                  <a:t>intm</a:t>
                </a:r>
                <a:r>
                  <a:rPr lang="en-CA" sz="2400">
                    <a:solidFill>
                      <a:schemeClr val="dk1"/>
                    </a:solidFill>
                    <a:latin typeface="Consolas"/>
                    <a:ea typeface="Consolas"/>
                    <a:cs typeface="Consolas"/>
                    <a:sym typeface="Consolas"/>
                  </a:rPr>
                  <a:t>=</a:t>
                </a:r>
                <a:r>
                  <a:rPr lang="en-CA" sz="2400">
                    <a:solidFill>
                      <a:srgbClr val="000000"/>
                    </a:solidFill>
                    <a:latin typeface="Consolas"/>
                    <a:ea typeface="Consolas"/>
                    <a:cs typeface="Consolas"/>
                    <a:sym typeface="Consolas"/>
                  </a:rPr>
                  <a:t>"</a:t>
                </a:r>
                <a:r>
                  <a:rPr lang="en-CA" sz="2400">
                    <a:solidFill>
                      <a:schemeClr val="accent6"/>
                    </a:solidFill>
                    <a:latin typeface="Consolas"/>
                    <a:ea typeface="Consolas"/>
                    <a:cs typeface="Consolas"/>
                    <a:sym typeface="Consolas"/>
                  </a:rPr>
                  <a:t>d</a:t>
                </a:r>
                <a:r>
                  <a:rPr lang="en-CA" sz="2400">
                    <a:solidFill>
                      <a:srgbClr val="000000"/>
                    </a:solidFill>
                    <a:latin typeface="Consolas"/>
                    <a:ea typeface="Consolas"/>
                    <a:cs typeface="Consolas"/>
                    <a:sym typeface="Consolas"/>
                  </a:rPr>
                  <a:t>"</a:t>
                </a:r>
                <a:r>
                  <a:rPr lang="en-CA" sz="2400">
                    <a:solidFill>
                      <a:schemeClr val="dk1"/>
                    </a:solidFill>
                    <a:latin typeface="Consolas"/>
                    <a:ea typeface="Consolas"/>
                    <a:cs typeface="Consolas"/>
                    <a:sym typeface="Consolas"/>
                  </a:rPr>
                  <a:t> /&gt;</a:t>
                </a:r>
                <a:endParaRPr b="1" i="1" sz="2400">
                  <a:solidFill>
                    <a:schemeClr val="accent6"/>
                  </a:solidFill>
                  <a:latin typeface="Consolas"/>
                  <a:ea typeface="Consolas"/>
                  <a:cs typeface="Consolas"/>
                  <a:sym typeface="Consolas"/>
                </a:endParaRPr>
              </a:p>
              <a:p>
                <a:pPr indent="0" lvl="0" marL="0" marR="0" rtl="0" algn="l">
                  <a:spcBef>
                    <a:spcPts val="0"/>
                  </a:spcBef>
                  <a:spcAft>
                    <a:spcPts val="0"/>
                  </a:spcAft>
                  <a:buNone/>
                </a:pPr>
                <a:r>
                  <a:rPr lang="en-CA" sz="2400">
                    <a:solidFill>
                      <a:schemeClr val="dk1"/>
                    </a:solidFill>
                    <a:latin typeface="Consolas"/>
                    <a:ea typeface="Consolas"/>
                    <a:cs typeface="Consolas"/>
                    <a:sym typeface="Consolas"/>
                  </a:rPr>
                  <a:t> &lt;/</a:t>
                </a:r>
                <a:r>
                  <a:rPr lang="en-CA" sz="2400">
                    <a:solidFill>
                      <a:srgbClr val="0070C0"/>
                    </a:solidFill>
                    <a:latin typeface="Consolas"/>
                    <a:ea typeface="Consolas"/>
                    <a:cs typeface="Consolas"/>
                    <a:sym typeface="Consolas"/>
                  </a:rPr>
                  <a:t>neume</a:t>
                </a:r>
                <a:r>
                  <a:rPr lang="en-CA" sz="2400">
                    <a:solidFill>
                      <a:schemeClr val="dk1"/>
                    </a:solidFill>
                    <a:latin typeface="Consolas"/>
                    <a:ea typeface="Consolas"/>
                    <a:cs typeface="Consolas"/>
                    <a:sym typeface="Consolas"/>
                  </a:rPr>
                  <a:t>&gt;</a:t>
                </a:r>
                <a:endParaRPr/>
              </a:p>
            </p:txBody>
          </p:sp>
          <p:pic>
            <p:nvPicPr>
              <p:cNvPr id="579" name="Google Shape;579;p38"/>
              <p:cNvPicPr preferRelativeResize="0"/>
              <p:nvPr/>
            </p:nvPicPr>
            <p:blipFill rotWithShape="1">
              <a:blip r:embed="rId3">
                <a:alphaModFix/>
              </a:blip>
              <a:srcRect b="2701" l="18099" r="55330" t="81540"/>
              <a:stretch/>
            </p:blipFill>
            <p:spPr>
              <a:xfrm>
                <a:off x="221849" y="4107203"/>
                <a:ext cx="1422603" cy="2154236"/>
              </a:xfrm>
              <a:prstGeom prst="rect">
                <a:avLst/>
              </a:prstGeom>
              <a:noFill/>
              <a:ln cap="flat" cmpd="sng" w="9525">
                <a:solidFill>
                  <a:schemeClr val="dk1"/>
                </a:solidFill>
                <a:prstDash val="solid"/>
                <a:round/>
                <a:headEnd len="sm" w="sm" type="none"/>
                <a:tailEnd len="sm" w="sm" type="none"/>
              </a:ln>
            </p:spPr>
          </p:pic>
        </p:grpSp>
        <p:sp>
          <p:nvSpPr>
            <p:cNvPr id="580" name="Google Shape;580;p38"/>
            <p:cNvSpPr txBox="1"/>
            <p:nvPr/>
          </p:nvSpPr>
          <p:spPr>
            <a:xfrm>
              <a:off x="3960998" y="6564602"/>
              <a:ext cx="2339102"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CA" sz="1800">
                  <a:solidFill>
                    <a:schemeClr val="dk1"/>
                  </a:solidFill>
                  <a:latin typeface="Calibri"/>
                  <a:ea typeface="Calibri"/>
                  <a:cs typeface="Calibri"/>
                  <a:sym typeface="Calibri"/>
                </a:rPr>
                <a:t>Old hispanic notation</a:t>
              </a:r>
              <a:endParaRPr/>
            </a:p>
          </p:txBody>
        </p:sp>
      </p:grpSp>
      <p:sp>
        <p:nvSpPr>
          <p:cNvPr id="581" name="Google Shape;58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39"/>
          <p:cNvSpPr txBox="1"/>
          <p:nvPr/>
        </p:nvSpPr>
        <p:spPr>
          <a:xfrm>
            <a:off x="1801525" y="4081325"/>
            <a:ext cx="2231700" cy="1323600"/>
          </a:xfrm>
          <a:prstGeom prst="rect">
            <a:avLst/>
          </a:prstGeom>
          <a:noFill/>
          <a:ln>
            <a:noFill/>
          </a:ln>
        </p:spPr>
        <p:txBody>
          <a:bodyPr anchorCtr="0" anchor="t" bIns="45700" lIns="91425" spcFirstLastPara="1" rIns="91425" wrap="square" tIns="45700">
            <a:spAutoFit/>
          </a:bodyPr>
          <a:lstStyle/>
          <a:p>
            <a:pPr indent="-237049" lvl="0" marL="237049" marR="0" rtl="0" algn="l">
              <a:spcBef>
                <a:spcPts val="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episema</a:t>
            </a:r>
            <a:r>
              <a:rPr b="1"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hispanTick</a:t>
            </a:r>
            <a:r>
              <a:rPr b="1"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liquescent</a:t>
            </a:r>
            <a:r>
              <a:rPr b="1" lang="en-CA" sz="2000">
                <a:solidFill>
                  <a:schemeClr val="dk1"/>
                </a:solidFill>
                <a:latin typeface="Calibri"/>
                <a:ea typeface="Calibri"/>
                <a:cs typeface="Calibri"/>
                <a:sym typeface="Calibri"/>
              </a:rPr>
              <a:t>&gt;</a:t>
            </a:r>
            <a:endParaRPr b="1" sz="2000">
              <a:solidFill>
                <a:schemeClr val="dk1"/>
              </a:solidFill>
              <a:latin typeface="Calibri"/>
              <a:ea typeface="Calibri"/>
              <a:cs typeface="Calibri"/>
              <a:sym typeface="Calibri"/>
            </a:endParaRPr>
          </a:p>
        </p:txBody>
      </p:sp>
      <p:cxnSp>
        <p:nvCxnSpPr>
          <p:cNvPr id="588" name="Google Shape;588;p39"/>
          <p:cNvCxnSpPr/>
          <p:nvPr/>
        </p:nvCxnSpPr>
        <p:spPr>
          <a:xfrm>
            <a:off x="6096000" y="594084"/>
            <a:ext cx="0" cy="5232595"/>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589" name="Google Shape;589;p39"/>
          <p:cNvSpPr txBox="1"/>
          <p:nvPr/>
        </p:nvSpPr>
        <p:spPr>
          <a:xfrm>
            <a:off x="548646" y="594084"/>
            <a:ext cx="4937700" cy="34479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 part of the neume</a:t>
            </a:r>
            <a:endParaRPr/>
          </a:p>
          <a:p>
            <a:pPr indent="-237061" lvl="2" marL="11514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&lt;</a:t>
            </a:r>
            <a:r>
              <a:rPr b="1" i="0" lang="en-CA" sz="2000" u="none" cap="none" strike="noStrike">
                <a:solidFill>
                  <a:srgbClr val="0070C0"/>
                </a:solidFill>
                <a:latin typeface="Calibri"/>
                <a:ea typeface="Calibri"/>
                <a:cs typeface="Calibri"/>
                <a:sym typeface="Calibri"/>
              </a:rPr>
              <a:t>nc</a:t>
            </a:r>
            <a:r>
              <a:rPr b="1" i="0" lang="en-CA" sz="2000" u="none" cap="none" strike="noStrike">
                <a:solidFill>
                  <a:schemeClr val="dk1"/>
                </a:solidFill>
                <a:latin typeface="Calibri"/>
                <a:ea typeface="Calibri"/>
                <a:cs typeface="Calibri"/>
                <a:sym typeface="Calibri"/>
              </a:rPr>
              <a:t>&gt; can have children too:</a:t>
            </a:r>
            <a:endParaRPr/>
          </a:p>
        </p:txBody>
      </p:sp>
      <p:sp>
        <p:nvSpPr>
          <p:cNvPr id="590" name="Google Shape;590;p39"/>
          <p:cNvSpPr txBox="1"/>
          <p:nvPr/>
        </p:nvSpPr>
        <p:spPr>
          <a:xfrm>
            <a:off x="548646" y="5987019"/>
            <a:ext cx="87135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3">
                  <a:extLst>
                    <a:ext uri="{A12FA001-AC4F-418D-AE19-62706E023703}">
                      <ahyp:hlinkClr val="tx"/>
                    </a:ext>
                  </a:extLst>
                </a:hlinkClick>
              </a:rPr>
              <a:t>https://music-encoding.org/guidelines/v5/elements/nc.html#mayContain_class_tab</a:t>
            </a:r>
            <a:endParaRPr sz="1800">
              <a:solidFill>
                <a:schemeClr val="dk1"/>
              </a:solidFill>
              <a:latin typeface="Calibri"/>
              <a:ea typeface="Calibri"/>
              <a:cs typeface="Calibri"/>
              <a:sym typeface="Calibri"/>
            </a:endParaRPr>
          </a:p>
        </p:txBody>
      </p:sp>
      <p:sp>
        <p:nvSpPr>
          <p:cNvPr id="591" name="Google Shape;59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592" name="Google Shape;592;p39"/>
          <p:cNvSpPr txBox="1"/>
          <p:nvPr/>
        </p:nvSpPr>
        <p:spPr>
          <a:xfrm>
            <a:off x="3789575" y="4044150"/>
            <a:ext cx="2231700" cy="1323600"/>
          </a:xfrm>
          <a:prstGeom prst="rect">
            <a:avLst/>
          </a:prstGeom>
          <a:noFill/>
          <a:ln>
            <a:noFill/>
          </a:ln>
        </p:spPr>
        <p:txBody>
          <a:bodyPr anchorCtr="0" anchor="t" bIns="45700" lIns="91425" spcFirstLastPara="1" rIns="91425" wrap="square" tIns="45700">
            <a:spAutoFit/>
          </a:bodyPr>
          <a:lstStyle/>
          <a:p>
            <a:pPr indent="-237049" lvl="0" marL="237049" marR="0" rtl="0" algn="l">
              <a:spcBef>
                <a:spcPts val="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oriscus</a:t>
            </a:r>
            <a:r>
              <a:rPr b="1"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quilisma</a:t>
            </a:r>
            <a:r>
              <a:rPr b="1"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strophicus</a:t>
            </a:r>
            <a:r>
              <a:rPr b="1" lang="en-CA" sz="2000">
                <a:solidFill>
                  <a:schemeClr val="dk1"/>
                </a:solidFill>
                <a:latin typeface="Calibri"/>
                <a:ea typeface="Calibri"/>
                <a:cs typeface="Calibri"/>
                <a:sym typeface="Calibri"/>
              </a:rPr>
              <a:t>&gt;</a:t>
            </a:r>
            <a:endParaRPr b="1" sz="20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cxnSp>
        <p:nvCxnSpPr>
          <p:cNvPr id="598" name="Google Shape;598;p40"/>
          <p:cNvCxnSpPr/>
          <p:nvPr/>
        </p:nvCxnSpPr>
        <p:spPr>
          <a:xfrm>
            <a:off x="6096000" y="594084"/>
            <a:ext cx="0" cy="5232595"/>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599" name="Google Shape;599;p40"/>
          <p:cNvSpPr txBox="1"/>
          <p:nvPr/>
        </p:nvSpPr>
        <p:spPr>
          <a:xfrm>
            <a:off x="548646" y="594084"/>
            <a:ext cx="4937700" cy="34479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 part of the neume</a:t>
            </a:r>
            <a:endParaRPr/>
          </a:p>
          <a:p>
            <a:pPr indent="-237061" lvl="2" marL="11514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&lt;</a:t>
            </a:r>
            <a:r>
              <a:rPr b="1" i="0" lang="en-CA" sz="2000" u="none" cap="none" strike="noStrike">
                <a:solidFill>
                  <a:srgbClr val="0070C0"/>
                </a:solidFill>
                <a:latin typeface="Calibri"/>
                <a:ea typeface="Calibri"/>
                <a:cs typeface="Calibri"/>
                <a:sym typeface="Calibri"/>
              </a:rPr>
              <a:t>nc</a:t>
            </a:r>
            <a:r>
              <a:rPr b="1" i="0" lang="en-CA" sz="2000" u="none" cap="none" strike="noStrike">
                <a:solidFill>
                  <a:schemeClr val="dk1"/>
                </a:solidFill>
                <a:latin typeface="Calibri"/>
                <a:ea typeface="Calibri"/>
                <a:cs typeface="Calibri"/>
                <a:sym typeface="Calibri"/>
              </a:rPr>
              <a:t>&gt; can have children too:</a:t>
            </a:r>
            <a:endParaRPr/>
          </a:p>
        </p:txBody>
      </p:sp>
      <p:sp>
        <p:nvSpPr>
          <p:cNvPr id="600" name="Google Shape;600;p40"/>
          <p:cNvSpPr txBox="1"/>
          <p:nvPr/>
        </p:nvSpPr>
        <p:spPr>
          <a:xfrm>
            <a:off x="548646" y="5987019"/>
            <a:ext cx="87135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3">
                  <a:extLst>
                    <a:ext uri="{A12FA001-AC4F-418D-AE19-62706E023703}">
                      <ahyp:hlinkClr val="tx"/>
                    </a:ext>
                  </a:extLst>
                </a:hlinkClick>
              </a:rPr>
              <a:t>https://music-encoding.org/guidelines/v5/elements/nc.html#mayContain_class_tab</a:t>
            </a:r>
            <a:endParaRPr sz="1800">
              <a:solidFill>
                <a:schemeClr val="dk1"/>
              </a:solidFill>
              <a:latin typeface="Calibri"/>
              <a:ea typeface="Calibri"/>
              <a:cs typeface="Calibri"/>
              <a:sym typeface="Calibri"/>
            </a:endParaRPr>
          </a:p>
        </p:txBody>
      </p:sp>
      <p:grpSp>
        <p:nvGrpSpPr>
          <p:cNvPr id="601" name="Google Shape;601;p40"/>
          <p:cNvGrpSpPr/>
          <p:nvPr/>
        </p:nvGrpSpPr>
        <p:grpSpPr>
          <a:xfrm>
            <a:off x="6331743" y="3155081"/>
            <a:ext cx="5118527" cy="2690828"/>
            <a:chOff x="6235271" y="3411307"/>
            <a:chExt cx="5118527" cy="2690828"/>
          </a:xfrm>
        </p:grpSpPr>
        <p:grpSp>
          <p:nvGrpSpPr>
            <p:cNvPr id="602" name="Google Shape;602;p40"/>
            <p:cNvGrpSpPr/>
            <p:nvPr/>
          </p:nvGrpSpPr>
          <p:grpSpPr>
            <a:xfrm>
              <a:off x="6235271" y="3411307"/>
              <a:ext cx="5118527" cy="2690828"/>
              <a:chOff x="6235271" y="3411307"/>
              <a:chExt cx="5118527" cy="2690828"/>
            </a:xfrm>
          </p:grpSpPr>
          <p:sp>
            <p:nvSpPr>
              <p:cNvPr id="603" name="Google Shape;603;p40"/>
              <p:cNvSpPr txBox="1"/>
              <p:nvPr/>
            </p:nvSpPr>
            <p:spPr>
              <a:xfrm>
                <a:off x="6235271" y="3411307"/>
                <a:ext cx="5118527" cy="2690828"/>
              </a:xfrm>
              <a:prstGeom prst="rect">
                <a:avLst/>
              </a:prstGeom>
              <a:solidFill>
                <a:srgbClr val="D8D8D8"/>
              </a:solidFill>
              <a:ln cap="flat" cmpd="sng" w="28575">
                <a:solidFill>
                  <a:schemeClr val="dk1"/>
                </a:solidFill>
                <a:prstDash val="solid"/>
                <a:round/>
                <a:headEnd len="sm" w="sm" type="none"/>
                <a:tailEnd len="sm" w="sm" type="none"/>
              </a:ln>
            </p:spPr>
            <p:txBody>
              <a:bodyPr anchorCtr="0" anchor="ctr" bIns="108000" lIns="216000" spcFirstLastPara="1" rIns="68575" wrap="square" tIns="108000">
                <a:normAutofit/>
              </a:bodyPr>
              <a:lstStyle/>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&lt;</a:t>
                </a:r>
                <a:r>
                  <a:rPr b="0" i="0" lang="en-CA" sz="2400" u="none" cap="none" strike="noStrike">
                    <a:solidFill>
                      <a:srgbClr val="0070C0"/>
                    </a:solidFill>
                    <a:latin typeface="Consolas"/>
                    <a:ea typeface="Consolas"/>
                    <a:cs typeface="Consolas"/>
                    <a:sym typeface="Consolas"/>
                  </a:rPr>
                  <a:t>neume</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nc</a:t>
                </a:r>
                <a:r>
                  <a:rPr b="0" i="0" lang="en-CA" sz="2400" u="none" cap="none" strike="noStrike">
                    <a:solidFill>
                      <a:schemeClr val="dk1"/>
                    </a:solidFill>
                    <a:latin typeface="Consolas"/>
                    <a:ea typeface="Consolas"/>
                    <a:cs typeface="Consolas"/>
                    <a:sym typeface="Consolas"/>
                  </a:rPr>
                  <a:t> </a:t>
                </a:r>
                <a:r>
                  <a:rPr b="0" i="0" lang="en-CA" sz="2400" u="none" cap="none" strike="noStrike">
                    <a:solidFill>
                      <a:srgbClr val="E46E16"/>
                    </a:solidFill>
                    <a:latin typeface="Consolas"/>
                    <a:ea typeface="Consolas"/>
                    <a:cs typeface="Consolas"/>
                    <a:sym typeface="Consolas"/>
                  </a:rPr>
                  <a:t>tilt</a:t>
                </a:r>
                <a:r>
                  <a:rPr b="0" i="0" lang="en-CA" sz="2400" u="none" cap="none" strike="noStrike">
                    <a:solidFill>
                      <a:schemeClr val="dk1"/>
                    </a:solidFill>
                    <a:latin typeface="Consolas"/>
                    <a:ea typeface="Consolas"/>
                    <a:cs typeface="Consolas"/>
                    <a:sym typeface="Consolas"/>
                  </a:rPr>
                  <a:t>="</a:t>
                </a:r>
                <a:r>
                  <a:rPr b="0" i="0" lang="en-CA" sz="2400" u="none" cap="none" strike="noStrike">
                    <a:solidFill>
                      <a:srgbClr val="548135"/>
                    </a:solidFill>
                    <a:latin typeface="Consolas"/>
                    <a:ea typeface="Consolas"/>
                    <a:cs typeface="Consolas"/>
                    <a:sym typeface="Consolas"/>
                  </a:rPr>
                  <a:t>e</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nc</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oriscus</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nc</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nc</a:t>
                </a:r>
                <a:r>
                  <a:rPr b="0" i="0" lang="en-CA" sz="2400" u="none" cap="none" strike="noStrike">
                    <a:solidFill>
                      <a:schemeClr val="dk1"/>
                    </a:solidFill>
                    <a:latin typeface="Consolas"/>
                    <a:ea typeface="Consolas"/>
                    <a:cs typeface="Consolas"/>
                    <a:sym typeface="Consolas"/>
                  </a:rPr>
                  <a:t> </a:t>
                </a:r>
                <a:r>
                  <a:rPr b="0" i="0" lang="en-CA" sz="2400" u="none" cap="none" strike="noStrike">
                    <a:solidFill>
                      <a:srgbClr val="E46E16"/>
                    </a:solidFill>
                    <a:latin typeface="Consolas"/>
                    <a:ea typeface="Consolas"/>
                    <a:cs typeface="Consolas"/>
                    <a:sym typeface="Consolas"/>
                  </a:rPr>
                  <a:t>tilt</a:t>
                </a:r>
                <a:r>
                  <a:rPr b="0" i="0" lang="en-CA" sz="2400" u="none" cap="none" strike="noStrike">
                    <a:solidFill>
                      <a:schemeClr val="dk1"/>
                    </a:solidFill>
                    <a:latin typeface="Consolas"/>
                    <a:ea typeface="Consolas"/>
                    <a:cs typeface="Consolas"/>
                    <a:sym typeface="Consolas"/>
                  </a:rPr>
                  <a:t>="</a:t>
                </a:r>
                <a:r>
                  <a:rPr b="0" i="0" lang="en-CA" sz="2400" u="none" cap="none" strike="noStrike">
                    <a:solidFill>
                      <a:srgbClr val="548135"/>
                    </a:solidFill>
                    <a:latin typeface="Consolas"/>
                    <a:ea typeface="Consolas"/>
                    <a:cs typeface="Consolas"/>
                    <a:sym typeface="Consolas"/>
                  </a:rPr>
                  <a:t>ne</a:t>
                </a:r>
                <a:r>
                  <a:rPr b="0" i="0" lang="en-CA" sz="2400" u="none" cap="none" strike="noStrike">
                    <a:solidFill>
                      <a:schemeClr val="dk1"/>
                    </a:solidFill>
                    <a:latin typeface="Consolas"/>
                    <a:ea typeface="Consolas"/>
                    <a:cs typeface="Consolas"/>
                    <a:sym typeface="Consolas"/>
                  </a:rPr>
                  <a:t>" </a:t>
                </a:r>
                <a:r>
                  <a:rPr b="0" i="0" lang="en-CA" sz="2400" u="none" cap="none" strike="noStrike">
                    <a:solidFill>
                      <a:srgbClr val="E46E16"/>
                    </a:solidFill>
                    <a:latin typeface="Consolas"/>
                    <a:ea typeface="Consolas"/>
                    <a:cs typeface="Consolas"/>
                    <a:sym typeface="Consolas"/>
                  </a:rPr>
                  <a:t>intm</a:t>
                </a:r>
                <a:r>
                  <a:rPr b="0" i="0" lang="en-CA" sz="2400" u="none" cap="none" strike="noStrike">
                    <a:solidFill>
                      <a:schemeClr val="dk1"/>
                    </a:solidFill>
                    <a:latin typeface="Consolas"/>
                    <a:ea typeface="Consolas"/>
                    <a:cs typeface="Consolas"/>
                    <a:sym typeface="Consolas"/>
                  </a:rPr>
                  <a:t>="</a:t>
                </a:r>
                <a:r>
                  <a:rPr b="0" i="0" lang="en-CA" sz="2400" u="none" cap="none" strike="noStrike">
                    <a:solidFill>
                      <a:srgbClr val="548135"/>
                    </a:solidFill>
                    <a:latin typeface="Consolas"/>
                    <a:ea typeface="Consolas"/>
                    <a:cs typeface="Consolas"/>
                    <a:sym typeface="Consolas"/>
                  </a:rPr>
                  <a:t>u</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&lt;/</a:t>
                </a:r>
                <a:r>
                  <a:rPr b="0" i="0" lang="en-CA" sz="2400" u="none" cap="none" strike="noStrike">
                    <a:solidFill>
                      <a:srgbClr val="0070C0"/>
                    </a:solidFill>
                    <a:latin typeface="Consolas"/>
                    <a:ea typeface="Consolas"/>
                    <a:cs typeface="Consolas"/>
                    <a:sym typeface="Consolas"/>
                  </a:rPr>
                  <a:t>neume</a:t>
                </a:r>
                <a:r>
                  <a:rPr b="0" i="0" lang="en-CA" sz="2400" u="none" cap="none" strike="noStrike">
                    <a:solidFill>
                      <a:schemeClr val="dk1"/>
                    </a:solidFill>
                    <a:latin typeface="Consolas"/>
                    <a:ea typeface="Consolas"/>
                    <a:cs typeface="Consolas"/>
                    <a:sym typeface="Consolas"/>
                  </a:rPr>
                  <a:t>&gt;</a:t>
                </a:r>
                <a:endParaRPr/>
              </a:p>
            </p:txBody>
          </p:sp>
          <p:pic>
            <p:nvPicPr>
              <p:cNvPr id="604" name="Google Shape;604;p40"/>
              <p:cNvPicPr preferRelativeResize="0"/>
              <p:nvPr/>
            </p:nvPicPr>
            <p:blipFill rotWithShape="1">
              <a:blip r:embed="rId4">
                <a:alphaModFix/>
              </a:blip>
              <a:srcRect b="72595" l="11397" r="19659" t="6442"/>
              <a:stretch/>
            </p:blipFill>
            <p:spPr>
              <a:xfrm>
                <a:off x="9642758" y="3430434"/>
                <a:ext cx="1695450" cy="1295400"/>
              </a:xfrm>
              <a:prstGeom prst="rect">
                <a:avLst/>
              </a:prstGeom>
              <a:noFill/>
              <a:ln cap="flat" cmpd="sng" w="28575">
                <a:solidFill>
                  <a:schemeClr val="dk1"/>
                </a:solidFill>
                <a:prstDash val="solid"/>
                <a:round/>
                <a:headEnd len="sm" w="sm" type="none"/>
                <a:tailEnd len="sm" w="sm" type="none"/>
              </a:ln>
            </p:spPr>
          </p:pic>
        </p:grpSp>
        <p:sp>
          <p:nvSpPr>
            <p:cNvPr id="605" name="Google Shape;605;p40"/>
            <p:cNvSpPr txBox="1"/>
            <p:nvPr/>
          </p:nvSpPr>
          <p:spPr>
            <a:xfrm>
              <a:off x="10403616" y="5724791"/>
              <a:ext cx="9412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St. Gall</a:t>
              </a:r>
              <a:endParaRPr/>
            </a:p>
          </p:txBody>
        </p:sp>
      </p:grpSp>
      <p:sp>
        <p:nvSpPr>
          <p:cNvPr id="606" name="Google Shape;60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607" name="Google Shape;607;p40"/>
          <p:cNvSpPr txBox="1"/>
          <p:nvPr/>
        </p:nvSpPr>
        <p:spPr>
          <a:xfrm>
            <a:off x="1801525" y="4081325"/>
            <a:ext cx="2231700" cy="1323600"/>
          </a:xfrm>
          <a:prstGeom prst="rect">
            <a:avLst/>
          </a:prstGeom>
          <a:noFill/>
          <a:ln>
            <a:noFill/>
          </a:ln>
        </p:spPr>
        <p:txBody>
          <a:bodyPr anchorCtr="0" anchor="t" bIns="45700" lIns="91425" spcFirstLastPara="1" rIns="91425" wrap="square" tIns="45700">
            <a:spAutoFit/>
          </a:bodyPr>
          <a:lstStyle/>
          <a:p>
            <a:pPr indent="-237049" lvl="0" marL="237049" marR="0" rtl="0" algn="l">
              <a:spcBef>
                <a:spcPts val="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episema</a:t>
            </a:r>
            <a:r>
              <a:rPr b="1"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hispanTick</a:t>
            </a:r>
            <a:r>
              <a:rPr b="1"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liquescent</a:t>
            </a:r>
            <a:r>
              <a:rPr b="1" lang="en-CA" sz="2000">
                <a:solidFill>
                  <a:schemeClr val="dk1"/>
                </a:solidFill>
                <a:latin typeface="Calibri"/>
                <a:ea typeface="Calibri"/>
                <a:cs typeface="Calibri"/>
                <a:sym typeface="Calibri"/>
              </a:rPr>
              <a:t>&gt;</a:t>
            </a:r>
            <a:endParaRPr b="1" sz="2000">
              <a:solidFill>
                <a:schemeClr val="dk1"/>
              </a:solidFill>
              <a:latin typeface="Calibri"/>
              <a:ea typeface="Calibri"/>
              <a:cs typeface="Calibri"/>
              <a:sym typeface="Calibri"/>
            </a:endParaRPr>
          </a:p>
        </p:txBody>
      </p:sp>
      <p:sp>
        <p:nvSpPr>
          <p:cNvPr id="608" name="Google Shape;608;p40"/>
          <p:cNvSpPr txBox="1"/>
          <p:nvPr/>
        </p:nvSpPr>
        <p:spPr>
          <a:xfrm>
            <a:off x="3789575" y="4044150"/>
            <a:ext cx="2231700" cy="1323600"/>
          </a:xfrm>
          <a:prstGeom prst="rect">
            <a:avLst/>
          </a:prstGeom>
          <a:noFill/>
          <a:ln>
            <a:noFill/>
          </a:ln>
        </p:spPr>
        <p:txBody>
          <a:bodyPr anchorCtr="0" anchor="t" bIns="45700" lIns="91425" spcFirstLastPara="1" rIns="91425" wrap="square" tIns="45700">
            <a:spAutoFit/>
          </a:bodyPr>
          <a:lstStyle/>
          <a:p>
            <a:pPr indent="-237049" lvl="0" marL="237049" marR="0" rtl="0" algn="l">
              <a:spcBef>
                <a:spcPts val="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oriscus</a:t>
            </a:r>
            <a:r>
              <a:rPr b="1"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quilisma</a:t>
            </a:r>
            <a:r>
              <a:rPr b="1"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b="1" lang="en-CA" sz="2000">
                <a:solidFill>
                  <a:schemeClr val="dk1"/>
                </a:solidFill>
                <a:latin typeface="Calibri"/>
                <a:ea typeface="Calibri"/>
                <a:cs typeface="Calibri"/>
                <a:sym typeface="Calibri"/>
              </a:rPr>
              <a:t>&lt;</a:t>
            </a:r>
            <a:r>
              <a:rPr b="1" lang="en-CA" sz="2000">
                <a:solidFill>
                  <a:srgbClr val="0070C0"/>
                </a:solidFill>
                <a:latin typeface="Calibri"/>
                <a:ea typeface="Calibri"/>
                <a:cs typeface="Calibri"/>
                <a:sym typeface="Calibri"/>
              </a:rPr>
              <a:t>strophicus</a:t>
            </a:r>
            <a:r>
              <a:rPr b="1" lang="en-CA" sz="2000">
                <a:solidFill>
                  <a:schemeClr val="dk1"/>
                </a:solidFill>
                <a:latin typeface="Calibri"/>
                <a:ea typeface="Calibri"/>
                <a:cs typeface="Calibri"/>
                <a:sym typeface="Calibri"/>
              </a:rPr>
              <a:t>&gt;</a:t>
            </a:r>
            <a:endParaRPr b="1" sz="20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cxnSp>
        <p:nvCxnSpPr>
          <p:cNvPr id="614" name="Google Shape;614;p41"/>
          <p:cNvCxnSpPr/>
          <p:nvPr/>
        </p:nvCxnSpPr>
        <p:spPr>
          <a:xfrm>
            <a:off x="6096000" y="594084"/>
            <a:ext cx="0" cy="5232595"/>
          </a:xfrm>
          <a:prstGeom prst="straightConnector1">
            <a:avLst/>
          </a:prstGeom>
          <a:noFill/>
          <a:ln cap="flat" cmpd="sng" w="571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cxnSp>
      <p:sp>
        <p:nvSpPr>
          <p:cNvPr id="615" name="Google Shape;615;p41"/>
          <p:cNvSpPr txBox="1"/>
          <p:nvPr/>
        </p:nvSpPr>
        <p:spPr>
          <a:xfrm>
            <a:off x="548646" y="594084"/>
            <a:ext cx="4937700" cy="3447900"/>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800">
                <a:solidFill>
                  <a:schemeClr val="dk1"/>
                </a:solidFill>
                <a:latin typeface="Calibri"/>
                <a:ea typeface="Calibri"/>
                <a:cs typeface="Calibri"/>
                <a:sym typeface="Calibri"/>
              </a:rPr>
              <a:t>Elements</a:t>
            </a:r>
            <a:endParaRPr b="1" sz="2000">
              <a:solidFill>
                <a:schemeClr val="dk1"/>
              </a:solidFill>
              <a:latin typeface="Calibri"/>
              <a:ea typeface="Calibri"/>
              <a:cs typeface="Calibri"/>
              <a:sym typeface="Calibri"/>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syllable</a:t>
            </a:r>
            <a:r>
              <a:rPr lang="en-CA" sz="2000">
                <a:solidFill>
                  <a:schemeClr val="dk1"/>
                </a:solidFill>
                <a:latin typeface="Calibri"/>
                <a:ea typeface="Calibri"/>
                <a:cs typeface="Calibri"/>
                <a:sym typeface="Calibri"/>
              </a:rPr>
              <a:t>&gt;</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a:t>
            </a:r>
            <a:r>
              <a:rPr b="0" i="0" lang="en-CA" sz="2000" u="none" cap="none" strike="noStrike">
                <a:solidFill>
                  <a:schemeClr val="dk1"/>
                </a:solidFill>
                <a:latin typeface="Calibri"/>
                <a:ea typeface="Calibri"/>
                <a:cs typeface="Calibri"/>
                <a:sym typeface="Calibri"/>
              </a:rPr>
              <a:t> &lt;</a:t>
            </a:r>
            <a:r>
              <a:rPr b="0" i="0" lang="en-CA" sz="2000" u="none" cap="none" strike="noStrike">
                <a:solidFill>
                  <a:srgbClr val="0070C0"/>
                </a:solidFill>
                <a:latin typeface="Calibri"/>
                <a:ea typeface="Calibri"/>
                <a:cs typeface="Calibri"/>
                <a:sym typeface="Calibri"/>
              </a:rPr>
              <a:t>syl</a:t>
            </a:r>
            <a:r>
              <a:rPr b="0" i="0" lang="en-CA" sz="2000" u="none" cap="none" strike="noStrike">
                <a:solidFill>
                  <a:schemeClr val="dk1"/>
                </a:solidFill>
                <a:latin typeface="Calibri"/>
                <a:ea typeface="Calibri"/>
                <a:cs typeface="Calibri"/>
                <a:sym typeface="Calibri"/>
              </a:rPr>
              <a:t>&gt; child</a:t>
            </a:r>
            <a:endParaRPr/>
          </a:p>
          <a:p>
            <a:pPr indent="-237061" lvl="1" marL="694249" marR="0" rtl="0" algn="l">
              <a:spcBef>
                <a:spcPts val="1200"/>
              </a:spcBef>
              <a:spcAft>
                <a:spcPts val="0"/>
              </a:spcAft>
              <a:buClr>
                <a:schemeClr val="dk1"/>
              </a:buClr>
              <a:buSzPts val="1800"/>
              <a:buFont typeface="Courier New"/>
              <a:buChar char="o"/>
            </a:pPr>
            <a:r>
              <a:rPr b="1" i="0" lang="en-CA" sz="2000" u="none" cap="none" strike="noStrike">
                <a:solidFill>
                  <a:schemeClr val="dk1"/>
                </a:solidFill>
                <a:latin typeface="Calibri"/>
                <a:ea typeface="Calibri"/>
                <a:cs typeface="Calibri"/>
                <a:sym typeface="Calibri"/>
              </a:rPr>
              <a:t>One or more </a:t>
            </a: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neume</a:t>
            </a:r>
            <a:r>
              <a:rPr b="0" i="0" lang="en-CA" sz="2000" u="none" cap="none" strike="noStrike">
                <a:solidFill>
                  <a:schemeClr val="dk1"/>
                </a:solidFill>
                <a:latin typeface="Calibri"/>
                <a:ea typeface="Calibri"/>
                <a:cs typeface="Calibri"/>
                <a:sym typeface="Calibri"/>
              </a:rPr>
              <a:t>&gt; children</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neume component &lt;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children, these are the individual notes that form</a:t>
            </a:r>
            <a:r>
              <a:rPr lang="en-CA" sz="2000">
                <a:solidFill>
                  <a:schemeClr val="dk1"/>
                </a:solidFill>
                <a:latin typeface="Calibri"/>
                <a:ea typeface="Calibri"/>
                <a:cs typeface="Calibri"/>
                <a:sym typeface="Calibri"/>
              </a:rPr>
              <a:t> </a:t>
            </a:r>
            <a:r>
              <a:rPr b="0" i="0" lang="en-CA" sz="2000" u="none" cap="none" strike="noStrike">
                <a:solidFill>
                  <a:schemeClr val="dk1"/>
                </a:solidFill>
                <a:latin typeface="Calibri"/>
                <a:ea typeface="Calibri"/>
                <a:cs typeface="Calibri"/>
                <a:sym typeface="Calibri"/>
              </a:rPr>
              <a:t>part of the neume</a:t>
            </a:r>
            <a:endParaRPr/>
          </a:p>
          <a:p>
            <a:pPr indent="-237061" lvl="2" marL="1151449" marR="0" rtl="0" algn="l">
              <a:spcBef>
                <a:spcPts val="1200"/>
              </a:spcBef>
              <a:spcAft>
                <a:spcPts val="0"/>
              </a:spcAft>
              <a:buClr>
                <a:schemeClr val="dk1"/>
              </a:buClr>
              <a:buSzPts val="1800"/>
              <a:buFont typeface="Courier New"/>
              <a:buChar char="o"/>
            </a:pPr>
            <a:r>
              <a:rPr b="0" i="0" lang="en-CA" sz="2000" u="none" cap="none" strike="noStrike">
                <a:solidFill>
                  <a:schemeClr val="dk1"/>
                </a:solidFill>
                <a:latin typeface="Calibri"/>
                <a:ea typeface="Calibri"/>
                <a:cs typeface="Calibri"/>
                <a:sym typeface="Calibri"/>
              </a:rPr>
              <a:t>&lt;</a:t>
            </a:r>
            <a:r>
              <a:rPr b="0" i="0" lang="en-CA" sz="2000" u="none" cap="none" strike="noStrike">
                <a:solidFill>
                  <a:srgbClr val="0070C0"/>
                </a:solidFill>
                <a:latin typeface="Calibri"/>
                <a:ea typeface="Calibri"/>
                <a:cs typeface="Calibri"/>
                <a:sym typeface="Calibri"/>
              </a:rPr>
              <a:t>nc</a:t>
            </a:r>
            <a:r>
              <a:rPr b="0" i="0" lang="en-CA" sz="2000" u="none" cap="none" strike="noStrike">
                <a:solidFill>
                  <a:schemeClr val="dk1"/>
                </a:solidFill>
                <a:latin typeface="Calibri"/>
                <a:ea typeface="Calibri"/>
                <a:cs typeface="Calibri"/>
                <a:sym typeface="Calibri"/>
              </a:rPr>
              <a:t>&gt; can have children too:</a:t>
            </a:r>
            <a:endParaRPr/>
          </a:p>
        </p:txBody>
      </p:sp>
      <p:sp>
        <p:nvSpPr>
          <p:cNvPr id="616" name="Google Shape;616;p41"/>
          <p:cNvSpPr txBox="1"/>
          <p:nvPr/>
        </p:nvSpPr>
        <p:spPr>
          <a:xfrm>
            <a:off x="548646" y="5987019"/>
            <a:ext cx="87135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3">
                  <a:extLst>
                    <a:ext uri="{A12FA001-AC4F-418D-AE19-62706E023703}">
                      <ahyp:hlinkClr val="tx"/>
                    </a:ext>
                  </a:extLst>
                </a:hlinkClick>
              </a:rPr>
              <a:t>https://music-encoding.org/guidelines/v5/elements/nc.html#mayContain_class_tab</a:t>
            </a:r>
            <a:endParaRPr sz="1800">
              <a:solidFill>
                <a:schemeClr val="dk1"/>
              </a:solidFill>
              <a:latin typeface="Calibri"/>
              <a:ea typeface="Calibri"/>
              <a:cs typeface="Calibri"/>
              <a:sym typeface="Calibri"/>
            </a:endParaRPr>
          </a:p>
        </p:txBody>
      </p:sp>
      <p:sp>
        <p:nvSpPr>
          <p:cNvPr id="617" name="Google Shape;617;p41"/>
          <p:cNvSpPr txBox="1"/>
          <p:nvPr/>
        </p:nvSpPr>
        <p:spPr>
          <a:xfrm>
            <a:off x="6331743" y="594084"/>
            <a:ext cx="5118526"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000">
                <a:solidFill>
                  <a:schemeClr val="dk1"/>
                </a:solidFill>
                <a:latin typeface="Calibri"/>
                <a:ea typeface="Calibri"/>
                <a:cs typeface="Calibri"/>
                <a:sym typeface="Calibri"/>
              </a:rPr>
              <a:t>Attributes for &lt;</a:t>
            </a:r>
            <a:r>
              <a:rPr b="1" lang="en-CA" sz="2000">
                <a:solidFill>
                  <a:srgbClr val="0070C0"/>
                </a:solidFill>
                <a:latin typeface="Calibri"/>
                <a:ea typeface="Calibri"/>
                <a:cs typeface="Calibri"/>
                <a:sym typeface="Calibri"/>
              </a:rPr>
              <a:t>episema</a:t>
            </a:r>
            <a:r>
              <a:rPr b="1" lang="en-CA" sz="2000">
                <a:solidFill>
                  <a:schemeClr val="dk1"/>
                </a:solidFill>
                <a:latin typeface="Calibri"/>
                <a:ea typeface="Calibri"/>
                <a:cs typeface="Calibri"/>
                <a:sym typeface="Calibri"/>
              </a:rPr>
              <a:t>&gt;:</a:t>
            </a:r>
            <a:endParaRPr/>
          </a:p>
          <a:p>
            <a:pPr indent="-285750" lvl="0" marL="285750" marR="0" rtl="0" algn="l">
              <a:spcBef>
                <a:spcPts val="0"/>
              </a:spcBef>
              <a:spcAft>
                <a:spcPts val="0"/>
              </a:spcAft>
              <a:buClr>
                <a:srgbClr val="E46E16"/>
              </a:buClr>
              <a:buSzPts val="2000"/>
              <a:buFont typeface="Noto Sans Symbols"/>
              <a:buChar char="❖"/>
            </a:pPr>
            <a:r>
              <a:rPr b="1" lang="en-CA" sz="2000">
                <a:solidFill>
                  <a:srgbClr val="E46E16"/>
                </a:solidFill>
                <a:latin typeface="Calibri"/>
                <a:ea typeface="Calibri"/>
                <a:cs typeface="Calibri"/>
                <a:sym typeface="Calibri"/>
              </a:rPr>
              <a:t>@form</a:t>
            </a:r>
            <a:r>
              <a:rPr lang="en-CA" sz="2000">
                <a:solidFill>
                  <a:srgbClr val="E46E16"/>
                </a:solidFill>
                <a:latin typeface="Calibri"/>
                <a:ea typeface="Calibri"/>
                <a:cs typeface="Calibri"/>
                <a:sym typeface="Calibri"/>
              </a:rPr>
              <a:t> </a:t>
            </a:r>
            <a:r>
              <a:rPr lang="en-CA" sz="2000">
                <a:solidFill>
                  <a:schemeClr val="dk1"/>
                </a:solidFill>
                <a:latin typeface="Calibri"/>
                <a:ea typeface="Calibri"/>
                <a:cs typeface="Calibri"/>
                <a:sym typeface="Calibri"/>
              </a:rPr>
              <a:t>‘</a:t>
            </a:r>
            <a:r>
              <a:rPr lang="en-CA" sz="2000">
                <a:solidFill>
                  <a:srgbClr val="548135"/>
                </a:solidFill>
                <a:latin typeface="Calibri"/>
                <a:ea typeface="Calibri"/>
                <a:cs typeface="Calibri"/>
                <a:sym typeface="Calibri"/>
              </a:rPr>
              <a:t>v</a:t>
            </a:r>
            <a:r>
              <a:rPr lang="en-CA" sz="2000">
                <a:solidFill>
                  <a:schemeClr val="dk1"/>
                </a:solidFill>
                <a:latin typeface="Calibri"/>
                <a:ea typeface="Calibri"/>
                <a:cs typeface="Calibri"/>
                <a:sym typeface="Calibri"/>
              </a:rPr>
              <a:t>’ (vertical) or ‘</a:t>
            </a:r>
            <a:r>
              <a:rPr lang="en-CA" sz="2000">
                <a:solidFill>
                  <a:srgbClr val="548135"/>
                </a:solidFill>
                <a:latin typeface="Calibri"/>
                <a:ea typeface="Calibri"/>
                <a:cs typeface="Calibri"/>
                <a:sym typeface="Calibri"/>
              </a:rPr>
              <a:t>h</a:t>
            </a:r>
            <a:r>
              <a:rPr lang="en-CA" sz="2000">
                <a:solidFill>
                  <a:schemeClr val="dk1"/>
                </a:solidFill>
                <a:latin typeface="Calibri"/>
                <a:ea typeface="Calibri"/>
                <a:cs typeface="Calibri"/>
                <a:sym typeface="Calibri"/>
              </a:rPr>
              <a:t>’ (horizontal)</a:t>
            </a:r>
            <a:endParaRPr/>
          </a:p>
          <a:p>
            <a:pPr indent="-285750" lvl="0" marL="285750" marR="0" rtl="0" algn="l">
              <a:spcBef>
                <a:spcPts val="0"/>
              </a:spcBef>
              <a:spcAft>
                <a:spcPts val="0"/>
              </a:spcAft>
              <a:buClr>
                <a:srgbClr val="E46E16"/>
              </a:buClr>
              <a:buSzPts val="2000"/>
              <a:buFont typeface="Noto Sans Symbols"/>
              <a:buChar char="❖"/>
            </a:pPr>
            <a:r>
              <a:rPr b="1" lang="en-CA" sz="2000">
                <a:solidFill>
                  <a:srgbClr val="E46E16"/>
                </a:solidFill>
                <a:latin typeface="Calibri"/>
                <a:ea typeface="Calibri"/>
                <a:cs typeface="Calibri"/>
                <a:sym typeface="Calibri"/>
              </a:rPr>
              <a:t>@place</a:t>
            </a:r>
            <a:r>
              <a:rPr lang="en-CA" sz="2000">
                <a:solidFill>
                  <a:srgbClr val="E46E16"/>
                </a:solidFill>
                <a:latin typeface="Calibri"/>
                <a:ea typeface="Calibri"/>
                <a:cs typeface="Calibri"/>
                <a:sym typeface="Calibri"/>
              </a:rPr>
              <a:t> </a:t>
            </a:r>
            <a:r>
              <a:rPr lang="en-CA" sz="2000">
                <a:solidFill>
                  <a:schemeClr val="dk1"/>
                </a:solidFill>
                <a:latin typeface="Calibri"/>
                <a:ea typeface="Calibri"/>
                <a:cs typeface="Calibri"/>
                <a:sym typeface="Calibri"/>
              </a:rPr>
              <a:t>placement on &lt;nc&gt; </a:t>
            </a:r>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0" lvl="0" marL="0" marR="0" rtl="0" algn="l">
              <a:spcBef>
                <a:spcPts val="1200"/>
              </a:spcBef>
              <a:spcAft>
                <a:spcPts val="0"/>
              </a:spcAft>
              <a:buNone/>
            </a:pPr>
            <a:r>
              <a:rPr b="1" lang="en-CA" sz="2000">
                <a:solidFill>
                  <a:schemeClr val="dk1"/>
                </a:solidFill>
                <a:latin typeface="Calibri"/>
                <a:ea typeface="Calibri"/>
                <a:cs typeface="Calibri"/>
                <a:sym typeface="Calibri"/>
              </a:rPr>
              <a:t>Attributes for &lt;</a:t>
            </a:r>
            <a:r>
              <a:rPr b="1" lang="en-CA" sz="2000">
                <a:solidFill>
                  <a:srgbClr val="0070C0"/>
                </a:solidFill>
                <a:latin typeface="Calibri"/>
                <a:ea typeface="Calibri"/>
                <a:cs typeface="Calibri"/>
                <a:sym typeface="Calibri"/>
              </a:rPr>
              <a:t>liquescent</a:t>
            </a:r>
            <a:r>
              <a:rPr b="1" lang="en-CA" sz="2000">
                <a:solidFill>
                  <a:schemeClr val="dk1"/>
                </a:solidFill>
                <a:latin typeface="Calibri"/>
                <a:ea typeface="Calibri"/>
                <a:cs typeface="Calibri"/>
                <a:sym typeface="Calibri"/>
              </a:rPr>
              <a:t>&gt;:</a:t>
            </a:r>
            <a:endParaRPr/>
          </a:p>
          <a:p>
            <a:pPr indent="-285750" lvl="0" marL="285750" marR="0" rtl="0" algn="l">
              <a:spcBef>
                <a:spcPts val="0"/>
              </a:spcBef>
              <a:spcAft>
                <a:spcPts val="0"/>
              </a:spcAft>
              <a:buClr>
                <a:srgbClr val="E46E16"/>
              </a:buClr>
              <a:buSzPts val="2000"/>
              <a:buFont typeface="Noto Sans Symbols"/>
              <a:buChar char="❖"/>
            </a:pPr>
            <a:r>
              <a:rPr b="1" lang="en-CA" sz="2000">
                <a:solidFill>
                  <a:srgbClr val="E46E16"/>
                </a:solidFill>
                <a:latin typeface="Calibri"/>
                <a:ea typeface="Calibri"/>
                <a:cs typeface="Calibri"/>
                <a:sym typeface="Calibri"/>
              </a:rPr>
              <a:t>@curve</a:t>
            </a:r>
            <a:r>
              <a:rPr lang="en-CA" sz="2000">
                <a:solidFill>
                  <a:srgbClr val="E46E16"/>
                </a:solidFill>
                <a:latin typeface="Calibri"/>
                <a:ea typeface="Calibri"/>
                <a:cs typeface="Calibri"/>
                <a:sym typeface="Calibri"/>
              </a:rPr>
              <a:t> </a:t>
            </a:r>
            <a:r>
              <a:rPr lang="en-CA" sz="2000">
                <a:solidFill>
                  <a:schemeClr val="dk1"/>
                </a:solidFill>
                <a:latin typeface="Calibri"/>
                <a:ea typeface="Calibri"/>
                <a:cs typeface="Calibri"/>
                <a:sym typeface="Calibri"/>
              </a:rPr>
              <a:t>direction of curve</a:t>
            </a:r>
            <a:endParaRPr/>
          </a:p>
          <a:p>
            <a:pPr indent="-285750" lvl="0" marL="285750" marR="0" rtl="0" algn="l">
              <a:spcBef>
                <a:spcPts val="0"/>
              </a:spcBef>
              <a:spcAft>
                <a:spcPts val="0"/>
              </a:spcAft>
              <a:buClr>
                <a:srgbClr val="E46E16"/>
              </a:buClr>
              <a:buSzPts val="2000"/>
              <a:buFont typeface="Noto Sans Symbols"/>
              <a:buChar char="❖"/>
            </a:pPr>
            <a:r>
              <a:rPr b="1" lang="en-CA" sz="2000">
                <a:solidFill>
                  <a:srgbClr val="E46E16"/>
                </a:solidFill>
                <a:latin typeface="Calibri"/>
                <a:ea typeface="Calibri"/>
                <a:cs typeface="Calibri"/>
                <a:sym typeface="Calibri"/>
              </a:rPr>
              <a:t>@looped</a:t>
            </a:r>
            <a:r>
              <a:rPr lang="en-CA" sz="2000">
                <a:solidFill>
                  <a:schemeClr val="dk1"/>
                </a:solidFill>
                <a:latin typeface="Calibri"/>
                <a:ea typeface="Calibri"/>
                <a:cs typeface="Calibri"/>
                <a:sym typeface="Calibri"/>
              </a:rPr>
              <a:t> boolean (when present, ‘true’)</a:t>
            </a:r>
            <a:endParaRPr/>
          </a:p>
        </p:txBody>
      </p:sp>
      <p:grpSp>
        <p:nvGrpSpPr>
          <p:cNvPr id="618" name="Google Shape;618;p41"/>
          <p:cNvGrpSpPr/>
          <p:nvPr/>
        </p:nvGrpSpPr>
        <p:grpSpPr>
          <a:xfrm>
            <a:off x="6331743" y="3155081"/>
            <a:ext cx="5118527" cy="2690828"/>
            <a:chOff x="6235271" y="3411307"/>
            <a:chExt cx="5118527" cy="2690828"/>
          </a:xfrm>
        </p:grpSpPr>
        <p:grpSp>
          <p:nvGrpSpPr>
            <p:cNvPr id="619" name="Google Shape;619;p41"/>
            <p:cNvGrpSpPr/>
            <p:nvPr/>
          </p:nvGrpSpPr>
          <p:grpSpPr>
            <a:xfrm>
              <a:off x="6235271" y="3411307"/>
              <a:ext cx="5118527" cy="2690828"/>
              <a:chOff x="6235271" y="3411307"/>
              <a:chExt cx="5118527" cy="2690828"/>
            </a:xfrm>
          </p:grpSpPr>
          <p:sp>
            <p:nvSpPr>
              <p:cNvPr id="620" name="Google Shape;620;p41"/>
              <p:cNvSpPr txBox="1"/>
              <p:nvPr/>
            </p:nvSpPr>
            <p:spPr>
              <a:xfrm>
                <a:off x="6235271" y="3411307"/>
                <a:ext cx="5118527" cy="2690828"/>
              </a:xfrm>
              <a:prstGeom prst="rect">
                <a:avLst/>
              </a:prstGeom>
              <a:solidFill>
                <a:srgbClr val="D8D8D8"/>
              </a:solidFill>
              <a:ln cap="flat" cmpd="sng" w="28575">
                <a:solidFill>
                  <a:schemeClr val="dk1"/>
                </a:solidFill>
                <a:prstDash val="solid"/>
                <a:round/>
                <a:headEnd len="sm" w="sm" type="none"/>
                <a:tailEnd len="sm" w="sm" type="none"/>
              </a:ln>
            </p:spPr>
            <p:txBody>
              <a:bodyPr anchorCtr="0" anchor="ctr" bIns="108000" lIns="216000" spcFirstLastPara="1" rIns="68575" wrap="square" tIns="108000">
                <a:normAutofit/>
              </a:bodyPr>
              <a:lstStyle/>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&lt;</a:t>
                </a:r>
                <a:r>
                  <a:rPr b="0" i="0" lang="en-CA" sz="2400" u="none" cap="none" strike="noStrike">
                    <a:solidFill>
                      <a:srgbClr val="0070C0"/>
                    </a:solidFill>
                    <a:latin typeface="Consolas"/>
                    <a:ea typeface="Consolas"/>
                    <a:cs typeface="Consolas"/>
                    <a:sym typeface="Consolas"/>
                  </a:rPr>
                  <a:t>neume</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nc</a:t>
                </a:r>
                <a:r>
                  <a:rPr b="0" i="0" lang="en-CA" sz="2400" u="none" cap="none" strike="noStrike">
                    <a:solidFill>
                      <a:schemeClr val="dk1"/>
                    </a:solidFill>
                    <a:latin typeface="Consolas"/>
                    <a:ea typeface="Consolas"/>
                    <a:cs typeface="Consolas"/>
                    <a:sym typeface="Consolas"/>
                  </a:rPr>
                  <a:t> </a:t>
                </a:r>
                <a:r>
                  <a:rPr b="0" i="0" lang="en-CA" sz="2400" u="none" cap="none" strike="noStrike">
                    <a:solidFill>
                      <a:srgbClr val="E46E16"/>
                    </a:solidFill>
                    <a:latin typeface="Consolas"/>
                    <a:ea typeface="Consolas"/>
                    <a:cs typeface="Consolas"/>
                    <a:sym typeface="Consolas"/>
                  </a:rPr>
                  <a:t>tilt</a:t>
                </a:r>
                <a:r>
                  <a:rPr b="0" i="0" lang="en-CA" sz="2400" u="none" cap="none" strike="noStrike">
                    <a:solidFill>
                      <a:schemeClr val="dk1"/>
                    </a:solidFill>
                    <a:latin typeface="Consolas"/>
                    <a:ea typeface="Consolas"/>
                    <a:cs typeface="Consolas"/>
                    <a:sym typeface="Consolas"/>
                  </a:rPr>
                  <a:t>="</a:t>
                </a:r>
                <a:r>
                  <a:rPr b="0" i="0" lang="en-CA" sz="2400" u="none" cap="none" strike="noStrike">
                    <a:solidFill>
                      <a:srgbClr val="548135"/>
                    </a:solidFill>
                    <a:latin typeface="Consolas"/>
                    <a:ea typeface="Consolas"/>
                    <a:cs typeface="Consolas"/>
                    <a:sym typeface="Consolas"/>
                  </a:rPr>
                  <a:t>e</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nc</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oriscus</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nc</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  &lt;</a:t>
                </a:r>
                <a:r>
                  <a:rPr b="0" i="0" lang="en-CA" sz="2400" u="none" cap="none" strike="noStrike">
                    <a:solidFill>
                      <a:srgbClr val="0070C0"/>
                    </a:solidFill>
                    <a:latin typeface="Consolas"/>
                    <a:ea typeface="Consolas"/>
                    <a:cs typeface="Consolas"/>
                    <a:sym typeface="Consolas"/>
                  </a:rPr>
                  <a:t>nc</a:t>
                </a:r>
                <a:r>
                  <a:rPr b="0" i="0" lang="en-CA" sz="2400" u="none" cap="none" strike="noStrike">
                    <a:solidFill>
                      <a:schemeClr val="dk1"/>
                    </a:solidFill>
                    <a:latin typeface="Consolas"/>
                    <a:ea typeface="Consolas"/>
                    <a:cs typeface="Consolas"/>
                    <a:sym typeface="Consolas"/>
                  </a:rPr>
                  <a:t> </a:t>
                </a:r>
                <a:r>
                  <a:rPr b="0" i="0" lang="en-CA" sz="2400" u="none" cap="none" strike="noStrike">
                    <a:solidFill>
                      <a:srgbClr val="E46E16"/>
                    </a:solidFill>
                    <a:latin typeface="Consolas"/>
                    <a:ea typeface="Consolas"/>
                    <a:cs typeface="Consolas"/>
                    <a:sym typeface="Consolas"/>
                  </a:rPr>
                  <a:t>tilt</a:t>
                </a:r>
                <a:r>
                  <a:rPr b="0" i="0" lang="en-CA" sz="2400" u="none" cap="none" strike="noStrike">
                    <a:solidFill>
                      <a:schemeClr val="dk1"/>
                    </a:solidFill>
                    <a:latin typeface="Consolas"/>
                    <a:ea typeface="Consolas"/>
                    <a:cs typeface="Consolas"/>
                    <a:sym typeface="Consolas"/>
                  </a:rPr>
                  <a:t>="</a:t>
                </a:r>
                <a:r>
                  <a:rPr b="0" i="0" lang="en-CA" sz="2400" u="none" cap="none" strike="noStrike">
                    <a:solidFill>
                      <a:srgbClr val="548135"/>
                    </a:solidFill>
                    <a:latin typeface="Consolas"/>
                    <a:ea typeface="Consolas"/>
                    <a:cs typeface="Consolas"/>
                    <a:sym typeface="Consolas"/>
                  </a:rPr>
                  <a:t>ne</a:t>
                </a:r>
                <a:r>
                  <a:rPr b="0" i="0" lang="en-CA" sz="2400" u="none" cap="none" strike="noStrike">
                    <a:solidFill>
                      <a:schemeClr val="dk1"/>
                    </a:solidFill>
                    <a:latin typeface="Consolas"/>
                    <a:ea typeface="Consolas"/>
                    <a:cs typeface="Consolas"/>
                    <a:sym typeface="Consolas"/>
                  </a:rPr>
                  <a:t>" </a:t>
                </a:r>
                <a:r>
                  <a:rPr b="0" i="0" lang="en-CA" sz="2400" u="none" cap="none" strike="noStrike">
                    <a:solidFill>
                      <a:srgbClr val="E46E16"/>
                    </a:solidFill>
                    <a:latin typeface="Consolas"/>
                    <a:ea typeface="Consolas"/>
                    <a:cs typeface="Consolas"/>
                    <a:sym typeface="Consolas"/>
                  </a:rPr>
                  <a:t>intm</a:t>
                </a:r>
                <a:r>
                  <a:rPr b="0" i="0" lang="en-CA" sz="2400" u="none" cap="none" strike="noStrike">
                    <a:solidFill>
                      <a:schemeClr val="dk1"/>
                    </a:solidFill>
                    <a:latin typeface="Consolas"/>
                    <a:ea typeface="Consolas"/>
                    <a:cs typeface="Consolas"/>
                    <a:sym typeface="Consolas"/>
                  </a:rPr>
                  <a:t>="</a:t>
                </a:r>
                <a:r>
                  <a:rPr b="0" i="0" lang="en-CA" sz="2400" u="none" cap="none" strike="noStrike">
                    <a:solidFill>
                      <a:srgbClr val="548135"/>
                    </a:solidFill>
                    <a:latin typeface="Consolas"/>
                    <a:ea typeface="Consolas"/>
                    <a:cs typeface="Consolas"/>
                    <a:sym typeface="Consolas"/>
                  </a:rPr>
                  <a:t>u</a:t>
                </a:r>
                <a:r>
                  <a:rPr b="0" i="0" lang="en-CA" sz="2400" u="none" cap="none" strike="noStrike">
                    <a:solidFill>
                      <a:schemeClr val="dk1"/>
                    </a:solidFill>
                    <a:latin typeface="Consolas"/>
                    <a:ea typeface="Consolas"/>
                    <a:cs typeface="Consolas"/>
                    <a:sym typeface="Consolas"/>
                  </a:rPr>
                  <a:t>"/&gt;</a:t>
                </a:r>
                <a:endParaRPr/>
              </a:p>
              <a:p>
                <a:pPr indent="0" lvl="0" marL="0" marR="0" rtl="0" algn="l">
                  <a:lnSpc>
                    <a:spcPct val="90000"/>
                  </a:lnSpc>
                  <a:spcBef>
                    <a:spcPts val="0"/>
                  </a:spcBef>
                  <a:spcAft>
                    <a:spcPts val="0"/>
                  </a:spcAft>
                  <a:buClr>
                    <a:schemeClr val="dk1"/>
                  </a:buClr>
                  <a:buSzPts val="1400"/>
                  <a:buFont typeface="Arial"/>
                  <a:buNone/>
                </a:pPr>
                <a:r>
                  <a:rPr b="0" i="0" lang="en-CA" sz="2400" u="none" cap="none" strike="noStrike">
                    <a:solidFill>
                      <a:schemeClr val="dk1"/>
                    </a:solidFill>
                    <a:latin typeface="Consolas"/>
                    <a:ea typeface="Consolas"/>
                    <a:cs typeface="Consolas"/>
                    <a:sym typeface="Consolas"/>
                  </a:rPr>
                  <a:t>&lt;/</a:t>
                </a:r>
                <a:r>
                  <a:rPr b="0" i="0" lang="en-CA" sz="2400" u="none" cap="none" strike="noStrike">
                    <a:solidFill>
                      <a:srgbClr val="0070C0"/>
                    </a:solidFill>
                    <a:latin typeface="Consolas"/>
                    <a:ea typeface="Consolas"/>
                    <a:cs typeface="Consolas"/>
                    <a:sym typeface="Consolas"/>
                  </a:rPr>
                  <a:t>neume</a:t>
                </a:r>
                <a:r>
                  <a:rPr b="0" i="0" lang="en-CA" sz="2400" u="none" cap="none" strike="noStrike">
                    <a:solidFill>
                      <a:schemeClr val="dk1"/>
                    </a:solidFill>
                    <a:latin typeface="Consolas"/>
                    <a:ea typeface="Consolas"/>
                    <a:cs typeface="Consolas"/>
                    <a:sym typeface="Consolas"/>
                  </a:rPr>
                  <a:t>&gt;</a:t>
                </a:r>
                <a:endParaRPr/>
              </a:p>
            </p:txBody>
          </p:sp>
          <p:pic>
            <p:nvPicPr>
              <p:cNvPr id="621" name="Google Shape;621;p41"/>
              <p:cNvPicPr preferRelativeResize="0"/>
              <p:nvPr/>
            </p:nvPicPr>
            <p:blipFill rotWithShape="1">
              <a:blip r:embed="rId4">
                <a:alphaModFix/>
              </a:blip>
              <a:srcRect b="72595" l="11397" r="19659" t="6442"/>
              <a:stretch/>
            </p:blipFill>
            <p:spPr>
              <a:xfrm>
                <a:off x="9642758" y="3430434"/>
                <a:ext cx="1695450" cy="1295400"/>
              </a:xfrm>
              <a:prstGeom prst="rect">
                <a:avLst/>
              </a:prstGeom>
              <a:noFill/>
              <a:ln cap="flat" cmpd="sng" w="28575">
                <a:solidFill>
                  <a:schemeClr val="dk1"/>
                </a:solidFill>
                <a:prstDash val="solid"/>
                <a:round/>
                <a:headEnd len="sm" w="sm" type="none"/>
                <a:tailEnd len="sm" w="sm" type="none"/>
              </a:ln>
            </p:spPr>
          </p:pic>
        </p:grpSp>
        <p:sp>
          <p:nvSpPr>
            <p:cNvPr id="622" name="Google Shape;622;p41"/>
            <p:cNvSpPr txBox="1"/>
            <p:nvPr/>
          </p:nvSpPr>
          <p:spPr>
            <a:xfrm>
              <a:off x="10403616" y="5724791"/>
              <a:ext cx="9412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St. Gall</a:t>
              </a:r>
              <a:endParaRPr/>
            </a:p>
          </p:txBody>
        </p:sp>
      </p:grpSp>
      <p:sp>
        <p:nvSpPr>
          <p:cNvPr id="623" name="Google Shape;62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624" name="Google Shape;624;p41"/>
          <p:cNvSpPr txBox="1"/>
          <p:nvPr/>
        </p:nvSpPr>
        <p:spPr>
          <a:xfrm>
            <a:off x="1801525" y="4081325"/>
            <a:ext cx="2231700" cy="1323600"/>
          </a:xfrm>
          <a:prstGeom prst="rect">
            <a:avLst/>
          </a:prstGeom>
          <a:noFill/>
          <a:ln>
            <a:noFill/>
          </a:ln>
        </p:spPr>
        <p:txBody>
          <a:bodyPr anchorCtr="0" anchor="t" bIns="45700" lIns="91425" spcFirstLastPara="1" rIns="91425" wrap="square" tIns="45700">
            <a:spAutoFit/>
          </a:bodyPr>
          <a:lstStyle/>
          <a:p>
            <a:pPr indent="-237049" lvl="0" marL="237049" marR="0" rtl="0" algn="l">
              <a:spcBef>
                <a:spcPts val="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episema</a:t>
            </a:r>
            <a:r>
              <a:rPr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hispanTick</a:t>
            </a:r>
            <a:r>
              <a:rPr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liquescent</a:t>
            </a:r>
            <a:r>
              <a:rPr lang="en-CA"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625" name="Google Shape;625;p41"/>
          <p:cNvSpPr txBox="1"/>
          <p:nvPr/>
        </p:nvSpPr>
        <p:spPr>
          <a:xfrm>
            <a:off x="3789575" y="4044150"/>
            <a:ext cx="2231700" cy="1323600"/>
          </a:xfrm>
          <a:prstGeom prst="rect">
            <a:avLst/>
          </a:prstGeom>
          <a:noFill/>
          <a:ln>
            <a:noFill/>
          </a:ln>
        </p:spPr>
        <p:txBody>
          <a:bodyPr anchorCtr="0" anchor="t" bIns="45700" lIns="91425" spcFirstLastPara="1" rIns="91425" wrap="square" tIns="45700">
            <a:spAutoFit/>
          </a:bodyPr>
          <a:lstStyle/>
          <a:p>
            <a:pPr indent="-237049" lvl="0" marL="237049" marR="0" rtl="0" algn="l">
              <a:spcBef>
                <a:spcPts val="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oriscus</a:t>
            </a:r>
            <a:r>
              <a:rPr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quilisma</a:t>
            </a:r>
            <a:r>
              <a:rPr lang="en-CA" sz="2000">
                <a:solidFill>
                  <a:schemeClr val="dk1"/>
                </a:solidFill>
                <a:latin typeface="Calibri"/>
                <a:ea typeface="Calibri"/>
                <a:cs typeface="Calibri"/>
                <a:sym typeface="Calibri"/>
              </a:rPr>
              <a:t>&gt;</a:t>
            </a:r>
            <a:endParaRPr/>
          </a:p>
          <a:p>
            <a:pPr indent="-237049" lvl="0" marL="237049" marR="0" rtl="0" algn="l">
              <a:spcBef>
                <a:spcPts val="1200"/>
              </a:spcBef>
              <a:spcAft>
                <a:spcPts val="0"/>
              </a:spcAft>
              <a:buClr>
                <a:schemeClr val="dk1"/>
              </a:buClr>
              <a:buSzPts val="1800"/>
              <a:buFont typeface="Courier New"/>
              <a:buChar char="o"/>
            </a:pPr>
            <a:r>
              <a:rPr lang="en-CA" sz="2000">
                <a:solidFill>
                  <a:schemeClr val="dk1"/>
                </a:solidFill>
                <a:latin typeface="Calibri"/>
                <a:ea typeface="Calibri"/>
                <a:cs typeface="Calibri"/>
                <a:sym typeface="Calibri"/>
              </a:rPr>
              <a:t>&lt;</a:t>
            </a:r>
            <a:r>
              <a:rPr lang="en-CA" sz="2000">
                <a:solidFill>
                  <a:srgbClr val="0070C0"/>
                </a:solidFill>
                <a:latin typeface="Calibri"/>
                <a:ea typeface="Calibri"/>
                <a:cs typeface="Calibri"/>
                <a:sym typeface="Calibri"/>
              </a:rPr>
              <a:t>strophicus</a:t>
            </a:r>
            <a:r>
              <a:rPr lang="en-CA"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42"/>
          <p:cNvSpPr txBox="1"/>
          <p:nvPr/>
        </p:nvSpPr>
        <p:spPr>
          <a:xfrm>
            <a:off x="516050" y="354708"/>
            <a:ext cx="11159899" cy="5924699"/>
          </a:xfrm>
          <a:prstGeom prst="rect">
            <a:avLst/>
          </a:prstGeom>
          <a:noFill/>
          <a:ln>
            <a:noFill/>
          </a:ln>
        </p:spPr>
        <p:txBody>
          <a:bodyPr anchorCtr="0" anchor="t" bIns="45700" lIns="91425" spcFirstLastPara="1" rIns="91425" wrap="square" tIns="45700">
            <a:spAutoFit/>
          </a:bodyPr>
          <a:lstStyle/>
          <a:p>
            <a:pPr indent="-237060" lvl="0" marL="237060" marR="0" rtl="0" algn="l">
              <a:spcBef>
                <a:spcPts val="0"/>
              </a:spcBef>
              <a:spcAft>
                <a:spcPts val="0"/>
              </a:spcAft>
              <a:buNone/>
            </a:pPr>
            <a:r>
              <a:rPr b="1" lang="en-CA" sz="2400">
                <a:solidFill>
                  <a:schemeClr val="dk1"/>
                </a:solidFill>
                <a:latin typeface="Calibri"/>
                <a:ea typeface="Calibri"/>
                <a:cs typeface="Calibri"/>
                <a:sym typeface="Calibri"/>
              </a:rPr>
              <a:t>Attributes of neume components:</a:t>
            </a:r>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 @pname </a:t>
            </a:r>
            <a:r>
              <a:rPr lang="en-CA" sz="2100">
                <a:solidFill>
                  <a:schemeClr val="dk1"/>
                </a:solidFill>
                <a:latin typeface="Calibri"/>
                <a:ea typeface="Calibri"/>
                <a:cs typeface="Calibri"/>
                <a:sym typeface="Calibri"/>
              </a:rPr>
              <a:t>(pitch name)   {[</a:t>
            </a:r>
            <a:r>
              <a:rPr lang="en-CA" sz="2100">
                <a:solidFill>
                  <a:srgbClr val="00B050"/>
                </a:solidFill>
                <a:latin typeface="Calibri"/>
                <a:ea typeface="Calibri"/>
                <a:cs typeface="Calibri"/>
                <a:sym typeface="Calibri"/>
              </a:rPr>
              <a:t>a</a:t>
            </a:r>
            <a:r>
              <a:rPr lang="en-CA" sz="2100">
                <a:solidFill>
                  <a:schemeClr val="dk1"/>
                </a:solidFill>
                <a:latin typeface="Calibri"/>
                <a:ea typeface="Calibri"/>
                <a:cs typeface="Calibri"/>
                <a:sym typeface="Calibri"/>
              </a:rPr>
              <a:t>-</a:t>
            </a:r>
            <a:r>
              <a:rPr lang="en-CA" sz="2100">
                <a:solidFill>
                  <a:srgbClr val="00B050"/>
                </a:solidFill>
                <a:latin typeface="Calibri"/>
                <a:ea typeface="Calibri"/>
                <a:cs typeface="Calibri"/>
                <a:sym typeface="Calibri"/>
              </a:rPr>
              <a:t>g</a:t>
            </a:r>
            <a:r>
              <a:rPr lang="en-CA" sz="2100">
                <a:solidFill>
                  <a:schemeClr val="dk1"/>
                </a:solidFill>
                <a:latin typeface="Calibri"/>
                <a:ea typeface="Calibri"/>
                <a:cs typeface="Calibri"/>
                <a:sym typeface="Calibri"/>
              </a:rPr>
              <a:t>] | </a:t>
            </a:r>
            <a:r>
              <a:rPr lang="en-CA" sz="2100">
                <a:solidFill>
                  <a:srgbClr val="00B050"/>
                </a:solidFill>
                <a:latin typeface="Calibri"/>
                <a:ea typeface="Calibri"/>
                <a:cs typeface="Calibri"/>
                <a:sym typeface="Calibri"/>
              </a:rPr>
              <a:t>unknown</a:t>
            </a:r>
            <a:r>
              <a:rPr lang="en-CA" sz="2100">
                <a:solidFill>
                  <a:schemeClr val="dk1"/>
                </a:solidFill>
                <a:latin typeface="Calibri"/>
                <a:ea typeface="Calibri"/>
                <a:cs typeface="Calibri"/>
                <a:sym typeface="Calibri"/>
              </a:rPr>
              <a:t>}</a:t>
            </a:r>
            <a:endParaRPr sz="2100">
              <a:solidFill>
                <a:schemeClr val="accent6"/>
              </a:solidFill>
              <a:latin typeface="Calibri"/>
              <a:ea typeface="Calibri"/>
              <a:cs typeface="Calibri"/>
              <a:sym typeface="Calibri"/>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 @oct </a:t>
            </a:r>
            <a:r>
              <a:rPr lang="en-CA" sz="2100">
                <a:solidFill>
                  <a:schemeClr val="dk1"/>
                </a:solidFill>
                <a:latin typeface="Calibri"/>
                <a:ea typeface="Calibri"/>
                <a:cs typeface="Calibri"/>
                <a:sym typeface="Calibri"/>
              </a:rPr>
              <a:t>(octave number)   {[</a:t>
            </a:r>
            <a:r>
              <a:rPr lang="en-CA" sz="2100">
                <a:solidFill>
                  <a:srgbClr val="00B050"/>
                </a:solidFill>
                <a:latin typeface="Calibri"/>
                <a:ea typeface="Calibri"/>
                <a:cs typeface="Calibri"/>
                <a:sym typeface="Calibri"/>
              </a:rPr>
              <a:t>0</a:t>
            </a:r>
            <a:r>
              <a:rPr lang="en-CA" sz="2100">
                <a:solidFill>
                  <a:schemeClr val="dk1"/>
                </a:solidFill>
                <a:latin typeface="Calibri"/>
                <a:ea typeface="Calibri"/>
                <a:cs typeface="Calibri"/>
                <a:sym typeface="Calibri"/>
              </a:rPr>
              <a:t>-</a:t>
            </a:r>
            <a:r>
              <a:rPr lang="en-CA" sz="2100">
                <a:solidFill>
                  <a:srgbClr val="00B050"/>
                </a:solidFill>
                <a:latin typeface="Calibri"/>
                <a:ea typeface="Calibri"/>
                <a:cs typeface="Calibri"/>
                <a:sym typeface="Calibri"/>
              </a:rPr>
              <a:t>9</a:t>
            </a:r>
            <a:r>
              <a:rPr lang="en-CA" sz="2100">
                <a:solidFill>
                  <a:schemeClr val="dk1"/>
                </a:solidFill>
                <a:latin typeface="Calibri"/>
                <a:ea typeface="Calibri"/>
                <a:cs typeface="Calibri"/>
                <a:sym typeface="Calibri"/>
              </a:rPr>
              <a:t>]}</a:t>
            </a:r>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@rellen</a:t>
            </a:r>
            <a:r>
              <a:rPr lang="en-CA" sz="2100">
                <a:solidFill>
                  <a:schemeClr val="dk1"/>
                </a:solidFill>
                <a:latin typeface="Calibri"/>
                <a:ea typeface="Calibri"/>
                <a:cs typeface="Calibri"/>
                <a:sym typeface="Calibri"/>
              </a:rPr>
              <a:t> (length of pen stroke relative to previous &lt;nc&gt; in the neume)   {</a:t>
            </a:r>
            <a:r>
              <a:rPr lang="en-CA" sz="2100">
                <a:solidFill>
                  <a:srgbClr val="00B050"/>
                </a:solidFill>
                <a:latin typeface="Calibri"/>
                <a:ea typeface="Calibri"/>
                <a:cs typeface="Calibri"/>
                <a:sym typeface="Calibri"/>
              </a:rPr>
              <a:t>s</a:t>
            </a:r>
            <a:r>
              <a:rPr lang="en-CA" sz="2100">
                <a:solidFill>
                  <a:schemeClr val="dk1"/>
                </a:solidFill>
                <a:latin typeface="Calibri"/>
                <a:ea typeface="Calibri"/>
                <a:cs typeface="Calibri"/>
                <a:sym typeface="Calibri"/>
              </a:rPr>
              <a:t> = shorter | </a:t>
            </a:r>
            <a:r>
              <a:rPr lang="en-CA" sz="2100">
                <a:solidFill>
                  <a:srgbClr val="00B050"/>
                </a:solidFill>
                <a:latin typeface="Calibri"/>
                <a:ea typeface="Calibri"/>
                <a:cs typeface="Calibri"/>
                <a:sym typeface="Calibri"/>
              </a:rPr>
              <a:t>l </a:t>
            </a:r>
            <a:r>
              <a:rPr lang="en-CA" sz="2100">
                <a:solidFill>
                  <a:schemeClr val="dk1"/>
                </a:solidFill>
                <a:latin typeface="Calibri"/>
                <a:ea typeface="Calibri"/>
                <a:cs typeface="Calibri"/>
                <a:sym typeface="Calibri"/>
              </a:rPr>
              <a:t>= longer}</a:t>
            </a:r>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@tilt</a:t>
            </a:r>
            <a:r>
              <a:rPr lang="en-CA" sz="2100">
                <a:solidFill>
                  <a:schemeClr val="dk1"/>
                </a:solidFill>
                <a:latin typeface="Calibri"/>
                <a:ea typeface="Calibri"/>
                <a:cs typeface="Calibri"/>
                <a:sym typeface="Calibri"/>
              </a:rPr>
              <a:t> (direction of pen stroke)    {</a:t>
            </a:r>
            <a:r>
              <a:rPr lang="en-CA" sz="2100">
                <a:solidFill>
                  <a:srgbClr val="00B050"/>
                </a:solidFill>
                <a:latin typeface="Calibri"/>
                <a:ea typeface="Calibri"/>
                <a:cs typeface="Calibri"/>
                <a:sym typeface="Calibri"/>
              </a:rPr>
              <a:t>n </a:t>
            </a:r>
            <a:r>
              <a:rPr lang="en-CA" sz="2100">
                <a:solidFill>
                  <a:schemeClr val="dk1"/>
                </a:solidFill>
                <a:latin typeface="Calibri"/>
                <a:ea typeface="Calibri"/>
                <a:cs typeface="Calibri"/>
                <a:sym typeface="Calibri"/>
              </a:rPr>
              <a:t>| </a:t>
            </a:r>
            <a:r>
              <a:rPr lang="en-CA" sz="2100">
                <a:solidFill>
                  <a:srgbClr val="00B050"/>
                </a:solidFill>
                <a:latin typeface="Calibri"/>
                <a:ea typeface="Calibri"/>
                <a:cs typeface="Calibri"/>
                <a:sym typeface="Calibri"/>
              </a:rPr>
              <a:t>ne </a:t>
            </a:r>
            <a:r>
              <a:rPr lang="en-CA" sz="2100">
                <a:solidFill>
                  <a:schemeClr val="dk1"/>
                </a:solidFill>
                <a:latin typeface="Calibri"/>
                <a:ea typeface="Calibri"/>
                <a:cs typeface="Calibri"/>
                <a:sym typeface="Calibri"/>
              </a:rPr>
              <a:t>| </a:t>
            </a:r>
            <a:r>
              <a:rPr lang="en-CA" sz="2100">
                <a:solidFill>
                  <a:srgbClr val="00B050"/>
                </a:solidFill>
                <a:latin typeface="Calibri"/>
                <a:ea typeface="Calibri"/>
                <a:cs typeface="Calibri"/>
                <a:sym typeface="Calibri"/>
              </a:rPr>
              <a:t>e </a:t>
            </a:r>
            <a:r>
              <a:rPr lang="en-CA" sz="2100">
                <a:solidFill>
                  <a:schemeClr val="dk1"/>
                </a:solidFill>
                <a:latin typeface="Calibri"/>
                <a:ea typeface="Calibri"/>
                <a:cs typeface="Calibri"/>
                <a:sym typeface="Calibri"/>
              </a:rPr>
              <a:t>| </a:t>
            </a:r>
            <a:r>
              <a:rPr lang="en-CA" sz="2100">
                <a:solidFill>
                  <a:srgbClr val="00B050"/>
                </a:solidFill>
                <a:latin typeface="Calibri"/>
                <a:ea typeface="Calibri"/>
                <a:cs typeface="Calibri"/>
                <a:sym typeface="Calibri"/>
              </a:rPr>
              <a:t>se </a:t>
            </a:r>
            <a:r>
              <a:rPr lang="en-CA" sz="2100">
                <a:solidFill>
                  <a:schemeClr val="dk1"/>
                </a:solidFill>
                <a:latin typeface="Calibri"/>
                <a:ea typeface="Calibri"/>
                <a:cs typeface="Calibri"/>
                <a:sym typeface="Calibri"/>
              </a:rPr>
              <a:t>| </a:t>
            </a:r>
            <a:r>
              <a:rPr lang="en-CA" sz="2100">
                <a:solidFill>
                  <a:srgbClr val="00B050"/>
                </a:solidFill>
                <a:latin typeface="Calibri"/>
                <a:ea typeface="Calibri"/>
                <a:cs typeface="Calibri"/>
                <a:sym typeface="Calibri"/>
              </a:rPr>
              <a:t>s </a:t>
            </a:r>
            <a:r>
              <a:rPr lang="en-CA" sz="2100">
                <a:solidFill>
                  <a:schemeClr val="dk1"/>
                </a:solidFill>
                <a:latin typeface="Calibri"/>
                <a:ea typeface="Calibri"/>
                <a:cs typeface="Calibri"/>
                <a:sym typeface="Calibri"/>
              </a:rPr>
              <a:t>| </a:t>
            </a:r>
            <a:r>
              <a:rPr lang="en-CA" sz="2100">
                <a:solidFill>
                  <a:srgbClr val="00B050"/>
                </a:solidFill>
                <a:latin typeface="Calibri"/>
                <a:ea typeface="Calibri"/>
                <a:cs typeface="Calibri"/>
                <a:sym typeface="Calibri"/>
              </a:rPr>
              <a:t>sw </a:t>
            </a:r>
            <a:r>
              <a:rPr lang="en-CA" sz="2100">
                <a:solidFill>
                  <a:schemeClr val="dk1"/>
                </a:solidFill>
                <a:latin typeface="Calibri"/>
                <a:ea typeface="Calibri"/>
                <a:cs typeface="Calibri"/>
                <a:sym typeface="Calibri"/>
              </a:rPr>
              <a:t>| </a:t>
            </a:r>
            <a:r>
              <a:rPr lang="en-CA" sz="2100">
                <a:solidFill>
                  <a:srgbClr val="00B050"/>
                </a:solidFill>
                <a:latin typeface="Calibri"/>
                <a:ea typeface="Calibri"/>
                <a:cs typeface="Calibri"/>
                <a:sym typeface="Calibri"/>
              </a:rPr>
              <a:t>w </a:t>
            </a:r>
            <a:r>
              <a:rPr lang="en-CA" sz="2100">
                <a:solidFill>
                  <a:schemeClr val="dk1"/>
                </a:solidFill>
                <a:latin typeface="Calibri"/>
                <a:ea typeface="Calibri"/>
                <a:cs typeface="Calibri"/>
                <a:sym typeface="Calibri"/>
              </a:rPr>
              <a:t>| </a:t>
            </a:r>
            <a:r>
              <a:rPr lang="en-CA" sz="2100">
                <a:solidFill>
                  <a:srgbClr val="00B050"/>
                </a:solidFill>
                <a:latin typeface="Calibri"/>
                <a:ea typeface="Calibri"/>
                <a:cs typeface="Calibri"/>
                <a:sym typeface="Calibri"/>
              </a:rPr>
              <a:t>nw</a:t>
            </a:r>
            <a:r>
              <a:rPr lang="en-CA" sz="2100">
                <a:solidFill>
                  <a:schemeClr val="dk1"/>
                </a:solidFill>
                <a:latin typeface="Calibri"/>
                <a:ea typeface="Calibri"/>
                <a:cs typeface="Calibri"/>
                <a:sym typeface="Calibri"/>
              </a:rPr>
              <a:t>}</a:t>
            </a:r>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@con </a:t>
            </a:r>
            <a:r>
              <a:rPr lang="en-CA" sz="2100">
                <a:solidFill>
                  <a:schemeClr val="dk1"/>
                </a:solidFill>
                <a:latin typeface="Calibri"/>
                <a:ea typeface="Calibri"/>
                <a:cs typeface="Calibri"/>
                <a:sym typeface="Calibri"/>
              </a:rPr>
              <a:t>(connection to the previous &lt;nc&gt; in the neume)   {</a:t>
            </a:r>
            <a:r>
              <a:rPr lang="en-CA" sz="2100">
                <a:solidFill>
                  <a:srgbClr val="00B050"/>
                </a:solidFill>
                <a:latin typeface="Calibri"/>
                <a:ea typeface="Calibri"/>
                <a:cs typeface="Calibri"/>
                <a:sym typeface="Calibri"/>
              </a:rPr>
              <a:t>g </a:t>
            </a:r>
            <a:r>
              <a:rPr lang="en-CA" sz="2100">
                <a:solidFill>
                  <a:schemeClr val="dk1"/>
                </a:solidFill>
                <a:latin typeface="Calibri"/>
                <a:ea typeface="Calibri"/>
                <a:cs typeface="Calibri"/>
                <a:sym typeface="Calibri"/>
              </a:rPr>
              <a:t>= gapped |</a:t>
            </a:r>
            <a:r>
              <a:rPr lang="en-CA" sz="2100">
                <a:solidFill>
                  <a:srgbClr val="00B050"/>
                </a:solidFill>
                <a:latin typeface="Calibri"/>
                <a:ea typeface="Calibri"/>
                <a:cs typeface="Calibri"/>
                <a:sym typeface="Calibri"/>
              </a:rPr>
              <a:t> l </a:t>
            </a:r>
            <a:r>
              <a:rPr lang="en-CA" sz="2100">
                <a:solidFill>
                  <a:schemeClr val="dk1"/>
                </a:solidFill>
                <a:latin typeface="Calibri"/>
                <a:ea typeface="Calibri"/>
                <a:cs typeface="Calibri"/>
                <a:sym typeface="Calibri"/>
              </a:rPr>
              <a:t>= looped | </a:t>
            </a:r>
            <a:r>
              <a:rPr lang="en-CA" sz="2100">
                <a:solidFill>
                  <a:srgbClr val="00B050"/>
                </a:solidFill>
                <a:latin typeface="Calibri"/>
                <a:ea typeface="Calibri"/>
                <a:cs typeface="Calibri"/>
                <a:sym typeface="Calibri"/>
              </a:rPr>
              <a:t>e </a:t>
            </a:r>
            <a:r>
              <a:rPr lang="en-CA" sz="2100">
                <a:solidFill>
                  <a:schemeClr val="dk1"/>
                </a:solidFill>
                <a:latin typeface="Calibri"/>
                <a:ea typeface="Calibri"/>
                <a:cs typeface="Calibri"/>
                <a:sym typeface="Calibri"/>
              </a:rPr>
              <a:t>= extended}</a:t>
            </a:r>
            <a:endParaRPr sz="2100">
              <a:solidFill>
                <a:schemeClr val="accent6"/>
              </a:solidFill>
              <a:latin typeface="Calibri"/>
              <a:ea typeface="Calibri"/>
              <a:cs typeface="Calibri"/>
              <a:sym typeface="Calibri"/>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@ligated   </a:t>
            </a:r>
            <a:r>
              <a:rPr lang="en-CA" sz="2100">
                <a:solidFill>
                  <a:schemeClr val="dk1"/>
                </a:solidFill>
                <a:latin typeface="Calibri"/>
                <a:ea typeface="Calibri"/>
                <a:cs typeface="Calibri"/>
                <a:sym typeface="Calibri"/>
              </a:rPr>
              <a:t>{</a:t>
            </a:r>
            <a:r>
              <a:rPr lang="en-CA" sz="2100">
                <a:solidFill>
                  <a:srgbClr val="00B050"/>
                </a:solidFill>
                <a:latin typeface="Calibri"/>
                <a:ea typeface="Calibri"/>
                <a:cs typeface="Calibri"/>
                <a:sym typeface="Calibri"/>
              </a:rPr>
              <a:t>true</a:t>
            </a:r>
            <a:r>
              <a:rPr lang="en-CA" sz="2100">
                <a:solidFill>
                  <a:schemeClr val="dk1"/>
                </a:solidFill>
                <a:latin typeface="Calibri"/>
                <a:ea typeface="Calibri"/>
                <a:cs typeface="Calibri"/>
                <a:sym typeface="Calibri"/>
              </a:rPr>
              <a:t> | </a:t>
            </a:r>
            <a:r>
              <a:rPr lang="en-CA" sz="2100">
                <a:solidFill>
                  <a:srgbClr val="00B050"/>
                </a:solidFill>
                <a:latin typeface="Calibri"/>
                <a:ea typeface="Calibri"/>
                <a:cs typeface="Calibri"/>
                <a:sym typeface="Calibri"/>
              </a:rPr>
              <a:t>false</a:t>
            </a:r>
            <a:r>
              <a:rPr lang="en-CA" sz="2100">
                <a:solidFill>
                  <a:schemeClr val="dk1"/>
                </a:solidFill>
                <a:latin typeface="Calibri"/>
                <a:ea typeface="Calibri"/>
                <a:cs typeface="Calibri"/>
                <a:sym typeface="Calibri"/>
              </a:rPr>
              <a:t>}</a:t>
            </a:r>
            <a:endParaRPr/>
          </a:p>
          <a:p>
            <a:pPr indent="0" lvl="0" marL="8444" marR="0" rtl="0" algn="l">
              <a:spcBef>
                <a:spcPts val="1200"/>
              </a:spcBef>
              <a:spcAft>
                <a:spcPts val="0"/>
              </a:spcAft>
              <a:buNone/>
            </a:pPr>
            <a:r>
              <a:rPr b="1" lang="en-CA" sz="2400">
                <a:solidFill>
                  <a:schemeClr val="dk1"/>
                </a:solidFill>
                <a:latin typeface="Calibri"/>
                <a:ea typeface="Calibri"/>
                <a:cs typeface="Calibri"/>
                <a:sym typeface="Calibri"/>
              </a:rPr>
              <a:t>Attributes of neume components in stafless notation:</a:t>
            </a:r>
            <a:endParaRPr sz="2400">
              <a:solidFill>
                <a:schemeClr val="dk1"/>
              </a:solidFill>
              <a:latin typeface="Calibri"/>
              <a:ea typeface="Calibri"/>
              <a:cs typeface="Calibri"/>
              <a:sym typeface="Calibri"/>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@intm </a:t>
            </a:r>
            <a:r>
              <a:rPr lang="en-CA" sz="2100">
                <a:solidFill>
                  <a:schemeClr val="dk1"/>
                </a:solidFill>
                <a:latin typeface="Calibri"/>
                <a:ea typeface="Calibri"/>
                <a:cs typeface="Calibri"/>
                <a:sym typeface="Calibri"/>
              </a:rPr>
              <a:t>(melodic interval relative to previous &lt;nc&gt; in the neume) {</a:t>
            </a:r>
            <a:r>
              <a:rPr lang="en-CA" sz="2100">
                <a:solidFill>
                  <a:srgbClr val="00B050"/>
                </a:solidFill>
                <a:latin typeface="Calibri"/>
                <a:ea typeface="Calibri"/>
                <a:cs typeface="Calibri"/>
                <a:sym typeface="Calibri"/>
              </a:rPr>
              <a:t>u</a:t>
            </a:r>
            <a:r>
              <a:rPr lang="en-CA" sz="2100">
                <a:solidFill>
                  <a:schemeClr val="dk1"/>
                </a:solidFill>
                <a:latin typeface="Calibri"/>
                <a:ea typeface="Calibri"/>
                <a:cs typeface="Calibri"/>
                <a:sym typeface="Calibri"/>
              </a:rPr>
              <a:t> = up | </a:t>
            </a:r>
            <a:r>
              <a:rPr lang="en-CA" sz="2100">
                <a:solidFill>
                  <a:srgbClr val="00B050"/>
                </a:solidFill>
                <a:latin typeface="Calibri"/>
                <a:ea typeface="Calibri"/>
                <a:cs typeface="Calibri"/>
                <a:sym typeface="Calibri"/>
              </a:rPr>
              <a:t>d</a:t>
            </a:r>
            <a:r>
              <a:rPr lang="en-CA" sz="2100">
                <a:solidFill>
                  <a:schemeClr val="dk1"/>
                </a:solidFill>
                <a:latin typeface="Calibri"/>
                <a:ea typeface="Calibri"/>
                <a:cs typeface="Calibri"/>
                <a:sym typeface="Calibri"/>
              </a:rPr>
              <a:t> = down | </a:t>
            </a:r>
            <a:r>
              <a:rPr lang="en-CA" sz="2100">
                <a:solidFill>
                  <a:srgbClr val="00B050"/>
                </a:solidFill>
                <a:latin typeface="Calibri"/>
                <a:ea typeface="Calibri"/>
                <a:cs typeface="Calibri"/>
                <a:sym typeface="Calibri"/>
              </a:rPr>
              <a:t>s</a:t>
            </a:r>
            <a:r>
              <a:rPr lang="en-CA" sz="2100">
                <a:solidFill>
                  <a:schemeClr val="dk1"/>
                </a:solidFill>
                <a:latin typeface="Calibri"/>
                <a:ea typeface="Calibri"/>
                <a:cs typeface="Calibri"/>
                <a:sym typeface="Calibri"/>
              </a:rPr>
              <a:t> = same}</a:t>
            </a:r>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@s-shape </a:t>
            </a:r>
            <a:r>
              <a:rPr lang="en-CA" sz="2100">
                <a:solidFill>
                  <a:schemeClr val="dk1"/>
                </a:solidFill>
                <a:latin typeface="Calibri"/>
                <a:ea typeface="Calibri"/>
                <a:cs typeface="Calibri"/>
                <a:sym typeface="Calibri"/>
              </a:rPr>
              <a:t>(described by the direction of the initial penstroke) {</a:t>
            </a:r>
            <a:r>
              <a:rPr lang="en-CA" sz="2100">
                <a:solidFill>
                  <a:srgbClr val="00B050"/>
                </a:solidFill>
                <a:latin typeface="Calibri"/>
                <a:ea typeface="Calibri"/>
                <a:cs typeface="Calibri"/>
                <a:sym typeface="Calibri"/>
              </a:rPr>
              <a:t>n</a:t>
            </a:r>
            <a:r>
              <a:rPr lang="en-CA" sz="2100">
                <a:solidFill>
                  <a:schemeClr val="dk1"/>
                </a:solidFill>
                <a:latin typeface="Calibri"/>
                <a:ea typeface="Calibri"/>
                <a:cs typeface="Calibri"/>
                <a:sym typeface="Calibri"/>
              </a:rPr>
              <a:t> = north | </a:t>
            </a:r>
            <a:r>
              <a:rPr lang="en-CA" sz="2100">
                <a:solidFill>
                  <a:srgbClr val="00B050"/>
                </a:solidFill>
                <a:latin typeface="Calibri"/>
                <a:ea typeface="Calibri"/>
                <a:cs typeface="Calibri"/>
                <a:sym typeface="Calibri"/>
              </a:rPr>
              <a:t>s</a:t>
            </a:r>
            <a:r>
              <a:rPr lang="en-CA" sz="2100">
                <a:solidFill>
                  <a:schemeClr val="dk1"/>
                </a:solidFill>
                <a:latin typeface="Calibri"/>
                <a:ea typeface="Calibri"/>
                <a:cs typeface="Calibri"/>
                <a:sym typeface="Calibri"/>
              </a:rPr>
              <a:t> = south | …}</a:t>
            </a:r>
            <a:endParaRPr/>
          </a:p>
          <a:p>
            <a:pPr indent="-228594" lvl="0" marL="237038" marR="0" rtl="0" algn="l">
              <a:spcBef>
                <a:spcPts val="1200"/>
              </a:spcBef>
              <a:spcAft>
                <a:spcPts val="0"/>
              </a:spcAft>
              <a:buClr>
                <a:schemeClr val="accent2"/>
              </a:buClr>
              <a:buSzPts val="1500"/>
              <a:buFont typeface="Noto Sans Symbols"/>
              <a:buChar char="❖"/>
            </a:pPr>
            <a:r>
              <a:rPr lang="en-CA" sz="2100">
                <a:solidFill>
                  <a:schemeClr val="accent2"/>
                </a:solidFill>
                <a:latin typeface="Calibri"/>
                <a:ea typeface="Calibri"/>
                <a:cs typeface="Calibri"/>
                <a:sym typeface="Calibri"/>
              </a:rPr>
              <a:t>@curve </a:t>
            </a:r>
            <a:r>
              <a:rPr lang="en-CA" sz="2100">
                <a:solidFill>
                  <a:schemeClr val="dk1"/>
                </a:solidFill>
                <a:latin typeface="Calibri"/>
                <a:ea typeface="Calibri"/>
                <a:cs typeface="Calibri"/>
                <a:sym typeface="Calibri"/>
              </a:rPr>
              <a:t>(pen stroke)   {</a:t>
            </a:r>
            <a:r>
              <a:rPr lang="en-CA" sz="2100">
                <a:solidFill>
                  <a:srgbClr val="00B050"/>
                </a:solidFill>
                <a:latin typeface="Calibri"/>
                <a:ea typeface="Calibri"/>
                <a:cs typeface="Calibri"/>
                <a:sym typeface="Calibri"/>
              </a:rPr>
              <a:t>c</a:t>
            </a:r>
            <a:r>
              <a:rPr lang="en-CA" sz="2100">
                <a:solidFill>
                  <a:schemeClr val="dk1"/>
                </a:solidFill>
                <a:latin typeface="Calibri"/>
                <a:ea typeface="Calibri"/>
                <a:cs typeface="Calibri"/>
                <a:sym typeface="Calibri"/>
              </a:rPr>
              <a:t> = clockwise | </a:t>
            </a:r>
            <a:r>
              <a:rPr lang="en-CA" sz="2100">
                <a:solidFill>
                  <a:srgbClr val="00B050"/>
                </a:solidFill>
                <a:latin typeface="Calibri"/>
                <a:ea typeface="Calibri"/>
                <a:cs typeface="Calibri"/>
                <a:sym typeface="Calibri"/>
              </a:rPr>
              <a:t>a</a:t>
            </a:r>
            <a:r>
              <a:rPr lang="en-CA" sz="2100">
                <a:solidFill>
                  <a:schemeClr val="dk1"/>
                </a:solidFill>
                <a:latin typeface="Calibri"/>
                <a:ea typeface="Calibri"/>
                <a:cs typeface="Calibri"/>
                <a:sym typeface="Calibri"/>
              </a:rPr>
              <a:t> = anti-clockwise}</a:t>
            </a:r>
            <a:endParaRPr/>
          </a:p>
        </p:txBody>
      </p:sp>
      <p:sp>
        <p:nvSpPr>
          <p:cNvPr id="632" name="Google Shape;632;p42"/>
          <p:cNvSpPr txBox="1"/>
          <p:nvPr/>
        </p:nvSpPr>
        <p:spPr>
          <a:xfrm>
            <a:off x="516050" y="6171685"/>
            <a:ext cx="102679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3">
                  <a:extLst>
                    <a:ext uri="{A12FA001-AC4F-418D-AE19-62706E023703}">
                      <ahyp:hlinkClr val="tx"/>
                    </a:ext>
                  </a:extLst>
                </a:hlinkClick>
              </a:rPr>
              <a:t>https://music-encoding.org/guidelines/v5/elements/nc.html#attributes_full_tab</a:t>
            </a:r>
            <a:endParaRPr sz="1800">
              <a:solidFill>
                <a:schemeClr val="dk1"/>
              </a:solidFill>
              <a:latin typeface="Calibri"/>
              <a:ea typeface="Calibri"/>
              <a:cs typeface="Calibri"/>
              <a:sym typeface="Calibri"/>
            </a:endParaRPr>
          </a:p>
        </p:txBody>
      </p:sp>
      <p:sp>
        <p:nvSpPr>
          <p:cNvPr id="633" name="Google Shape;63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43"/>
          <p:cNvSpPr/>
          <p:nvPr/>
        </p:nvSpPr>
        <p:spPr>
          <a:xfrm>
            <a:off x="0" y="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640" name="Google Shape;640;p43"/>
          <p:cNvGraphicFramePr/>
          <p:nvPr/>
        </p:nvGraphicFramePr>
        <p:xfrm>
          <a:off x="609600" y="281274"/>
          <a:ext cx="1512744" cy="2319541"/>
        </p:xfrm>
        <a:graphic>
          <a:graphicData uri="http://schemas.openxmlformats.org/presentationml/2006/ole">
            <mc:AlternateContent>
              <mc:Choice Requires="v">
                <p:oleObj r:id="rId4" imgH="2319541" imgW="1512744" progId="Paint.Picture" spid="_x0000_s1">
                  <p:embed/>
                </p:oleObj>
              </mc:Choice>
              <mc:Fallback>
                <p:oleObj r:id="rId5" imgH="2319541" imgW="1512744" progId="Paint.Picture">
                  <p:embed/>
                  <p:pic>
                    <p:nvPicPr>
                      <p:cNvPr id="640" name="Google Shape;640;p43"/>
                      <p:cNvPicPr preferRelativeResize="0"/>
                      <p:nvPr/>
                    </p:nvPicPr>
                    <p:blipFill rotWithShape="1">
                      <a:blip r:embed="rId6">
                        <a:alphaModFix/>
                      </a:blip>
                      <a:srcRect b="0" l="0" r="0" t="0"/>
                      <a:stretch/>
                    </p:blipFill>
                    <p:spPr>
                      <a:xfrm>
                        <a:off x="609600" y="281274"/>
                        <a:ext cx="1512744" cy="2319541"/>
                      </a:xfrm>
                      <a:prstGeom prst="rect">
                        <a:avLst/>
                      </a:prstGeom>
                      <a:noFill/>
                      <a:ln>
                        <a:noFill/>
                      </a:ln>
                    </p:spPr>
                  </p:pic>
                </p:oleObj>
              </mc:Fallback>
            </mc:AlternateContent>
          </a:graphicData>
        </a:graphic>
      </p:graphicFrame>
      <p:sp>
        <p:nvSpPr>
          <p:cNvPr id="641" name="Google Shape;641;p43"/>
          <p:cNvSpPr/>
          <p:nvPr/>
        </p:nvSpPr>
        <p:spPr>
          <a:xfrm flipH="1" rot="10800000">
            <a:off x="-12743802" y="5371236"/>
            <a:ext cx="34744821" cy="4571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642" name="Google Shape;642;p43"/>
          <p:cNvGraphicFramePr/>
          <p:nvPr/>
        </p:nvGraphicFramePr>
        <p:xfrm>
          <a:off x="609600" y="3928556"/>
          <a:ext cx="1248642" cy="2198696"/>
        </p:xfrm>
        <a:graphic>
          <a:graphicData uri="http://schemas.openxmlformats.org/presentationml/2006/ole">
            <mc:AlternateContent>
              <mc:Choice Requires="v">
                <p:oleObj r:id="rId7" imgH="2198696" imgW="1248642" progId="Paint.Picture" spid="_x0000_s2">
                  <p:embed/>
                </p:oleObj>
              </mc:Choice>
              <mc:Fallback>
                <p:oleObj r:id="rId8" imgH="2198696" imgW="1248642" progId="Paint.Picture">
                  <p:embed/>
                  <p:pic>
                    <p:nvPicPr>
                      <p:cNvPr id="642" name="Google Shape;642;p43"/>
                      <p:cNvPicPr preferRelativeResize="0"/>
                      <p:nvPr/>
                    </p:nvPicPr>
                    <p:blipFill rotWithShape="1">
                      <a:blip r:embed="rId9">
                        <a:alphaModFix/>
                      </a:blip>
                      <a:srcRect b="0" l="0" r="0" t="0"/>
                      <a:stretch/>
                    </p:blipFill>
                    <p:spPr>
                      <a:xfrm>
                        <a:off x="609600" y="3928556"/>
                        <a:ext cx="1248642" cy="2198696"/>
                      </a:xfrm>
                      <a:prstGeom prst="rect">
                        <a:avLst/>
                      </a:prstGeom>
                      <a:noFill/>
                      <a:ln>
                        <a:noFill/>
                      </a:ln>
                    </p:spPr>
                  </p:pic>
                </p:oleObj>
              </mc:Fallback>
            </mc:AlternateContent>
          </a:graphicData>
        </a:graphic>
      </p:graphicFrame>
      <p:sp>
        <p:nvSpPr>
          <p:cNvPr id="643" name="Google Shape;643;p43"/>
          <p:cNvSpPr txBox="1"/>
          <p:nvPr/>
        </p:nvSpPr>
        <p:spPr>
          <a:xfrm>
            <a:off x="2611058" y="800307"/>
            <a:ext cx="7138493" cy="20621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200">
                <a:solidFill>
                  <a:schemeClr val="dk1"/>
                </a:solidFill>
                <a:latin typeface="Calibri"/>
                <a:ea typeface="Calibri"/>
                <a:cs typeface="Calibri"/>
                <a:sym typeface="Calibri"/>
              </a:rPr>
              <a:t>&lt;</a:t>
            </a:r>
            <a:r>
              <a:rPr lang="en-CA" sz="3200">
                <a:solidFill>
                  <a:srgbClr val="0070C0"/>
                </a:solidFill>
                <a:latin typeface="Calibri"/>
                <a:ea typeface="Calibri"/>
                <a:cs typeface="Calibri"/>
                <a:sym typeface="Calibri"/>
              </a:rPr>
              <a:t>neume</a:t>
            </a:r>
            <a:r>
              <a:rPr lang="en-CA" sz="32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200">
                <a:solidFill>
                  <a:schemeClr val="dk1"/>
                </a:solidFill>
                <a:latin typeface="Calibri"/>
                <a:ea typeface="Calibri"/>
                <a:cs typeface="Calibri"/>
                <a:sym typeface="Calibri"/>
              </a:rPr>
              <a:t>    &lt;</a:t>
            </a:r>
            <a:r>
              <a:rPr lang="en-CA" sz="3200">
                <a:solidFill>
                  <a:srgbClr val="0070C0"/>
                </a:solidFill>
                <a:latin typeface="Calibri"/>
                <a:ea typeface="Calibri"/>
                <a:cs typeface="Calibri"/>
                <a:sym typeface="Calibri"/>
              </a:rPr>
              <a:t>nc</a:t>
            </a:r>
            <a:r>
              <a:rPr lang="en-CA" sz="3200">
                <a:solidFill>
                  <a:schemeClr val="dk1"/>
                </a:solidFill>
                <a:latin typeface="Calibri"/>
                <a:ea typeface="Calibri"/>
                <a:cs typeface="Calibri"/>
                <a:sym typeface="Calibri"/>
              </a:rPr>
              <a:t> </a:t>
            </a:r>
            <a:r>
              <a:rPr lang="en-CA" sz="3200">
                <a:solidFill>
                  <a:srgbClr val="E46E16"/>
                </a:solidFill>
                <a:latin typeface="Calibri"/>
                <a:ea typeface="Calibri"/>
                <a:cs typeface="Calibri"/>
                <a:sym typeface="Calibri"/>
              </a:rPr>
              <a:t>tilt</a:t>
            </a:r>
            <a:r>
              <a:rPr lang="en-CA" sz="3200">
                <a:solidFill>
                  <a:schemeClr val="dk1"/>
                </a:solidFill>
                <a:latin typeface="Calibri"/>
                <a:ea typeface="Calibri"/>
                <a:cs typeface="Calibri"/>
                <a:sym typeface="Calibri"/>
              </a:rPr>
              <a:t>=</a:t>
            </a:r>
            <a:r>
              <a:rPr lang="en-CA" sz="3200">
                <a:solidFill>
                  <a:schemeClr val="dk1"/>
                </a:solidFill>
                <a:latin typeface="Consolas"/>
                <a:ea typeface="Consolas"/>
                <a:cs typeface="Consolas"/>
                <a:sym typeface="Consolas"/>
              </a:rPr>
              <a:t>"</a:t>
            </a:r>
            <a:r>
              <a:rPr lang="en-CA" sz="3200">
                <a:solidFill>
                  <a:srgbClr val="548135"/>
                </a:solidFill>
                <a:latin typeface="Calibri"/>
                <a:ea typeface="Calibri"/>
                <a:cs typeface="Calibri"/>
                <a:sym typeface="Calibri"/>
              </a:rPr>
              <a:t>ne</a:t>
            </a:r>
            <a:r>
              <a:rPr lang="en-CA" sz="3200">
                <a:solidFill>
                  <a:schemeClr val="dk1"/>
                </a:solidFill>
                <a:latin typeface="Consolas"/>
                <a:ea typeface="Consolas"/>
                <a:cs typeface="Consolas"/>
                <a:sym typeface="Consolas"/>
              </a:rPr>
              <a:t>"</a:t>
            </a:r>
            <a:r>
              <a:rPr lang="en-CA" sz="32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200">
                <a:solidFill>
                  <a:schemeClr val="dk1"/>
                </a:solidFill>
                <a:latin typeface="Calibri"/>
                <a:ea typeface="Calibri"/>
                <a:cs typeface="Calibri"/>
                <a:sym typeface="Calibri"/>
              </a:rPr>
              <a:t>    &lt;</a:t>
            </a:r>
            <a:r>
              <a:rPr lang="en-CA" sz="3200">
                <a:solidFill>
                  <a:srgbClr val="0070C0"/>
                </a:solidFill>
                <a:latin typeface="Calibri"/>
                <a:ea typeface="Calibri"/>
                <a:cs typeface="Calibri"/>
                <a:sym typeface="Calibri"/>
              </a:rPr>
              <a:t>nc</a:t>
            </a:r>
            <a:r>
              <a:rPr lang="en-CA" sz="3200">
                <a:solidFill>
                  <a:schemeClr val="dk1"/>
                </a:solidFill>
                <a:latin typeface="Calibri"/>
                <a:ea typeface="Calibri"/>
                <a:cs typeface="Calibri"/>
                <a:sym typeface="Calibri"/>
              </a:rPr>
              <a:t> </a:t>
            </a:r>
            <a:r>
              <a:rPr lang="en-CA" sz="3200">
                <a:solidFill>
                  <a:srgbClr val="E46E16"/>
                </a:solidFill>
                <a:latin typeface="Calibri"/>
                <a:ea typeface="Calibri"/>
                <a:cs typeface="Calibri"/>
                <a:sym typeface="Calibri"/>
              </a:rPr>
              <a:t>tilt</a:t>
            </a:r>
            <a:r>
              <a:rPr lang="en-CA" sz="3200">
                <a:solidFill>
                  <a:schemeClr val="dk1"/>
                </a:solidFill>
                <a:latin typeface="Calibri"/>
                <a:ea typeface="Calibri"/>
                <a:cs typeface="Calibri"/>
                <a:sym typeface="Calibri"/>
              </a:rPr>
              <a:t>=</a:t>
            </a:r>
            <a:r>
              <a:rPr lang="en-CA" sz="3200">
                <a:solidFill>
                  <a:schemeClr val="dk1"/>
                </a:solidFill>
                <a:latin typeface="Consolas"/>
                <a:ea typeface="Consolas"/>
                <a:cs typeface="Consolas"/>
                <a:sym typeface="Consolas"/>
              </a:rPr>
              <a:t>"</a:t>
            </a:r>
            <a:r>
              <a:rPr lang="en-CA" sz="3200">
                <a:solidFill>
                  <a:srgbClr val="548135"/>
                </a:solidFill>
                <a:latin typeface="Calibri"/>
                <a:ea typeface="Calibri"/>
                <a:cs typeface="Calibri"/>
                <a:sym typeface="Calibri"/>
              </a:rPr>
              <a:t>se</a:t>
            </a:r>
            <a:r>
              <a:rPr lang="en-CA" sz="3200">
                <a:solidFill>
                  <a:schemeClr val="dk1"/>
                </a:solidFill>
                <a:latin typeface="Consolas"/>
                <a:ea typeface="Consolas"/>
                <a:cs typeface="Consolas"/>
                <a:sym typeface="Consolas"/>
              </a:rPr>
              <a:t>"</a:t>
            </a:r>
            <a:r>
              <a:rPr lang="en-CA" sz="3200">
                <a:solidFill>
                  <a:schemeClr val="dk1"/>
                </a:solidFill>
                <a:latin typeface="Calibri"/>
                <a:ea typeface="Calibri"/>
                <a:cs typeface="Calibri"/>
                <a:sym typeface="Calibri"/>
              </a:rPr>
              <a:t> </a:t>
            </a:r>
            <a:r>
              <a:rPr lang="en-CA" sz="3200">
                <a:solidFill>
                  <a:srgbClr val="E46E16"/>
                </a:solidFill>
                <a:highlight>
                  <a:srgbClr val="FFFF00"/>
                </a:highlight>
                <a:latin typeface="Calibri"/>
                <a:ea typeface="Calibri"/>
                <a:cs typeface="Calibri"/>
                <a:sym typeface="Calibri"/>
              </a:rPr>
              <a:t>rellen</a:t>
            </a:r>
            <a:r>
              <a:rPr lang="en-CA" sz="3200">
                <a:solidFill>
                  <a:schemeClr val="dk1"/>
                </a:solidFill>
                <a:highlight>
                  <a:srgbClr val="FFFF00"/>
                </a:highlight>
                <a:latin typeface="Calibri"/>
                <a:ea typeface="Calibri"/>
                <a:cs typeface="Calibri"/>
                <a:sym typeface="Calibri"/>
              </a:rPr>
              <a:t>=</a:t>
            </a:r>
            <a:r>
              <a:rPr lang="en-CA" sz="3200">
                <a:solidFill>
                  <a:schemeClr val="dk1"/>
                </a:solidFill>
                <a:highlight>
                  <a:srgbClr val="FFFF00"/>
                </a:highlight>
                <a:latin typeface="Consolas"/>
                <a:ea typeface="Consolas"/>
                <a:cs typeface="Consolas"/>
                <a:sym typeface="Consolas"/>
              </a:rPr>
              <a:t>"</a:t>
            </a:r>
            <a:r>
              <a:rPr lang="en-CA" sz="3200">
                <a:solidFill>
                  <a:srgbClr val="548135"/>
                </a:solidFill>
                <a:highlight>
                  <a:srgbClr val="FFFF00"/>
                </a:highlight>
                <a:latin typeface="Calibri"/>
                <a:ea typeface="Calibri"/>
                <a:cs typeface="Calibri"/>
                <a:sym typeface="Calibri"/>
              </a:rPr>
              <a:t>s</a:t>
            </a:r>
            <a:r>
              <a:rPr lang="en-CA" sz="3200">
                <a:solidFill>
                  <a:schemeClr val="dk1"/>
                </a:solidFill>
                <a:highlight>
                  <a:srgbClr val="FFFF00"/>
                </a:highlight>
                <a:latin typeface="Consolas"/>
                <a:ea typeface="Consolas"/>
                <a:cs typeface="Consolas"/>
                <a:sym typeface="Consolas"/>
              </a:rPr>
              <a:t>"</a:t>
            </a:r>
            <a:r>
              <a:rPr lang="en-CA" sz="3200">
                <a:solidFill>
                  <a:schemeClr val="dk1"/>
                </a:solidFill>
                <a:latin typeface="Calibri"/>
                <a:ea typeface="Calibri"/>
                <a:cs typeface="Calibri"/>
                <a:sym typeface="Calibri"/>
              </a:rPr>
              <a:t> </a:t>
            </a:r>
            <a:r>
              <a:rPr lang="en-CA" sz="3200">
                <a:solidFill>
                  <a:srgbClr val="E46E16"/>
                </a:solidFill>
                <a:latin typeface="Calibri"/>
                <a:ea typeface="Calibri"/>
                <a:cs typeface="Calibri"/>
                <a:sym typeface="Calibri"/>
              </a:rPr>
              <a:t>intm</a:t>
            </a:r>
            <a:r>
              <a:rPr lang="en-CA" sz="3200">
                <a:solidFill>
                  <a:schemeClr val="dk1"/>
                </a:solidFill>
                <a:latin typeface="Calibri"/>
                <a:ea typeface="Calibri"/>
                <a:cs typeface="Calibri"/>
                <a:sym typeface="Calibri"/>
              </a:rPr>
              <a:t>=</a:t>
            </a:r>
            <a:r>
              <a:rPr lang="en-CA" sz="3200">
                <a:solidFill>
                  <a:schemeClr val="dk1"/>
                </a:solidFill>
                <a:latin typeface="Consolas"/>
                <a:ea typeface="Consolas"/>
                <a:cs typeface="Consolas"/>
                <a:sym typeface="Consolas"/>
              </a:rPr>
              <a:t>"</a:t>
            </a:r>
            <a:r>
              <a:rPr lang="en-CA" sz="3200">
                <a:solidFill>
                  <a:srgbClr val="548135"/>
                </a:solidFill>
                <a:latin typeface="Calibri"/>
                <a:ea typeface="Calibri"/>
                <a:cs typeface="Calibri"/>
                <a:sym typeface="Calibri"/>
              </a:rPr>
              <a:t>d</a:t>
            </a:r>
            <a:r>
              <a:rPr lang="en-CA" sz="3200">
                <a:solidFill>
                  <a:schemeClr val="dk1"/>
                </a:solidFill>
                <a:latin typeface="Consolas"/>
                <a:ea typeface="Consolas"/>
                <a:cs typeface="Consolas"/>
                <a:sym typeface="Consolas"/>
              </a:rPr>
              <a:t>"</a:t>
            </a:r>
            <a:r>
              <a:rPr lang="en-CA" sz="32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200">
                <a:solidFill>
                  <a:schemeClr val="dk1"/>
                </a:solidFill>
                <a:latin typeface="Calibri"/>
                <a:ea typeface="Calibri"/>
                <a:cs typeface="Calibri"/>
                <a:sym typeface="Calibri"/>
              </a:rPr>
              <a:t>&lt;/</a:t>
            </a:r>
            <a:r>
              <a:rPr lang="en-CA" sz="3200">
                <a:solidFill>
                  <a:srgbClr val="0070C0"/>
                </a:solidFill>
                <a:latin typeface="Calibri"/>
                <a:ea typeface="Calibri"/>
                <a:cs typeface="Calibri"/>
                <a:sym typeface="Calibri"/>
              </a:rPr>
              <a:t>neume</a:t>
            </a:r>
            <a:r>
              <a:rPr lang="en-CA" sz="3200">
                <a:solidFill>
                  <a:schemeClr val="dk1"/>
                </a:solidFill>
                <a:latin typeface="Calibri"/>
                <a:ea typeface="Calibri"/>
                <a:cs typeface="Calibri"/>
                <a:sym typeface="Calibri"/>
              </a:rPr>
              <a:t>&gt;</a:t>
            </a:r>
            <a:endParaRPr/>
          </a:p>
        </p:txBody>
      </p:sp>
      <p:sp>
        <p:nvSpPr>
          <p:cNvPr id="644" name="Google Shape;644;p43"/>
          <p:cNvSpPr txBox="1"/>
          <p:nvPr/>
        </p:nvSpPr>
        <p:spPr>
          <a:xfrm>
            <a:off x="2611058" y="3824549"/>
            <a:ext cx="7136890" cy="20621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200">
                <a:solidFill>
                  <a:schemeClr val="dk1"/>
                </a:solidFill>
                <a:latin typeface="Calibri"/>
                <a:ea typeface="Calibri"/>
                <a:cs typeface="Calibri"/>
                <a:sym typeface="Calibri"/>
              </a:rPr>
              <a:t>&lt;</a:t>
            </a:r>
            <a:r>
              <a:rPr lang="en-CA" sz="3200">
                <a:solidFill>
                  <a:srgbClr val="0070C0"/>
                </a:solidFill>
                <a:latin typeface="Calibri"/>
                <a:ea typeface="Calibri"/>
                <a:cs typeface="Calibri"/>
                <a:sym typeface="Calibri"/>
              </a:rPr>
              <a:t>neume</a:t>
            </a:r>
            <a:r>
              <a:rPr lang="en-CA" sz="32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200">
                <a:solidFill>
                  <a:schemeClr val="dk1"/>
                </a:solidFill>
                <a:latin typeface="Calibri"/>
                <a:ea typeface="Calibri"/>
                <a:cs typeface="Calibri"/>
                <a:sym typeface="Calibri"/>
              </a:rPr>
              <a:t>    &lt;</a:t>
            </a:r>
            <a:r>
              <a:rPr lang="en-CA" sz="3200">
                <a:solidFill>
                  <a:srgbClr val="0070C0"/>
                </a:solidFill>
                <a:latin typeface="Calibri"/>
                <a:ea typeface="Calibri"/>
                <a:cs typeface="Calibri"/>
                <a:sym typeface="Calibri"/>
              </a:rPr>
              <a:t>nc</a:t>
            </a:r>
            <a:r>
              <a:rPr lang="en-CA" sz="3200">
                <a:solidFill>
                  <a:schemeClr val="dk1"/>
                </a:solidFill>
                <a:latin typeface="Calibri"/>
                <a:ea typeface="Calibri"/>
                <a:cs typeface="Calibri"/>
                <a:sym typeface="Calibri"/>
              </a:rPr>
              <a:t> </a:t>
            </a:r>
            <a:r>
              <a:rPr lang="en-CA" sz="3200">
                <a:solidFill>
                  <a:srgbClr val="E46E16"/>
                </a:solidFill>
                <a:latin typeface="Calibri"/>
                <a:ea typeface="Calibri"/>
                <a:cs typeface="Calibri"/>
                <a:sym typeface="Calibri"/>
              </a:rPr>
              <a:t>tilt</a:t>
            </a:r>
            <a:r>
              <a:rPr lang="en-CA" sz="3200">
                <a:solidFill>
                  <a:schemeClr val="dk1"/>
                </a:solidFill>
                <a:latin typeface="Calibri"/>
                <a:ea typeface="Calibri"/>
                <a:cs typeface="Calibri"/>
                <a:sym typeface="Calibri"/>
              </a:rPr>
              <a:t>=</a:t>
            </a:r>
            <a:r>
              <a:rPr lang="en-CA" sz="3200">
                <a:solidFill>
                  <a:schemeClr val="dk1"/>
                </a:solidFill>
                <a:latin typeface="Consolas"/>
                <a:ea typeface="Consolas"/>
                <a:cs typeface="Consolas"/>
                <a:sym typeface="Consolas"/>
              </a:rPr>
              <a:t>"</a:t>
            </a:r>
            <a:r>
              <a:rPr lang="en-CA" sz="3200">
                <a:solidFill>
                  <a:srgbClr val="548135"/>
                </a:solidFill>
                <a:latin typeface="Calibri"/>
                <a:ea typeface="Calibri"/>
                <a:cs typeface="Calibri"/>
                <a:sym typeface="Calibri"/>
              </a:rPr>
              <a:t>ne</a:t>
            </a:r>
            <a:r>
              <a:rPr lang="en-CA" sz="3200">
                <a:solidFill>
                  <a:schemeClr val="dk1"/>
                </a:solidFill>
                <a:latin typeface="Consolas"/>
                <a:ea typeface="Consolas"/>
                <a:cs typeface="Consolas"/>
                <a:sym typeface="Consolas"/>
              </a:rPr>
              <a:t>"</a:t>
            </a:r>
            <a:r>
              <a:rPr lang="en-CA" sz="32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200">
                <a:solidFill>
                  <a:schemeClr val="dk1"/>
                </a:solidFill>
                <a:latin typeface="Calibri"/>
                <a:ea typeface="Calibri"/>
                <a:cs typeface="Calibri"/>
                <a:sym typeface="Calibri"/>
              </a:rPr>
              <a:t>    &lt;</a:t>
            </a:r>
            <a:r>
              <a:rPr lang="en-CA" sz="3200">
                <a:solidFill>
                  <a:srgbClr val="0070C0"/>
                </a:solidFill>
                <a:latin typeface="Calibri"/>
                <a:ea typeface="Calibri"/>
                <a:cs typeface="Calibri"/>
                <a:sym typeface="Calibri"/>
              </a:rPr>
              <a:t>nc</a:t>
            </a:r>
            <a:r>
              <a:rPr lang="en-CA" sz="3200">
                <a:solidFill>
                  <a:schemeClr val="dk1"/>
                </a:solidFill>
                <a:latin typeface="Calibri"/>
                <a:ea typeface="Calibri"/>
                <a:cs typeface="Calibri"/>
                <a:sym typeface="Calibri"/>
              </a:rPr>
              <a:t> </a:t>
            </a:r>
            <a:r>
              <a:rPr lang="en-CA" sz="3200">
                <a:solidFill>
                  <a:srgbClr val="E46E16"/>
                </a:solidFill>
                <a:latin typeface="Calibri"/>
                <a:ea typeface="Calibri"/>
                <a:cs typeface="Calibri"/>
                <a:sym typeface="Calibri"/>
              </a:rPr>
              <a:t>tilt</a:t>
            </a:r>
            <a:r>
              <a:rPr lang="en-CA" sz="3200">
                <a:solidFill>
                  <a:schemeClr val="dk1"/>
                </a:solidFill>
                <a:latin typeface="Calibri"/>
                <a:ea typeface="Calibri"/>
                <a:cs typeface="Calibri"/>
                <a:sym typeface="Calibri"/>
              </a:rPr>
              <a:t>=</a:t>
            </a:r>
            <a:r>
              <a:rPr lang="en-CA" sz="3200">
                <a:solidFill>
                  <a:schemeClr val="dk1"/>
                </a:solidFill>
                <a:latin typeface="Consolas"/>
                <a:ea typeface="Consolas"/>
                <a:cs typeface="Consolas"/>
                <a:sym typeface="Consolas"/>
              </a:rPr>
              <a:t>"</a:t>
            </a:r>
            <a:r>
              <a:rPr lang="en-CA" sz="3200">
                <a:solidFill>
                  <a:srgbClr val="548135"/>
                </a:solidFill>
                <a:latin typeface="Calibri"/>
                <a:ea typeface="Calibri"/>
                <a:cs typeface="Calibri"/>
                <a:sym typeface="Calibri"/>
              </a:rPr>
              <a:t>se</a:t>
            </a:r>
            <a:r>
              <a:rPr lang="en-CA" sz="3200">
                <a:solidFill>
                  <a:schemeClr val="dk1"/>
                </a:solidFill>
                <a:latin typeface="Consolas"/>
                <a:ea typeface="Consolas"/>
                <a:cs typeface="Consolas"/>
                <a:sym typeface="Consolas"/>
              </a:rPr>
              <a:t>"</a:t>
            </a:r>
            <a:r>
              <a:rPr lang="en-CA" sz="3200">
                <a:solidFill>
                  <a:schemeClr val="dk1"/>
                </a:solidFill>
                <a:latin typeface="Calibri"/>
                <a:ea typeface="Calibri"/>
                <a:cs typeface="Calibri"/>
                <a:sym typeface="Calibri"/>
              </a:rPr>
              <a:t> </a:t>
            </a:r>
            <a:r>
              <a:rPr lang="en-CA" sz="3200">
                <a:solidFill>
                  <a:srgbClr val="E46E16"/>
                </a:solidFill>
                <a:highlight>
                  <a:srgbClr val="FFFF00"/>
                </a:highlight>
                <a:latin typeface="Calibri"/>
                <a:ea typeface="Calibri"/>
                <a:cs typeface="Calibri"/>
                <a:sym typeface="Calibri"/>
              </a:rPr>
              <a:t>rellen</a:t>
            </a:r>
            <a:r>
              <a:rPr lang="en-CA" sz="3200">
                <a:solidFill>
                  <a:schemeClr val="dk1"/>
                </a:solidFill>
                <a:highlight>
                  <a:srgbClr val="FFFF00"/>
                </a:highlight>
                <a:latin typeface="Calibri"/>
                <a:ea typeface="Calibri"/>
                <a:cs typeface="Calibri"/>
                <a:sym typeface="Calibri"/>
              </a:rPr>
              <a:t>=</a:t>
            </a:r>
            <a:r>
              <a:rPr lang="en-CA" sz="3200">
                <a:solidFill>
                  <a:schemeClr val="dk1"/>
                </a:solidFill>
                <a:highlight>
                  <a:srgbClr val="FFFF00"/>
                </a:highlight>
                <a:latin typeface="Consolas"/>
                <a:ea typeface="Consolas"/>
                <a:cs typeface="Consolas"/>
                <a:sym typeface="Consolas"/>
              </a:rPr>
              <a:t>"</a:t>
            </a:r>
            <a:r>
              <a:rPr lang="en-CA" sz="3200">
                <a:solidFill>
                  <a:srgbClr val="548135"/>
                </a:solidFill>
                <a:highlight>
                  <a:srgbClr val="FFFF00"/>
                </a:highlight>
                <a:latin typeface="Calibri"/>
                <a:ea typeface="Calibri"/>
                <a:cs typeface="Calibri"/>
                <a:sym typeface="Calibri"/>
              </a:rPr>
              <a:t>l</a:t>
            </a:r>
            <a:r>
              <a:rPr lang="en-CA" sz="3200">
                <a:solidFill>
                  <a:schemeClr val="dk1"/>
                </a:solidFill>
                <a:highlight>
                  <a:srgbClr val="FFFF00"/>
                </a:highlight>
                <a:latin typeface="Consolas"/>
                <a:ea typeface="Consolas"/>
                <a:cs typeface="Consolas"/>
                <a:sym typeface="Consolas"/>
              </a:rPr>
              <a:t>"</a:t>
            </a:r>
            <a:r>
              <a:rPr lang="en-CA" sz="3200">
                <a:solidFill>
                  <a:schemeClr val="dk1"/>
                </a:solidFill>
                <a:latin typeface="Consolas"/>
                <a:ea typeface="Consolas"/>
                <a:cs typeface="Consolas"/>
                <a:sym typeface="Consolas"/>
              </a:rPr>
              <a:t> </a:t>
            </a:r>
            <a:r>
              <a:rPr lang="en-CA" sz="3200">
                <a:solidFill>
                  <a:srgbClr val="E46E16"/>
                </a:solidFill>
                <a:latin typeface="Calibri"/>
                <a:ea typeface="Calibri"/>
                <a:cs typeface="Calibri"/>
                <a:sym typeface="Calibri"/>
              </a:rPr>
              <a:t>intm</a:t>
            </a:r>
            <a:r>
              <a:rPr lang="en-CA" sz="3200">
                <a:solidFill>
                  <a:schemeClr val="dk1"/>
                </a:solidFill>
                <a:latin typeface="Calibri"/>
                <a:ea typeface="Calibri"/>
                <a:cs typeface="Calibri"/>
                <a:sym typeface="Calibri"/>
              </a:rPr>
              <a:t>=</a:t>
            </a:r>
            <a:r>
              <a:rPr lang="en-CA" sz="3200">
                <a:solidFill>
                  <a:schemeClr val="dk1"/>
                </a:solidFill>
                <a:latin typeface="Consolas"/>
                <a:ea typeface="Consolas"/>
                <a:cs typeface="Consolas"/>
                <a:sym typeface="Consolas"/>
              </a:rPr>
              <a:t>"</a:t>
            </a:r>
            <a:r>
              <a:rPr lang="en-CA" sz="3200">
                <a:solidFill>
                  <a:srgbClr val="548135"/>
                </a:solidFill>
                <a:latin typeface="Calibri"/>
                <a:ea typeface="Calibri"/>
                <a:cs typeface="Calibri"/>
                <a:sym typeface="Calibri"/>
              </a:rPr>
              <a:t>d</a:t>
            </a:r>
            <a:r>
              <a:rPr lang="en-CA" sz="3200">
                <a:solidFill>
                  <a:schemeClr val="dk1"/>
                </a:solidFill>
                <a:latin typeface="Consolas"/>
                <a:ea typeface="Consolas"/>
                <a:cs typeface="Consolas"/>
                <a:sym typeface="Consolas"/>
              </a:rPr>
              <a:t>"</a:t>
            </a:r>
            <a:r>
              <a:rPr lang="en-CA" sz="32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3200">
                <a:solidFill>
                  <a:schemeClr val="dk1"/>
                </a:solidFill>
                <a:latin typeface="Calibri"/>
                <a:ea typeface="Calibri"/>
                <a:cs typeface="Calibri"/>
                <a:sym typeface="Calibri"/>
              </a:rPr>
              <a:t>&lt;/</a:t>
            </a:r>
            <a:r>
              <a:rPr lang="en-CA" sz="3200">
                <a:solidFill>
                  <a:srgbClr val="0070C0"/>
                </a:solidFill>
                <a:latin typeface="Calibri"/>
                <a:ea typeface="Calibri"/>
                <a:cs typeface="Calibri"/>
                <a:sym typeface="Calibri"/>
              </a:rPr>
              <a:t>neume</a:t>
            </a:r>
            <a:r>
              <a:rPr lang="en-CA" sz="3200">
                <a:solidFill>
                  <a:schemeClr val="dk1"/>
                </a:solidFill>
                <a:latin typeface="Calibri"/>
                <a:ea typeface="Calibri"/>
                <a:cs typeface="Calibri"/>
                <a:sym typeface="Calibri"/>
              </a:rPr>
              <a:t>&gt;</a:t>
            </a:r>
            <a:endParaRPr/>
          </a:p>
        </p:txBody>
      </p:sp>
      <p:sp>
        <p:nvSpPr>
          <p:cNvPr id="645" name="Google Shape;645;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44"/>
          <p:cNvSpPr/>
          <p:nvPr/>
        </p:nvSpPr>
        <p:spPr>
          <a:xfrm>
            <a:off x="7363326" y="1347537"/>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44"/>
          <p:cNvSpPr/>
          <p:nvPr/>
        </p:nvSpPr>
        <p:spPr>
          <a:xfrm>
            <a:off x="7439526" y="2547807"/>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44"/>
          <p:cNvSpPr/>
          <p:nvPr/>
        </p:nvSpPr>
        <p:spPr>
          <a:xfrm>
            <a:off x="1872916" y="51542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44"/>
          <p:cNvSpPr/>
          <p:nvPr/>
        </p:nvSpPr>
        <p:spPr>
          <a:xfrm>
            <a:off x="8482263" y="3285081"/>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44"/>
          <p:cNvSpPr/>
          <p:nvPr/>
        </p:nvSpPr>
        <p:spPr>
          <a:xfrm>
            <a:off x="4748462" y="1845029"/>
            <a:ext cx="44192529" cy="4571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44"/>
          <p:cNvSpPr/>
          <p:nvPr/>
        </p:nvSpPr>
        <p:spPr>
          <a:xfrm>
            <a:off x="-24431117" y="2547806"/>
            <a:ext cx="43698688" cy="4571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4"/>
          <p:cNvSpPr/>
          <p:nvPr/>
        </p:nvSpPr>
        <p:spPr>
          <a:xfrm flipH="1" rot="10800000">
            <a:off x="990600" y="3866846"/>
            <a:ext cx="3757859" cy="163896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p44"/>
          <p:cNvSpPr/>
          <p:nvPr/>
        </p:nvSpPr>
        <p:spPr>
          <a:xfrm>
            <a:off x="10928683" y="2770256"/>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4"/>
          <p:cNvSpPr txBox="1"/>
          <p:nvPr/>
        </p:nvSpPr>
        <p:spPr>
          <a:xfrm>
            <a:off x="257175" y="104472"/>
            <a:ext cx="1199574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200">
                <a:solidFill>
                  <a:srgbClr val="EB0FB1"/>
                </a:solidFill>
                <a:latin typeface="Calibri"/>
                <a:ea typeface="Calibri"/>
                <a:cs typeface="Calibri"/>
                <a:sym typeface="Calibri"/>
              </a:rPr>
              <a:t>Neumatic connections 		Neutral – High – Low neumes</a:t>
            </a:r>
            <a:endParaRPr sz="2800">
              <a:solidFill>
                <a:srgbClr val="EB0FB1"/>
              </a:solidFill>
              <a:latin typeface="Calibri"/>
              <a:ea typeface="Calibri"/>
              <a:cs typeface="Calibri"/>
              <a:sym typeface="Calibri"/>
            </a:endParaRPr>
          </a:p>
        </p:txBody>
      </p:sp>
      <p:graphicFrame>
        <p:nvGraphicFramePr>
          <p:cNvPr id="659" name="Google Shape;659;p44"/>
          <p:cNvGraphicFramePr/>
          <p:nvPr/>
        </p:nvGraphicFramePr>
        <p:xfrm>
          <a:off x="11307678" y="689197"/>
          <a:ext cx="865704" cy="1391310"/>
        </p:xfrm>
        <a:graphic>
          <a:graphicData uri="http://schemas.openxmlformats.org/presentationml/2006/ole">
            <mc:AlternateContent>
              <mc:Choice Requires="v">
                <p:oleObj r:id="rId4" imgH="1391310" imgW="865704" progId="Paint.Picture" spid="_x0000_s1">
                  <p:embed/>
                </p:oleObj>
              </mc:Choice>
              <mc:Fallback>
                <p:oleObj r:id="rId5" imgH="1391310" imgW="865704" progId="Paint.Picture">
                  <p:embed/>
                  <p:pic>
                    <p:nvPicPr>
                      <p:cNvPr id="659" name="Google Shape;659;p44"/>
                      <p:cNvPicPr preferRelativeResize="0"/>
                      <p:nvPr/>
                    </p:nvPicPr>
                    <p:blipFill rotWithShape="1">
                      <a:blip r:embed="rId6">
                        <a:alphaModFix/>
                      </a:blip>
                      <a:srcRect b="0" l="0" r="0" t="0"/>
                      <a:stretch/>
                    </p:blipFill>
                    <p:spPr>
                      <a:xfrm>
                        <a:off x="11307678" y="689197"/>
                        <a:ext cx="865704" cy="1391310"/>
                      </a:xfrm>
                      <a:prstGeom prst="rect">
                        <a:avLst/>
                      </a:prstGeom>
                      <a:noFill/>
                      <a:ln>
                        <a:noFill/>
                      </a:ln>
                    </p:spPr>
                  </p:pic>
                </p:oleObj>
              </mc:Fallback>
            </mc:AlternateContent>
          </a:graphicData>
        </a:graphic>
      </p:graphicFrame>
      <p:graphicFrame>
        <p:nvGraphicFramePr>
          <p:cNvPr id="660" name="Google Shape;660;p44"/>
          <p:cNvGraphicFramePr/>
          <p:nvPr/>
        </p:nvGraphicFramePr>
        <p:xfrm>
          <a:off x="5006568" y="3896793"/>
          <a:ext cx="881876" cy="881876"/>
        </p:xfrm>
        <a:graphic>
          <a:graphicData uri="http://schemas.openxmlformats.org/presentationml/2006/ole">
            <mc:AlternateContent>
              <mc:Choice Requires="v">
                <p:oleObj r:id="rId7" imgH="881876" imgW="881876" progId="Paint.Picture" spid="_x0000_s2">
                  <p:embed/>
                </p:oleObj>
              </mc:Choice>
              <mc:Fallback>
                <p:oleObj r:id="rId8" imgH="881876" imgW="881876" progId="Paint.Picture">
                  <p:embed/>
                  <p:pic>
                    <p:nvPicPr>
                      <p:cNvPr id="660" name="Google Shape;660;p44"/>
                      <p:cNvPicPr preferRelativeResize="0"/>
                      <p:nvPr/>
                    </p:nvPicPr>
                    <p:blipFill rotWithShape="1">
                      <a:blip r:embed="rId9">
                        <a:alphaModFix/>
                      </a:blip>
                      <a:srcRect b="0" l="0" r="0" t="0"/>
                      <a:stretch/>
                    </p:blipFill>
                    <p:spPr>
                      <a:xfrm>
                        <a:off x="5006568" y="3896793"/>
                        <a:ext cx="881876" cy="881876"/>
                      </a:xfrm>
                      <a:prstGeom prst="rect">
                        <a:avLst/>
                      </a:prstGeom>
                      <a:noFill/>
                      <a:ln>
                        <a:noFill/>
                      </a:ln>
                    </p:spPr>
                  </p:pic>
                </p:oleObj>
              </mc:Fallback>
            </mc:AlternateContent>
          </a:graphicData>
        </a:graphic>
      </p:graphicFrame>
      <p:graphicFrame>
        <p:nvGraphicFramePr>
          <p:cNvPr id="661" name="Google Shape;661;p44"/>
          <p:cNvGraphicFramePr/>
          <p:nvPr/>
        </p:nvGraphicFramePr>
        <p:xfrm>
          <a:off x="11133156" y="3750282"/>
          <a:ext cx="1043292" cy="1321503"/>
        </p:xfrm>
        <a:graphic>
          <a:graphicData uri="http://schemas.openxmlformats.org/presentationml/2006/ole">
            <mc:AlternateContent>
              <mc:Choice Requires="v">
                <p:oleObj r:id="rId10" imgH="1321503" imgW="1043292" progId="Paint.Picture" spid="_x0000_s3">
                  <p:embed/>
                </p:oleObj>
              </mc:Choice>
              <mc:Fallback>
                <p:oleObj r:id="rId11" imgH="1321503" imgW="1043292" progId="Paint.Picture">
                  <p:embed/>
                  <p:pic>
                    <p:nvPicPr>
                      <p:cNvPr id="661" name="Google Shape;661;p44"/>
                      <p:cNvPicPr preferRelativeResize="0"/>
                      <p:nvPr/>
                    </p:nvPicPr>
                    <p:blipFill rotWithShape="1">
                      <a:blip r:embed="rId12">
                        <a:alphaModFix/>
                      </a:blip>
                      <a:srcRect b="0" l="0" r="0" t="0"/>
                      <a:stretch/>
                    </p:blipFill>
                    <p:spPr>
                      <a:xfrm>
                        <a:off x="11133156" y="3750282"/>
                        <a:ext cx="1043292" cy="1321503"/>
                      </a:xfrm>
                      <a:prstGeom prst="rect">
                        <a:avLst/>
                      </a:prstGeom>
                      <a:noFill/>
                      <a:ln>
                        <a:noFill/>
                      </a:ln>
                    </p:spPr>
                  </p:pic>
                </p:oleObj>
              </mc:Fallback>
            </mc:AlternateContent>
          </a:graphicData>
        </a:graphic>
      </p:graphicFrame>
      <p:graphicFrame>
        <p:nvGraphicFramePr>
          <p:cNvPr id="662" name="Google Shape;662;p44"/>
          <p:cNvGraphicFramePr/>
          <p:nvPr/>
        </p:nvGraphicFramePr>
        <p:xfrm>
          <a:off x="5092797" y="878760"/>
          <a:ext cx="645823" cy="904151"/>
        </p:xfrm>
        <a:graphic>
          <a:graphicData uri="http://schemas.openxmlformats.org/presentationml/2006/ole">
            <mc:AlternateContent>
              <mc:Choice Requires="v">
                <p:oleObj r:id="rId13" imgH="904151" imgW="645823" progId="Paint.Picture" spid="_x0000_s4">
                  <p:embed/>
                </p:oleObj>
              </mc:Choice>
              <mc:Fallback>
                <p:oleObj r:id="rId14" imgH="904151" imgW="645823" progId="Paint.Picture">
                  <p:embed/>
                  <p:pic>
                    <p:nvPicPr>
                      <p:cNvPr id="662" name="Google Shape;662;p44"/>
                      <p:cNvPicPr preferRelativeResize="0"/>
                      <p:nvPr/>
                    </p:nvPicPr>
                    <p:blipFill rotWithShape="1">
                      <a:blip r:embed="rId15">
                        <a:alphaModFix/>
                      </a:blip>
                      <a:srcRect b="0" l="0" r="0" t="0"/>
                      <a:stretch/>
                    </p:blipFill>
                    <p:spPr>
                      <a:xfrm>
                        <a:off x="5092797" y="878760"/>
                        <a:ext cx="645823" cy="904151"/>
                      </a:xfrm>
                      <a:prstGeom prst="rect">
                        <a:avLst/>
                      </a:prstGeom>
                      <a:noFill/>
                      <a:ln>
                        <a:noFill/>
                      </a:ln>
                    </p:spPr>
                  </p:pic>
                </p:oleObj>
              </mc:Fallback>
            </mc:AlternateContent>
          </a:graphicData>
        </a:graphic>
      </p:graphicFrame>
      <p:cxnSp>
        <p:nvCxnSpPr>
          <p:cNvPr id="663" name="Google Shape;663;p44"/>
          <p:cNvCxnSpPr/>
          <p:nvPr/>
        </p:nvCxnSpPr>
        <p:spPr>
          <a:xfrm>
            <a:off x="5945778" y="850046"/>
            <a:ext cx="0" cy="6007954"/>
          </a:xfrm>
          <a:prstGeom prst="straightConnector1">
            <a:avLst/>
          </a:prstGeom>
          <a:noFill/>
          <a:ln cap="flat" cmpd="sng" w="9525">
            <a:solidFill>
              <a:schemeClr val="accent1"/>
            </a:solidFill>
            <a:prstDash val="solid"/>
            <a:miter lim="800000"/>
            <a:headEnd len="sm" w="sm" type="none"/>
            <a:tailEnd len="sm" w="sm" type="none"/>
          </a:ln>
        </p:spPr>
      </p:cxnSp>
      <p:cxnSp>
        <p:nvCxnSpPr>
          <p:cNvPr id="664" name="Google Shape;664;p44"/>
          <p:cNvCxnSpPr/>
          <p:nvPr/>
        </p:nvCxnSpPr>
        <p:spPr>
          <a:xfrm>
            <a:off x="0" y="3750282"/>
            <a:ext cx="12176448" cy="0"/>
          </a:xfrm>
          <a:prstGeom prst="straightConnector1">
            <a:avLst/>
          </a:prstGeom>
          <a:noFill/>
          <a:ln cap="flat" cmpd="sng" w="9525">
            <a:solidFill>
              <a:schemeClr val="accent1"/>
            </a:solidFill>
            <a:prstDash val="solid"/>
            <a:miter lim="800000"/>
            <a:headEnd len="sm" w="sm" type="none"/>
            <a:tailEnd len="sm" w="sm" type="none"/>
          </a:ln>
        </p:spPr>
      </p:cxnSp>
      <p:sp>
        <p:nvSpPr>
          <p:cNvPr id="665" name="Google Shape;665;p44"/>
          <p:cNvSpPr/>
          <p:nvPr/>
        </p:nvSpPr>
        <p:spPr>
          <a:xfrm>
            <a:off x="6096000" y="1359059"/>
            <a:ext cx="6069702"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400">
                <a:solidFill>
                  <a:schemeClr val="dk1"/>
                </a:solidFill>
                <a:latin typeface="Calibri"/>
                <a:ea typeface="Calibri"/>
                <a:cs typeface="Calibri"/>
                <a:sym typeface="Calibri"/>
              </a:rPr>
              <a:t>&lt;</a:t>
            </a:r>
            <a:r>
              <a:rPr lang="en-CA" sz="2400">
                <a:solidFill>
                  <a:srgbClr val="0070C0"/>
                </a:solidFill>
                <a:latin typeface="Calibri"/>
                <a:ea typeface="Calibri"/>
                <a:cs typeface="Calibri"/>
                <a:sym typeface="Calibri"/>
              </a:rPr>
              <a:t>neume</a:t>
            </a:r>
            <a:r>
              <a:rPr lang="en-CA" sz="2400">
                <a:solidFill>
                  <a:schemeClr val="dk1"/>
                </a:solidFill>
                <a:latin typeface="Calibri"/>
                <a:ea typeface="Calibri"/>
                <a:cs typeface="Calibri"/>
                <a:sym typeface="Calibri"/>
              </a:rPr>
              <a:t>&gt;</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se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highlight>
                  <a:srgbClr val="FFFF00"/>
                </a:highlight>
                <a:latin typeface="Calibri"/>
                <a:ea typeface="Calibri"/>
                <a:cs typeface="Calibri"/>
                <a:sym typeface="Calibri"/>
              </a:rPr>
              <a:t>con</a:t>
            </a:r>
            <a:r>
              <a:rPr lang="en-CA" sz="2400">
                <a:solidFill>
                  <a:schemeClr val="dk1"/>
                </a:solidFill>
                <a:highlight>
                  <a:srgbClr val="FFFF00"/>
                </a:highlight>
                <a:latin typeface="Calibri"/>
                <a:ea typeface="Calibri"/>
                <a:cs typeface="Calibri"/>
                <a:sym typeface="Calibri"/>
              </a:rPr>
              <a:t>=</a:t>
            </a:r>
            <a:r>
              <a:rPr lang="en-CA" sz="2400">
                <a:solidFill>
                  <a:schemeClr val="dk1"/>
                </a:solidFill>
                <a:highlight>
                  <a:srgbClr val="FFFF00"/>
                </a:highlight>
                <a:latin typeface="Consolas"/>
                <a:ea typeface="Consolas"/>
                <a:cs typeface="Consolas"/>
                <a:sym typeface="Consolas"/>
              </a:rPr>
              <a:t>"</a:t>
            </a:r>
            <a:r>
              <a:rPr lang="en-CA" sz="2400">
                <a:solidFill>
                  <a:srgbClr val="548135"/>
                </a:solidFill>
                <a:highlight>
                  <a:srgbClr val="FFFF00"/>
                </a:highlight>
                <a:latin typeface="Calibri"/>
                <a:ea typeface="Calibri"/>
                <a:cs typeface="Calibri"/>
                <a:sym typeface="Calibri"/>
              </a:rPr>
              <a:t>g</a:t>
            </a:r>
            <a:r>
              <a:rPr lang="en-CA" sz="2400">
                <a:solidFill>
                  <a:schemeClr val="dk1"/>
                </a:solidFill>
                <a:highlight>
                  <a:srgbClr val="FFFF00"/>
                </a:highlight>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ne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rellen</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l</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CA" sz="2400">
                <a:solidFill>
                  <a:srgbClr val="E46E16"/>
                </a:solidFill>
                <a:latin typeface="Calibri"/>
                <a:ea typeface="Calibri"/>
                <a:cs typeface="Calibri"/>
                <a:sym typeface="Calibri"/>
              </a:rPr>
              <a:t>        intm</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u</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se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rellen</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l</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intm</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d</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&lt;/</a:t>
            </a:r>
            <a:r>
              <a:rPr lang="en-CA" sz="2400">
                <a:solidFill>
                  <a:srgbClr val="0070C0"/>
                </a:solidFill>
                <a:latin typeface="Calibri"/>
                <a:ea typeface="Calibri"/>
                <a:cs typeface="Calibri"/>
                <a:sym typeface="Calibri"/>
              </a:rPr>
              <a:t>neume</a:t>
            </a:r>
            <a:r>
              <a:rPr lang="en-CA" sz="2400">
                <a:solidFill>
                  <a:schemeClr val="dk1"/>
                </a:solidFill>
                <a:latin typeface="Calibri"/>
                <a:ea typeface="Calibri"/>
                <a:cs typeface="Calibri"/>
                <a:sym typeface="Calibri"/>
              </a:rPr>
              <a:t>&gt;</a:t>
            </a:r>
            <a:endParaRPr/>
          </a:p>
        </p:txBody>
      </p:sp>
      <p:sp>
        <p:nvSpPr>
          <p:cNvPr id="666" name="Google Shape;666;p44"/>
          <p:cNvSpPr txBox="1"/>
          <p:nvPr/>
        </p:nvSpPr>
        <p:spPr>
          <a:xfrm>
            <a:off x="291553" y="4171827"/>
            <a:ext cx="5505033"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400">
                <a:solidFill>
                  <a:schemeClr val="dk1"/>
                </a:solidFill>
                <a:latin typeface="Calibri"/>
                <a:ea typeface="Calibri"/>
                <a:cs typeface="Calibri"/>
                <a:sym typeface="Calibri"/>
              </a:rPr>
              <a:t>&lt;</a:t>
            </a:r>
            <a:r>
              <a:rPr lang="en-CA" sz="2400">
                <a:solidFill>
                  <a:srgbClr val="0070C0"/>
                </a:solidFill>
                <a:latin typeface="Calibri"/>
                <a:ea typeface="Calibri"/>
                <a:cs typeface="Calibri"/>
                <a:sym typeface="Calibri"/>
              </a:rPr>
              <a:t>neume</a:t>
            </a:r>
            <a:r>
              <a:rPr lang="en-CA" sz="24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se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ne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rellen</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l</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intm</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u</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se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intm</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d</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&lt;/</a:t>
            </a:r>
            <a:r>
              <a:rPr lang="en-CA" sz="2400">
                <a:solidFill>
                  <a:srgbClr val="0070C0"/>
                </a:solidFill>
                <a:latin typeface="Calibri"/>
                <a:ea typeface="Calibri"/>
                <a:cs typeface="Calibri"/>
                <a:sym typeface="Calibri"/>
              </a:rPr>
              <a:t>neume</a:t>
            </a:r>
            <a:r>
              <a:rPr lang="en-CA" sz="2400">
                <a:solidFill>
                  <a:schemeClr val="dk1"/>
                </a:solidFill>
                <a:latin typeface="Calibri"/>
                <a:ea typeface="Calibri"/>
                <a:cs typeface="Calibri"/>
                <a:sym typeface="Calibri"/>
              </a:rPr>
              <a:t>&gt;</a:t>
            </a:r>
            <a:endParaRPr/>
          </a:p>
        </p:txBody>
      </p:sp>
      <p:sp>
        <p:nvSpPr>
          <p:cNvPr id="667" name="Google Shape;667;p44"/>
          <p:cNvSpPr/>
          <p:nvPr/>
        </p:nvSpPr>
        <p:spPr>
          <a:xfrm>
            <a:off x="159298" y="1322848"/>
            <a:ext cx="5599161"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CA" sz="2400">
                <a:solidFill>
                  <a:schemeClr val="dk1"/>
                </a:solidFill>
                <a:latin typeface="Calibri"/>
                <a:ea typeface="Calibri"/>
                <a:cs typeface="Calibri"/>
                <a:sym typeface="Calibri"/>
              </a:rPr>
              <a:t>&lt;</a:t>
            </a:r>
            <a:r>
              <a:rPr lang="en-CA" sz="2400">
                <a:solidFill>
                  <a:srgbClr val="0070C0"/>
                </a:solidFill>
                <a:latin typeface="Calibri"/>
                <a:ea typeface="Calibri"/>
                <a:cs typeface="Calibri"/>
                <a:sym typeface="Calibri"/>
              </a:rPr>
              <a:t>neume</a:t>
            </a:r>
            <a:r>
              <a:rPr lang="en-CA" sz="2400">
                <a:solidFill>
                  <a:schemeClr val="dk1"/>
                </a:solidFill>
                <a:latin typeface="Calibri"/>
                <a:ea typeface="Calibri"/>
                <a:cs typeface="Calibri"/>
                <a:sym typeface="Calibri"/>
              </a:rPr>
              <a:t>&gt;</a:t>
            </a:r>
            <a:endParaRPr/>
          </a:p>
          <a:p>
            <a:pPr indent="0" lvl="0" marL="0" marR="0" rtl="0" algn="just">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highlight>
                  <a:srgbClr val="FFFF00"/>
                </a:highlight>
                <a:latin typeface="Calibri"/>
                <a:ea typeface="Calibri"/>
                <a:cs typeface="Calibri"/>
                <a:sym typeface="Calibri"/>
              </a:rPr>
              <a:t>curve</a:t>
            </a:r>
            <a:r>
              <a:rPr lang="en-CA" sz="2400">
                <a:solidFill>
                  <a:schemeClr val="dk1"/>
                </a:solidFill>
                <a:highlight>
                  <a:srgbClr val="FFFF00"/>
                </a:highlight>
                <a:latin typeface="Calibri"/>
                <a:ea typeface="Calibri"/>
                <a:cs typeface="Calibri"/>
                <a:sym typeface="Calibri"/>
              </a:rPr>
              <a:t>=</a:t>
            </a:r>
            <a:r>
              <a:rPr lang="en-CA" sz="2400">
                <a:solidFill>
                  <a:schemeClr val="dk1"/>
                </a:solidFill>
                <a:highlight>
                  <a:srgbClr val="FFFF00"/>
                </a:highlight>
                <a:latin typeface="Consolas"/>
                <a:ea typeface="Consolas"/>
                <a:cs typeface="Consolas"/>
                <a:sym typeface="Consolas"/>
              </a:rPr>
              <a:t>"</a:t>
            </a:r>
            <a:r>
              <a:rPr lang="en-CA" sz="2400">
                <a:solidFill>
                  <a:srgbClr val="548135"/>
                </a:solidFill>
                <a:highlight>
                  <a:srgbClr val="FFFF00"/>
                </a:highlight>
                <a:latin typeface="Calibri"/>
                <a:ea typeface="Calibri"/>
                <a:cs typeface="Calibri"/>
                <a:sym typeface="Calibri"/>
              </a:rPr>
              <a:t>a</a:t>
            </a:r>
            <a:r>
              <a:rPr lang="en-CA" sz="2400">
                <a:solidFill>
                  <a:schemeClr val="dk1"/>
                </a:solidFill>
                <a:highlight>
                  <a:srgbClr val="FFFF00"/>
                </a:highlight>
                <a:latin typeface="Consolas"/>
                <a:ea typeface="Consolas"/>
                <a:cs typeface="Consolas"/>
                <a:sym typeface="Consolas"/>
              </a:rPr>
              <a:t>"</a:t>
            </a:r>
            <a:r>
              <a:rPr lang="en-CA" sz="2400">
                <a:solidFill>
                  <a:schemeClr val="dk1"/>
                </a:solidFill>
                <a:latin typeface="Calibri"/>
                <a:ea typeface="Calibri"/>
                <a:cs typeface="Calibri"/>
                <a:sym typeface="Calibri"/>
              </a:rPr>
              <a:t>/&gt;</a:t>
            </a:r>
            <a:endParaRPr/>
          </a:p>
          <a:p>
            <a:pPr indent="0" lvl="0" marL="0" marR="0" rtl="0" algn="just">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ne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rellen</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l</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intm</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u</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a:p>
          <a:p>
            <a:pPr indent="0" lvl="0" marL="0" marR="0" rtl="0" algn="just">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se</a:t>
            </a:r>
            <a:r>
              <a:rPr lang="en-CA" sz="2400">
                <a:solidFill>
                  <a:schemeClr val="dk1"/>
                </a:solidFill>
                <a:latin typeface="Consolas"/>
                <a:ea typeface="Consolas"/>
                <a:cs typeface="Consolas"/>
                <a:sym typeface="Consolas"/>
              </a:rPr>
              <a:t>" </a:t>
            </a:r>
            <a:r>
              <a:rPr lang="en-CA" sz="2400">
                <a:solidFill>
                  <a:srgbClr val="E46E16"/>
                </a:solidFill>
                <a:latin typeface="Calibri"/>
                <a:ea typeface="Calibri"/>
                <a:cs typeface="Calibri"/>
                <a:sym typeface="Calibri"/>
              </a:rPr>
              <a:t>rellen</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s</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endParaRPr/>
          </a:p>
          <a:p>
            <a:pPr indent="0" lvl="0" marL="0" marR="0" rtl="0" algn="just">
              <a:spcBef>
                <a:spcPts val="0"/>
              </a:spcBef>
              <a:spcAft>
                <a:spcPts val="0"/>
              </a:spcAft>
              <a:buNone/>
            </a:pPr>
            <a:r>
              <a:rPr lang="en-CA" sz="2400">
                <a:solidFill>
                  <a:srgbClr val="E46E16"/>
                </a:solidFill>
                <a:latin typeface="Calibri"/>
                <a:ea typeface="Calibri"/>
                <a:cs typeface="Calibri"/>
                <a:sym typeface="Calibri"/>
              </a:rPr>
              <a:t>        intm</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d</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highlight>
                  <a:srgbClr val="FFFF00"/>
                </a:highlight>
                <a:latin typeface="Calibri"/>
                <a:ea typeface="Calibri"/>
                <a:cs typeface="Calibri"/>
                <a:sym typeface="Calibri"/>
              </a:rPr>
              <a:t>curve</a:t>
            </a:r>
            <a:r>
              <a:rPr lang="en-CA" sz="2400">
                <a:solidFill>
                  <a:schemeClr val="dk1"/>
                </a:solidFill>
                <a:highlight>
                  <a:srgbClr val="FFFF00"/>
                </a:highlight>
                <a:latin typeface="Calibri"/>
                <a:ea typeface="Calibri"/>
                <a:cs typeface="Calibri"/>
                <a:sym typeface="Calibri"/>
              </a:rPr>
              <a:t>=</a:t>
            </a:r>
            <a:r>
              <a:rPr lang="en-CA" sz="2400">
                <a:solidFill>
                  <a:schemeClr val="dk1"/>
                </a:solidFill>
                <a:highlight>
                  <a:srgbClr val="FFFF00"/>
                </a:highlight>
                <a:latin typeface="Consolas"/>
                <a:ea typeface="Consolas"/>
                <a:cs typeface="Consolas"/>
                <a:sym typeface="Consolas"/>
              </a:rPr>
              <a:t>"</a:t>
            </a:r>
            <a:r>
              <a:rPr lang="en-CA" sz="2400">
                <a:solidFill>
                  <a:srgbClr val="548135"/>
                </a:solidFill>
                <a:highlight>
                  <a:srgbClr val="FFFF00"/>
                </a:highlight>
                <a:latin typeface="Calibri"/>
                <a:ea typeface="Calibri"/>
                <a:cs typeface="Calibri"/>
                <a:sym typeface="Calibri"/>
              </a:rPr>
              <a:t>c</a:t>
            </a:r>
            <a:r>
              <a:rPr lang="en-CA" sz="2400">
                <a:solidFill>
                  <a:schemeClr val="dk1"/>
                </a:solidFill>
                <a:highlight>
                  <a:srgbClr val="FFFF00"/>
                </a:highlight>
                <a:latin typeface="Consolas"/>
                <a:ea typeface="Consolas"/>
                <a:cs typeface="Consolas"/>
                <a:sym typeface="Consolas"/>
              </a:rPr>
              <a:t>"</a:t>
            </a:r>
            <a:r>
              <a:rPr lang="en-CA" sz="24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&lt;/</a:t>
            </a:r>
            <a:r>
              <a:rPr lang="en-CA" sz="2400">
                <a:solidFill>
                  <a:srgbClr val="0070C0"/>
                </a:solidFill>
                <a:latin typeface="Calibri"/>
                <a:ea typeface="Calibri"/>
                <a:cs typeface="Calibri"/>
                <a:sym typeface="Calibri"/>
              </a:rPr>
              <a:t>neume</a:t>
            </a:r>
            <a:r>
              <a:rPr lang="en-CA" sz="2400">
                <a:solidFill>
                  <a:schemeClr val="dk1"/>
                </a:solidFill>
                <a:latin typeface="Calibri"/>
                <a:ea typeface="Calibri"/>
                <a:cs typeface="Calibri"/>
                <a:sym typeface="Calibri"/>
              </a:rPr>
              <a:t>&gt;</a:t>
            </a:r>
            <a:endParaRPr sz="2400">
              <a:solidFill>
                <a:schemeClr val="dk1"/>
              </a:solidFill>
              <a:latin typeface="Calibri"/>
              <a:ea typeface="Calibri"/>
              <a:cs typeface="Calibri"/>
              <a:sym typeface="Calibri"/>
            </a:endParaRPr>
          </a:p>
        </p:txBody>
      </p:sp>
      <p:sp>
        <p:nvSpPr>
          <p:cNvPr id="668" name="Google Shape;668;p44"/>
          <p:cNvSpPr txBox="1"/>
          <p:nvPr/>
        </p:nvSpPr>
        <p:spPr>
          <a:xfrm>
            <a:off x="6133094" y="4202514"/>
            <a:ext cx="5572359"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400">
                <a:solidFill>
                  <a:schemeClr val="dk1"/>
                </a:solidFill>
                <a:latin typeface="Calibri"/>
                <a:ea typeface="Calibri"/>
                <a:cs typeface="Calibri"/>
                <a:sym typeface="Calibri"/>
              </a:rPr>
              <a:t>&lt;</a:t>
            </a:r>
            <a:r>
              <a:rPr lang="en-CA" sz="2400">
                <a:solidFill>
                  <a:srgbClr val="0070C0"/>
                </a:solidFill>
                <a:latin typeface="Calibri"/>
                <a:ea typeface="Calibri"/>
                <a:cs typeface="Calibri"/>
                <a:sym typeface="Calibri"/>
              </a:rPr>
              <a:t>neume</a:t>
            </a:r>
            <a:r>
              <a:rPr lang="en-CA" sz="24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highlight>
                  <a:srgbClr val="FFFF00"/>
                </a:highlight>
                <a:latin typeface="Calibri"/>
                <a:ea typeface="Calibri"/>
                <a:cs typeface="Calibri"/>
                <a:sym typeface="Calibri"/>
              </a:rPr>
              <a:t>s-shaped</a:t>
            </a:r>
            <a:r>
              <a:rPr lang="en-CA" sz="2400">
                <a:solidFill>
                  <a:schemeClr val="dk1"/>
                </a:solidFill>
                <a:highlight>
                  <a:srgbClr val="FFFF00"/>
                </a:highlight>
                <a:latin typeface="Calibri"/>
                <a:ea typeface="Calibri"/>
                <a:cs typeface="Calibri"/>
                <a:sym typeface="Calibri"/>
              </a:rPr>
              <a:t>=</a:t>
            </a:r>
            <a:r>
              <a:rPr lang="en-CA" sz="2400">
                <a:solidFill>
                  <a:schemeClr val="dk1"/>
                </a:solidFill>
                <a:highlight>
                  <a:srgbClr val="FFFF00"/>
                </a:highlight>
                <a:latin typeface="Consolas"/>
                <a:ea typeface="Consolas"/>
                <a:cs typeface="Consolas"/>
                <a:sym typeface="Consolas"/>
              </a:rPr>
              <a:t>"</a:t>
            </a:r>
            <a:r>
              <a:rPr lang="en-CA" sz="2400">
                <a:solidFill>
                  <a:srgbClr val="548135"/>
                </a:solidFill>
                <a:highlight>
                  <a:srgbClr val="FFFF00"/>
                </a:highlight>
                <a:latin typeface="Calibri"/>
                <a:ea typeface="Calibri"/>
                <a:cs typeface="Calibri"/>
                <a:sym typeface="Calibri"/>
              </a:rPr>
              <a:t>s</a:t>
            </a:r>
            <a:r>
              <a:rPr lang="en-CA" sz="2400">
                <a:solidFill>
                  <a:schemeClr val="dk1"/>
                </a:solidFill>
                <a:highlight>
                  <a:srgbClr val="FFFF00"/>
                </a:highlight>
                <a:latin typeface="Consolas"/>
                <a:ea typeface="Consolas"/>
                <a:cs typeface="Consolas"/>
                <a:sym typeface="Consolas"/>
              </a:rPr>
              <a:t>"</a:t>
            </a:r>
            <a:r>
              <a:rPr lang="en-CA" sz="24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highlight>
                  <a:srgbClr val="FFFF00"/>
                </a:highlight>
                <a:latin typeface="Calibri"/>
                <a:ea typeface="Calibri"/>
                <a:cs typeface="Calibri"/>
                <a:sym typeface="Calibri"/>
              </a:rPr>
              <a:t>con</a:t>
            </a:r>
            <a:r>
              <a:rPr lang="en-CA" sz="2400">
                <a:solidFill>
                  <a:schemeClr val="dk1"/>
                </a:solidFill>
                <a:highlight>
                  <a:srgbClr val="FFFF00"/>
                </a:highlight>
                <a:latin typeface="Calibri"/>
                <a:ea typeface="Calibri"/>
                <a:cs typeface="Calibri"/>
                <a:sym typeface="Calibri"/>
              </a:rPr>
              <a:t>=</a:t>
            </a:r>
            <a:r>
              <a:rPr lang="en-CA" sz="2400">
                <a:solidFill>
                  <a:schemeClr val="dk1"/>
                </a:solidFill>
                <a:highlight>
                  <a:srgbClr val="FFFF00"/>
                </a:highlight>
                <a:latin typeface="Consolas"/>
                <a:ea typeface="Consolas"/>
                <a:cs typeface="Consolas"/>
                <a:sym typeface="Consolas"/>
              </a:rPr>
              <a:t>"</a:t>
            </a:r>
            <a:r>
              <a:rPr lang="en-CA" sz="2400">
                <a:solidFill>
                  <a:srgbClr val="548135"/>
                </a:solidFill>
                <a:highlight>
                  <a:srgbClr val="FFFF00"/>
                </a:highlight>
                <a:latin typeface="Calibri"/>
                <a:ea typeface="Calibri"/>
                <a:cs typeface="Calibri"/>
                <a:sym typeface="Calibri"/>
              </a:rPr>
              <a:t>l</a:t>
            </a:r>
            <a:r>
              <a:rPr lang="en-CA" sz="2400">
                <a:solidFill>
                  <a:schemeClr val="dk1"/>
                </a:solidFill>
                <a:highlight>
                  <a:srgbClr val="FFFF00"/>
                </a:highlight>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ne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intm</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u</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      &lt;</a:t>
            </a:r>
            <a:r>
              <a:rPr lang="en-CA" sz="2400">
                <a:solidFill>
                  <a:srgbClr val="0070C0"/>
                </a:solidFill>
                <a:latin typeface="Calibri"/>
                <a:ea typeface="Calibri"/>
                <a:cs typeface="Calibri"/>
                <a:sym typeface="Calibri"/>
              </a:rPr>
              <a:t>nc</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tilt</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se</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rellen</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s</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 </a:t>
            </a:r>
            <a:r>
              <a:rPr lang="en-CA" sz="2400">
                <a:solidFill>
                  <a:srgbClr val="E46E16"/>
                </a:solidFill>
                <a:latin typeface="Calibri"/>
                <a:ea typeface="Calibri"/>
                <a:cs typeface="Calibri"/>
                <a:sym typeface="Calibri"/>
              </a:rPr>
              <a:t>intm</a:t>
            </a:r>
            <a:r>
              <a:rPr lang="en-CA" sz="2400">
                <a:solidFill>
                  <a:schemeClr val="dk1"/>
                </a:solidFill>
                <a:latin typeface="Calibri"/>
                <a:ea typeface="Calibri"/>
                <a:cs typeface="Calibri"/>
                <a:sym typeface="Calibri"/>
              </a:rPr>
              <a:t>=</a:t>
            </a:r>
            <a:r>
              <a:rPr lang="en-CA" sz="2400">
                <a:solidFill>
                  <a:schemeClr val="dk1"/>
                </a:solidFill>
                <a:latin typeface="Consolas"/>
                <a:ea typeface="Consolas"/>
                <a:cs typeface="Consolas"/>
                <a:sym typeface="Consolas"/>
              </a:rPr>
              <a:t>"</a:t>
            </a:r>
            <a:r>
              <a:rPr lang="en-CA" sz="2400">
                <a:solidFill>
                  <a:srgbClr val="548135"/>
                </a:solidFill>
                <a:latin typeface="Calibri"/>
                <a:ea typeface="Calibri"/>
                <a:cs typeface="Calibri"/>
                <a:sym typeface="Calibri"/>
              </a:rPr>
              <a:t>d</a:t>
            </a:r>
            <a:r>
              <a:rPr lang="en-CA" sz="2400">
                <a:solidFill>
                  <a:schemeClr val="dk1"/>
                </a:solidFill>
                <a:latin typeface="Consolas"/>
                <a:ea typeface="Consolas"/>
                <a:cs typeface="Consolas"/>
                <a:sym typeface="Consolas"/>
              </a:rPr>
              <a:t>"</a:t>
            </a:r>
            <a:r>
              <a:rPr lang="en-CA" sz="2400">
                <a:solidFill>
                  <a:schemeClr val="dk1"/>
                </a:solidFill>
                <a:latin typeface="Calibri"/>
                <a:ea typeface="Calibri"/>
                <a:cs typeface="Calibri"/>
                <a:sym typeface="Calibri"/>
              </a:rPr>
              <a:t>/&gt;</a:t>
            </a:r>
            <a:endParaRPr/>
          </a:p>
          <a:p>
            <a:pPr indent="0" lvl="0" marL="0" marR="0" rtl="0" algn="l">
              <a:spcBef>
                <a:spcPts val="0"/>
              </a:spcBef>
              <a:spcAft>
                <a:spcPts val="0"/>
              </a:spcAft>
              <a:buNone/>
            </a:pPr>
            <a:r>
              <a:rPr lang="en-CA" sz="2400">
                <a:solidFill>
                  <a:schemeClr val="dk1"/>
                </a:solidFill>
                <a:latin typeface="Calibri"/>
                <a:ea typeface="Calibri"/>
                <a:cs typeface="Calibri"/>
                <a:sym typeface="Calibri"/>
              </a:rPr>
              <a:t>&lt;/</a:t>
            </a:r>
            <a:r>
              <a:rPr lang="en-CA" sz="2400">
                <a:solidFill>
                  <a:srgbClr val="0070C0"/>
                </a:solidFill>
                <a:latin typeface="Calibri"/>
                <a:ea typeface="Calibri"/>
                <a:cs typeface="Calibri"/>
                <a:sym typeface="Calibri"/>
              </a:rPr>
              <a:t>neume</a:t>
            </a:r>
            <a:r>
              <a:rPr lang="en-CA" sz="2400">
                <a:solidFill>
                  <a:schemeClr val="dk1"/>
                </a:solidFill>
                <a:latin typeface="Calibri"/>
                <a:ea typeface="Calibri"/>
                <a:cs typeface="Calibri"/>
                <a:sym typeface="Calibri"/>
              </a:rPr>
              <a:t>&gt;</a:t>
            </a:r>
            <a:endParaRPr/>
          </a:p>
        </p:txBody>
      </p:sp>
      <p:cxnSp>
        <p:nvCxnSpPr>
          <p:cNvPr id="669" name="Google Shape;669;p44"/>
          <p:cNvCxnSpPr/>
          <p:nvPr/>
        </p:nvCxnSpPr>
        <p:spPr>
          <a:xfrm>
            <a:off x="21774" y="709531"/>
            <a:ext cx="12176448" cy="0"/>
          </a:xfrm>
          <a:prstGeom prst="straightConnector1">
            <a:avLst/>
          </a:prstGeom>
          <a:noFill/>
          <a:ln cap="flat" cmpd="sng" w="9525">
            <a:solidFill>
              <a:schemeClr val="accent1"/>
            </a:solidFill>
            <a:prstDash val="solid"/>
            <a:miter lim="800000"/>
            <a:headEnd len="sm" w="sm" type="none"/>
            <a:tailEnd len="sm" w="sm" type="none"/>
          </a:ln>
        </p:spPr>
      </p:cxnSp>
      <p:sp>
        <p:nvSpPr>
          <p:cNvPr id="670" name="Google Shape;67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5"/>
          <p:cNvSpPr txBox="1"/>
          <p:nvPr>
            <p:ph idx="1" type="body"/>
          </p:nvPr>
        </p:nvSpPr>
        <p:spPr>
          <a:xfrm>
            <a:off x="277368" y="362585"/>
            <a:ext cx="11914632"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CA" sz="3200"/>
              <a:t>MEI has a long list of &lt;elements&gt; and @attributes employed to capture the meaning of early notations</a:t>
            </a:r>
            <a:endParaRPr/>
          </a:p>
        </p:txBody>
      </p:sp>
      <p:sp>
        <p:nvSpPr>
          <p:cNvPr id="677" name="Google Shape;67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678" name="Google Shape;678;p45"/>
          <p:cNvPicPr preferRelativeResize="0"/>
          <p:nvPr/>
        </p:nvPicPr>
        <p:blipFill rotWithShape="1">
          <a:blip r:embed="rId3">
            <a:alphaModFix/>
          </a:blip>
          <a:srcRect b="5286" l="0" r="17900" t="9955"/>
          <a:stretch/>
        </p:blipFill>
        <p:spPr>
          <a:xfrm>
            <a:off x="277368" y="1470135"/>
            <a:ext cx="9278112" cy="5387865"/>
          </a:xfrm>
          <a:prstGeom prst="rect">
            <a:avLst/>
          </a:prstGeom>
          <a:noFill/>
          <a:ln>
            <a:noFill/>
          </a:ln>
        </p:spPr>
      </p:pic>
      <p:sp>
        <p:nvSpPr>
          <p:cNvPr id="679" name="Google Shape;679;p45"/>
          <p:cNvSpPr txBox="1"/>
          <p:nvPr/>
        </p:nvSpPr>
        <p:spPr>
          <a:xfrm>
            <a:off x="9729216" y="3206496"/>
            <a:ext cx="20116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Garamond"/>
              <a:buNone/>
            </a:pPr>
            <a:r>
              <a:rPr lang="en-CA" sz="1800" u="sng">
                <a:solidFill>
                  <a:schemeClr val="dk1"/>
                </a:solidFill>
                <a:latin typeface="Garamond"/>
                <a:ea typeface="Garamond"/>
                <a:cs typeface="Garamond"/>
                <a:sym typeface="Garamond"/>
                <a:hlinkClick r:id="rId4">
                  <a:extLst>
                    <a:ext uri="{A12FA001-AC4F-418D-AE19-62706E023703}">
                      <ahyp:hlinkClr val="tx"/>
                    </a:ext>
                  </a:extLst>
                </a:hlinkClick>
              </a:rPr>
              <a:t>https://music-encoding.org/guidelines/v5/content/neumes.html</a:t>
            </a:r>
            <a:r>
              <a:rPr lang="en-CA" sz="1800">
                <a:solidFill>
                  <a:schemeClr val="dk1"/>
                </a:solidFill>
                <a:latin typeface="Garamond"/>
                <a:ea typeface="Garamond"/>
                <a:cs typeface="Garamond"/>
                <a:sym typeface="Garamond"/>
              </a:rPr>
              <a:t> </a:t>
            </a:r>
            <a:endParaRPr sz="1800">
              <a:solidFill>
                <a:schemeClr val="dk1"/>
              </a:solidFill>
              <a:latin typeface="Garamond"/>
              <a:ea typeface="Garamond"/>
              <a:cs typeface="Garamond"/>
              <a:sym typeface="Garamo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686" name="Google Shape;686;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687" name="Google Shape;68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descr="Understanding Work in Progress and Why it Matters" id="688" name="Google Shape;688;p46"/>
          <p:cNvPicPr preferRelativeResize="0"/>
          <p:nvPr/>
        </p:nvPicPr>
        <p:blipFill rotWithShape="1">
          <a:blip r:embed="rId3">
            <a:alphaModFix/>
          </a:blip>
          <a:srcRect b="0" l="0" r="0" t="0"/>
          <a:stretch/>
        </p:blipFill>
        <p:spPr>
          <a:xfrm>
            <a:off x="0" y="-174812"/>
            <a:ext cx="12321639" cy="70328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694" name="Google Shape;694;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695" name="Google Shape;695;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696" name="Google Shape;696;p47"/>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48"/>
          <p:cNvSpPr txBox="1"/>
          <p:nvPr>
            <p:ph idx="1" type="body"/>
          </p:nvPr>
        </p:nvSpPr>
        <p:spPr>
          <a:xfrm>
            <a:off x="390143" y="2157984"/>
            <a:ext cx="11255009" cy="414544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CA"/>
              <a:t>Convey only partial musical information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lt1"/>
              </a:buClr>
              <a:buSzPts val="2800"/>
              <a:buChar char="•"/>
            </a:pPr>
            <a:r>
              <a:rPr lang="en-CA">
                <a:solidFill>
                  <a:schemeClr val="lt1"/>
                </a:solidFill>
              </a:rPr>
              <a:t>Great variety of signs and existence of different regional styles of early notation</a:t>
            </a:r>
            <a:endParaRPr/>
          </a:p>
          <a:p>
            <a:pPr indent="-228600" lvl="1" marL="685800" rtl="0" algn="l">
              <a:lnSpc>
                <a:spcPct val="90000"/>
              </a:lnSpc>
              <a:spcBef>
                <a:spcPts val="500"/>
              </a:spcBef>
              <a:spcAft>
                <a:spcPts val="0"/>
              </a:spcAft>
              <a:buClr>
                <a:schemeClr val="lt1"/>
              </a:buClr>
              <a:buSzPts val="2400"/>
              <a:buChar char="•"/>
            </a:pPr>
            <a:r>
              <a:rPr lang="en-CA">
                <a:solidFill>
                  <a:schemeClr val="lt1"/>
                </a:solidFill>
              </a:rPr>
              <a:t>Some regional styles occasionally share graphically similar shapes; these are understood by modern scholars to represent </a:t>
            </a:r>
            <a:r>
              <a:rPr lang="en-CA" u="sng">
                <a:solidFill>
                  <a:schemeClr val="lt1"/>
                </a:solidFill>
              </a:rPr>
              <a:t>the same, a similar or even a </a:t>
            </a:r>
            <a:r>
              <a:rPr i="1" lang="en-CA" u="sng">
                <a:solidFill>
                  <a:schemeClr val="lt1"/>
                </a:solidFill>
              </a:rPr>
              <a:t>different</a:t>
            </a:r>
            <a:r>
              <a:rPr lang="en-CA" u="sng">
                <a:solidFill>
                  <a:schemeClr val="lt1"/>
                </a:solidFill>
              </a:rPr>
              <a:t> musical meaning. </a:t>
            </a:r>
            <a:endParaRPr/>
          </a:p>
          <a:p>
            <a:pPr indent="-76200" lvl="1" marL="685800" rtl="0" algn="l">
              <a:lnSpc>
                <a:spcPct val="90000"/>
              </a:lnSpc>
              <a:spcBef>
                <a:spcPts val="500"/>
              </a:spcBef>
              <a:spcAft>
                <a:spcPts val="0"/>
              </a:spcAft>
              <a:buClr>
                <a:schemeClr val="dk1"/>
              </a:buClr>
              <a:buSzPts val="2400"/>
              <a:buNone/>
            </a:pPr>
            <a:r>
              <a:t/>
            </a:r>
            <a:endParaRPr>
              <a:solidFill>
                <a:schemeClr val="lt1"/>
              </a:solidFill>
            </a:endParaRPr>
          </a:p>
          <a:p>
            <a:pPr indent="-228600" lvl="0" marL="228600" rtl="0" algn="l">
              <a:lnSpc>
                <a:spcPct val="90000"/>
              </a:lnSpc>
              <a:spcBef>
                <a:spcPts val="1000"/>
              </a:spcBef>
              <a:spcAft>
                <a:spcPts val="0"/>
              </a:spcAft>
              <a:buClr>
                <a:schemeClr val="lt1"/>
              </a:buClr>
              <a:buSzPts val="2800"/>
              <a:buChar char="•"/>
            </a:pPr>
            <a:r>
              <a:rPr lang="en-CA">
                <a:solidFill>
                  <a:schemeClr val="lt1"/>
                </a:solidFill>
              </a:rPr>
              <a:t>The neume shapes could either mirror graphically the musical characteristics of the sound being represented or the meaning attached to them was ruled by </a:t>
            </a:r>
            <a:r>
              <a:rPr lang="en-CA" u="sng">
                <a:solidFill>
                  <a:schemeClr val="lt1"/>
                </a:solidFill>
              </a:rPr>
              <a:t>conventions</a:t>
            </a:r>
            <a:endParaRPr u="sng">
              <a:solidFill>
                <a:schemeClr val="lt1"/>
              </a:solidFill>
            </a:endParaRPr>
          </a:p>
        </p:txBody>
      </p:sp>
      <p:sp>
        <p:nvSpPr>
          <p:cNvPr id="703" name="Google Shape;70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704" name="Google Shape;704;p48"/>
          <p:cNvPicPr preferRelativeResize="0"/>
          <p:nvPr/>
        </p:nvPicPr>
        <p:blipFill rotWithShape="1">
          <a:blip r:embed="rId3">
            <a:alphaModFix/>
          </a:blip>
          <a:srcRect b="47636" l="51921" r="9290" t="0"/>
          <a:stretch/>
        </p:blipFill>
        <p:spPr>
          <a:xfrm flipH="1">
            <a:off x="195758" y="130165"/>
            <a:ext cx="1781796" cy="184494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705" name="Google Shape;705;p48"/>
          <p:cNvPicPr preferRelativeResize="0"/>
          <p:nvPr/>
        </p:nvPicPr>
        <p:blipFill rotWithShape="1">
          <a:blip r:embed="rId4">
            <a:alphaModFix/>
          </a:blip>
          <a:srcRect b="0" l="0" r="0" t="0"/>
          <a:stretch/>
        </p:blipFill>
        <p:spPr>
          <a:xfrm>
            <a:off x="8752858" y="791544"/>
            <a:ext cx="1873468" cy="1060006"/>
          </a:xfrm>
          <a:prstGeom prst="rect">
            <a:avLst/>
          </a:prstGeom>
          <a:noFill/>
          <a:ln>
            <a:noFill/>
          </a:ln>
        </p:spPr>
      </p:pic>
      <p:sp>
        <p:nvSpPr>
          <p:cNvPr id="706" name="Google Shape;706;p48"/>
          <p:cNvSpPr txBox="1"/>
          <p:nvPr/>
        </p:nvSpPr>
        <p:spPr>
          <a:xfrm>
            <a:off x="2502408" y="121218"/>
            <a:ext cx="840333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600"/>
              <a:buFont typeface="Calibri"/>
              <a:buNone/>
            </a:pPr>
            <a:r>
              <a:rPr lang="en-CA" sz="3600">
                <a:solidFill>
                  <a:schemeClr val="dk1"/>
                </a:solidFill>
                <a:latin typeface="Calibri"/>
                <a:ea typeface="Calibri"/>
                <a:cs typeface="Calibri"/>
                <a:sym typeface="Calibri"/>
              </a:rPr>
              <a:t>There are </a:t>
            </a:r>
            <a:r>
              <a:rPr b="1" lang="en-CA" sz="3600">
                <a:solidFill>
                  <a:schemeClr val="dk1"/>
                </a:solidFill>
                <a:latin typeface="Calibri"/>
                <a:ea typeface="Calibri"/>
                <a:cs typeface="Calibri"/>
                <a:sym typeface="Calibri"/>
              </a:rPr>
              <a:t>three</a:t>
            </a:r>
            <a:r>
              <a:rPr lang="en-CA" sz="3600">
                <a:solidFill>
                  <a:schemeClr val="dk1"/>
                </a:solidFill>
                <a:latin typeface="Calibri"/>
                <a:ea typeface="Calibri"/>
                <a:cs typeface="Calibri"/>
                <a:sym typeface="Calibri"/>
              </a:rPr>
              <a:t> main challenges in</a:t>
            </a:r>
            <a:endParaRPr/>
          </a:p>
          <a:p>
            <a:pPr indent="0" lvl="0" marL="0" marR="0" rtl="0" algn="l">
              <a:spcBef>
                <a:spcPts val="0"/>
              </a:spcBef>
              <a:spcAft>
                <a:spcPts val="0"/>
              </a:spcAft>
              <a:buClr>
                <a:schemeClr val="dk1"/>
              </a:buClr>
              <a:buSzPts val="3600"/>
              <a:buFont typeface="Calibri"/>
              <a:buNone/>
            </a:pPr>
            <a:r>
              <a:rPr lang="en-CA" sz="3600">
                <a:solidFill>
                  <a:schemeClr val="dk1"/>
                </a:solidFill>
                <a:latin typeface="Calibri"/>
                <a:ea typeface="Calibri"/>
                <a:cs typeface="Calibri"/>
                <a:sym typeface="Calibri"/>
              </a:rPr>
              <a:t>encoding neumatic notations in                   :</a:t>
            </a:r>
            <a:endParaRPr sz="3600">
              <a:solidFill>
                <a:schemeClr val="dk1"/>
              </a:solidFill>
              <a:latin typeface="Calibri"/>
              <a:ea typeface="Calibri"/>
              <a:cs typeface="Calibri"/>
              <a:sym typeface="Calibri"/>
            </a:endParaRPr>
          </a:p>
        </p:txBody>
      </p:sp>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49"/>
          <p:cNvSpPr txBox="1"/>
          <p:nvPr>
            <p:ph idx="1" type="body"/>
          </p:nvPr>
        </p:nvSpPr>
        <p:spPr>
          <a:xfrm>
            <a:off x="390143" y="2157984"/>
            <a:ext cx="11255009" cy="414544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CA"/>
              <a:t>Convey only partial musical information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Great variety of signs and existence of different regional styles of early notation</a:t>
            </a:r>
            <a:endParaRPr/>
          </a:p>
          <a:p>
            <a:pPr indent="-228600" lvl="1" marL="685800" rtl="0" algn="l">
              <a:lnSpc>
                <a:spcPct val="90000"/>
              </a:lnSpc>
              <a:spcBef>
                <a:spcPts val="500"/>
              </a:spcBef>
              <a:spcAft>
                <a:spcPts val="0"/>
              </a:spcAft>
              <a:buClr>
                <a:schemeClr val="dk1"/>
              </a:buClr>
              <a:buSzPts val="2400"/>
              <a:buChar char="•"/>
            </a:pPr>
            <a:r>
              <a:rPr lang="en-CA"/>
              <a:t>Some regional styles occasionally share graphically similar shapes; these are understood by modern scholars to represent </a:t>
            </a:r>
            <a:r>
              <a:rPr lang="en-CA" u="sng"/>
              <a:t>the same, a similar or even a </a:t>
            </a:r>
            <a:r>
              <a:rPr i="1" lang="en-CA" u="sng"/>
              <a:t>different</a:t>
            </a:r>
            <a:r>
              <a:rPr lang="en-CA" u="sng"/>
              <a:t> musical meaning. </a:t>
            </a:r>
            <a:endParaRPr/>
          </a:p>
          <a:p>
            <a:pPr indent="-76200" lvl="1" marL="685800" rtl="0" algn="l">
              <a:lnSpc>
                <a:spcPct val="90000"/>
              </a:lnSpc>
              <a:spcBef>
                <a:spcPts val="500"/>
              </a:spcBef>
              <a:spcAft>
                <a:spcPts val="0"/>
              </a:spcAft>
              <a:buClr>
                <a:schemeClr val="dk1"/>
              </a:buClr>
              <a:buSzPts val="2400"/>
              <a:buNone/>
            </a:pPr>
            <a:r>
              <a:t/>
            </a:r>
            <a:endParaRPr>
              <a:solidFill>
                <a:schemeClr val="lt1"/>
              </a:solidFill>
            </a:endParaRPr>
          </a:p>
          <a:p>
            <a:pPr indent="-228600" lvl="0" marL="228600" rtl="0" algn="l">
              <a:lnSpc>
                <a:spcPct val="90000"/>
              </a:lnSpc>
              <a:spcBef>
                <a:spcPts val="1000"/>
              </a:spcBef>
              <a:spcAft>
                <a:spcPts val="0"/>
              </a:spcAft>
              <a:buClr>
                <a:schemeClr val="lt1"/>
              </a:buClr>
              <a:buSzPts val="2800"/>
              <a:buChar char="•"/>
            </a:pPr>
            <a:r>
              <a:rPr lang="en-CA">
                <a:solidFill>
                  <a:schemeClr val="lt1"/>
                </a:solidFill>
              </a:rPr>
              <a:t>The neume shapes could either mirror graphically the musical characteristics of the sound being represented or the meaning attached to them was ruled by </a:t>
            </a:r>
            <a:r>
              <a:rPr lang="en-CA" u="sng">
                <a:solidFill>
                  <a:schemeClr val="lt1"/>
                </a:solidFill>
              </a:rPr>
              <a:t>conventions</a:t>
            </a:r>
            <a:endParaRPr u="sng">
              <a:solidFill>
                <a:schemeClr val="lt1"/>
              </a:solidFill>
            </a:endParaRPr>
          </a:p>
        </p:txBody>
      </p:sp>
      <p:sp>
        <p:nvSpPr>
          <p:cNvPr id="713" name="Google Shape;71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714" name="Google Shape;714;p49"/>
          <p:cNvPicPr preferRelativeResize="0"/>
          <p:nvPr/>
        </p:nvPicPr>
        <p:blipFill rotWithShape="1">
          <a:blip r:embed="rId3">
            <a:alphaModFix/>
          </a:blip>
          <a:srcRect b="47636" l="51921" r="9290" t="0"/>
          <a:stretch/>
        </p:blipFill>
        <p:spPr>
          <a:xfrm flipH="1">
            <a:off x="195758" y="130165"/>
            <a:ext cx="1781796" cy="184494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715" name="Google Shape;715;p49"/>
          <p:cNvPicPr preferRelativeResize="0"/>
          <p:nvPr/>
        </p:nvPicPr>
        <p:blipFill rotWithShape="1">
          <a:blip r:embed="rId4">
            <a:alphaModFix/>
          </a:blip>
          <a:srcRect b="0" l="0" r="0" t="0"/>
          <a:stretch/>
        </p:blipFill>
        <p:spPr>
          <a:xfrm>
            <a:off x="8752858" y="791544"/>
            <a:ext cx="1873468" cy="1060006"/>
          </a:xfrm>
          <a:prstGeom prst="rect">
            <a:avLst/>
          </a:prstGeom>
          <a:noFill/>
          <a:ln>
            <a:noFill/>
          </a:ln>
        </p:spPr>
      </p:pic>
      <p:sp>
        <p:nvSpPr>
          <p:cNvPr id="716" name="Google Shape;716;p49"/>
          <p:cNvSpPr txBox="1"/>
          <p:nvPr/>
        </p:nvSpPr>
        <p:spPr>
          <a:xfrm>
            <a:off x="2502408" y="121218"/>
            <a:ext cx="840333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600"/>
              <a:buFont typeface="Calibri"/>
              <a:buNone/>
            </a:pPr>
            <a:r>
              <a:rPr lang="en-CA" sz="3600">
                <a:solidFill>
                  <a:schemeClr val="dk1"/>
                </a:solidFill>
                <a:latin typeface="Calibri"/>
                <a:ea typeface="Calibri"/>
                <a:cs typeface="Calibri"/>
                <a:sym typeface="Calibri"/>
              </a:rPr>
              <a:t>There are </a:t>
            </a:r>
            <a:r>
              <a:rPr b="1" lang="en-CA" sz="3600">
                <a:solidFill>
                  <a:schemeClr val="dk1"/>
                </a:solidFill>
                <a:latin typeface="Calibri"/>
                <a:ea typeface="Calibri"/>
                <a:cs typeface="Calibri"/>
                <a:sym typeface="Calibri"/>
              </a:rPr>
              <a:t>three</a:t>
            </a:r>
            <a:r>
              <a:rPr lang="en-CA" sz="3600">
                <a:solidFill>
                  <a:schemeClr val="dk1"/>
                </a:solidFill>
                <a:latin typeface="Calibri"/>
                <a:ea typeface="Calibri"/>
                <a:cs typeface="Calibri"/>
                <a:sym typeface="Calibri"/>
              </a:rPr>
              <a:t> main challenges in</a:t>
            </a:r>
            <a:endParaRPr/>
          </a:p>
          <a:p>
            <a:pPr indent="0" lvl="0" marL="0" marR="0" rtl="0" algn="l">
              <a:spcBef>
                <a:spcPts val="0"/>
              </a:spcBef>
              <a:spcAft>
                <a:spcPts val="0"/>
              </a:spcAft>
              <a:buClr>
                <a:schemeClr val="dk1"/>
              </a:buClr>
              <a:buSzPts val="3600"/>
              <a:buFont typeface="Calibri"/>
              <a:buNone/>
            </a:pPr>
            <a:r>
              <a:rPr lang="en-CA" sz="3600">
                <a:solidFill>
                  <a:schemeClr val="dk1"/>
                </a:solidFill>
                <a:latin typeface="Calibri"/>
                <a:ea typeface="Calibri"/>
                <a:cs typeface="Calibri"/>
                <a:sym typeface="Calibri"/>
              </a:rPr>
              <a:t>encoding neumatic notations in                   :</a:t>
            </a:r>
            <a:endParaRPr sz="36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50"/>
          <p:cNvSpPr txBox="1"/>
          <p:nvPr>
            <p:ph idx="1" type="body"/>
          </p:nvPr>
        </p:nvSpPr>
        <p:spPr>
          <a:xfrm>
            <a:off x="390143" y="2157984"/>
            <a:ext cx="11255009" cy="414544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CA"/>
              <a:t>Convey only partial musical information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Great variety of signs and existence of different regional styles of early notation</a:t>
            </a:r>
            <a:endParaRPr/>
          </a:p>
          <a:p>
            <a:pPr indent="-228600" lvl="1" marL="685800" rtl="0" algn="l">
              <a:lnSpc>
                <a:spcPct val="90000"/>
              </a:lnSpc>
              <a:spcBef>
                <a:spcPts val="500"/>
              </a:spcBef>
              <a:spcAft>
                <a:spcPts val="0"/>
              </a:spcAft>
              <a:buClr>
                <a:schemeClr val="dk1"/>
              </a:buClr>
              <a:buSzPts val="2400"/>
              <a:buChar char="•"/>
            </a:pPr>
            <a:r>
              <a:rPr lang="en-CA"/>
              <a:t>Some regional styles occasionally share graphically similar shapes; these are understood by modern scholars to represent </a:t>
            </a:r>
            <a:r>
              <a:rPr lang="en-CA" u="sng"/>
              <a:t>the same, a similar or even a </a:t>
            </a:r>
            <a:r>
              <a:rPr i="1" lang="en-CA" u="sng"/>
              <a:t>different</a:t>
            </a:r>
            <a:r>
              <a:rPr lang="en-CA" u="sng"/>
              <a:t> musical meaning. </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CA"/>
              <a:t>The neume shapes could either mirror graphically the musical characteristics of the sound being represented or the meaning attached to them was ruled by </a:t>
            </a:r>
            <a:r>
              <a:rPr lang="en-CA" u="sng"/>
              <a:t>conventions</a:t>
            </a:r>
            <a:endParaRPr u="sng"/>
          </a:p>
        </p:txBody>
      </p:sp>
      <p:sp>
        <p:nvSpPr>
          <p:cNvPr id="723" name="Google Shape;723;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724" name="Google Shape;724;p50"/>
          <p:cNvPicPr preferRelativeResize="0"/>
          <p:nvPr/>
        </p:nvPicPr>
        <p:blipFill rotWithShape="1">
          <a:blip r:embed="rId3">
            <a:alphaModFix/>
          </a:blip>
          <a:srcRect b="47636" l="51921" r="9290" t="0"/>
          <a:stretch/>
        </p:blipFill>
        <p:spPr>
          <a:xfrm flipH="1">
            <a:off x="195758" y="130165"/>
            <a:ext cx="1781796" cy="184494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725" name="Google Shape;725;p50"/>
          <p:cNvPicPr preferRelativeResize="0"/>
          <p:nvPr/>
        </p:nvPicPr>
        <p:blipFill rotWithShape="1">
          <a:blip r:embed="rId4">
            <a:alphaModFix/>
          </a:blip>
          <a:srcRect b="0" l="0" r="0" t="0"/>
          <a:stretch/>
        </p:blipFill>
        <p:spPr>
          <a:xfrm>
            <a:off x="8752858" y="791544"/>
            <a:ext cx="1873468" cy="1060006"/>
          </a:xfrm>
          <a:prstGeom prst="rect">
            <a:avLst/>
          </a:prstGeom>
          <a:noFill/>
          <a:ln>
            <a:noFill/>
          </a:ln>
        </p:spPr>
      </p:pic>
      <p:sp>
        <p:nvSpPr>
          <p:cNvPr id="726" name="Google Shape;726;p50"/>
          <p:cNvSpPr txBox="1"/>
          <p:nvPr/>
        </p:nvSpPr>
        <p:spPr>
          <a:xfrm>
            <a:off x="2502408" y="121218"/>
            <a:ext cx="840333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600"/>
              <a:buFont typeface="Calibri"/>
              <a:buNone/>
            </a:pPr>
            <a:r>
              <a:rPr lang="en-CA" sz="3600">
                <a:solidFill>
                  <a:schemeClr val="dk1"/>
                </a:solidFill>
                <a:latin typeface="Calibri"/>
                <a:ea typeface="Calibri"/>
                <a:cs typeface="Calibri"/>
                <a:sym typeface="Calibri"/>
              </a:rPr>
              <a:t>There are </a:t>
            </a:r>
            <a:r>
              <a:rPr b="1" lang="en-CA" sz="3600">
                <a:solidFill>
                  <a:schemeClr val="dk1"/>
                </a:solidFill>
                <a:latin typeface="Calibri"/>
                <a:ea typeface="Calibri"/>
                <a:cs typeface="Calibri"/>
                <a:sym typeface="Calibri"/>
              </a:rPr>
              <a:t>three</a:t>
            </a:r>
            <a:r>
              <a:rPr lang="en-CA" sz="3600">
                <a:solidFill>
                  <a:schemeClr val="dk1"/>
                </a:solidFill>
                <a:latin typeface="Calibri"/>
                <a:ea typeface="Calibri"/>
                <a:cs typeface="Calibri"/>
                <a:sym typeface="Calibri"/>
              </a:rPr>
              <a:t> main challenges in</a:t>
            </a:r>
            <a:endParaRPr/>
          </a:p>
          <a:p>
            <a:pPr indent="0" lvl="0" marL="0" marR="0" rtl="0" algn="l">
              <a:spcBef>
                <a:spcPts val="0"/>
              </a:spcBef>
              <a:spcAft>
                <a:spcPts val="0"/>
              </a:spcAft>
              <a:buClr>
                <a:schemeClr val="dk1"/>
              </a:buClr>
              <a:buSzPts val="3600"/>
              <a:buFont typeface="Calibri"/>
              <a:buNone/>
            </a:pPr>
            <a:r>
              <a:rPr lang="en-CA" sz="3600">
                <a:solidFill>
                  <a:schemeClr val="dk1"/>
                </a:solidFill>
                <a:latin typeface="Calibri"/>
                <a:ea typeface="Calibri"/>
                <a:cs typeface="Calibri"/>
                <a:sym typeface="Calibri"/>
              </a:rPr>
              <a:t>encoding neumatic notations in                   :</a:t>
            </a:r>
            <a:endParaRPr sz="36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51"/>
          <p:cNvSpPr txBox="1"/>
          <p:nvPr>
            <p:ph idx="1" type="body"/>
          </p:nvPr>
        </p:nvSpPr>
        <p:spPr>
          <a:xfrm>
            <a:off x="3076861" y="1842925"/>
            <a:ext cx="8078819" cy="4349203"/>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lnSpc>
                <a:spcPct val="100000"/>
              </a:lnSpc>
              <a:spcBef>
                <a:spcPts val="0"/>
              </a:spcBef>
              <a:spcAft>
                <a:spcPts val="0"/>
              </a:spcAft>
              <a:buClr>
                <a:schemeClr val="dk1"/>
              </a:buClr>
              <a:buSzPct val="100000"/>
              <a:buFont typeface="Calibri"/>
              <a:buNone/>
            </a:pPr>
            <a:r>
              <a:rPr lang="en-CA" sz="3500">
                <a:latin typeface="Calibri"/>
                <a:ea typeface="Calibri"/>
                <a:cs typeface="Calibri"/>
                <a:sym typeface="Calibri"/>
              </a:rPr>
              <a:t>What’s the impact of these challenges on music encoding?</a:t>
            </a:r>
            <a:endParaRPr/>
          </a:p>
          <a:p>
            <a:pPr indent="0" lvl="0" marL="0" marR="0" rtl="0" algn="l">
              <a:lnSpc>
                <a:spcPct val="100000"/>
              </a:lnSpc>
              <a:spcBef>
                <a:spcPts val="0"/>
              </a:spcBef>
              <a:spcAft>
                <a:spcPts val="0"/>
              </a:spcAft>
              <a:buClr>
                <a:schemeClr val="dk1"/>
              </a:buClr>
              <a:buSzPct val="100000"/>
              <a:buFont typeface="Calibri"/>
              <a:buNone/>
            </a:pPr>
            <a:r>
              <a:t/>
            </a:r>
            <a:endParaRPr sz="3200"/>
          </a:p>
          <a:p>
            <a:pPr indent="0" lvl="0" marL="0" marR="0" rtl="0" algn="l">
              <a:lnSpc>
                <a:spcPct val="100000"/>
              </a:lnSpc>
              <a:spcBef>
                <a:spcPts val="0"/>
              </a:spcBef>
              <a:spcAft>
                <a:spcPts val="0"/>
              </a:spcAft>
              <a:buClr>
                <a:schemeClr val="dk1"/>
              </a:buClr>
              <a:buSzPct val="100000"/>
              <a:buFont typeface="Calibri"/>
              <a:buNone/>
            </a:pPr>
            <a:r>
              <a:t/>
            </a:r>
            <a:endParaRPr sz="3200"/>
          </a:p>
          <a:p>
            <a:pPr indent="0" lvl="0" marL="0" marR="0" rtl="0" algn="l">
              <a:lnSpc>
                <a:spcPct val="100000"/>
              </a:lnSpc>
              <a:spcBef>
                <a:spcPts val="0"/>
              </a:spcBef>
              <a:spcAft>
                <a:spcPts val="0"/>
              </a:spcAft>
              <a:buClr>
                <a:schemeClr val="dk1"/>
              </a:buClr>
              <a:buSzPct val="100000"/>
              <a:buFont typeface="Calibri"/>
              <a:buNone/>
            </a:pPr>
            <a:r>
              <a:rPr lang="en-CA" sz="3200"/>
              <a:t>In the next slides we’ll see some </a:t>
            </a:r>
            <a:r>
              <a:rPr b="1" lang="en-CA" sz="3200"/>
              <a:t>different neume shapes that are given the same name by medieval scribes</a:t>
            </a:r>
            <a:r>
              <a:rPr lang="en-CA" sz="3200"/>
              <a:t>. </a:t>
            </a:r>
            <a:endParaRPr/>
          </a:p>
          <a:p>
            <a:pPr indent="0" lvl="0" marL="0" marR="0" rtl="0" algn="l">
              <a:lnSpc>
                <a:spcPct val="100000"/>
              </a:lnSpc>
              <a:spcBef>
                <a:spcPts val="0"/>
              </a:spcBef>
              <a:spcAft>
                <a:spcPts val="0"/>
              </a:spcAft>
              <a:buClr>
                <a:schemeClr val="dk1"/>
              </a:buClr>
              <a:buSzPct val="100000"/>
              <a:buFont typeface="Calibri"/>
              <a:buNone/>
            </a:pPr>
            <a:r>
              <a:t/>
            </a:r>
            <a:endParaRPr sz="3200">
              <a:latin typeface="Garamond"/>
              <a:ea typeface="Garamond"/>
              <a:cs typeface="Garamond"/>
              <a:sym typeface="Garamond"/>
            </a:endParaRPr>
          </a:p>
          <a:p>
            <a:pPr indent="0" lvl="0" marL="0" marR="0" rtl="0" algn="l">
              <a:lnSpc>
                <a:spcPct val="100000"/>
              </a:lnSpc>
              <a:spcBef>
                <a:spcPts val="0"/>
              </a:spcBef>
              <a:spcAft>
                <a:spcPts val="0"/>
              </a:spcAft>
              <a:buClr>
                <a:schemeClr val="dk1"/>
              </a:buClr>
              <a:buSzPct val="100000"/>
              <a:buFont typeface="Calibri"/>
              <a:buNone/>
            </a:pPr>
            <a:r>
              <a:t/>
            </a:r>
            <a:endParaRPr sz="3200">
              <a:latin typeface="Garamond"/>
              <a:ea typeface="Garamond"/>
              <a:cs typeface="Garamond"/>
              <a:sym typeface="Garamond"/>
            </a:endParaRPr>
          </a:p>
          <a:p>
            <a:pPr indent="0" lvl="0" marL="0" marR="0" rtl="0" algn="l">
              <a:lnSpc>
                <a:spcPct val="100000"/>
              </a:lnSpc>
              <a:spcBef>
                <a:spcPts val="0"/>
              </a:spcBef>
              <a:spcAft>
                <a:spcPts val="0"/>
              </a:spcAft>
              <a:buClr>
                <a:schemeClr val="dk1"/>
              </a:buClr>
              <a:buSzPct val="100000"/>
              <a:buFont typeface="Garamond"/>
              <a:buNone/>
            </a:pPr>
            <a:r>
              <a:rPr lang="en-CA" sz="3200">
                <a:latin typeface="Garamond"/>
                <a:ea typeface="Garamond"/>
                <a:cs typeface="Garamond"/>
                <a:sym typeface="Garamond"/>
              </a:rPr>
              <a:t>			</a:t>
            </a:r>
            <a:endParaRPr/>
          </a:p>
          <a:p>
            <a:pPr indent="0" lvl="0" marL="0" marR="0" rtl="0" algn="l">
              <a:lnSpc>
                <a:spcPct val="100000"/>
              </a:lnSpc>
              <a:spcBef>
                <a:spcPts val="0"/>
              </a:spcBef>
              <a:spcAft>
                <a:spcPts val="0"/>
              </a:spcAft>
              <a:buClr>
                <a:schemeClr val="dk1"/>
              </a:buClr>
              <a:buSzPct val="100000"/>
              <a:buFont typeface="Garamond"/>
              <a:buNone/>
            </a:pPr>
            <a:r>
              <a:rPr lang="en-CA" sz="3200">
                <a:latin typeface="Garamond"/>
                <a:ea typeface="Garamond"/>
                <a:cs typeface="Garamond"/>
                <a:sym typeface="Garamond"/>
              </a:rPr>
              <a:t>				</a:t>
            </a:r>
            <a:r>
              <a:rPr lang="en-CA" sz="3200"/>
              <a:t>We start with the oriscus</a:t>
            </a:r>
            <a:endParaRPr/>
          </a:p>
          <a:p>
            <a:pPr indent="0" lvl="0" marL="0" rtl="0" algn="l">
              <a:lnSpc>
                <a:spcPct val="90000"/>
              </a:lnSpc>
              <a:spcBef>
                <a:spcPts val="1000"/>
              </a:spcBef>
              <a:spcAft>
                <a:spcPts val="0"/>
              </a:spcAft>
              <a:buClr>
                <a:schemeClr val="dk1"/>
              </a:buClr>
              <a:buSzPct val="100000"/>
              <a:buNone/>
            </a:pPr>
            <a:r>
              <a:t/>
            </a:r>
            <a:endParaRPr/>
          </a:p>
        </p:txBody>
      </p:sp>
      <p:sp>
        <p:nvSpPr>
          <p:cNvPr id="733" name="Google Shape;73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734" name="Google Shape;734;p51"/>
          <p:cNvPicPr preferRelativeResize="0"/>
          <p:nvPr/>
        </p:nvPicPr>
        <p:blipFill rotWithShape="1">
          <a:blip r:embed="rId3">
            <a:alphaModFix/>
          </a:blip>
          <a:srcRect b="0" l="10420" r="0" t="0"/>
          <a:stretch/>
        </p:blipFill>
        <p:spPr>
          <a:xfrm>
            <a:off x="528313" y="1842925"/>
            <a:ext cx="2322463" cy="226022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741" name="Google Shape;741;p52"/>
          <p:cNvPicPr preferRelativeResize="0"/>
          <p:nvPr/>
        </p:nvPicPr>
        <p:blipFill rotWithShape="1">
          <a:blip r:embed="rId3">
            <a:alphaModFix/>
          </a:blip>
          <a:srcRect b="33827" l="31245" r="23610" t="43621"/>
          <a:stretch/>
        </p:blipFill>
        <p:spPr>
          <a:xfrm>
            <a:off x="2981194" y="1610634"/>
            <a:ext cx="8695223" cy="2443289"/>
          </a:xfrm>
          <a:prstGeom prst="rect">
            <a:avLst/>
          </a:prstGeom>
          <a:noFill/>
          <a:ln>
            <a:noFill/>
          </a:ln>
        </p:spPr>
      </p:pic>
      <p:sp>
        <p:nvSpPr>
          <p:cNvPr id="742" name="Google Shape;742;p52"/>
          <p:cNvSpPr txBox="1"/>
          <p:nvPr/>
        </p:nvSpPr>
        <p:spPr>
          <a:xfrm>
            <a:off x="913117" y="379310"/>
            <a:ext cx="119503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400">
                <a:solidFill>
                  <a:schemeClr val="dk1"/>
                </a:solidFill>
                <a:latin typeface="Garamond"/>
                <a:ea typeface="Garamond"/>
                <a:cs typeface="Garamond"/>
                <a:sym typeface="Garamond"/>
              </a:rPr>
              <a:t>Ex. from: J. Grier, </a:t>
            </a:r>
            <a:r>
              <a:rPr i="1" lang="en-CA" sz="2400">
                <a:solidFill>
                  <a:schemeClr val="dk1"/>
                </a:solidFill>
                <a:latin typeface="Garamond"/>
                <a:ea typeface="Garamond"/>
                <a:cs typeface="Garamond"/>
                <a:sym typeface="Garamond"/>
              </a:rPr>
              <a:t>Musical Notation in the West</a:t>
            </a:r>
            <a:r>
              <a:rPr lang="en-CA" sz="2400">
                <a:solidFill>
                  <a:schemeClr val="dk1"/>
                </a:solidFill>
                <a:latin typeface="Garamond"/>
                <a:ea typeface="Garamond"/>
                <a:cs typeface="Garamond"/>
                <a:sym typeface="Garamond"/>
              </a:rPr>
              <a:t>, Cambridge University Press, 2021, p. 30</a:t>
            </a:r>
            <a:endParaRPr sz="2400">
              <a:solidFill>
                <a:schemeClr val="dk1"/>
              </a:solidFill>
              <a:latin typeface="Garamond"/>
              <a:ea typeface="Garamond"/>
              <a:cs typeface="Garamond"/>
              <a:sym typeface="Garamond"/>
            </a:endParaRPr>
          </a:p>
        </p:txBody>
      </p:sp>
      <p:sp>
        <p:nvSpPr>
          <p:cNvPr id="743" name="Google Shape;743;p52"/>
          <p:cNvSpPr txBox="1"/>
          <p:nvPr/>
        </p:nvSpPr>
        <p:spPr>
          <a:xfrm>
            <a:off x="2618423" y="4760067"/>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St Gall</a:t>
            </a:r>
            <a:endParaRPr/>
          </a:p>
        </p:txBody>
      </p:sp>
      <p:sp>
        <p:nvSpPr>
          <p:cNvPr id="744" name="Google Shape;744;p52"/>
          <p:cNvSpPr txBox="1"/>
          <p:nvPr/>
        </p:nvSpPr>
        <p:spPr>
          <a:xfrm>
            <a:off x="7449829" y="4881758"/>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Breton</a:t>
            </a:r>
            <a:endParaRPr/>
          </a:p>
        </p:txBody>
      </p:sp>
      <p:sp>
        <p:nvSpPr>
          <p:cNvPr id="745" name="Google Shape;745;p52"/>
          <p:cNvSpPr txBox="1"/>
          <p:nvPr/>
        </p:nvSpPr>
        <p:spPr>
          <a:xfrm>
            <a:off x="4501005" y="4826521"/>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Lotharingian</a:t>
            </a:r>
            <a:endParaRPr b="0" i="0" sz="3600" u="none" strike="noStrike">
              <a:solidFill>
                <a:srgbClr val="0070C0"/>
              </a:solidFill>
              <a:latin typeface="Calibri"/>
              <a:ea typeface="Calibri"/>
              <a:cs typeface="Calibri"/>
              <a:sym typeface="Calibri"/>
            </a:endParaRPr>
          </a:p>
        </p:txBody>
      </p:sp>
      <p:sp>
        <p:nvSpPr>
          <p:cNvPr id="746" name="Google Shape;746;p52"/>
          <p:cNvSpPr txBox="1"/>
          <p:nvPr/>
        </p:nvSpPr>
        <p:spPr>
          <a:xfrm>
            <a:off x="9815460" y="4972723"/>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Aquitanian</a:t>
            </a:r>
            <a:endParaRPr/>
          </a:p>
        </p:txBody>
      </p:sp>
      <p:sp>
        <p:nvSpPr>
          <p:cNvPr id="747" name="Google Shape;747;p52"/>
          <p:cNvSpPr txBox="1"/>
          <p:nvPr/>
        </p:nvSpPr>
        <p:spPr>
          <a:xfrm>
            <a:off x="223377" y="4206069"/>
            <a:ext cx="6096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Neumatic </a:t>
            </a:r>
            <a:endParaRPr/>
          </a:p>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Scripts:</a:t>
            </a:r>
            <a:endParaRPr/>
          </a:p>
        </p:txBody>
      </p:sp>
      <p:sp>
        <p:nvSpPr>
          <p:cNvPr id="748" name="Google Shape;748;p52"/>
          <p:cNvSpPr txBox="1"/>
          <p:nvPr/>
        </p:nvSpPr>
        <p:spPr>
          <a:xfrm>
            <a:off x="223377" y="2748051"/>
            <a:ext cx="8052816" cy="66652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n-CA" sz="3600">
                <a:solidFill>
                  <a:schemeClr val="dk1"/>
                </a:solidFill>
                <a:latin typeface="Garamond"/>
                <a:ea typeface="Garamond"/>
                <a:cs typeface="Garamond"/>
                <a:sym typeface="Garamond"/>
              </a:rPr>
              <a:t>&lt;oriscus&gt;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53"/>
          <p:cNvSpPr txBox="1"/>
          <p:nvPr/>
        </p:nvSpPr>
        <p:spPr>
          <a:xfrm>
            <a:off x="8417984" y="818216"/>
            <a:ext cx="273955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3600">
                <a:solidFill>
                  <a:schemeClr val="dk1"/>
                </a:solidFill>
                <a:latin typeface="Garamond"/>
                <a:ea typeface="Garamond"/>
                <a:cs typeface="Garamond"/>
                <a:sym typeface="Garamond"/>
              </a:rPr>
              <a:t>&lt;quilisma&gt;</a:t>
            </a:r>
            <a:endParaRPr b="1" sz="1800">
              <a:solidFill>
                <a:schemeClr val="dk1"/>
              </a:solidFill>
              <a:latin typeface="Garamond"/>
              <a:ea typeface="Garamond"/>
              <a:cs typeface="Garamond"/>
              <a:sym typeface="Garamond"/>
            </a:endParaRPr>
          </a:p>
        </p:txBody>
      </p:sp>
      <p:sp>
        <p:nvSpPr>
          <p:cNvPr id="755" name="Google Shape;755;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756" name="Google Shape;756;p53"/>
          <p:cNvSpPr txBox="1"/>
          <p:nvPr/>
        </p:nvSpPr>
        <p:spPr>
          <a:xfrm>
            <a:off x="876300" y="1048169"/>
            <a:ext cx="6096000" cy="20621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200">
                <a:solidFill>
                  <a:schemeClr val="dk1"/>
                </a:solidFill>
                <a:latin typeface="Calibri"/>
                <a:ea typeface="Calibri"/>
                <a:cs typeface="Calibri"/>
                <a:sym typeface="Calibri"/>
              </a:rPr>
              <a:t>The </a:t>
            </a:r>
            <a:r>
              <a:rPr b="1" lang="en-CA" sz="3200">
                <a:solidFill>
                  <a:schemeClr val="dk1"/>
                </a:solidFill>
                <a:latin typeface="Calibri"/>
                <a:ea typeface="Calibri"/>
                <a:cs typeface="Calibri"/>
                <a:sym typeface="Calibri"/>
              </a:rPr>
              <a:t>quilisma</a:t>
            </a:r>
            <a:r>
              <a:rPr lang="en-CA" sz="3200">
                <a:solidFill>
                  <a:schemeClr val="dk1"/>
                </a:solidFill>
                <a:latin typeface="Calibri"/>
                <a:ea typeface="Calibri"/>
                <a:cs typeface="Calibri"/>
                <a:sym typeface="Calibri"/>
              </a:rPr>
              <a:t> is a neume found in most early notational dialects, and it gives information on a specific vocal delivery</a:t>
            </a:r>
            <a:endParaRPr sz="3200">
              <a:solidFill>
                <a:schemeClr val="dk1"/>
              </a:solidFill>
              <a:latin typeface="Calibri"/>
              <a:ea typeface="Calibri"/>
              <a:cs typeface="Calibri"/>
              <a:sym typeface="Calibri"/>
            </a:endParaRPr>
          </a:p>
        </p:txBody>
      </p:sp>
      <p:sp>
        <p:nvSpPr>
          <p:cNvPr id="757" name="Google Shape;757;p53"/>
          <p:cNvSpPr txBox="1"/>
          <p:nvPr/>
        </p:nvSpPr>
        <p:spPr>
          <a:xfrm>
            <a:off x="876300" y="4470124"/>
            <a:ext cx="104394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200">
                <a:solidFill>
                  <a:schemeClr val="dk1"/>
                </a:solidFill>
                <a:latin typeface="Calibri"/>
                <a:ea typeface="Calibri"/>
                <a:cs typeface="Calibri"/>
                <a:sym typeface="Calibri"/>
              </a:rPr>
              <a:t>It is </a:t>
            </a:r>
            <a:r>
              <a:rPr lang="en-CA" sz="3200">
                <a:solidFill>
                  <a:srgbClr val="2A2A2A"/>
                </a:solidFill>
                <a:latin typeface="Calibri"/>
                <a:ea typeface="Calibri"/>
                <a:cs typeface="Calibri"/>
                <a:sym typeface="Calibri"/>
              </a:rPr>
              <a:t>usually between two notes a third apart. Medieval music theorists spoke of it as a </a:t>
            </a:r>
            <a:r>
              <a:rPr b="1" lang="en-CA" sz="3200">
                <a:solidFill>
                  <a:srgbClr val="2A2A2A"/>
                </a:solidFill>
                <a:latin typeface="Calibri"/>
                <a:ea typeface="Calibri"/>
                <a:cs typeface="Calibri"/>
                <a:sym typeface="Calibri"/>
              </a:rPr>
              <a:t>trembling and rising sound</a:t>
            </a:r>
            <a:r>
              <a:rPr lang="en-CA"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pic>
        <p:nvPicPr>
          <p:cNvPr id="758" name="Google Shape;758;p53"/>
          <p:cNvPicPr preferRelativeResize="0"/>
          <p:nvPr/>
        </p:nvPicPr>
        <p:blipFill rotWithShape="1">
          <a:blip r:embed="rId3">
            <a:alphaModFix/>
          </a:blip>
          <a:srcRect b="41580" l="52031" r="41094" t="47222"/>
          <a:stretch/>
        </p:blipFill>
        <p:spPr>
          <a:xfrm>
            <a:off x="8417983" y="1801987"/>
            <a:ext cx="2739559" cy="250985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pic>
        <p:nvPicPr>
          <p:cNvPr id="764" name="Google Shape;764;p54"/>
          <p:cNvPicPr preferRelativeResize="0"/>
          <p:nvPr/>
        </p:nvPicPr>
        <p:blipFill rotWithShape="1">
          <a:blip r:embed="rId3">
            <a:alphaModFix/>
          </a:blip>
          <a:srcRect b="39123" l="52611" r="39167" t="23517"/>
          <a:stretch/>
        </p:blipFill>
        <p:spPr>
          <a:xfrm>
            <a:off x="7778545" y="411298"/>
            <a:ext cx="1663701" cy="4251885"/>
          </a:xfrm>
          <a:prstGeom prst="rect">
            <a:avLst/>
          </a:prstGeom>
          <a:noFill/>
          <a:ln>
            <a:noFill/>
          </a:ln>
        </p:spPr>
      </p:pic>
      <p:sp>
        <p:nvSpPr>
          <p:cNvPr id="765" name="Google Shape;765;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766" name="Google Shape;766;p54"/>
          <p:cNvSpPr/>
          <p:nvPr/>
        </p:nvSpPr>
        <p:spPr>
          <a:xfrm>
            <a:off x="7835660" y="1296015"/>
            <a:ext cx="1323833" cy="3137699"/>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 name="Google Shape;767;p54"/>
          <p:cNvSpPr txBox="1"/>
          <p:nvPr/>
        </p:nvSpPr>
        <p:spPr>
          <a:xfrm>
            <a:off x="773884" y="6090068"/>
            <a:ext cx="1055534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400">
                <a:solidFill>
                  <a:schemeClr val="dk1"/>
                </a:solidFill>
                <a:latin typeface="Garamond"/>
                <a:ea typeface="Garamond"/>
                <a:cs typeface="Garamond"/>
                <a:sym typeface="Garamond"/>
              </a:rPr>
              <a:t>Ex. from: J. Grier, </a:t>
            </a:r>
            <a:r>
              <a:rPr i="1" lang="en-CA" sz="2400">
                <a:solidFill>
                  <a:schemeClr val="dk1"/>
                </a:solidFill>
                <a:latin typeface="Garamond"/>
                <a:ea typeface="Garamond"/>
                <a:cs typeface="Garamond"/>
                <a:sym typeface="Garamond"/>
              </a:rPr>
              <a:t>Musical Notation in the West</a:t>
            </a:r>
            <a:r>
              <a:rPr lang="en-CA" sz="2400">
                <a:solidFill>
                  <a:schemeClr val="dk1"/>
                </a:solidFill>
                <a:latin typeface="Garamond"/>
                <a:ea typeface="Garamond"/>
                <a:cs typeface="Garamond"/>
                <a:sym typeface="Garamond"/>
              </a:rPr>
              <a:t>, Cambridge University Press, 2021, p. 30</a:t>
            </a:r>
            <a:endParaRPr sz="2400">
              <a:solidFill>
                <a:schemeClr val="dk1"/>
              </a:solidFill>
              <a:latin typeface="Garamond"/>
              <a:ea typeface="Garamond"/>
              <a:cs typeface="Garamond"/>
              <a:sym typeface="Garamond"/>
            </a:endParaRPr>
          </a:p>
        </p:txBody>
      </p:sp>
      <p:sp>
        <p:nvSpPr>
          <p:cNvPr id="768" name="Google Shape;768;p54"/>
          <p:cNvSpPr txBox="1"/>
          <p:nvPr/>
        </p:nvSpPr>
        <p:spPr>
          <a:xfrm>
            <a:off x="2596705" y="4424195"/>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St Gall</a:t>
            </a:r>
            <a:endParaRPr/>
          </a:p>
        </p:txBody>
      </p:sp>
      <p:sp>
        <p:nvSpPr>
          <p:cNvPr id="769" name="Google Shape;769;p54"/>
          <p:cNvSpPr txBox="1"/>
          <p:nvPr/>
        </p:nvSpPr>
        <p:spPr>
          <a:xfrm>
            <a:off x="9923615" y="4492018"/>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Aquitanian</a:t>
            </a:r>
            <a:endParaRPr/>
          </a:p>
        </p:txBody>
      </p:sp>
      <p:sp>
        <p:nvSpPr>
          <p:cNvPr id="770" name="Google Shape;770;p54"/>
          <p:cNvSpPr txBox="1"/>
          <p:nvPr/>
        </p:nvSpPr>
        <p:spPr>
          <a:xfrm>
            <a:off x="7732660" y="4499672"/>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Breton</a:t>
            </a:r>
            <a:endParaRPr/>
          </a:p>
        </p:txBody>
      </p:sp>
      <p:sp>
        <p:nvSpPr>
          <p:cNvPr id="771" name="Google Shape;771;p54"/>
          <p:cNvSpPr txBox="1"/>
          <p:nvPr/>
        </p:nvSpPr>
        <p:spPr>
          <a:xfrm>
            <a:off x="4459341" y="4464318"/>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Lotharingian</a:t>
            </a:r>
            <a:endParaRPr b="0" i="0" sz="3600" u="none" strike="noStrike">
              <a:solidFill>
                <a:srgbClr val="0070C0"/>
              </a:solidFill>
              <a:latin typeface="Calibri"/>
              <a:ea typeface="Calibri"/>
              <a:cs typeface="Calibri"/>
              <a:sym typeface="Calibri"/>
            </a:endParaRPr>
          </a:p>
        </p:txBody>
      </p:sp>
      <p:pic>
        <p:nvPicPr>
          <p:cNvPr id="772" name="Google Shape;772;p54"/>
          <p:cNvPicPr preferRelativeResize="0"/>
          <p:nvPr/>
        </p:nvPicPr>
        <p:blipFill rotWithShape="1">
          <a:blip r:embed="rId3">
            <a:alphaModFix/>
          </a:blip>
          <a:srcRect b="39123" l="27757" r="62916" t="23517"/>
          <a:stretch/>
        </p:blipFill>
        <p:spPr>
          <a:xfrm>
            <a:off x="2545635" y="491667"/>
            <a:ext cx="1663701" cy="3748377"/>
          </a:xfrm>
          <a:prstGeom prst="rect">
            <a:avLst/>
          </a:prstGeom>
          <a:noFill/>
          <a:ln>
            <a:noFill/>
          </a:ln>
        </p:spPr>
      </p:pic>
      <p:pic>
        <p:nvPicPr>
          <p:cNvPr id="773" name="Google Shape;773;p54"/>
          <p:cNvPicPr preferRelativeResize="0"/>
          <p:nvPr/>
        </p:nvPicPr>
        <p:blipFill rotWithShape="1">
          <a:blip r:embed="rId3">
            <a:alphaModFix/>
          </a:blip>
          <a:srcRect b="39123" l="39527" r="50161" t="23517"/>
          <a:stretch/>
        </p:blipFill>
        <p:spPr>
          <a:xfrm>
            <a:off x="4643796" y="523058"/>
            <a:ext cx="1890662" cy="3852632"/>
          </a:xfrm>
          <a:prstGeom prst="rect">
            <a:avLst/>
          </a:prstGeom>
          <a:noFill/>
          <a:ln>
            <a:noFill/>
          </a:ln>
        </p:spPr>
      </p:pic>
      <p:pic>
        <p:nvPicPr>
          <p:cNvPr id="774" name="Google Shape;774;p54"/>
          <p:cNvPicPr preferRelativeResize="0"/>
          <p:nvPr/>
        </p:nvPicPr>
        <p:blipFill rotWithShape="1">
          <a:blip r:embed="rId3">
            <a:alphaModFix/>
          </a:blip>
          <a:srcRect b="39123" l="64382" r="27396" t="23517"/>
          <a:stretch/>
        </p:blipFill>
        <p:spPr>
          <a:xfrm>
            <a:off x="10205064" y="556217"/>
            <a:ext cx="1494503" cy="3819473"/>
          </a:xfrm>
          <a:prstGeom prst="rect">
            <a:avLst/>
          </a:prstGeom>
          <a:noFill/>
          <a:ln>
            <a:noFill/>
          </a:ln>
        </p:spPr>
      </p:pic>
      <p:sp>
        <p:nvSpPr>
          <p:cNvPr id="775" name="Google Shape;775;p54"/>
          <p:cNvSpPr txBox="1"/>
          <p:nvPr/>
        </p:nvSpPr>
        <p:spPr>
          <a:xfrm>
            <a:off x="-72752" y="4464318"/>
            <a:ext cx="310862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600" u="none" strike="noStrike">
                <a:solidFill>
                  <a:srgbClr val="0070C0"/>
                </a:solidFill>
                <a:latin typeface="Calibri"/>
                <a:ea typeface="Calibri"/>
                <a:cs typeface="Calibri"/>
                <a:sym typeface="Calibri"/>
              </a:rPr>
              <a:t>NOTATIONS:</a:t>
            </a:r>
            <a:endParaRPr/>
          </a:p>
        </p:txBody>
      </p:sp>
      <p:sp>
        <p:nvSpPr>
          <p:cNvPr id="776" name="Google Shape;776;p54"/>
          <p:cNvSpPr/>
          <p:nvPr/>
        </p:nvSpPr>
        <p:spPr>
          <a:xfrm>
            <a:off x="4982788" y="1251841"/>
            <a:ext cx="1323833" cy="3137699"/>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7" name="Google Shape;777;p54"/>
          <p:cNvSpPr txBox="1"/>
          <p:nvPr/>
        </p:nvSpPr>
        <p:spPr>
          <a:xfrm>
            <a:off x="153049" y="1949077"/>
            <a:ext cx="273955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3600">
                <a:solidFill>
                  <a:schemeClr val="dk1"/>
                </a:solidFill>
                <a:latin typeface="Garamond"/>
                <a:ea typeface="Garamond"/>
                <a:cs typeface="Garamond"/>
                <a:sym typeface="Garamond"/>
              </a:rPr>
              <a:t>&lt;quilisma&gt;</a:t>
            </a:r>
            <a:endParaRPr b="1" sz="1800">
              <a:solidFill>
                <a:schemeClr val="dk1"/>
              </a:solidFill>
              <a:latin typeface="Garamond"/>
              <a:ea typeface="Garamond"/>
              <a:cs typeface="Garamond"/>
              <a:sym typeface="Garamond"/>
            </a:endParaRPr>
          </a:p>
        </p:txBody>
      </p:sp>
      <p:sp>
        <p:nvSpPr>
          <p:cNvPr id="778" name="Google Shape;778;p54"/>
          <p:cNvSpPr txBox="1"/>
          <p:nvPr/>
        </p:nvSpPr>
        <p:spPr>
          <a:xfrm>
            <a:off x="329933" y="3196598"/>
            <a:ext cx="8052816" cy="66652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n-CA" sz="3600">
                <a:solidFill>
                  <a:schemeClr val="dk1"/>
                </a:solidFill>
                <a:latin typeface="Garamond"/>
                <a:ea typeface="Garamond"/>
                <a:cs typeface="Garamond"/>
                <a:sym typeface="Garamond"/>
              </a:rPr>
              <a:t>&lt;oriscus&gt;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785" name="Google Shape;785;p55"/>
          <p:cNvSpPr txBox="1"/>
          <p:nvPr/>
        </p:nvSpPr>
        <p:spPr>
          <a:xfrm>
            <a:off x="1845734" y="998604"/>
            <a:ext cx="81366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CA" sz="4000">
                <a:solidFill>
                  <a:schemeClr val="dk1"/>
                </a:solidFill>
                <a:latin typeface="Calibri"/>
                <a:ea typeface="Calibri"/>
                <a:cs typeface="Calibri"/>
                <a:sym typeface="Calibri"/>
              </a:rPr>
              <a:t>The encoding must be conceived as a coherent system of elements and related attributes that allow us to capture the graphic quality of the neumes and their meaning.</a:t>
            </a:r>
            <a:endParaRPr sz="40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pic>
        <p:nvPicPr>
          <p:cNvPr id="791" name="Google Shape;791;p56"/>
          <p:cNvPicPr preferRelativeResize="0"/>
          <p:nvPr/>
        </p:nvPicPr>
        <p:blipFill rotWithShape="1">
          <a:blip r:embed="rId3">
            <a:alphaModFix/>
          </a:blip>
          <a:srcRect b="34321" l="64709" r="5926" t="40000"/>
          <a:stretch/>
        </p:blipFill>
        <p:spPr>
          <a:xfrm>
            <a:off x="1637893" y="1999701"/>
            <a:ext cx="6269503" cy="3083996"/>
          </a:xfrm>
          <a:prstGeom prst="rect">
            <a:avLst/>
          </a:prstGeom>
          <a:noFill/>
          <a:ln>
            <a:noFill/>
          </a:ln>
        </p:spPr>
      </p:pic>
      <p:sp>
        <p:nvSpPr>
          <p:cNvPr id="792" name="Google Shape;792;p56"/>
          <p:cNvSpPr txBox="1"/>
          <p:nvPr/>
        </p:nvSpPr>
        <p:spPr>
          <a:xfrm>
            <a:off x="966401" y="353477"/>
            <a:ext cx="9469020" cy="15081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600">
                <a:solidFill>
                  <a:schemeClr val="dk1"/>
                </a:solidFill>
                <a:latin typeface="Garamond"/>
                <a:ea typeface="Garamond"/>
                <a:cs typeface="Garamond"/>
                <a:sym typeface="Garamond"/>
              </a:rPr>
              <a:t>The level </a:t>
            </a:r>
            <a:r>
              <a:rPr b="1" lang="en-CA" sz="3600">
                <a:solidFill>
                  <a:schemeClr val="dk1"/>
                </a:solidFill>
                <a:latin typeface="Garamond"/>
                <a:ea typeface="Garamond"/>
                <a:cs typeface="Garamond"/>
                <a:sym typeface="Garamond"/>
              </a:rPr>
              <a:t>of graphical sophistication </a:t>
            </a:r>
            <a:r>
              <a:rPr lang="en-CA" sz="3600">
                <a:solidFill>
                  <a:schemeClr val="dk1"/>
                </a:solidFill>
                <a:latin typeface="Garamond"/>
                <a:ea typeface="Garamond"/>
                <a:cs typeface="Garamond"/>
                <a:sym typeface="Garamond"/>
              </a:rPr>
              <a:t>of early notations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793" name="Google Shape;79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794" name="Google Shape;794;p56"/>
          <p:cNvSpPr txBox="1"/>
          <p:nvPr/>
        </p:nvSpPr>
        <p:spPr>
          <a:xfrm>
            <a:off x="2487844" y="1775332"/>
            <a:ext cx="6956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4800">
                <a:solidFill>
                  <a:schemeClr val="dk1"/>
                </a:solidFill>
                <a:latin typeface="Calibri"/>
                <a:ea typeface="Calibri"/>
                <a:cs typeface="Calibri"/>
                <a:sym typeface="Calibri"/>
              </a:rPr>
              <a:t>1</a:t>
            </a:r>
            <a:endParaRPr sz="4800">
              <a:solidFill>
                <a:schemeClr val="dk1"/>
              </a:solidFill>
              <a:latin typeface="Calibri"/>
              <a:ea typeface="Calibri"/>
              <a:cs typeface="Calibri"/>
              <a:sym typeface="Calibri"/>
            </a:endParaRPr>
          </a:p>
        </p:txBody>
      </p:sp>
      <p:sp>
        <p:nvSpPr>
          <p:cNvPr id="795" name="Google Shape;795;p56"/>
          <p:cNvSpPr txBox="1"/>
          <p:nvPr/>
        </p:nvSpPr>
        <p:spPr>
          <a:xfrm>
            <a:off x="4254728" y="1775332"/>
            <a:ext cx="85285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4800">
                <a:solidFill>
                  <a:schemeClr val="dk1"/>
                </a:solidFill>
                <a:latin typeface="Calibri"/>
                <a:ea typeface="Calibri"/>
                <a:cs typeface="Calibri"/>
                <a:sym typeface="Calibri"/>
              </a:rPr>
              <a:t>2</a:t>
            </a:r>
            <a:endParaRPr sz="4000">
              <a:solidFill>
                <a:schemeClr val="dk1"/>
              </a:solidFill>
              <a:latin typeface="Calibri"/>
              <a:ea typeface="Calibri"/>
              <a:cs typeface="Calibri"/>
              <a:sym typeface="Calibri"/>
            </a:endParaRPr>
          </a:p>
        </p:txBody>
      </p:sp>
      <p:sp>
        <p:nvSpPr>
          <p:cNvPr id="796" name="Google Shape;796;p56"/>
          <p:cNvSpPr txBox="1"/>
          <p:nvPr/>
        </p:nvSpPr>
        <p:spPr>
          <a:xfrm>
            <a:off x="6096000" y="1805743"/>
            <a:ext cx="49725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4800">
                <a:solidFill>
                  <a:schemeClr val="dk1"/>
                </a:solidFill>
                <a:latin typeface="Calibri"/>
                <a:ea typeface="Calibri"/>
                <a:cs typeface="Calibri"/>
                <a:sym typeface="Calibri"/>
              </a:rPr>
              <a:t>3</a:t>
            </a:r>
            <a:endParaRPr sz="4000">
              <a:solidFill>
                <a:schemeClr val="dk1"/>
              </a:solidFill>
              <a:latin typeface="Calibri"/>
              <a:ea typeface="Calibri"/>
              <a:cs typeface="Calibri"/>
              <a:sym typeface="Calibri"/>
            </a:endParaRPr>
          </a:p>
        </p:txBody>
      </p:sp>
      <p:sp>
        <p:nvSpPr>
          <p:cNvPr id="797" name="Google Shape;797;p56"/>
          <p:cNvSpPr txBox="1"/>
          <p:nvPr/>
        </p:nvSpPr>
        <p:spPr>
          <a:xfrm>
            <a:off x="1213040" y="5903893"/>
            <a:ext cx="1134472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400">
                <a:solidFill>
                  <a:schemeClr val="dk1"/>
                </a:solidFill>
                <a:latin typeface="Garamond"/>
                <a:ea typeface="Garamond"/>
                <a:cs typeface="Garamond"/>
                <a:sym typeface="Garamond"/>
              </a:rPr>
              <a:t>Ex. from: J. Grier, </a:t>
            </a:r>
            <a:r>
              <a:rPr i="1" lang="en-CA" sz="2400">
                <a:solidFill>
                  <a:schemeClr val="dk1"/>
                </a:solidFill>
                <a:latin typeface="Garamond"/>
                <a:ea typeface="Garamond"/>
                <a:cs typeface="Garamond"/>
                <a:sym typeface="Garamond"/>
              </a:rPr>
              <a:t>Musical Notation in the West</a:t>
            </a:r>
            <a:r>
              <a:rPr lang="en-CA" sz="2400">
                <a:solidFill>
                  <a:schemeClr val="dk1"/>
                </a:solidFill>
                <a:latin typeface="Garamond"/>
                <a:ea typeface="Garamond"/>
                <a:cs typeface="Garamond"/>
                <a:sym typeface="Garamond"/>
              </a:rPr>
              <a:t>, Cambridge University Press, 2021, p. 29</a:t>
            </a:r>
            <a:endParaRPr sz="2400">
              <a:solidFill>
                <a:schemeClr val="dk1"/>
              </a:solidFill>
              <a:latin typeface="Garamond"/>
              <a:ea typeface="Garamond"/>
              <a:cs typeface="Garamond"/>
              <a:sym typeface="Garamond"/>
            </a:endParaRPr>
          </a:p>
        </p:txBody>
      </p:sp>
      <p:sp>
        <p:nvSpPr>
          <p:cNvPr id="798" name="Google Shape;798;p56"/>
          <p:cNvSpPr txBox="1"/>
          <p:nvPr/>
        </p:nvSpPr>
        <p:spPr>
          <a:xfrm>
            <a:off x="7907396" y="3183293"/>
            <a:ext cx="2462316" cy="138499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CA" sz="2800">
                <a:solidFill>
                  <a:schemeClr val="accent1"/>
                </a:solidFill>
                <a:latin typeface="Garamond"/>
                <a:ea typeface="Garamond"/>
                <a:cs typeface="Garamond"/>
                <a:sym typeface="Garamond"/>
              </a:rPr>
              <a:t>Chartres 47, </a:t>
            </a:r>
            <a:endParaRPr/>
          </a:p>
          <a:p>
            <a:pPr indent="0" lvl="0" marL="0" marR="0" rtl="0" algn="r">
              <a:spcBef>
                <a:spcPts val="0"/>
              </a:spcBef>
              <a:spcAft>
                <a:spcPts val="0"/>
              </a:spcAft>
              <a:buNone/>
            </a:pPr>
            <a:r>
              <a:rPr lang="en-CA" sz="2800">
                <a:solidFill>
                  <a:schemeClr val="accent1"/>
                </a:solidFill>
                <a:latin typeface="Garamond"/>
                <a:ea typeface="Garamond"/>
                <a:cs typeface="Garamond"/>
                <a:sym typeface="Garamond"/>
              </a:rPr>
              <a:t>fol. 6v, </a:t>
            </a:r>
            <a:endParaRPr/>
          </a:p>
          <a:p>
            <a:pPr indent="0" lvl="0" marL="0" marR="0" rtl="0" algn="r">
              <a:spcBef>
                <a:spcPts val="0"/>
              </a:spcBef>
              <a:spcAft>
                <a:spcPts val="0"/>
              </a:spcAft>
              <a:buNone/>
            </a:pPr>
            <a:r>
              <a:rPr i="1" lang="en-CA" sz="2800">
                <a:solidFill>
                  <a:schemeClr val="accent1"/>
                </a:solidFill>
                <a:latin typeface="Garamond"/>
                <a:ea typeface="Garamond"/>
                <a:cs typeface="Garamond"/>
                <a:sym typeface="Garamond"/>
              </a:rPr>
              <a:t>ad</a:t>
            </a:r>
            <a:r>
              <a:rPr i="1" lang="en-CA" sz="2800" u="sng">
                <a:solidFill>
                  <a:schemeClr val="accent1"/>
                </a:solidFill>
                <a:latin typeface="Garamond"/>
                <a:ea typeface="Garamond"/>
                <a:cs typeface="Garamond"/>
                <a:sym typeface="Garamond"/>
              </a:rPr>
              <a:t>versum</a:t>
            </a:r>
            <a:endParaRPr i="1" sz="2400" u="sng">
              <a:solidFill>
                <a:schemeClr val="accent1"/>
              </a:solidFill>
              <a:latin typeface="Garamond"/>
              <a:ea typeface="Garamond"/>
              <a:cs typeface="Garamond"/>
              <a:sym typeface="Garamond"/>
            </a:endParaRPr>
          </a:p>
        </p:txBody>
      </p:sp>
      <p:pic>
        <p:nvPicPr>
          <p:cNvPr id="799" name="Google Shape;799;p56"/>
          <p:cNvPicPr preferRelativeResize="0"/>
          <p:nvPr/>
        </p:nvPicPr>
        <p:blipFill rotWithShape="1">
          <a:blip r:embed="rId4">
            <a:alphaModFix/>
          </a:blip>
          <a:srcRect b="38943" l="1" r="51191" t="26413"/>
          <a:stretch/>
        </p:blipFill>
        <p:spPr>
          <a:xfrm>
            <a:off x="10147385" y="129597"/>
            <a:ext cx="1933779" cy="1726500"/>
          </a:xfrm>
          <a:custGeom>
            <a:rect b="b" l="l" r="r" t="t"/>
            <a:pathLst>
              <a:path extrusionOk="0" h="6858000" w="6278877">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57"/>
          <p:cNvSpPr txBox="1"/>
          <p:nvPr>
            <p:ph type="title"/>
          </p:nvPr>
        </p:nvSpPr>
        <p:spPr>
          <a:xfrm>
            <a:off x="676216" y="1581987"/>
            <a:ext cx="5627048" cy="290233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aramond"/>
              <a:buNone/>
            </a:pPr>
            <a:r>
              <a:rPr lang="en-CA">
                <a:latin typeface="Garamond"/>
                <a:ea typeface="Garamond"/>
                <a:cs typeface="Garamond"/>
                <a:sym typeface="Garamond"/>
              </a:rPr>
              <a:t>Developing MEI for early music is great fun for palaeographers!</a:t>
            </a:r>
            <a:endParaRPr>
              <a:latin typeface="Garamond"/>
              <a:ea typeface="Garamond"/>
              <a:cs typeface="Garamond"/>
              <a:sym typeface="Garamond"/>
            </a:endParaRPr>
          </a:p>
        </p:txBody>
      </p:sp>
      <p:pic>
        <p:nvPicPr>
          <p:cNvPr descr="Birthday party emoji celebrate Happy Birthday emoji face hat emoticon  29928263 PNG" id="806" name="Google Shape;806;p57"/>
          <p:cNvPicPr preferRelativeResize="0"/>
          <p:nvPr/>
        </p:nvPicPr>
        <p:blipFill rotWithShape="1">
          <a:blip r:embed="rId3">
            <a:alphaModFix/>
          </a:blip>
          <a:srcRect b="0" l="0" r="0" t="0"/>
          <a:stretch/>
        </p:blipFill>
        <p:spPr>
          <a:xfrm>
            <a:off x="2320128" y="4360727"/>
            <a:ext cx="2455072" cy="2455072"/>
          </a:xfrm>
          <a:prstGeom prst="rect">
            <a:avLst/>
          </a:prstGeom>
          <a:noFill/>
          <a:ln>
            <a:noFill/>
          </a:ln>
        </p:spPr>
      </p:pic>
      <p:pic>
        <p:nvPicPr>
          <p:cNvPr id="807" name="Google Shape;807;p57"/>
          <p:cNvPicPr preferRelativeResize="0"/>
          <p:nvPr/>
        </p:nvPicPr>
        <p:blipFill rotWithShape="1">
          <a:blip r:embed="rId4">
            <a:alphaModFix/>
          </a:blip>
          <a:srcRect b="25247" l="81004" r="221" t="65222"/>
          <a:stretch/>
        </p:blipFill>
        <p:spPr>
          <a:xfrm>
            <a:off x="8121271" y="1321890"/>
            <a:ext cx="3496388" cy="2540671"/>
          </a:xfrm>
          <a:prstGeom prst="rect">
            <a:avLst/>
          </a:prstGeom>
          <a:noFill/>
          <a:ln>
            <a:noFill/>
          </a:ln>
        </p:spPr>
      </p:pic>
      <p:sp>
        <p:nvSpPr>
          <p:cNvPr id="808" name="Google Shape;80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809" name="Google Shape;809;p57"/>
          <p:cNvPicPr preferRelativeResize="0"/>
          <p:nvPr/>
        </p:nvPicPr>
        <p:blipFill rotWithShape="1">
          <a:blip r:embed="rId5">
            <a:alphaModFix/>
          </a:blip>
          <a:srcRect b="0" l="0" r="0" t="0"/>
          <a:stretch/>
        </p:blipFill>
        <p:spPr>
          <a:xfrm>
            <a:off x="8375228" y="4484317"/>
            <a:ext cx="2988474" cy="16908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pic>
        <p:nvPicPr>
          <p:cNvPr id="815" name="Google Shape;815;p58"/>
          <p:cNvPicPr preferRelativeResize="0"/>
          <p:nvPr/>
        </p:nvPicPr>
        <p:blipFill rotWithShape="1">
          <a:blip r:embed="rId3">
            <a:alphaModFix/>
          </a:blip>
          <a:srcRect b="25247" l="81004" r="221" t="65222"/>
          <a:stretch/>
        </p:blipFill>
        <p:spPr>
          <a:xfrm>
            <a:off x="7443871" y="3089605"/>
            <a:ext cx="4107387" cy="2984657"/>
          </a:xfrm>
          <a:prstGeom prst="rect">
            <a:avLst/>
          </a:prstGeom>
          <a:noFill/>
          <a:ln>
            <a:noFill/>
          </a:ln>
        </p:spPr>
      </p:pic>
      <p:sp>
        <p:nvSpPr>
          <p:cNvPr id="816" name="Google Shape;816;p58"/>
          <p:cNvSpPr txBox="1"/>
          <p:nvPr>
            <p:ph type="title"/>
          </p:nvPr>
        </p:nvSpPr>
        <p:spPr>
          <a:xfrm>
            <a:off x="838200" y="459480"/>
            <a:ext cx="7772400" cy="122547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Garamond"/>
              <a:buNone/>
            </a:pPr>
            <a:r>
              <a:rPr lang="en-CA">
                <a:latin typeface="Garamond"/>
                <a:ea typeface="Garamond"/>
                <a:cs typeface="Garamond"/>
                <a:sym typeface="Garamond"/>
              </a:rPr>
              <a:t>Developing MEI for early music is great fun for palaeographers!</a:t>
            </a:r>
            <a:endParaRPr>
              <a:latin typeface="Garamond"/>
              <a:ea typeface="Garamond"/>
              <a:cs typeface="Garamond"/>
              <a:sym typeface="Garamond"/>
            </a:endParaRPr>
          </a:p>
        </p:txBody>
      </p:sp>
      <p:sp>
        <p:nvSpPr>
          <p:cNvPr id="817" name="Google Shape;817;p58"/>
          <p:cNvSpPr txBox="1"/>
          <p:nvPr>
            <p:ph idx="1" type="body"/>
          </p:nvPr>
        </p:nvSpPr>
        <p:spPr>
          <a:xfrm>
            <a:off x="753986" y="2844270"/>
            <a:ext cx="6190341" cy="4351338"/>
          </a:xfrm>
          <a:prstGeom prst="rect">
            <a:avLst/>
          </a:prstGeom>
          <a:noFill/>
          <a:ln>
            <a:noFill/>
          </a:ln>
        </p:spPr>
        <p:txBody>
          <a:bodyPr anchorCtr="0" anchor="t" bIns="45700" lIns="91425" spcFirstLastPara="1" rIns="91425" wrap="square" tIns="45700">
            <a:noAutofit/>
          </a:bodyPr>
          <a:lstStyle/>
          <a:p>
            <a:pPr indent="0" lvl="0" marL="0" rtl="0" algn="just">
              <a:lnSpc>
                <a:spcPct val="170000"/>
              </a:lnSpc>
              <a:spcBef>
                <a:spcPts val="0"/>
              </a:spcBef>
              <a:spcAft>
                <a:spcPts val="0"/>
              </a:spcAft>
              <a:buClr>
                <a:schemeClr val="dk1"/>
              </a:buClr>
              <a:buSzPts val="2800"/>
              <a:buNone/>
            </a:pPr>
            <a:r>
              <a:rPr lang="en-CA">
                <a:latin typeface="Garamond"/>
                <a:ea typeface="Garamond"/>
                <a:cs typeface="Garamond"/>
                <a:sym typeface="Garamond"/>
              </a:rPr>
              <a:t>MEI challenges our modern understanding of musical notation and forces us to clarify the difference between what we </a:t>
            </a:r>
            <a:r>
              <a:rPr b="1" lang="en-CA">
                <a:latin typeface="Garamond"/>
                <a:ea typeface="Garamond"/>
                <a:cs typeface="Garamond"/>
                <a:sym typeface="Garamond"/>
              </a:rPr>
              <a:t>see </a:t>
            </a:r>
            <a:r>
              <a:rPr lang="en-CA">
                <a:latin typeface="Garamond"/>
                <a:ea typeface="Garamond"/>
                <a:cs typeface="Garamond"/>
                <a:sym typeface="Garamond"/>
              </a:rPr>
              <a:t>and what we </a:t>
            </a:r>
            <a:r>
              <a:rPr b="1" lang="en-CA">
                <a:latin typeface="Garamond"/>
                <a:ea typeface="Garamond"/>
                <a:cs typeface="Garamond"/>
                <a:sym typeface="Garamond"/>
              </a:rPr>
              <a:t>know, </a:t>
            </a:r>
            <a:r>
              <a:rPr lang="en-CA">
                <a:latin typeface="Garamond"/>
                <a:ea typeface="Garamond"/>
                <a:cs typeface="Garamond"/>
                <a:sym typeface="Garamond"/>
              </a:rPr>
              <a:t>or </a:t>
            </a:r>
            <a:r>
              <a:rPr b="1" lang="en-CA">
                <a:latin typeface="Garamond"/>
                <a:ea typeface="Garamond"/>
                <a:cs typeface="Garamond"/>
                <a:sym typeface="Garamond"/>
              </a:rPr>
              <a:t>believe to know. </a:t>
            </a:r>
            <a:endParaRPr/>
          </a:p>
          <a:p>
            <a:pPr indent="0" lvl="0" marL="0" rtl="0" algn="just">
              <a:lnSpc>
                <a:spcPct val="170000"/>
              </a:lnSpc>
              <a:spcBef>
                <a:spcPts val="1000"/>
              </a:spcBef>
              <a:spcAft>
                <a:spcPts val="0"/>
              </a:spcAft>
              <a:buClr>
                <a:schemeClr val="dk1"/>
              </a:buClr>
              <a:buSzPts val="2000"/>
              <a:buNone/>
            </a:pPr>
            <a:r>
              <a:t/>
            </a:r>
            <a:endParaRPr sz="2000"/>
          </a:p>
        </p:txBody>
      </p:sp>
      <p:pic>
        <p:nvPicPr>
          <p:cNvPr descr="Birthday party emoji celebrate Happy Birthday emoji face hat emoticon  29928263 PNG" id="818" name="Google Shape;818;p58"/>
          <p:cNvPicPr preferRelativeResize="0"/>
          <p:nvPr/>
        </p:nvPicPr>
        <p:blipFill rotWithShape="1">
          <a:blip r:embed="rId4">
            <a:alphaModFix/>
          </a:blip>
          <a:srcRect b="0" l="0" r="0" t="0"/>
          <a:stretch/>
        </p:blipFill>
        <p:spPr>
          <a:xfrm>
            <a:off x="7864628" y="-285459"/>
            <a:ext cx="3489172" cy="3489172"/>
          </a:xfrm>
          <a:prstGeom prst="rect">
            <a:avLst/>
          </a:prstGeom>
          <a:noFill/>
          <a:ln>
            <a:noFill/>
          </a:ln>
        </p:spPr>
      </p:pic>
      <p:sp>
        <p:nvSpPr>
          <p:cNvPr id="819" name="Google Shape;819;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59"/>
          <p:cNvSpPr txBox="1"/>
          <p:nvPr>
            <p:ph idx="1" type="body"/>
          </p:nvPr>
        </p:nvSpPr>
        <p:spPr>
          <a:xfrm>
            <a:off x="560614" y="703270"/>
            <a:ext cx="10515600" cy="21973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CA" sz="3200">
                <a:latin typeface="Garamond"/>
                <a:ea typeface="Garamond"/>
                <a:cs typeface="Garamond"/>
                <a:sym typeface="Garamond"/>
              </a:rPr>
              <a:t>The </a:t>
            </a:r>
            <a:r>
              <a:rPr lang="en-CA" sz="3200">
                <a:solidFill>
                  <a:srgbClr val="000000"/>
                </a:solidFill>
                <a:latin typeface="Garamond"/>
                <a:ea typeface="Garamond"/>
                <a:cs typeface="Garamond"/>
                <a:sym typeface="Garamond"/>
              </a:rPr>
              <a:t>ongoing </a:t>
            </a:r>
            <a:r>
              <a:rPr b="1" lang="en-CA" sz="3200">
                <a:solidFill>
                  <a:srgbClr val="000000"/>
                </a:solidFill>
                <a:latin typeface="Garamond"/>
                <a:ea typeface="Garamond"/>
                <a:cs typeface="Garamond"/>
                <a:sym typeface="Garamond"/>
              </a:rPr>
              <a:t>digital revolution </a:t>
            </a:r>
            <a:r>
              <a:rPr lang="en-CA" sz="3200">
                <a:solidFill>
                  <a:srgbClr val="000000"/>
                </a:solidFill>
                <a:latin typeface="Garamond"/>
                <a:ea typeface="Garamond"/>
                <a:cs typeface="Garamond"/>
                <a:sym typeface="Garamond"/>
              </a:rPr>
              <a:t>holds the potential to unveil unforeseen possibilities which could challenge and overturn traditional research methodologies and allow entirely new opportunities for music research.</a:t>
            </a:r>
            <a:endParaRPr/>
          </a:p>
          <a:p>
            <a:pPr indent="0" lvl="0" marL="0" rtl="0" algn="l">
              <a:lnSpc>
                <a:spcPct val="90000"/>
              </a:lnSpc>
              <a:spcBef>
                <a:spcPts val="1000"/>
              </a:spcBef>
              <a:spcAft>
                <a:spcPts val="0"/>
              </a:spcAft>
              <a:buClr>
                <a:schemeClr val="dk1"/>
              </a:buClr>
              <a:buSzPts val="3200"/>
              <a:buNone/>
            </a:pPr>
            <a:r>
              <a:t/>
            </a:r>
            <a:endParaRPr sz="3200">
              <a:solidFill>
                <a:srgbClr val="000000"/>
              </a:solidFill>
              <a:latin typeface="Garamond"/>
              <a:ea typeface="Garamond"/>
              <a:cs typeface="Garamond"/>
              <a:sym typeface="Garamond"/>
            </a:endParaRPr>
          </a:p>
          <a:p>
            <a:pPr indent="-50800" lvl="0" marL="228600" rtl="0" algn="l">
              <a:lnSpc>
                <a:spcPct val="90000"/>
              </a:lnSpc>
              <a:spcBef>
                <a:spcPts val="1000"/>
              </a:spcBef>
              <a:spcAft>
                <a:spcPts val="0"/>
              </a:spcAft>
              <a:buClr>
                <a:schemeClr val="dk1"/>
              </a:buClr>
              <a:buSzPts val="2800"/>
              <a:buNone/>
            </a:pPr>
            <a:r>
              <a:t/>
            </a:r>
            <a:endParaRPr/>
          </a:p>
        </p:txBody>
      </p:sp>
      <p:sp>
        <p:nvSpPr>
          <p:cNvPr id="826" name="Google Shape;826;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827" name="Google Shape;827;p59"/>
          <p:cNvSpPr txBox="1"/>
          <p:nvPr/>
        </p:nvSpPr>
        <p:spPr>
          <a:xfrm>
            <a:off x="560614" y="3202031"/>
            <a:ext cx="9829800" cy="142628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3200"/>
              <a:buFont typeface="Arial"/>
              <a:buNone/>
            </a:pPr>
            <a:r>
              <a:rPr b="0" i="0" lang="en-CA" sz="3200" u="none" cap="none" strike="noStrike">
                <a:solidFill>
                  <a:srgbClr val="000000"/>
                </a:solidFill>
                <a:latin typeface="Garamond"/>
                <a:ea typeface="Garamond"/>
                <a:cs typeface="Garamond"/>
                <a:sym typeface="Garamond"/>
              </a:rPr>
              <a:t>Automatic analysis across larger repertories would probably allow us to discover new patterns of usage and work out the meaning of early neumatic scripts!</a:t>
            </a:r>
            <a:endParaRPr b="0" i="0" sz="3200" u="none" cap="none" strike="noStrike">
              <a:solidFill>
                <a:srgbClr val="000000"/>
              </a:solidFill>
              <a:latin typeface="Garamond"/>
              <a:ea typeface="Garamond"/>
              <a:cs typeface="Garamond"/>
              <a:sym typeface="Garamond"/>
            </a:endParaRPr>
          </a:p>
        </p:txBody>
      </p:sp>
      <p:pic>
        <p:nvPicPr>
          <p:cNvPr id="828" name="Google Shape;828;p59"/>
          <p:cNvPicPr preferRelativeResize="0"/>
          <p:nvPr/>
        </p:nvPicPr>
        <p:blipFill rotWithShape="1">
          <a:blip r:embed="rId3">
            <a:alphaModFix/>
          </a:blip>
          <a:srcRect b="0" l="0" r="0" t="0"/>
          <a:stretch/>
        </p:blipFill>
        <p:spPr>
          <a:xfrm>
            <a:off x="7161213" y="4760239"/>
            <a:ext cx="2820987" cy="159611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pic>
        <p:nvPicPr>
          <p:cNvPr id="834" name="Google Shape;834;p60"/>
          <p:cNvPicPr preferRelativeResize="0"/>
          <p:nvPr/>
        </p:nvPicPr>
        <p:blipFill rotWithShape="1">
          <a:blip r:embed="rId3">
            <a:alphaModFix/>
          </a:blip>
          <a:srcRect b="53258" l="14300" r="44008" t="12976"/>
          <a:stretch/>
        </p:blipFill>
        <p:spPr>
          <a:xfrm>
            <a:off x="3318829" y="357009"/>
            <a:ext cx="5291771" cy="2410743"/>
          </a:xfrm>
          <a:prstGeom prst="rect">
            <a:avLst/>
          </a:prstGeom>
          <a:noFill/>
          <a:ln>
            <a:noFill/>
          </a:ln>
        </p:spPr>
      </p:pic>
      <p:sp>
        <p:nvSpPr>
          <p:cNvPr id="835" name="Google Shape;83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pic>
        <p:nvPicPr>
          <p:cNvPr id="836" name="Google Shape;836;p60"/>
          <p:cNvPicPr preferRelativeResize="0"/>
          <p:nvPr/>
        </p:nvPicPr>
        <p:blipFill rotWithShape="1">
          <a:blip r:embed="rId4">
            <a:alphaModFix/>
          </a:blip>
          <a:srcRect b="34284" l="16473" r="58214" t="9931"/>
          <a:stretch/>
        </p:blipFill>
        <p:spPr>
          <a:xfrm>
            <a:off x="146525" y="287897"/>
            <a:ext cx="3086100" cy="3825649"/>
          </a:xfrm>
          <a:prstGeom prst="rect">
            <a:avLst/>
          </a:prstGeom>
          <a:noFill/>
          <a:ln>
            <a:noFill/>
          </a:ln>
        </p:spPr>
      </p:pic>
      <p:pic>
        <p:nvPicPr>
          <p:cNvPr descr="Birthday party emoji celebrate Happy Birthday emoji face hat emoticon  29928263 PNG" id="837" name="Google Shape;837;p60"/>
          <p:cNvPicPr preferRelativeResize="0"/>
          <p:nvPr/>
        </p:nvPicPr>
        <p:blipFill rotWithShape="1">
          <a:blip r:embed="rId5">
            <a:alphaModFix/>
          </a:blip>
          <a:srcRect b="0" l="0" r="0" t="0"/>
          <a:stretch/>
        </p:blipFill>
        <p:spPr>
          <a:xfrm>
            <a:off x="7971034" y="3260755"/>
            <a:ext cx="3396273" cy="3396273"/>
          </a:xfrm>
          <a:prstGeom prst="rect">
            <a:avLst/>
          </a:prstGeom>
          <a:noFill/>
          <a:ln>
            <a:noFill/>
          </a:ln>
        </p:spPr>
      </p:pic>
      <p:pic>
        <p:nvPicPr>
          <p:cNvPr id="838" name="Google Shape;838;p60"/>
          <p:cNvPicPr preferRelativeResize="0"/>
          <p:nvPr/>
        </p:nvPicPr>
        <p:blipFill rotWithShape="1">
          <a:blip r:embed="rId6">
            <a:alphaModFix/>
          </a:blip>
          <a:srcRect b="0" l="10420" r="0" t="0"/>
          <a:stretch/>
        </p:blipFill>
        <p:spPr>
          <a:xfrm>
            <a:off x="59822" y="5049852"/>
            <a:ext cx="1877133" cy="1826825"/>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839" name="Google Shape;839;p60"/>
          <p:cNvPicPr preferRelativeResize="0"/>
          <p:nvPr/>
        </p:nvPicPr>
        <p:blipFill rotWithShape="1">
          <a:blip r:embed="rId7">
            <a:alphaModFix/>
          </a:blip>
          <a:srcRect b="47636" l="51921" r="9290" t="0"/>
          <a:stretch/>
        </p:blipFill>
        <p:spPr>
          <a:xfrm flipH="1">
            <a:off x="2524878" y="5049851"/>
            <a:ext cx="1696090" cy="1756197"/>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840" name="Google Shape;840;p60"/>
          <p:cNvPicPr preferRelativeResize="0"/>
          <p:nvPr/>
        </p:nvPicPr>
        <p:blipFill rotWithShape="1">
          <a:blip r:embed="rId8">
            <a:alphaModFix/>
          </a:blip>
          <a:srcRect b="0" l="0" r="0" t="0"/>
          <a:stretch/>
        </p:blipFill>
        <p:spPr>
          <a:xfrm flipH="1">
            <a:off x="5116787" y="4991781"/>
            <a:ext cx="1947641" cy="1822657"/>
          </a:xfrm>
          <a:prstGeom prst="rect">
            <a:avLst/>
          </a:prstGeom>
          <a:noFill/>
          <a:ln>
            <a:noFill/>
          </a:ln>
          <a:effectLst>
            <a:outerShdw blurRad="190500" rotWithShape="0" algn="tl">
              <a:srgbClr val="000000">
                <a:alpha val="69803"/>
              </a:srgbClr>
            </a:outerShdw>
          </a:effectLst>
        </p:spPr>
      </p:pic>
      <p:pic>
        <p:nvPicPr>
          <p:cNvPr id="841" name="Google Shape;841;p60"/>
          <p:cNvPicPr preferRelativeResize="0"/>
          <p:nvPr/>
        </p:nvPicPr>
        <p:blipFill rotWithShape="1">
          <a:blip r:embed="rId9">
            <a:alphaModFix/>
          </a:blip>
          <a:srcRect b="33880" l="24964" r="48117" t="50000"/>
          <a:stretch/>
        </p:blipFill>
        <p:spPr>
          <a:xfrm>
            <a:off x="3530009" y="2963038"/>
            <a:ext cx="3545206" cy="1194140"/>
          </a:xfrm>
          <a:prstGeom prst="rect">
            <a:avLst/>
          </a:prstGeom>
          <a:noFill/>
          <a:ln>
            <a:noFill/>
          </a:ln>
        </p:spPr>
      </p:pic>
      <p:sp>
        <p:nvSpPr>
          <p:cNvPr id="842" name="Google Shape;842;p60"/>
          <p:cNvSpPr txBox="1"/>
          <p:nvPr/>
        </p:nvSpPr>
        <p:spPr>
          <a:xfrm>
            <a:off x="7785259" y="2150119"/>
            <a:ext cx="3568541"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6000">
                <a:solidFill>
                  <a:schemeClr val="dk1"/>
                </a:solidFill>
                <a:latin typeface="Garamond"/>
                <a:ea typeface="Garamond"/>
                <a:cs typeface="Garamond"/>
                <a:sym typeface="Garamond"/>
              </a:rPr>
              <a:t>Thank you!</a:t>
            </a:r>
            <a:endParaRPr sz="1800">
              <a:solidFill>
                <a:schemeClr val="dk1"/>
              </a:solidFill>
              <a:latin typeface="Garamond"/>
              <a:ea typeface="Garamond"/>
              <a:cs typeface="Garamond"/>
              <a:sym typeface="Garamond"/>
            </a:endParaRPr>
          </a:p>
        </p:txBody>
      </p:sp>
    </p:spTree>
  </p:cSld>
  <p:clrMapOvr>
    <a:masterClrMapping/>
  </p:clrMapOvr>
  <p:transition spd="med">
    <p:fade thruBlk="1"/>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2023-11-25T16:27:20Z</dcterms:created>
  <dc:creator>Anonymous</dc:creator>
</cp:coreProperties>
</file>