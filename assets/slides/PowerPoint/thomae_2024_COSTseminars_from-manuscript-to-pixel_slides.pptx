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73" r:id="rId3"/>
  </p:sldMasterIdLst>
  <p:notesMasterIdLst>
    <p:notesMasterId r:id="rId53"/>
  </p:notesMasterIdLst>
  <p:sldIdLst>
    <p:sldId id="530" r:id="rId4"/>
    <p:sldId id="561" r:id="rId5"/>
    <p:sldId id="487" r:id="rId6"/>
    <p:sldId id="467" r:id="rId7"/>
    <p:sldId id="468" r:id="rId8"/>
    <p:sldId id="482" r:id="rId9"/>
    <p:sldId id="562" r:id="rId10"/>
    <p:sldId id="551" r:id="rId11"/>
    <p:sldId id="531" r:id="rId12"/>
    <p:sldId id="552" r:id="rId13"/>
    <p:sldId id="560" r:id="rId14"/>
    <p:sldId id="542" r:id="rId15"/>
    <p:sldId id="346" r:id="rId16"/>
    <p:sldId id="544" r:id="rId17"/>
    <p:sldId id="529" r:id="rId18"/>
    <p:sldId id="370" r:id="rId19"/>
    <p:sldId id="349" r:id="rId20"/>
    <p:sldId id="350" r:id="rId21"/>
    <p:sldId id="545" r:id="rId22"/>
    <p:sldId id="566" r:id="rId23"/>
    <p:sldId id="556" r:id="rId24"/>
    <p:sldId id="563" r:id="rId25"/>
    <p:sldId id="565" r:id="rId26"/>
    <p:sldId id="553" r:id="rId27"/>
    <p:sldId id="558" r:id="rId28"/>
    <p:sldId id="597" r:id="rId29"/>
    <p:sldId id="567" r:id="rId30"/>
    <p:sldId id="569" r:id="rId31"/>
    <p:sldId id="425" r:id="rId32"/>
    <p:sldId id="559" r:id="rId33"/>
    <p:sldId id="549" r:id="rId34"/>
    <p:sldId id="532" r:id="rId35"/>
    <p:sldId id="533" r:id="rId36"/>
    <p:sldId id="534" r:id="rId37"/>
    <p:sldId id="535" r:id="rId38"/>
    <p:sldId id="536" r:id="rId39"/>
    <p:sldId id="537" r:id="rId40"/>
    <p:sldId id="547" r:id="rId41"/>
    <p:sldId id="594" r:id="rId42"/>
    <p:sldId id="592" r:id="rId43"/>
    <p:sldId id="595" r:id="rId44"/>
    <p:sldId id="596" r:id="rId45"/>
    <p:sldId id="475" r:id="rId46"/>
    <p:sldId id="476" r:id="rId47"/>
    <p:sldId id="527" r:id="rId48"/>
    <p:sldId id="528" r:id="rId49"/>
    <p:sldId id="260" r:id="rId50"/>
    <p:sldId id="436" r:id="rId51"/>
    <p:sldId id="56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2B2"/>
    <a:srgbClr val="FF0000"/>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549"/>
    <p:restoredTop sz="79451"/>
  </p:normalViewPr>
  <p:slideViewPr>
    <p:cSldViewPr snapToGrid="0" snapToObjects="1">
      <p:cViewPr varScale="1">
        <p:scale>
          <a:sx n="91" d="100"/>
          <a:sy n="91" d="100"/>
        </p:scale>
        <p:origin x="4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D2C57A-7698-B94E-A457-2F35A07B430D}" type="doc">
      <dgm:prSet loTypeId="urn:microsoft.com/office/officeart/2005/8/layout/process1" loCatId="" qsTypeId="urn:microsoft.com/office/officeart/2005/8/quickstyle/simple2" qsCatId="simple" csTypeId="urn:microsoft.com/office/officeart/2005/8/colors/accent0_2" csCatId="mainScheme" phldr="1"/>
      <dgm:spPr/>
    </dgm:pt>
    <dgm:pt modelId="{126814F1-1B57-494E-9E73-B154F5BC1285}">
      <dgm:prSet phldrT="[Text]" custT="1"/>
      <dgm:spPr>
        <a:solidFill>
          <a:schemeClr val="accent4"/>
        </a:solidFill>
      </dgm:spPr>
      <dgm:t>
        <a:bodyPr anchor="t"/>
        <a:lstStyle/>
        <a:p>
          <a:r>
            <a:rPr lang="en-US" sz="2000" dirty="0"/>
            <a:t>Digitization</a:t>
          </a:r>
          <a:endParaRPr lang="en-US" sz="2400" dirty="0"/>
        </a:p>
      </dgm:t>
    </dgm:pt>
    <dgm:pt modelId="{F9F9DFBF-3217-8942-8DCE-FBB9F202B923}" type="parTrans" cxnId="{5EC92D76-5C57-274F-98B9-7D875AA4B215}">
      <dgm:prSet/>
      <dgm:spPr/>
      <dgm:t>
        <a:bodyPr/>
        <a:lstStyle/>
        <a:p>
          <a:endParaRPr lang="en-US" sz="1800">
            <a:solidFill>
              <a:sysClr val="windowText" lastClr="000000"/>
            </a:solidFill>
          </a:endParaRPr>
        </a:p>
      </dgm:t>
    </dgm:pt>
    <dgm:pt modelId="{CB3DD009-4138-2C4C-ACB9-162D13109AEF}" type="sibTrans" cxnId="{5EC92D76-5C57-274F-98B9-7D875AA4B215}">
      <dgm:prSet custT="1"/>
      <dgm:spPr/>
      <dgm:t>
        <a:bodyPr/>
        <a:lstStyle/>
        <a:p>
          <a:endParaRPr lang="en-US" sz="1800">
            <a:solidFill>
              <a:sysClr val="windowText" lastClr="000000"/>
            </a:solidFill>
          </a:endParaRPr>
        </a:p>
      </dgm:t>
    </dgm:pt>
    <dgm:pt modelId="{AA02D4DE-2A12-8849-8AD1-29365FA60AF6}">
      <dgm:prSet phldrT="[Text]" custT="1"/>
      <dgm:spPr/>
      <dgm:t>
        <a:bodyPr anchor="t"/>
        <a:lstStyle/>
        <a:p>
          <a:r>
            <a:rPr lang="en-US" sz="2000" dirty="0"/>
            <a:t>Optical music recognition</a:t>
          </a:r>
          <a:br>
            <a:rPr lang="en-US" sz="2000" dirty="0"/>
          </a:br>
          <a:r>
            <a:rPr lang="en-US" sz="2000" dirty="0"/>
            <a:t>(OMR)</a:t>
          </a:r>
        </a:p>
      </dgm:t>
    </dgm:pt>
    <dgm:pt modelId="{4F368427-DB6B-D449-8EEA-77C07D6A59D7}" type="parTrans" cxnId="{D708BB97-A402-D648-A365-29C097F4B3F8}">
      <dgm:prSet/>
      <dgm:spPr/>
      <dgm:t>
        <a:bodyPr/>
        <a:lstStyle/>
        <a:p>
          <a:endParaRPr lang="en-US" sz="1800">
            <a:solidFill>
              <a:sysClr val="windowText" lastClr="000000"/>
            </a:solidFill>
          </a:endParaRPr>
        </a:p>
      </dgm:t>
    </dgm:pt>
    <dgm:pt modelId="{8C4AF120-B6BA-6B45-9776-963853BBF2A1}" type="sibTrans" cxnId="{D708BB97-A402-D648-A365-29C097F4B3F8}">
      <dgm:prSet custT="1"/>
      <dgm:spPr/>
      <dgm:t>
        <a:bodyPr/>
        <a:lstStyle/>
        <a:p>
          <a:endParaRPr lang="en-US" sz="1800">
            <a:solidFill>
              <a:sysClr val="windowText" lastClr="000000"/>
            </a:solidFill>
          </a:endParaRPr>
        </a:p>
      </dgm:t>
    </dgm:pt>
    <dgm:pt modelId="{75C29F42-EF01-D94E-A22B-8E54C5A045F2}">
      <dgm:prSet phldrT="[Text]" custT="1"/>
      <dgm:spPr/>
      <dgm:t>
        <a:bodyPr anchor="t"/>
        <a:lstStyle/>
        <a:p>
          <a:r>
            <a:rPr lang="en-US" sz="2000" b="0" dirty="0"/>
            <a:t>Automatic voice alignment</a:t>
          </a:r>
          <a:br>
            <a:rPr lang="en-US" sz="2000" b="0" dirty="0"/>
          </a:br>
          <a:r>
            <a:rPr lang="en-US" sz="2000" b="0" dirty="0"/>
            <a:t>&amp;</a:t>
          </a:r>
          <a:br>
            <a:rPr lang="en-US" sz="2000" b="0" dirty="0"/>
          </a:br>
          <a:r>
            <a:rPr lang="en-US" sz="2000" b="0" dirty="0"/>
            <a:t>editorial correction</a:t>
          </a:r>
        </a:p>
      </dgm:t>
    </dgm:pt>
    <dgm:pt modelId="{BA29F313-BA93-764E-B6E1-67B3983BCAD6}" type="parTrans" cxnId="{6FDF7142-3F7B-BB4C-B33A-BCB054697DBC}">
      <dgm:prSet/>
      <dgm:spPr/>
      <dgm:t>
        <a:bodyPr/>
        <a:lstStyle/>
        <a:p>
          <a:endParaRPr lang="en-US" sz="1800">
            <a:solidFill>
              <a:sysClr val="windowText" lastClr="000000"/>
            </a:solidFill>
          </a:endParaRPr>
        </a:p>
      </dgm:t>
    </dgm:pt>
    <dgm:pt modelId="{52814F33-96C4-0741-A3D3-92B7B7216D3F}" type="sibTrans" cxnId="{6FDF7142-3F7B-BB4C-B33A-BCB054697DBC}">
      <dgm:prSet/>
      <dgm:spPr/>
      <dgm:t>
        <a:bodyPr/>
        <a:lstStyle/>
        <a:p>
          <a:endParaRPr lang="en-US" sz="1800">
            <a:solidFill>
              <a:sysClr val="windowText" lastClr="000000"/>
            </a:solidFill>
          </a:endParaRPr>
        </a:p>
      </dgm:t>
    </dgm:pt>
    <dgm:pt modelId="{FEE11D25-5B4E-2240-925C-B2DC0B815242}" type="pres">
      <dgm:prSet presAssocID="{75D2C57A-7698-B94E-A457-2F35A07B430D}" presName="Name0" presStyleCnt="0">
        <dgm:presLayoutVars>
          <dgm:dir/>
          <dgm:resizeHandles val="exact"/>
        </dgm:presLayoutVars>
      </dgm:prSet>
      <dgm:spPr/>
    </dgm:pt>
    <dgm:pt modelId="{17EC5AAF-99FB-0C4C-A0C6-66C5F76B4100}" type="pres">
      <dgm:prSet presAssocID="{126814F1-1B57-494E-9E73-B154F5BC1285}" presName="node" presStyleLbl="node1" presStyleIdx="0" presStyleCnt="3" custScaleX="51260" custLinFactNeighborX="26450">
        <dgm:presLayoutVars>
          <dgm:bulletEnabled val="1"/>
        </dgm:presLayoutVars>
      </dgm:prSet>
      <dgm:spPr/>
    </dgm:pt>
    <dgm:pt modelId="{C367C251-D94F-FB46-A8E4-FB01D56875CE}" type="pres">
      <dgm:prSet presAssocID="{CB3DD009-4138-2C4C-ACB9-162D13109AEF}" presName="sibTrans" presStyleLbl="sibTrans2D1" presStyleIdx="0" presStyleCnt="2" custScaleX="139079"/>
      <dgm:spPr/>
    </dgm:pt>
    <dgm:pt modelId="{52B825F4-493C-8C4C-8A70-4C48E17EEA68}" type="pres">
      <dgm:prSet presAssocID="{CB3DD009-4138-2C4C-ACB9-162D13109AEF}" presName="connectorText" presStyleLbl="sibTrans2D1" presStyleIdx="0" presStyleCnt="2"/>
      <dgm:spPr/>
    </dgm:pt>
    <dgm:pt modelId="{92A7E2E0-1DEF-9646-A740-5D1F7FA0FF57}" type="pres">
      <dgm:prSet presAssocID="{AA02D4DE-2A12-8849-8AD1-29365FA60AF6}" presName="node" presStyleLbl="node1" presStyleIdx="1" presStyleCnt="3" custScaleX="81465" custLinFactNeighborX="14849">
        <dgm:presLayoutVars>
          <dgm:bulletEnabled val="1"/>
        </dgm:presLayoutVars>
      </dgm:prSet>
      <dgm:spPr/>
    </dgm:pt>
    <dgm:pt modelId="{6F39438B-7E43-6B48-B876-12D81D920516}" type="pres">
      <dgm:prSet presAssocID="{8C4AF120-B6BA-6B45-9776-963853BBF2A1}" presName="sibTrans" presStyleLbl="sibTrans2D1" presStyleIdx="1" presStyleCnt="2" custScaleX="132403"/>
      <dgm:spPr/>
    </dgm:pt>
    <dgm:pt modelId="{20531A56-B194-494F-B981-A381F017986F}" type="pres">
      <dgm:prSet presAssocID="{8C4AF120-B6BA-6B45-9776-963853BBF2A1}" presName="connectorText" presStyleLbl="sibTrans2D1" presStyleIdx="1" presStyleCnt="2"/>
      <dgm:spPr/>
    </dgm:pt>
    <dgm:pt modelId="{A974DA16-2941-9B45-AE05-99C10BB1617F}" type="pres">
      <dgm:prSet presAssocID="{75C29F42-EF01-D94E-A22B-8E54C5A045F2}" presName="node" presStyleLbl="node1" presStyleIdx="2" presStyleCnt="3" custScaleX="85241" custLinFactNeighborX="1562">
        <dgm:presLayoutVars>
          <dgm:bulletEnabled val="1"/>
        </dgm:presLayoutVars>
      </dgm:prSet>
      <dgm:spPr/>
    </dgm:pt>
  </dgm:ptLst>
  <dgm:cxnLst>
    <dgm:cxn modelId="{BCDD2713-FA07-6546-B659-3615B008A9D2}" type="presOf" srcId="{126814F1-1B57-494E-9E73-B154F5BC1285}" destId="{17EC5AAF-99FB-0C4C-A0C6-66C5F76B4100}" srcOrd="0" destOrd="0" presId="urn:microsoft.com/office/officeart/2005/8/layout/process1"/>
    <dgm:cxn modelId="{30A9B022-DE9C-7B4D-9009-E8A88A6CF50F}" type="presOf" srcId="{75D2C57A-7698-B94E-A457-2F35A07B430D}" destId="{FEE11D25-5B4E-2240-925C-B2DC0B815242}" srcOrd="0" destOrd="0" presId="urn:microsoft.com/office/officeart/2005/8/layout/process1"/>
    <dgm:cxn modelId="{00AB8427-3D70-AF40-B9C7-A7E37CABD047}" type="presOf" srcId="{CB3DD009-4138-2C4C-ACB9-162D13109AEF}" destId="{52B825F4-493C-8C4C-8A70-4C48E17EEA68}" srcOrd="1" destOrd="0" presId="urn:microsoft.com/office/officeart/2005/8/layout/process1"/>
    <dgm:cxn modelId="{6FDF7142-3F7B-BB4C-B33A-BCB054697DBC}" srcId="{75D2C57A-7698-B94E-A457-2F35A07B430D}" destId="{75C29F42-EF01-D94E-A22B-8E54C5A045F2}" srcOrd="2" destOrd="0" parTransId="{BA29F313-BA93-764E-B6E1-67B3983BCAD6}" sibTransId="{52814F33-96C4-0741-A3D3-92B7B7216D3F}"/>
    <dgm:cxn modelId="{B4B4175C-D6E2-DA47-A403-F072F7836483}" type="presOf" srcId="{CB3DD009-4138-2C4C-ACB9-162D13109AEF}" destId="{C367C251-D94F-FB46-A8E4-FB01D56875CE}" srcOrd="0" destOrd="0" presId="urn:microsoft.com/office/officeart/2005/8/layout/process1"/>
    <dgm:cxn modelId="{1BBF056D-D6F4-3E4C-B64F-F9D8ECC737D4}" type="presOf" srcId="{8C4AF120-B6BA-6B45-9776-963853BBF2A1}" destId="{20531A56-B194-494F-B981-A381F017986F}" srcOrd="1" destOrd="0" presId="urn:microsoft.com/office/officeart/2005/8/layout/process1"/>
    <dgm:cxn modelId="{5EC92D76-5C57-274F-98B9-7D875AA4B215}" srcId="{75D2C57A-7698-B94E-A457-2F35A07B430D}" destId="{126814F1-1B57-494E-9E73-B154F5BC1285}" srcOrd="0" destOrd="0" parTransId="{F9F9DFBF-3217-8942-8DCE-FBB9F202B923}" sibTransId="{CB3DD009-4138-2C4C-ACB9-162D13109AEF}"/>
    <dgm:cxn modelId="{D708BB97-A402-D648-A365-29C097F4B3F8}" srcId="{75D2C57A-7698-B94E-A457-2F35A07B430D}" destId="{AA02D4DE-2A12-8849-8AD1-29365FA60AF6}" srcOrd="1" destOrd="0" parTransId="{4F368427-DB6B-D449-8EEA-77C07D6A59D7}" sibTransId="{8C4AF120-B6BA-6B45-9776-963853BBF2A1}"/>
    <dgm:cxn modelId="{738152BC-37FD-B04B-8B0C-48722D57FC87}" type="presOf" srcId="{AA02D4DE-2A12-8849-8AD1-29365FA60AF6}" destId="{92A7E2E0-1DEF-9646-A740-5D1F7FA0FF57}" srcOrd="0" destOrd="0" presId="urn:microsoft.com/office/officeart/2005/8/layout/process1"/>
    <dgm:cxn modelId="{D9BACDCD-8EBD-7E49-9C7F-C5AA7B9CB2B1}" type="presOf" srcId="{8C4AF120-B6BA-6B45-9776-963853BBF2A1}" destId="{6F39438B-7E43-6B48-B876-12D81D920516}" srcOrd="0" destOrd="0" presId="urn:microsoft.com/office/officeart/2005/8/layout/process1"/>
    <dgm:cxn modelId="{F5551CFC-F7B2-F444-BB75-A60DCB492640}" type="presOf" srcId="{75C29F42-EF01-D94E-A22B-8E54C5A045F2}" destId="{A974DA16-2941-9B45-AE05-99C10BB1617F}" srcOrd="0" destOrd="0" presId="urn:microsoft.com/office/officeart/2005/8/layout/process1"/>
    <dgm:cxn modelId="{42C1EE5D-373F-414D-9FD0-11965207E860}" type="presParOf" srcId="{FEE11D25-5B4E-2240-925C-B2DC0B815242}" destId="{17EC5AAF-99FB-0C4C-A0C6-66C5F76B4100}" srcOrd="0" destOrd="0" presId="urn:microsoft.com/office/officeart/2005/8/layout/process1"/>
    <dgm:cxn modelId="{D8EA9B97-5827-7646-AA09-9D74E0CB0932}" type="presParOf" srcId="{FEE11D25-5B4E-2240-925C-B2DC0B815242}" destId="{C367C251-D94F-FB46-A8E4-FB01D56875CE}" srcOrd="1" destOrd="0" presId="urn:microsoft.com/office/officeart/2005/8/layout/process1"/>
    <dgm:cxn modelId="{9C42E617-2603-134C-AEE5-7D97CFDCF68C}" type="presParOf" srcId="{C367C251-D94F-FB46-A8E4-FB01D56875CE}" destId="{52B825F4-493C-8C4C-8A70-4C48E17EEA68}" srcOrd="0" destOrd="0" presId="urn:microsoft.com/office/officeart/2005/8/layout/process1"/>
    <dgm:cxn modelId="{660D0D5C-20F7-784C-B524-0BACB6F6C4DD}" type="presParOf" srcId="{FEE11D25-5B4E-2240-925C-B2DC0B815242}" destId="{92A7E2E0-1DEF-9646-A740-5D1F7FA0FF57}" srcOrd="2" destOrd="0" presId="urn:microsoft.com/office/officeart/2005/8/layout/process1"/>
    <dgm:cxn modelId="{49B1615B-B41F-2441-8202-633E48C6C899}" type="presParOf" srcId="{FEE11D25-5B4E-2240-925C-B2DC0B815242}" destId="{6F39438B-7E43-6B48-B876-12D81D920516}" srcOrd="3" destOrd="0" presId="urn:microsoft.com/office/officeart/2005/8/layout/process1"/>
    <dgm:cxn modelId="{AFDF88CC-8ED7-5A47-B3B2-D885E4489F34}" type="presParOf" srcId="{6F39438B-7E43-6B48-B876-12D81D920516}" destId="{20531A56-B194-494F-B981-A381F017986F}" srcOrd="0" destOrd="0" presId="urn:microsoft.com/office/officeart/2005/8/layout/process1"/>
    <dgm:cxn modelId="{1698164E-A4B9-BE4E-B8A1-BCFF65DFBB95}" type="presParOf" srcId="{FEE11D25-5B4E-2240-925C-B2DC0B815242}" destId="{A974DA16-2941-9B45-AE05-99C10BB1617F}"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5D2C57A-7698-B94E-A457-2F35A07B430D}" type="doc">
      <dgm:prSet loTypeId="urn:microsoft.com/office/officeart/2005/8/layout/process1" loCatId="" qsTypeId="urn:microsoft.com/office/officeart/2005/8/quickstyle/simple2" qsCatId="simple" csTypeId="urn:microsoft.com/office/officeart/2005/8/colors/accent0_2" csCatId="mainScheme" phldr="1"/>
      <dgm:spPr/>
    </dgm:pt>
    <dgm:pt modelId="{126814F1-1B57-494E-9E73-B154F5BC1285}">
      <dgm:prSet phldrT="[Text]" custT="1"/>
      <dgm:spPr/>
      <dgm:t>
        <a:bodyPr anchor="t"/>
        <a:lstStyle/>
        <a:p>
          <a:r>
            <a:rPr lang="en-US" sz="2000" dirty="0"/>
            <a:t>Digitization</a:t>
          </a:r>
          <a:endParaRPr lang="en-US" sz="2400" dirty="0"/>
        </a:p>
      </dgm:t>
    </dgm:pt>
    <dgm:pt modelId="{F9F9DFBF-3217-8942-8DCE-FBB9F202B923}" type="parTrans" cxnId="{5EC92D76-5C57-274F-98B9-7D875AA4B215}">
      <dgm:prSet/>
      <dgm:spPr/>
      <dgm:t>
        <a:bodyPr/>
        <a:lstStyle/>
        <a:p>
          <a:endParaRPr lang="en-US" sz="1800">
            <a:solidFill>
              <a:sysClr val="windowText" lastClr="000000"/>
            </a:solidFill>
          </a:endParaRPr>
        </a:p>
      </dgm:t>
    </dgm:pt>
    <dgm:pt modelId="{CB3DD009-4138-2C4C-ACB9-162D13109AEF}" type="sibTrans" cxnId="{5EC92D76-5C57-274F-98B9-7D875AA4B215}">
      <dgm:prSet custT="1"/>
      <dgm:spPr/>
      <dgm:t>
        <a:bodyPr/>
        <a:lstStyle/>
        <a:p>
          <a:endParaRPr lang="en-US" sz="1800">
            <a:solidFill>
              <a:sysClr val="windowText" lastClr="000000"/>
            </a:solidFill>
          </a:endParaRPr>
        </a:p>
      </dgm:t>
    </dgm:pt>
    <dgm:pt modelId="{AA02D4DE-2A12-8849-8AD1-29365FA60AF6}">
      <dgm:prSet phldrT="[Text]" custT="1"/>
      <dgm:spPr/>
      <dgm:t>
        <a:bodyPr anchor="t"/>
        <a:lstStyle/>
        <a:p>
          <a:r>
            <a:rPr lang="en-US" sz="2000" dirty="0"/>
            <a:t>Optical music recognition</a:t>
          </a:r>
          <a:br>
            <a:rPr lang="en-US" sz="2000" dirty="0"/>
          </a:br>
          <a:r>
            <a:rPr lang="en-US" sz="2000" dirty="0"/>
            <a:t>(OMR)</a:t>
          </a:r>
        </a:p>
      </dgm:t>
    </dgm:pt>
    <dgm:pt modelId="{4F368427-DB6B-D449-8EEA-77C07D6A59D7}" type="parTrans" cxnId="{D708BB97-A402-D648-A365-29C097F4B3F8}">
      <dgm:prSet/>
      <dgm:spPr/>
      <dgm:t>
        <a:bodyPr/>
        <a:lstStyle/>
        <a:p>
          <a:endParaRPr lang="en-US" sz="1800">
            <a:solidFill>
              <a:sysClr val="windowText" lastClr="000000"/>
            </a:solidFill>
          </a:endParaRPr>
        </a:p>
      </dgm:t>
    </dgm:pt>
    <dgm:pt modelId="{8C4AF120-B6BA-6B45-9776-963853BBF2A1}" type="sibTrans" cxnId="{D708BB97-A402-D648-A365-29C097F4B3F8}">
      <dgm:prSet custT="1"/>
      <dgm:spPr/>
      <dgm:t>
        <a:bodyPr/>
        <a:lstStyle/>
        <a:p>
          <a:endParaRPr lang="en-US" sz="1800">
            <a:solidFill>
              <a:sysClr val="windowText" lastClr="000000"/>
            </a:solidFill>
          </a:endParaRPr>
        </a:p>
      </dgm:t>
    </dgm:pt>
    <dgm:pt modelId="{75C29F42-EF01-D94E-A22B-8E54C5A045F2}">
      <dgm:prSet phldrT="[Text]" custT="1"/>
      <dgm:spPr/>
      <dgm:t>
        <a:bodyPr anchor="t"/>
        <a:lstStyle/>
        <a:p>
          <a:r>
            <a:rPr lang="en-US" sz="2000" b="0" dirty="0"/>
            <a:t>Automatic voice alignment</a:t>
          </a:r>
          <a:br>
            <a:rPr lang="en-US" sz="2000" b="0" dirty="0"/>
          </a:br>
          <a:r>
            <a:rPr lang="en-US" sz="2000" b="0" dirty="0"/>
            <a:t>&amp;</a:t>
          </a:r>
          <a:br>
            <a:rPr lang="en-US" sz="2000" b="0" dirty="0"/>
          </a:br>
          <a:r>
            <a:rPr lang="en-US" sz="2000" b="0" dirty="0"/>
            <a:t>editorial correction</a:t>
          </a:r>
        </a:p>
      </dgm:t>
    </dgm:pt>
    <dgm:pt modelId="{BA29F313-BA93-764E-B6E1-67B3983BCAD6}" type="parTrans" cxnId="{6FDF7142-3F7B-BB4C-B33A-BCB054697DBC}">
      <dgm:prSet/>
      <dgm:spPr/>
      <dgm:t>
        <a:bodyPr/>
        <a:lstStyle/>
        <a:p>
          <a:endParaRPr lang="en-US" sz="1800">
            <a:solidFill>
              <a:sysClr val="windowText" lastClr="000000"/>
            </a:solidFill>
          </a:endParaRPr>
        </a:p>
      </dgm:t>
    </dgm:pt>
    <dgm:pt modelId="{52814F33-96C4-0741-A3D3-92B7B7216D3F}" type="sibTrans" cxnId="{6FDF7142-3F7B-BB4C-B33A-BCB054697DBC}">
      <dgm:prSet/>
      <dgm:spPr/>
      <dgm:t>
        <a:bodyPr/>
        <a:lstStyle/>
        <a:p>
          <a:endParaRPr lang="en-US" sz="1800">
            <a:solidFill>
              <a:sysClr val="windowText" lastClr="000000"/>
            </a:solidFill>
          </a:endParaRPr>
        </a:p>
      </dgm:t>
    </dgm:pt>
    <dgm:pt modelId="{FEE11D25-5B4E-2240-925C-B2DC0B815242}" type="pres">
      <dgm:prSet presAssocID="{75D2C57A-7698-B94E-A457-2F35A07B430D}" presName="Name0" presStyleCnt="0">
        <dgm:presLayoutVars>
          <dgm:dir/>
          <dgm:resizeHandles val="exact"/>
        </dgm:presLayoutVars>
      </dgm:prSet>
      <dgm:spPr/>
    </dgm:pt>
    <dgm:pt modelId="{17EC5AAF-99FB-0C4C-A0C6-66C5F76B4100}" type="pres">
      <dgm:prSet presAssocID="{126814F1-1B57-494E-9E73-B154F5BC1285}" presName="node" presStyleLbl="node1" presStyleIdx="0" presStyleCnt="3" custScaleX="51260" custLinFactNeighborX="26450">
        <dgm:presLayoutVars>
          <dgm:bulletEnabled val="1"/>
        </dgm:presLayoutVars>
      </dgm:prSet>
      <dgm:spPr/>
    </dgm:pt>
    <dgm:pt modelId="{C367C251-D94F-FB46-A8E4-FB01D56875CE}" type="pres">
      <dgm:prSet presAssocID="{CB3DD009-4138-2C4C-ACB9-162D13109AEF}" presName="sibTrans" presStyleLbl="sibTrans2D1" presStyleIdx="0" presStyleCnt="2" custScaleX="139079"/>
      <dgm:spPr/>
    </dgm:pt>
    <dgm:pt modelId="{52B825F4-493C-8C4C-8A70-4C48E17EEA68}" type="pres">
      <dgm:prSet presAssocID="{CB3DD009-4138-2C4C-ACB9-162D13109AEF}" presName="connectorText" presStyleLbl="sibTrans2D1" presStyleIdx="0" presStyleCnt="2"/>
      <dgm:spPr/>
    </dgm:pt>
    <dgm:pt modelId="{92A7E2E0-1DEF-9646-A740-5D1F7FA0FF57}" type="pres">
      <dgm:prSet presAssocID="{AA02D4DE-2A12-8849-8AD1-29365FA60AF6}" presName="node" presStyleLbl="node1" presStyleIdx="1" presStyleCnt="3" custScaleX="81465" custLinFactNeighborX="14849">
        <dgm:presLayoutVars>
          <dgm:bulletEnabled val="1"/>
        </dgm:presLayoutVars>
      </dgm:prSet>
      <dgm:spPr/>
    </dgm:pt>
    <dgm:pt modelId="{6F39438B-7E43-6B48-B876-12D81D920516}" type="pres">
      <dgm:prSet presAssocID="{8C4AF120-B6BA-6B45-9776-963853BBF2A1}" presName="sibTrans" presStyleLbl="sibTrans2D1" presStyleIdx="1" presStyleCnt="2" custScaleX="132403"/>
      <dgm:spPr/>
    </dgm:pt>
    <dgm:pt modelId="{20531A56-B194-494F-B981-A381F017986F}" type="pres">
      <dgm:prSet presAssocID="{8C4AF120-B6BA-6B45-9776-963853BBF2A1}" presName="connectorText" presStyleLbl="sibTrans2D1" presStyleIdx="1" presStyleCnt="2"/>
      <dgm:spPr/>
    </dgm:pt>
    <dgm:pt modelId="{A974DA16-2941-9B45-AE05-99C10BB1617F}" type="pres">
      <dgm:prSet presAssocID="{75C29F42-EF01-D94E-A22B-8E54C5A045F2}" presName="node" presStyleLbl="node1" presStyleIdx="2" presStyleCnt="3" custScaleX="85241" custLinFactNeighborX="1562">
        <dgm:presLayoutVars>
          <dgm:bulletEnabled val="1"/>
        </dgm:presLayoutVars>
      </dgm:prSet>
      <dgm:spPr/>
    </dgm:pt>
  </dgm:ptLst>
  <dgm:cxnLst>
    <dgm:cxn modelId="{BCDD2713-FA07-6546-B659-3615B008A9D2}" type="presOf" srcId="{126814F1-1B57-494E-9E73-B154F5BC1285}" destId="{17EC5AAF-99FB-0C4C-A0C6-66C5F76B4100}" srcOrd="0" destOrd="0" presId="urn:microsoft.com/office/officeart/2005/8/layout/process1"/>
    <dgm:cxn modelId="{30A9B022-DE9C-7B4D-9009-E8A88A6CF50F}" type="presOf" srcId="{75D2C57A-7698-B94E-A457-2F35A07B430D}" destId="{FEE11D25-5B4E-2240-925C-B2DC0B815242}" srcOrd="0" destOrd="0" presId="urn:microsoft.com/office/officeart/2005/8/layout/process1"/>
    <dgm:cxn modelId="{00AB8427-3D70-AF40-B9C7-A7E37CABD047}" type="presOf" srcId="{CB3DD009-4138-2C4C-ACB9-162D13109AEF}" destId="{52B825F4-493C-8C4C-8A70-4C48E17EEA68}" srcOrd="1" destOrd="0" presId="urn:microsoft.com/office/officeart/2005/8/layout/process1"/>
    <dgm:cxn modelId="{6FDF7142-3F7B-BB4C-B33A-BCB054697DBC}" srcId="{75D2C57A-7698-B94E-A457-2F35A07B430D}" destId="{75C29F42-EF01-D94E-A22B-8E54C5A045F2}" srcOrd="2" destOrd="0" parTransId="{BA29F313-BA93-764E-B6E1-67B3983BCAD6}" sibTransId="{52814F33-96C4-0741-A3D3-92B7B7216D3F}"/>
    <dgm:cxn modelId="{B4B4175C-D6E2-DA47-A403-F072F7836483}" type="presOf" srcId="{CB3DD009-4138-2C4C-ACB9-162D13109AEF}" destId="{C367C251-D94F-FB46-A8E4-FB01D56875CE}" srcOrd="0" destOrd="0" presId="urn:microsoft.com/office/officeart/2005/8/layout/process1"/>
    <dgm:cxn modelId="{1BBF056D-D6F4-3E4C-B64F-F9D8ECC737D4}" type="presOf" srcId="{8C4AF120-B6BA-6B45-9776-963853BBF2A1}" destId="{20531A56-B194-494F-B981-A381F017986F}" srcOrd="1" destOrd="0" presId="urn:microsoft.com/office/officeart/2005/8/layout/process1"/>
    <dgm:cxn modelId="{5EC92D76-5C57-274F-98B9-7D875AA4B215}" srcId="{75D2C57A-7698-B94E-A457-2F35A07B430D}" destId="{126814F1-1B57-494E-9E73-B154F5BC1285}" srcOrd="0" destOrd="0" parTransId="{F9F9DFBF-3217-8942-8DCE-FBB9F202B923}" sibTransId="{CB3DD009-4138-2C4C-ACB9-162D13109AEF}"/>
    <dgm:cxn modelId="{D708BB97-A402-D648-A365-29C097F4B3F8}" srcId="{75D2C57A-7698-B94E-A457-2F35A07B430D}" destId="{AA02D4DE-2A12-8849-8AD1-29365FA60AF6}" srcOrd="1" destOrd="0" parTransId="{4F368427-DB6B-D449-8EEA-77C07D6A59D7}" sibTransId="{8C4AF120-B6BA-6B45-9776-963853BBF2A1}"/>
    <dgm:cxn modelId="{738152BC-37FD-B04B-8B0C-48722D57FC87}" type="presOf" srcId="{AA02D4DE-2A12-8849-8AD1-29365FA60AF6}" destId="{92A7E2E0-1DEF-9646-A740-5D1F7FA0FF57}" srcOrd="0" destOrd="0" presId="urn:microsoft.com/office/officeart/2005/8/layout/process1"/>
    <dgm:cxn modelId="{D9BACDCD-8EBD-7E49-9C7F-C5AA7B9CB2B1}" type="presOf" srcId="{8C4AF120-B6BA-6B45-9776-963853BBF2A1}" destId="{6F39438B-7E43-6B48-B876-12D81D920516}" srcOrd="0" destOrd="0" presId="urn:microsoft.com/office/officeart/2005/8/layout/process1"/>
    <dgm:cxn modelId="{F5551CFC-F7B2-F444-BB75-A60DCB492640}" type="presOf" srcId="{75C29F42-EF01-D94E-A22B-8E54C5A045F2}" destId="{A974DA16-2941-9B45-AE05-99C10BB1617F}" srcOrd="0" destOrd="0" presId="urn:microsoft.com/office/officeart/2005/8/layout/process1"/>
    <dgm:cxn modelId="{42C1EE5D-373F-414D-9FD0-11965207E860}" type="presParOf" srcId="{FEE11D25-5B4E-2240-925C-B2DC0B815242}" destId="{17EC5AAF-99FB-0C4C-A0C6-66C5F76B4100}" srcOrd="0" destOrd="0" presId="urn:microsoft.com/office/officeart/2005/8/layout/process1"/>
    <dgm:cxn modelId="{D8EA9B97-5827-7646-AA09-9D74E0CB0932}" type="presParOf" srcId="{FEE11D25-5B4E-2240-925C-B2DC0B815242}" destId="{C367C251-D94F-FB46-A8E4-FB01D56875CE}" srcOrd="1" destOrd="0" presId="urn:microsoft.com/office/officeart/2005/8/layout/process1"/>
    <dgm:cxn modelId="{9C42E617-2603-134C-AEE5-7D97CFDCF68C}" type="presParOf" srcId="{C367C251-D94F-FB46-A8E4-FB01D56875CE}" destId="{52B825F4-493C-8C4C-8A70-4C48E17EEA68}" srcOrd="0" destOrd="0" presId="urn:microsoft.com/office/officeart/2005/8/layout/process1"/>
    <dgm:cxn modelId="{660D0D5C-20F7-784C-B524-0BACB6F6C4DD}" type="presParOf" srcId="{FEE11D25-5B4E-2240-925C-B2DC0B815242}" destId="{92A7E2E0-1DEF-9646-A740-5D1F7FA0FF57}" srcOrd="2" destOrd="0" presId="urn:microsoft.com/office/officeart/2005/8/layout/process1"/>
    <dgm:cxn modelId="{49B1615B-B41F-2441-8202-633E48C6C899}" type="presParOf" srcId="{FEE11D25-5B4E-2240-925C-B2DC0B815242}" destId="{6F39438B-7E43-6B48-B876-12D81D920516}" srcOrd="3" destOrd="0" presId="urn:microsoft.com/office/officeart/2005/8/layout/process1"/>
    <dgm:cxn modelId="{AFDF88CC-8ED7-5A47-B3B2-D885E4489F34}" type="presParOf" srcId="{6F39438B-7E43-6B48-B876-12D81D920516}" destId="{20531A56-B194-494F-B981-A381F017986F}" srcOrd="0" destOrd="0" presId="urn:microsoft.com/office/officeart/2005/8/layout/process1"/>
    <dgm:cxn modelId="{1698164E-A4B9-BE4E-B8A1-BCFF65DFBB95}" type="presParOf" srcId="{FEE11D25-5B4E-2240-925C-B2DC0B815242}" destId="{A974DA16-2941-9B45-AE05-99C10BB1617F}"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C5AAF-99FB-0C4C-A0C6-66C5F76B4100}">
      <dsp:nvSpPr>
        <dsp:cNvPr id="0" name=""/>
        <dsp:cNvSpPr/>
      </dsp:nvSpPr>
      <dsp:spPr>
        <a:xfrm>
          <a:off x="273535" y="0"/>
          <a:ext cx="1826168" cy="1727755"/>
        </a:xfrm>
        <a:prstGeom prst="roundRect">
          <a:avLst>
            <a:gd name="adj" fmla="val 10000"/>
          </a:avLst>
        </a:prstGeom>
        <a:solidFill>
          <a:schemeClr val="accent4"/>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dirty="0"/>
            <a:t>Digitization</a:t>
          </a:r>
          <a:endParaRPr lang="en-US" sz="2400" kern="1200" dirty="0"/>
        </a:p>
      </dsp:txBody>
      <dsp:txXfrm>
        <a:off x="324139" y="50604"/>
        <a:ext cx="1724960" cy="1626547"/>
      </dsp:txXfrm>
    </dsp:sp>
    <dsp:sp modelId="{C367C251-D94F-FB46-A8E4-FB01D56875CE}">
      <dsp:nvSpPr>
        <dsp:cNvPr id="0" name=""/>
        <dsp:cNvSpPr/>
      </dsp:nvSpPr>
      <dsp:spPr>
        <a:xfrm>
          <a:off x="2292102" y="422119"/>
          <a:ext cx="968448" cy="88351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ysClr val="windowText" lastClr="000000"/>
            </a:solidFill>
          </a:endParaRPr>
        </a:p>
      </dsp:txBody>
      <dsp:txXfrm>
        <a:off x="2292102" y="598822"/>
        <a:ext cx="703394" cy="530109"/>
      </dsp:txXfrm>
    </dsp:sp>
    <dsp:sp modelId="{92A7E2E0-1DEF-9646-A740-5D1F7FA0FF57}">
      <dsp:nvSpPr>
        <dsp:cNvPr id="0" name=""/>
        <dsp:cNvSpPr/>
      </dsp:nvSpPr>
      <dsp:spPr>
        <a:xfrm>
          <a:off x="3413534" y="0"/>
          <a:ext cx="2902240" cy="172775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dirty="0"/>
            <a:t>Optical music recognition</a:t>
          </a:r>
          <a:br>
            <a:rPr lang="en-US" sz="2000" kern="1200" dirty="0"/>
          </a:br>
          <a:r>
            <a:rPr lang="en-US" sz="2000" kern="1200" dirty="0"/>
            <a:t>(OMR)</a:t>
          </a:r>
        </a:p>
      </dsp:txBody>
      <dsp:txXfrm>
        <a:off x="3464138" y="50604"/>
        <a:ext cx="2801032" cy="1626547"/>
      </dsp:txXfrm>
    </dsp:sp>
    <dsp:sp modelId="{6F39438B-7E43-6B48-B876-12D81D920516}">
      <dsp:nvSpPr>
        <dsp:cNvPr id="0" name=""/>
        <dsp:cNvSpPr/>
      </dsp:nvSpPr>
      <dsp:spPr>
        <a:xfrm>
          <a:off x="6523850" y="422119"/>
          <a:ext cx="889613" cy="88351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ysClr val="windowText" lastClr="000000"/>
            </a:solidFill>
          </a:endParaRPr>
        </a:p>
      </dsp:txBody>
      <dsp:txXfrm>
        <a:off x="6523850" y="598822"/>
        <a:ext cx="624559" cy="530109"/>
      </dsp:txXfrm>
    </dsp:sp>
    <dsp:sp modelId="{A974DA16-2941-9B45-AE05-99C10BB1617F}">
      <dsp:nvSpPr>
        <dsp:cNvPr id="0" name=""/>
        <dsp:cNvSpPr/>
      </dsp:nvSpPr>
      <dsp:spPr>
        <a:xfrm>
          <a:off x="7583507" y="0"/>
          <a:ext cx="3036762" cy="172775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b="0" kern="1200" dirty="0"/>
            <a:t>Automatic voice alignment</a:t>
          </a:r>
          <a:br>
            <a:rPr lang="en-US" sz="2000" b="0" kern="1200" dirty="0"/>
          </a:br>
          <a:r>
            <a:rPr lang="en-US" sz="2000" b="0" kern="1200" dirty="0"/>
            <a:t>&amp;</a:t>
          </a:r>
          <a:br>
            <a:rPr lang="en-US" sz="2000" b="0" kern="1200" dirty="0"/>
          </a:br>
          <a:r>
            <a:rPr lang="en-US" sz="2000" b="0" kern="1200" dirty="0"/>
            <a:t>editorial correction</a:t>
          </a:r>
        </a:p>
      </dsp:txBody>
      <dsp:txXfrm>
        <a:off x="7634111" y="50604"/>
        <a:ext cx="2935554" cy="16265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C5AAF-99FB-0C4C-A0C6-66C5F76B4100}">
      <dsp:nvSpPr>
        <dsp:cNvPr id="0" name=""/>
        <dsp:cNvSpPr/>
      </dsp:nvSpPr>
      <dsp:spPr>
        <a:xfrm>
          <a:off x="273535" y="0"/>
          <a:ext cx="1826168" cy="172775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dirty="0"/>
            <a:t>Digitization</a:t>
          </a:r>
          <a:endParaRPr lang="en-US" sz="2400" kern="1200" dirty="0"/>
        </a:p>
      </dsp:txBody>
      <dsp:txXfrm>
        <a:off x="324139" y="50604"/>
        <a:ext cx="1724960" cy="1626547"/>
      </dsp:txXfrm>
    </dsp:sp>
    <dsp:sp modelId="{C367C251-D94F-FB46-A8E4-FB01D56875CE}">
      <dsp:nvSpPr>
        <dsp:cNvPr id="0" name=""/>
        <dsp:cNvSpPr/>
      </dsp:nvSpPr>
      <dsp:spPr>
        <a:xfrm>
          <a:off x="2292102" y="422119"/>
          <a:ext cx="968448" cy="88351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ysClr val="windowText" lastClr="000000"/>
            </a:solidFill>
          </a:endParaRPr>
        </a:p>
      </dsp:txBody>
      <dsp:txXfrm>
        <a:off x="2292102" y="598822"/>
        <a:ext cx="703394" cy="530109"/>
      </dsp:txXfrm>
    </dsp:sp>
    <dsp:sp modelId="{92A7E2E0-1DEF-9646-A740-5D1F7FA0FF57}">
      <dsp:nvSpPr>
        <dsp:cNvPr id="0" name=""/>
        <dsp:cNvSpPr/>
      </dsp:nvSpPr>
      <dsp:spPr>
        <a:xfrm>
          <a:off x="3413534" y="0"/>
          <a:ext cx="2902240" cy="172775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dirty="0"/>
            <a:t>Optical music recognition</a:t>
          </a:r>
          <a:br>
            <a:rPr lang="en-US" sz="2000" kern="1200" dirty="0"/>
          </a:br>
          <a:r>
            <a:rPr lang="en-US" sz="2000" kern="1200" dirty="0"/>
            <a:t>(OMR)</a:t>
          </a:r>
        </a:p>
      </dsp:txBody>
      <dsp:txXfrm>
        <a:off x="3464138" y="50604"/>
        <a:ext cx="2801032" cy="1626547"/>
      </dsp:txXfrm>
    </dsp:sp>
    <dsp:sp modelId="{6F39438B-7E43-6B48-B876-12D81D920516}">
      <dsp:nvSpPr>
        <dsp:cNvPr id="0" name=""/>
        <dsp:cNvSpPr/>
      </dsp:nvSpPr>
      <dsp:spPr>
        <a:xfrm>
          <a:off x="6523850" y="422119"/>
          <a:ext cx="889613" cy="88351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ysClr val="windowText" lastClr="000000"/>
            </a:solidFill>
          </a:endParaRPr>
        </a:p>
      </dsp:txBody>
      <dsp:txXfrm>
        <a:off x="6523850" y="598822"/>
        <a:ext cx="624559" cy="530109"/>
      </dsp:txXfrm>
    </dsp:sp>
    <dsp:sp modelId="{A974DA16-2941-9B45-AE05-99C10BB1617F}">
      <dsp:nvSpPr>
        <dsp:cNvPr id="0" name=""/>
        <dsp:cNvSpPr/>
      </dsp:nvSpPr>
      <dsp:spPr>
        <a:xfrm>
          <a:off x="7583507" y="0"/>
          <a:ext cx="3036762" cy="1727755"/>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b="0" kern="1200" dirty="0"/>
            <a:t>Automatic voice alignment</a:t>
          </a:r>
          <a:br>
            <a:rPr lang="en-US" sz="2000" b="0" kern="1200" dirty="0"/>
          </a:br>
          <a:r>
            <a:rPr lang="en-US" sz="2000" b="0" kern="1200" dirty="0"/>
            <a:t>&amp;</a:t>
          </a:r>
          <a:br>
            <a:rPr lang="en-US" sz="2000" b="0" kern="1200" dirty="0"/>
          </a:br>
          <a:r>
            <a:rPr lang="en-US" sz="2000" b="0" kern="1200" dirty="0"/>
            <a:t>editorial correction</a:t>
          </a:r>
        </a:p>
      </dsp:txBody>
      <dsp:txXfrm>
        <a:off x="7634111" y="50604"/>
        <a:ext cx="2935554" cy="16265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90EAC-7192-AA4A-9314-23EC51946D74}" type="datetimeFigureOut">
              <a:rPr lang="en-US" smtClean="0"/>
              <a:t>7/26/24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6D112-248C-D642-9C09-77C8E61647E1}" type="slidenum">
              <a:rPr lang="en-US" smtClean="0"/>
              <a:t>‹#›</a:t>
            </a:fld>
            <a:endParaRPr lang="en-US"/>
          </a:p>
        </p:txBody>
      </p:sp>
    </p:spTree>
    <p:extLst>
      <p:ext uri="{BB962C8B-B14F-4D97-AF65-F5344CB8AC3E}">
        <p14:creationId xmlns:p14="http://schemas.microsoft.com/office/powerpoint/2010/main" val="727778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 project I conducted as part of my PhD studies at McGill University in Canada</a:t>
            </a:r>
          </a:p>
        </p:txBody>
      </p:sp>
      <p:sp>
        <p:nvSpPr>
          <p:cNvPr id="4" name="Slide Number Placeholder 3"/>
          <p:cNvSpPr>
            <a:spLocks noGrp="1"/>
          </p:cNvSpPr>
          <p:nvPr>
            <p:ph type="sldNum" sz="quarter" idx="5"/>
          </p:nvPr>
        </p:nvSpPr>
        <p:spPr/>
        <p:txBody>
          <a:bodyPr/>
          <a:lstStyle/>
          <a:p>
            <a:fld id="{82C6D112-248C-D642-9C09-77C8E61647E1}" type="slidenum">
              <a:rPr lang="en-US" smtClean="0"/>
              <a:t>1</a:t>
            </a:fld>
            <a:endParaRPr lang="en-US"/>
          </a:p>
        </p:txBody>
      </p:sp>
    </p:spTree>
    <p:extLst>
      <p:ext uri="{BB962C8B-B14F-4D97-AF65-F5344CB8AC3E}">
        <p14:creationId xmlns:p14="http://schemas.microsoft.com/office/powerpoint/2010/main" val="277976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1</a:t>
            </a:r>
            <a:r>
              <a:rPr lang="en-US" b="0" baseline="30000" dirty="0"/>
              <a:t>st</a:t>
            </a:r>
            <a:r>
              <a:rPr lang="en-US" b="0" dirty="0"/>
              <a:t>) briefly describe the corpus</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2</a:t>
            </a:r>
            <a:r>
              <a:rPr lang="en-US" b="0" baseline="30000" dirty="0"/>
              <a:t>nd</a:t>
            </a:r>
            <a:r>
              <a:rPr lang="en-US" b="0" dirty="0"/>
              <a:t>) The digitization process itself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3</a:t>
            </a:r>
            <a:r>
              <a:rPr lang="en-US" b="0" baseline="30000" dirty="0"/>
              <a:t>rd</a:t>
            </a:r>
            <a:r>
              <a:rPr lang="en-US" b="0" dirty="0"/>
              <a:t>) Final remarks about this paper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STEPS FOLLOWING DIGITIZATION, because the project is not only about obtaining digital images, but also using OMR and other music-encoding technologies to obtain symbolic files that encode this music.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067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strike="noStrike" dirty="0"/>
              <a:t>(Metropolitan Cathedral + Archiepiscopal palace)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065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[1] &amp; [2] so, they are oversize items</a:t>
            </a:r>
          </a:p>
          <a:p>
            <a:r>
              <a:rPr lang="en-US" b="0" dirty="0"/>
              <a:t>And these two characteristics will play a role on which technologies can be used to digitize the folios</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ym typeface="Wingdings" pitchFamily="2" charset="2"/>
              </a:rPr>
              <a:t>[3] Music notation system used in Europe in the thirteenth to sixteenth centuries</a:t>
            </a:r>
            <a:endParaRPr lang="en-US" b="0" dirty="0"/>
          </a:p>
          <a:p>
            <a:endParaRPr lang="en-US" b="0" dirty="0"/>
          </a:p>
          <a:p>
            <a:r>
              <a:rPr lang="en-US" b="0" dirty="0"/>
              <a:t>[4] choirbook format  </a:t>
            </a:r>
            <a:r>
              <a:rPr lang="en-US" b="0" dirty="0">
                <a:sym typeface="Wingdings" pitchFamily="2" charset="2"/>
              </a:rPr>
              <a:t> as shown in the left, where each of the voices is contained on a different area of the BOOK OPENING. In case of a four-voice piece, as in the image, each voice lies on a different quadrant of the opening.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4543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[IMPORTANT COLLECTION;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BUT</a:t>
            </a:r>
            <a:r>
              <a:rPr lang="en-CA" sz="1200" b="1" kern="1200" dirty="0">
                <a:solidFill>
                  <a:schemeClr val="tx1"/>
                </a:solidFill>
                <a:effectLst/>
                <a:latin typeface="+mn-lt"/>
                <a:ea typeface="+mn-ea"/>
                <a:cs typeface="+mn-cs"/>
              </a:rPr>
              <a:t> NOT AS ACCESSIBLE]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0108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[NOT AS ACCESSIBLE]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(1), (2), (3) Snow did a full transcription of book 4. But other than that, we have a few pieces transcribed by Guatemalan musicologists DL and OMA</a:t>
            </a:r>
          </a:p>
          <a:p>
            <a:r>
              <a:rPr lang="en-CA" sz="1200" kern="1200" dirty="0">
                <a:solidFill>
                  <a:schemeClr val="tx1"/>
                </a:solidFill>
                <a:effectLst/>
                <a:latin typeface="+mn-lt"/>
                <a:ea typeface="+mn-ea"/>
                <a:cs typeface="+mn-cs"/>
              </a:rPr>
              <a:t>MUSIC CONTENT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IMAGING</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(4) Microfilms --&gt; (books 1–3) --&gt; </a:t>
            </a:r>
            <a:r>
              <a:rPr lang="en-CA" sz="1200" b="1" kern="1200" dirty="0">
                <a:solidFill>
                  <a:schemeClr val="tx1"/>
                </a:solidFill>
                <a:effectLst/>
                <a:latin typeface="+mn-lt"/>
                <a:ea typeface="+mn-ea"/>
                <a:cs typeface="+mn-cs"/>
              </a:rPr>
              <a:t>IMAGE ON THE RIGHT --&gt; the images are cropped &amp; missing pages.</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(5) Access to the music --&gt; archive</a:t>
            </a:r>
          </a:p>
          <a:p>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 the goal of this dissertation project was to… [NEXT SLIDE]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458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dissertation project is to…</a:t>
            </a:r>
          </a:p>
        </p:txBody>
      </p:sp>
      <p:sp>
        <p:nvSpPr>
          <p:cNvPr id="4" name="Slide Number Placeholder 3"/>
          <p:cNvSpPr>
            <a:spLocks noGrp="1"/>
          </p:cNvSpPr>
          <p:nvPr>
            <p:ph type="sldNum" sz="quarter" idx="5"/>
          </p:nvPr>
        </p:nvSpPr>
        <p:spPr/>
        <p:txBody>
          <a:bodyPr/>
          <a:lstStyle/>
          <a:p>
            <a:fld id="{82C6D112-248C-D642-9C09-77C8E61647E1}" type="slidenum">
              <a:rPr lang="en-US" smtClean="0"/>
              <a:t>7</a:t>
            </a:fld>
            <a:endParaRPr lang="en-US"/>
          </a:p>
        </p:txBody>
      </p:sp>
    </p:spTree>
    <p:extLst>
      <p:ext uri="{BB962C8B-B14F-4D97-AF65-F5344CB8AC3E}">
        <p14:creationId xmlns:p14="http://schemas.microsoft.com/office/powerpoint/2010/main" val="4201014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talk about the project now</a:t>
            </a:r>
          </a:p>
        </p:txBody>
      </p:sp>
      <p:sp>
        <p:nvSpPr>
          <p:cNvPr id="4" name="Slide Number Placeholder 3"/>
          <p:cNvSpPr>
            <a:spLocks noGrp="1"/>
          </p:cNvSpPr>
          <p:nvPr>
            <p:ph type="sldNum" sz="quarter" idx="5"/>
          </p:nvPr>
        </p:nvSpPr>
        <p:spPr/>
        <p:txBody>
          <a:bodyPr/>
          <a:lstStyle/>
          <a:p>
            <a:fld id="{82C6D112-248C-D642-9C09-77C8E61647E1}" type="slidenum">
              <a:rPr lang="en-US" smtClean="0"/>
              <a:t>8</a:t>
            </a:fld>
            <a:endParaRPr lang="en-US"/>
          </a:p>
        </p:txBody>
      </p:sp>
    </p:spTree>
    <p:extLst>
      <p:ext uri="{BB962C8B-B14F-4D97-AF65-F5344CB8AC3E}">
        <p14:creationId xmlns:p14="http://schemas.microsoft.com/office/powerpoint/2010/main" val="908622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[request permission --&gt; nerve-recking process --&gt; personally invested in the project --&gt; really really want them to say yes]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successful &amp; not-that successful stories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Approved one week later on Halloween 2018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Once I obtained permission, I started to do look for digitization and conservation options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9364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[1] &amp;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[3] For conservation, </a:t>
            </a:r>
            <a:r>
              <a:rPr lang="en-US" sz="1200" dirty="0"/>
              <a:t>I needed people with experience in "paper" conservation.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Normally, you need conservators to take a look at the item to digitize, to evaluate if it is ok to digitize it and advise you on how to handle it during digitization. And they also provide conservation treatment to the item prior to digitization (like unfolding, cleaning, dusting).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[3.1&amp;2] </a:t>
            </a:r>
            <a:r>
              <a:rPr lang="en-US" sz="1200" dirty="0"/>
              <a:t>I found a non-profit institution that does paper conservation, the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[3.3 End]</a:t>
            </a:r>
            <a:r>
              <a:rPr lang="en-US" sz="1200" dirty="0"/>
              <a:t> Based on the conservation report, I chose the best preserved choirbook for the pilot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7855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Now, for digitization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[After 1] </a:t>
            </a:r>
            <a:r>
              <a:rPr lang="en-US" sz="1200" b="0" dirty="0"/>
              <a:t>Look in the National Library, the National Bank, University Libraries, and private digitization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Common for public institutions to not have resources for digitization + that was the case of the NL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 had better luck with private institutions.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But in the end </a:t>
            </a:r>
            <a:r>
              <a:rPr lang="en-US" b="1" dirty="0"/>
              <a:t>[2]</a:t>
            </a:r>
            <a:r>
              <a:rPr lang="en-US" b="0" dirty="0"/>
              <a:t>, so I ended up </a:t>
            </a:r>
            <a:r>
              <a:rPr lang="en-US" b="1" dirty="0"/>
              <a:t>[3]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[4 </a:t>
            </a:r>
            <a:r>
              <a:rPr lang="en-US" b="1" dirty="0" err="1"/>
              <a:t>SUBpoint</a:t>
            </a:r>
            <a:r>
              <a:rPr lang="en-US" b="1" dirty="0"/>
              <a:t>]</a:t>
            </a:r>
            <a:r>
              <a:rPr lang="en-US" b="0" dirty="0"/>
              <a:t> He helped one time on the digitization of a large map </a:t>
            </a:r>
            <a:r>
              <a:rPr lang="en-US" b="0" dirty="0">
                <a:sym typeface="Wingdings" pitchFamily="2" charset="2"/>
              </a:rPr>
              <a:t> so he had experience with digitizing oversized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So, we agreed that I would handle the manuscript &amp; he will set the camera parameters at the beginning of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 </a:t>
            </a:r>
            <a:r>
              <a:rPr lang="en-US" b="1" dirty="0"/>
              <a:t>TRANSITION</a:t>
            </a:r>
            <a:r>
              <a:rPr lang="en-US" b="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We have our personnel now. So let’s talk about the </a:t>
            </a:r>
            <a:r>
              <a:rPr lang="en-US" b="1" dirty="0"/>
              <a:t>&lt;ANIMATION&gt; </a:t>
            </a:r>
            <a:r>
              <a:rPr lang="en-US" b="0" dirty="0"/>
              <a:t>DIY Book Scanner. </a:t>
            </a:r>
            <a:r>
              <a:rPr lang="en-US" b="1" dirty="0"/>
              <a:t>&lt;/ANIMATION&gt;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900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12</a:t>
            </a:fld>
            <a:endParaRPr lang="en-US"/>
          </a:p>
        </p:txBody>
      </p:sp>
    </p:spTree>
    <p:extLst>
      <p:ext uri="{BB962C8B-B14F-4D97-AF65-F5344CB8AC3E}">
        <p14:creationId xmlns:p14="http://schemas.microsoft.com/office/powerpoint/2010/main" val="196661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All the parts were either built or borrowed.</a:t>
            </a:r>
          </a:p>
          <a:p>
            <a:endParaRPr lang="en-US" b="0" dirty="0"/>
          </a:p>
          <a:p>
            <a:r>
              <a:rPr lang="en-US" b="0" dirty="0"/>
              <a:t>[1] Built out of wood by my father in Guatemala</a:t>
            </a:r>
          </a:p>
          <a:p>
            <a:r>
              <a:rPr lang="en-US" b="0" dirty="0"/>
              <a:t>[2] Given the sensor’s effective resolution and the size of the manuscript </a:t>
            </a:r>
            <a:r>
              <a:rPr lang="en-US" b="0" dirty="0">
                <a:sym typeface="Wingdings" pitchFamily="2" charset="2"/>
              </a:rPr>
              <a:t> we can save images at 300 dpi resolution  a </a:t>
            </a:r>
            <a:r>
              <a:rPr lang="en-US" b="1" dirty="0">
                <a:sym typeface="Wingdings" pitchFamily="2" charset="2"/>
              </a:rPr>
              <a:t>good archival resolution </a:t>
            </a:r>
            <a:r>
              <a:rPr lang="en-US" b="0" dirty="0">
                <a:sym typeface="Wingdings" pitchFamily="2" charset="2"/>
              </a:rPr>
              <a:t>according to </a:t>
            </a:r>
            <a:r>
              <a:rPr lang="en-US" b="1" dirty="0">
                <a:sym typeface="Wingdings" pitchFamily="2" charset="2"/>
              </a:rPr>
              <a:t>the Federal Agencies Digitization Guidelines Initiative or FADGI </a:t>
            </a:r>
            <a:r>
              <a:rPr lang="en-US" b="0" dirty="0">
                <a:sym typeface="Wingdings" pitchFamily="2" charset="2"/>
              </a:rPr>
              <a:t>(used mostly in the USA, like the </a:t>
            </a:r>
            <a:r>
              <a:rPr lang="en-US" b="1" dirty="0">
                <a:sym typeface="Wingdings" pitchFamily="2" charset="2"/>
              </a:rPr>
              <a:t>Library of Congress</a:t>
            </a:r>
            <a:r>
              <a:rPr lang="en-US" b="0" dirty="0">
                <a:sym typeface="Wingdings" pitchFamily="2" charset="2"/>
              </a:rPr>
              <a:t>). It is </a:t>
            </a:r>
            <a:r>
              <a:rPr lang="en-US" b="1" dirty="0">
                <a:sym typeface="Wingdings" pitchFamily="2" charset="2"/>
              </a:rPr>
              <a:t>even bett</a:t>
            </a:r>
            <a:r>
              <a:rPr lang="en-US" b="0" dirty="0">
                <a:sym typeface="Wingdings" pitchFamily="2" charset="2"/>
              </a:rPr>
              <a:t>er to have </a:t>
            </a:r>
            <a:r>
              <a:rPr lang="en-US" b="1" dirty="0">
                <a:sym typeface="Wingdings" pitchFamily="2" charset="2"/>
              </a:rPr>
              <a:t>400 dpi </a:t>
            </a:r>
            <a:r>
              <a:rPr lang="en-US" b="0" dirty="0">
                <a:sym typeface="Wingdings" pitchFamily="2" charset="2"/>
              </a:rPr>
              <a:t>as suggested </a:t>
            </a:r>
            <a:r>
              <a:rPr lang="en-US" b="1" dirty="0">
                <a:sym typeface="Wingdings" pitchFamily="2" charset="2"/>
              </a:rPr>
              <a:t>by DIAMM and FADGI </a:t>
            </a:r>
            <a:r>
              <a:rPr lang="en-US" b="0" dirty="0">
                <a:sym typeface="Wingdings" pitchFamily="2" charset="2"/>
              </a:rPr>
              <a:t>itself, </a:t>
            </a:r>
            <a:r>
              <a:rPr lang="en-US" b="1" dirty="0">
                <a:sym typeface="Wingdings" pitchFamily="2" charset="2"/>
              </a:rPr>
              <a:t>and higher values are even better</a:t>
            </a:r>
            <a:r>
              <a:rPr lang="en-US" b="0" dirty="0">
                <a:sym typeface="Wingdings" pitchFamily="2" charset="2"/>
              </a:rPr>
              <a:t>; </a:t>
            </a:r>
            <a:r>
              <a:rPr lang="en-US" b="1" dirty="0">
                <a:sym typeface="Wingdings" pitchFamily="2" charset="2"/>
              </a:rPr>
              <a:t>but 300dpi is an acceptable </a:t>
            </a:r>
            <a:r>
              <a:rPr lang="en-US" b="0" dirty="0">
                <a:sym typeface="Wingdings" pitchFamily="2" charset="2"/>
              </a:rPr>
              <a:t>archiving resolution.</a:t>
            </a:r>
            <a:endParaRPr lang="en-US" b="1" dirty="0"/>
          </a:p>
          <a:p>
            <a:r>
              <a:rPr lang="en-US" b="0" dirty="0"/>
              <a:t>[3] Lights</a:t>
            </a:r>
          </a:p>
          <a:p>
            <a:endParaRPr lang="en-US" b="0" dirty="0"/>
          </a:p>
          <a:p>
            <a:r>
              <a:rPr lang="en-US" b="0" dirty="0"/>
              <a:t>Let’s talk about the one built part </a:t>
            </a:r>
            <a:r>
              <a:rPr lang="en-US" b="0" dirty="0">
                <a:sym typeface="Wingdings" pitchFamily="2" charset="2"/>
              </a:rPr>
              <a:t> the cradle</a:t>
            </a:r>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B4377-55ED-1B41-AA03-496911571C7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8803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2</a:t>
            </a:r>
            <a:r>
              <a:rPr lang="en-US" b="0" baseline="30000" dirty="0"/>
              <a:t>nd</a:t>
            </a:r>
            <a:r>
              <a:rPr lang="en-US" b="0" dirty="0"/>
              <a:t> config </a:t>
            </a:r>
            <a:r>
              <a:rPr lang="en-US" b="0" dirty="0">
                <a:sym typeface="Wingdings" pitchFamily="2" charset="2"/>
              </a:rPr>
              <a:t> </a:t>
            </a:r>
            <a:r>
              <a:rPr lang="en-US" b="0" dirty="0"/>
              <a:t>Result of an at home test</a:t>
            </a:r>
          </a:p>
          <a:p>
            <a:endParaRPr lang="en-US" b="0" dirty="0"/>
          </a:p>
          <a:p>
            <a:r>
              <a:rPr lang="en-US" b="0" dirty="0"/>
              <a:t>And I provide the </a:t>
            </a:r>
            <a:r>
              <a:rPr lang="en-US" b="1" dirty="0"/>
              <a:t>link to those videos in the paper </a:t>
            </a:r>
            <a:r>
              <a:rPr lang="en-US" b="0" dirty="0"/>
              <a:t>as well as the </a:t>
            </a:r>
            <a:r>
              <a:rPr lang="en-US" b="1" dirty="0"/>
              <a:t>diagrams</a:t>
            </a:r>
            <a:r>
              <a:rPr lang="en-US" b="0" dirty="0"/>
              <a:t> and dimensions to build this cradle for other projects.</a:t>
            </a:r>
          </a:p>
          <a:p>
            <a:endParaRPr lang="en-US" b="0" dirty="0"/>
          </a:p>
          <a:p>
            <a:r>
              <a:rPr lang="en-US" b="0" dirty="0"/>
              <a:t>---</a:t>
            </a:r>
          </a:p>
          <a:p>
            <a:endParaRPr lang="en-US" b="0" dirty="0"/>
          </a:p>
          <a:p>
            <a:r>
              <a:rPr lang="en-US" b="0" dirty="0"/>
              <a:t>(Scanner rig with Adjustable camera mounts)</a:t>
            </a:r>
          </a:p>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7848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strike="noStrike" dirty="0">
                <a:solidFill>
                  <a:schemeClr val="accent6"/>
                </a:solidFill>
              </a:rPr>
              <a:t>I ended up using </a:t>
            </a:r>
            <a:r>
              <a:rPr lang="en-US" b="1" strike="noStrike" dirty="0">
                <a:solidFill>
                  <a:schemeClr val="accent6"/>
                </a:solidFill>
              </a:rPr>
              <a:t>this open-at-one-side cradle configuration with a </a:t>
            </a:r>
            <a:r>
              <a:rPr lang="en-US" b="1" strike="noStrike" dirty="0" err="1">
                <a:solidFill>
                  <a:schemeClr val="accent6"/>
                </a:solidFill>
              </a:rPr>
              <a:t>copystand</a:t>
            </a:r>
            <a:r>
              <a:rPr lang="en-US" b="1" strike="noStrike" dirty="0">
                <a:solidFill>
                  <a:schemeClr val="accent6"/>
                </a:solidFill>
              </a:rPr>
              <a:t> </a:t>
            </a:r>
            <a:r>
              <a:rPr lang="en-US" b="1" u="sng" strike="noStrike" dirty="0">
                <a:solidFill>
                  <a:schemeClr val="accent6"/>
                </a:solidFill>
              </a:rPr>
              <a:t>since it was easier to</a:t>
            </a:r>
          </a:p>
          <a:p>
            <a:endParaRPr lang="en-US" b="1" strike="noStrike" dirty="0">
              <a:solidFill>
                <a:schemeClr val="accent6"/>
              </a:solidFill>
            </a:endParaRPr>
          </a:p>
          <a:p>
            <a:r>
              <a:rPr lang="en-US" b="1" strike="noStrike" dirty="0">
                <a:solidFill>
                  <a:schemeClr val="accent6"/>
                </a:solidFill>
              </a:rPr>
              <a:t>[1]</a:t>
            </a:r>
            <a:r>
              <a:rPr lang="en-US" b="0" strike="noStrike" dirty="0">
                <a:solidFill>
                  <a:schemeClr val="accent6"/>
                </a:solidFill>
              </a:rPr>
              <a:t> Set the camera perpendicular to the page </a:t>
            </a:r>
            <a:r>
              <a:rPr lang="en-US" b="1" strike="noStrike" dirty="0">
                <a:solidFill>
                  <a:schemeClr val="accent6"/>
                </a:solidFill>
              </a:rPr>
              <a:t>using a </a:t>
            </a:r>
            <a:r>
              <a:rPr lang="en-US" b="1" strike="noStrike" dirty="0" err="1">
                <a:solidFill>
                  <a:schemeClr val="accent6"/>
                </a:solidFill>
              </a:rPr>
              <a:t>copystand</a:t>
            </a:r>
            <a:endParaRPr lang="en-US" b="1" strike="noStrike" dirty="0">
              <a:solidFill>
                <a:schemeClr val="accent6"/>
              </a:solidFill>
            </a:endParaRPr>
          </a:p>
          <a:p>
            <a:r>
              <a:rPr lang="en-US" b="1" strike="noStrike" dirty="0">
                <a:solidFill>
                  <a:schemeClr val="accent6"/>
                </a:solidFill>
              </a:rPr>
              <a:t>[2] </a:t>
            </a:r>
            <a:r>
              <a:rPr lang="en-US" b="0" strike="noStrike" dirty="0">
                <a:solidFill>
                  <a:schemeClr val="accent6"/>
                </a:solidFill>
              </a:rPr>
              <a:t>And to keep the camera at a constant distance from the page </a:t>
            </a:r>
            <a:r>
              <a:rPr lang="en-US" b="1" strike="noStrike" dirty="0">
                <a:solidFill>
                  <a:schemeClr val="accent6"/>
                </a:solidFill>
              </a:rPr>
              <a:t>using the </a:t>
            </a:r>
            <a:r>
              <a:rPr lang="en-US" b="1" strike="noStrike" dirty="0" err="1">
                <a:solidFill>
                  <a:schemeClr val="accent6"/>
                </a:solidFill>
              </a:rPr>
              <a:t>copystand’s</a:t>
            </a:r>
            <a:r>
              <a:rPr lang="en-US" b="1" strike="noStrike" dirty="0">
                <a:solidFill>
                  <a:schemeClr val="accent6"/>
                </a:solidFill>
              </a:rPr>
              <a:t> graded arm</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B4377-55ED-1B41-AA03-496911571C7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91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strike="noStrike" dirty="0">
              <a:solidFill>
                <a:schemeClr val="accent6"/>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B4377-55ED-1B41-AA03-496911571C7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938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B4377-55ED-1B41-AA03-496911571C7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995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Here I am with the professional photographer Daniel Hernández Salazar</a:t>
            </a:r>
          </a:p>
          <a:p>
            <a:endParaRPr lang="en-US" baseline="0" dirty="0"/>
          </a:p>
          <a:p>
            <a:r>
              <a:rPr lang="en-US" baseline="0" dirty="0"/>
              <a:t>Institutions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7DE536-BCA2-6E4F-9B0F-F68C26DAC58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1959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some issues</a:t>
            </a:r>
          </a:p>
        </p:txBody>
      </p:sp>
      <p:sp>
        <p:nvSpPr>
          <p:cNvPr id="4" name="Slide Number Placeholder 3"/>
          <p:cNvSpPr>
            <a:spLocks noGrp="1"/>
          </p:cNvSpPr>
          <p:nvPr>
            <p:ph type="sldNum" sz="quarter" idx="5"/>
          </p:nvPr>
        </p:nvSpPr>
        <p:spPr/>
        <p:txBody>
          <a:bodyPr/>
          <a:lstStyle/>
          <a:p>
            <a:fld id="{82C6D112-248C-D642-9C09-77C8E61647E1}" type="slidenum">
              <a:rPr lang="en-US" smtClean="0"/>
              <a:t>19</a:t>
            </a:fld>
            <a:endParaRPr lang="en-US"/>
          </a:p>
        </p:txBody>
      </p:sp>
    </p:spTree>
    <p:extLst>
      <p:ext uri="{BB962C8B-B14F-4D97-AF65-F5344CB8AC3E}">
        <p14:creationId xmlns:p14="http://schemas.microsoft.com/office/powerpoint/2010/main" val="4257558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dirty="0"/>
              <a:t>[1] The photographer set the camera parameters on the first day</a:t>
            </a:r>
          </a:p>
          <a:p>
            <a:pPr>
              <a:lnSpc>
                <a:spcPct val="150000"/>
              </a:lnSpc>
            </a:pPr>
            <a:r>
              <a:rPr lang="en-US" dirty="0"/>
              <a:t>     Since I conducted the digitization on my own, he set the camera to perform a few actions in automatic mode,</a:t>
            </a:r>
          </a:p>
          <a:p>
            <a:pPr marL="171450" indent="-171450">
              <a:lnSpc>
                <a:spcPct val="150000"/>
              </a:lnSpc>
              <a:buFont typeface="Arial" panose="020B0604020202020204" pitchFamily="34" charset="0"/>
              <a:buChar char="•"/>
            </a:pPr>
            <a:r>
              <a:rPr lang="en-US" dirty="0"/>
              <a:t>Like auto white balancing &amp; auto focus</a:t>
            </a:r>
          </a:p>
          <a:p>
            <a:pPr marL="171450" indent="-171450">
              <a:lnSpc>
                <a:spcPct val="150000"/>
              </a:lnSpc>
              <a:buFont typeface="Arial" panose="020B0604020202020204" pitchFamily="34" charset="0"/>
              <a:buChar char="•"/>
            </a:pPr>
            <a:r>
              <a:rPr lang="en-US" dirty="0"/>
              <a:t>And also shoot in mode A or Aperture-Priority Auto</a:t>
            </a:r>
          </a:p>
          <a:p>
            <a:pPr marL="628650" lvl="1" indent="-171450">
              <a:lnSpc>
                <a:spcPct val="150000"/>
              </a:lnSpc>
              <a:buFont typeface="Arial" panose="020B0604020202020204" pitchFamily="34" charset="0"/>
              <a:buChar char="•"/>
            </a:pPr>
            <a:r>
              <a:rPr lang="en-US" dirty="0"/>
              <a:t>Where the photographer sets the aperture value of the camera</a:t>
            </a:r>
          </a:p>
          <a:p>
            <a:pPr marL="628650" lvl="1" indent="-171450">
              <a:lnSpc>
                <a:spcPct val="150000"/>
              </a:lnSpc>
              <a:buFont typeface="Arial" panose="020B0604020202020204" pitchFamily="34" charset="0"/>
              <a:buChar char="•"/>
            </a:pPr>
            <a:r>
              <a:rPr lang="en-US" dirty="0"/>
              <a:t>(you can see in the paper how he set this value)</a:t>
            </a:r>
          </a:p>
          <a:p>
            <a:pPr marL="628650" lvl="1" indent="-171450">
              <a:lnSpc>
                <a:spcPct val="150000"/>
              </a:lnSpc>
              <a:buFont typeface="Arial" panose="020B0604020202020204" pitchFamily="34" charset="0"/>
              <a:buChar char="•"/>
            </a:pPr>
            <a:r>
              <a:rPr lang="en-US" dirty="0"/>
              <a:t>And the camera calculates the shutter speed based on this aperture value and the room conditions.</a:t>
            </a:r>
          </a:p>
          <a:p>
            <a:pPr marL="628650" lvl="1" indent="-171450">
              <a:lnSpc>
                <a:spcPct val="150000"/>
              </a:lnSpc>
              <a:buFont typeface="Arial" panose="020B0604020202020204" pitchFamily="34" charset="0"/>
              <a:buChar char="•"/>
            </a:pPr>
            <a:endParaRPr lang="en-US" dirty="0"/>
          </a:p>
          <a:p>
            <a:pPr marL="628650" lvl="1" indent="-171450">
              <a:lnSpc>
                <a:spcPct val="150000"/>
              </a:lnSpc>
              <a:buFont typeface="Arial" panose="020B0604020202020204" pitchFamily="34" charset="0"/>
              <a:buChar char="•"/>
            </a:pPr>
            <a:r>
              <a:rPr lang="en-US" dirty="0"/>
              <a:t>Therefore, I tried to keep the room conditions as constant as possible by:</a:t>
            </a:r>
          </a:p>
          <a:p>
            <a:pPr marL="1085850" lvl="2" indent="-171450">
              <a:lnSpc>
                <a:spcPct val="150000"/>
              </a:lnSpc>
              <a:buFont typeface="Arial" panose="020B0604020202020204" pitchFamily="34" charset="0"/>
              <a:buChar char="•"/>
            </a:pPr>
            <a:r>
              <a:rPr lang="en-US" dirty="0"/>
              <a:t>turning all the lights off, </a:t>
            </a:r>
          </a:p>
          <a:p>
            <a:pPr marL="1085850" lvl="2" indent="-171450">
              <a:lnSpc>
                <a:spcPct val="150000"/>
              </a:lnSpc>
              <a:buFont typeface="Arial" panose="020B0604020202020204" pitchFamily="34" charset="0"/>
              <a:buChar char="•"/>
            </a:pPr>
            <a:r>
              <a:rPr lang="en-US" dirty="0"/>
              <a:t>shutting close the wooden doors of the windows, </a:t>
            </a:r>
          </a:p>
          <a:p>
            <a:pPr marL="1085850" lvl="2" indent="-171450">
              <a:lnSpc>
                <a:spcPct val="150000"/>
              </a:lnSpc>
              <a:buFont typeface="Arial" panose="020B0604020202020204" pitchFamily="34" charset="0"/>
              <a:buChar char="•"/>
            </a:pPr>
            <a:r>
              <a:rPr lang="en-US" dirty="0"/>
              <a:t>and only using the two LED panels as my light source.</a:t>
            </a:r>
          </a:p>
          <a:p>
            <a:pPr marL="1085850" lvl="2" indent="-171450">
              <a:lnSpc>
                <a:spcPct val="150000"/>
              </a:lnSpc>
              <a:buFont typeface="Arial" panose="020B0604020202020204" pitchFamily="34" charset="0"/>
              <a:buChar char="•"/>
            </a:pPr>
            <a:endParaRPr lang="en-US" b="1" dirty="0"/>
          </a:p>
          <a:p>
            <a:pPr marL="0" lvl="0" indent="0">
              <a:lnSpc>
                <a:spcPct val="150000"/>
              </a:lnSpc>
              <a:buFont typeface="Arial" panose="020B0604020202020204" pitchFamily="34" charset="0"/>
              <a:buNone/>
            </a:pPr>
            <a:r>
              <a:rPr lang="en-US" b="0" dirty="0"/>
              <a:t>[2] I have videos of the digitization process </a:t>
            </a:r>
            <a:r>
              <a:rPr lang="en-US" b="0" dirty="0">
                <a:sym typeface="Wingdings" pitchFamily="2" charset="2"/>
              </a:rPr>
              <a:t> I will include the </a:t>
            </a:r>
            <a:r>
              <a:rPr lang="en-US" b="0" dirty="0" err="1">
                <a:sym typeface="Wingdings" pitchFamily="2" charset="2"/>
              </a:rPr>
              <a:t>Youtube</a:t>
            </a:r>
            <a:r>
              <a:rPr lang="en-US" b="0" dirty="0">
                <a:sym typeface="Wingdings" pitchFamily="2" charset="2"/>
              </a:rPr>
              <a:t> channel </a:t>
            </a:r>
            <a:r>
              <a:rPr lang="en-US" b="0" dirty="0"/>
              <a:t>of this at the end</a:t>
            </a:r>
          </a:p>
          <a:p>
            <a:pPr marL="0" lvl="0" indent="0">
              <a:lnSpc>
                <a:spcPct val="150000"/>
              </a:lnSpc>
              <a:buFont typeface="Arial" panose="020B0604020202020204" pitchFamily="34" charset="0"/>
              <a:buNone/>
            </a:pPr>
            <a:endParaRPr lang="en-US" b="0" dirty="0"/>
          </a:p>
          <a:p>
            <a:pPr marL="0" lvl="0" indent="0">
              <a:lnSpc>
                <a:spcPct val="150000"/>
              </a:lnSpc>
              <a:buFont typeface="Arial" panose="020B0604020202020204" pitchFamily="34" charset="0"/>
              <a:buNone/>
            </a:pPr>
            <a:r>
              <a:rPr lang="en-US" b="0" dirty="0"/>
              <a:t>[3] (explain with picture)</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6D112-248C-D642-9C09-77C8E6164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1693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sym typeface="Wingdings" pitchFamily="2" charset="2"/>
              </a:rPr>
              <a:t>Use the camera’s official tethering app </a:t>
            </a:r>
          </a:p>
          <a:p>
            <a:pPr lvl="0"/>
            <a:r>
              <a:rPr lang="en-US" dirty="0">
                <a:sym typeface="Wingdings" pitchFamily="2" charset="2"/>
              </a:rPr>
              <a:t> </a:t>
            </a:r>
            <a:r>
              <a:rPr lang="en-US" b="1" dirty="0">
                <a:sym typeface="Wingdings" pitchFamily="2" charset="2"/>
              </a:rPr>
              <a:t>compatibility issues</a:t>
            </a:r>
          </a:p>
          <a:p>
            <a:pPr lvl="0"/>
            <a:endParaRPr lang="en-US" b="1" dirty="0">
              <a:sym typeface="Wingdings" pitchFamily="2" charset="2"/>
            </a:endParaRPr>
          </a:p>
          <a:p>
            <a:pPr lvl="0"/>
            <a:r>
              <a:rPr lang="en-US" dirty="0">
                <a:sym typeface="Wingdings" pitchFamily="2" charset="2"/>
              </a:rPr>
              <a:t>Connect the camera using a cable rather than wirelessly </a:t>
            </a:r>
          </a:p>
          <a:p>
            <a:pPr lvl="0"/>
            <a:r>
              <a:rPr lang="en-US" dirty="0">
                <a:sym typeface="Wingdings" pitchFamily="2" charset="2"/>
              </a:rPr>
              <a:t> </a:t>
            </a:r>
            <a:r>
              <a:rPr lang="en-US" b="1" dirty="0">
                <a:sym typeface="Wingdings" pitchFamily="2" charset="2"/>
              </a:rPr>
              <a:t>connection issues</a:t>
            </a:r>
          </a:p>
          <a:p>
            <a:pPr lvl="0"/>
            <a:endParaRPr lang="en-US" b="1" dirty="0">
              <a:sym typeface="Wingdings" pitchFamily="2" charset="2"/>
            </a:endParaRPr>
          </a:p>
          <a:p>
            <a:pPr lvl="0"/>
            <a:r>
              <a:rPr lang="en-US" dirty="0">
                <a:sym typeface="Wingdings" pitchFamily="2" charset="2"/>
              </a:rPr>
              <a:t>Save the images on an external hard drive </a:t>
            </a:r>
          </a:p>
          <a:p>
            <a:pPr lvl="0"/>
            <a:r>
              <a:rPr lang="en-US" dirty="0">
                <a:sym typeface="Wingdings" pitchFamily="2" charset="2"/>
              </a:rPr>
              <a:t> </a:t>
            </a:r>
            <a:r>
              <a:rPr lang="en-US" b="1" dirty="0">
                <a:sym typeface="Wingdings" pitchFamily="2" charset="2"/>
              </a:rPr>
              <a:t>memory issues</a:t>
            </a:r>
          </a:p>
          <a:p>
            <a:endParaRPr lang="en-US" b="1" dirty="0"/>
          </a:p>
          <a:p>
            <a:r>
              <a:rPr lang="en-US" b="1" dirty="0"/>
              <a:t>==============================================================================================</a:t>
            </a:r>
          </a:p>
          <a:p>
            <a:endParaRPr lang="en-US" b="1" dirty="0"/>
          </a:p>
          <a:p>
            <a:r>
              <a:rPr lang="en-US" b="0" dirty="0"/>
              <a:t>1 (</a:t>
            </a:r>
            <a:r>
              <a:rPr lang="en-US" b="0" dirty="0" err="1"/>
              <a:t>DlsDashboard</a:t>
            </a:r>
            <a:r>
              <a:rPr lang="en-US" b="0" dirty="0"/>
              <a:t>) </a:t>
            </a:r>
          </a:p>
          <a:p>
            <a:r>
              <a:rPr lang="en-US" b="0" dirty="0">
                <a:sym typeface="Wingdings" pitchFamily="2" charset="2"/>
              </a:rPr>
              <a:t>2 (Nikon’s Wireless Mobile Utility, WMU)</a:t>
            </a:r>
          </a:p>
          <a:p>
            <a:endParaRPr lang="en-US" b="1" dirty="0"/>
          </a:p>
          <a:p>
            <a:r>
              <a:rPr lang="en-US" b="1" dirty="0"/>
              <a:t>----</a:t>
            </a:r>
          </a:p>
          <a:p>
            <a:endParaRPr lang="en-US" b="1" dirty="0"/>
          </a:p>
          <a:p>
            <a:r>
              <a:rPr lang="en-US" b="1" dirty="0"/>
              <a:t>1</a:t>
            </a:r>
            <a:r>
              <a:rPr lang="en-US" b="1" baseline="30000" dirty="0"/>
              <a:t>st</a:t>
            </a:r>
            <a:r>
              <a:rPr lang="en-US" b="1" dirty="0"/>
              <a:t> time shooting tethered</a:t>
            </a:r>
          </a:p>
          <a:p>
            <a:r>
              <a:rPr lang="en-US" dirty="0"/>
              <a:t>Other advantages to explore from tethering software in the future:</a:t>
            </a:r>
          </a:p>
          <a:p>
            <a:pPr marL="171450" indent="-171450">
              <a:buFontTx/>
              <a:buChar char="-"/>
            </a:pPr>
            <a:r>
              <a:rPr lang="en-US" dirty="0"/>
              <a:t>Adding comments </a:t>
            </a:r>
            <a:r>
              <a:rPr lang="en-US" dirty="0">
                <a:sym typeface="Wingdings" pitchFamily="2" charset="2"/>
              </a:rPr>
              <a:t> beneficial to keep track of verso numbers</a:t>
            </a:r>
          </a:p>
          <a:p>
            <a:pPr marL="171450" indent="-171450">
              <a:buFontTx/>
              <a:buChar char="-"/>
            </a:pPr>
            <a:r>
              <a:rPr lang="en-US" dirty="0">
                <a:sym typeface="Wingdings" pitchFamily="2" charset="2"/>
              </a:rPr>
              <a:t>Changing file path  to save the images directly on the external hard drive</a:t>
            </a:r>
          </a:p>
          <a:p>
            <a:pPr marL="171450" indent="-171450">
              <a:buFontTx/>
              <a:buChar char="-"/>
            </a:pPr>
            <a:r>
              <a:rPr lang="en-US" dirty="0">
                <a:sym typeface="Wingdings" pitchFamily="2" charset="2"/>
              </a:rPr>
              <a:t>Adding starts  for selecting the preferred image from a set of photographs of the same page.</a:t>
            </a:r>
            <a:endParaRPr lang="en-US" dirty="0"/>
          </a:p>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6D112-248C-D642-9C09-77C8E6164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1429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6D112-248C-D642-9C09-77C8E6164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0706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6D112-248C-D642-9C09-77C8E6164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7433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whole process took a week and a half: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I used four days of shooting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Plus, the previous two days for testing and preparation,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And one day at the end for evaluation of the images and reshooting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Information about the pictures taken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49668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C6D112-248C-D642-9C09-77C8E61647E1}" type="slidenum">
              <a:rPr lang="en-US" smtClean="0"/>
              <a:t>25</a:t>
            </a:fld>
            <a:endParaRPr lang="en-US"/>
          </a:p>
        </p:txBody>
      </p:sp>
    </p:spTree>
    <p:extLst>
      <p:ext uri="{BB962C8B-B14F-4D97-AF65-F5344CB8AC3E}">
        <p14:creationId xmlns:p14="http://schemas.microsoft.com/office/powerpoint/2010/main" val="3360578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C6D112-248C-D642-9C09-77C8E61647E1}" type="slidenum">
              <a:rPr lang="en-US" smtClean="0"/>
              <a:t>26</a:t>
            </a:fld>
            <a:endParaRPr lang="en-US"/>
          </a:p>
        </p:txBody>
      </p:sp>
    </p:spTree>
    <p:extLst>
      <p:ext uri="{BB962C8B-B14F-4D97-AF65-F5344CB8AC3E}">
        <p14:creationId xmlns:p14="http://schemas.microsoft.com/office/powerpoint/2010/main" val="35926406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6338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184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3C8D95-94C8-8D4A-84AE-2C2CC82A38A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91664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30</a:t>
            </a:fld>
            <a:endParaRPr lang="en-US"/>
          </a:p>
        </p:txBody>
      </p:sp>
    </p:spTree>
    <p:extLst>
      <p:ext uri="{BB962C8B-B14F-4D97-AF65-F5344CB8AC3E}">
        <p14:creationId xmlns:p14="http://schemas.microsoft.com/office/powerpoint/2010/main" val="22939582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31</a:t>
            </a:fld>
            <a:endParaRPr lang="en-US"/>
          </a:p>
        </p:txBody>
      </p:sp>
    </p:spTree>
    <p:extLst>
      <p:ext uri="{BB962C8B-B14F-4D97-AF65-F5344CB8AC3E}">
        <p14:creationId xmlns:p14="http://schemas.microsoft.com/office/powerpoint/2010/main" val="1133680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32</a:t>
            </a:fld>
            <a:endParaRPr lang="en-US"/>
          </a:p>
        </p:txBody>
      </p:sp>
    </p:spTree>
    <p:extLst>
      <p:ext uri="{BB962C8B-B14F-4D97-AF65-F5344CB8AC3E}">
        <p14:creationId xmlns:p14="http://schemas.microsoft.com/office/powerpoint/2010/main" val="32417038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33</a:t>
            </a:fld>
            <a:endParaRPr lang="en-US"/>
          </a:p>
        </p:txBody>
      </p:sp>
    </p:spTree>
    <p:extLst>
      <p:ext uri="{BB962C8B-B14F-4D97-AF65-F5344CB8AC3E}">
        <p14:creationId xmlns:p14="http://schemas.microsoft.com/office/powerpoint/2010/main" val="3731460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34</a:t>
            </a:fld>
            <a:endParaRPr lang="en-US"/>
          </a:p>
        </p:txBody>
      </p:sp>
    </p:spTree>
    <p:extLst>
      <p:ext uri="{BB962C8B-B14F-4D97-AF65-F5344CB8AC3E}">
        <p14:creationId xmlns:p14="http://schemas.microsoft.com/office/powerpoint/2010/main" val="862712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35</a:t>
            </a:fld>
            <a:endParaRPr lang="en-US"/>
          </a:p>
        </p:txBody>
      </p:sp>
    </p:spTree>
    <p:extLst>
      <p:ext uri="{BB962C8B-B14F-4D97-AF65-F5344CB8AC3E}">
        <p14:creationId xmlns:p14="http://schemas.microsoft.com/office/powerpoint/2010/main" val="2557566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36</a:t>
            </a:fld>
            <a:endParaRPr lang="en-US"/>
          </a:p>
        </p:txBody>
      </p:sp>
    </p:spTree>
    <p:extLst>
      <p:ext uri="{BB962C8B-B14F-4D97-AF65-F5344CB8AC3E}">
        <p14:creationId xmlns:p14="http://schemas.microsoft.com/office/powerpoint/2010/main" val="1017756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37</a:t>
            </a:fld>
            <a:endParaRPr lang="en-US"/>
          </a:p>
        </p:txBody>
      </p:sp>
    </p:spTree>
    <p:extLst>
      <p:ext uri="{BB962C8B-B14F-4D97-AF65-F5344CB8AC3E}">
        <p14:creationId xmlns:p14="http://schemas.microsoft.com/office/powerpoint/2010/main" val="551629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C6D112-248C-D642-9C09-77C8E61647E1}" type="slidenum">
              <a:rPr lang="en-US" smtClean="0"/>
              <a:t>38</a:t>
            </a:fld>
            <a:endParaRPr lang="en-US"/>
          </a:p>
        </p:txBody>
      </p:sp>
    </p:spTree>
    <p:extLst>
      <p:ext uri="{BB962C8B-B14F-4D97-AF65-F5344CB8AC3E}">
        <p14:creationId xmlns:p14="http://schemas.microsoft.com/office/powerpoint/2010/main" val="10494147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[I HAVE DONE IT!]</a:t>
            </a:r>
          </a:p>
          <a:p>
            <a:endParaRPr lang="en-US" sz="1800" b="0" u="non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40444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[I HAVE DONE IT!]</a:t>
            </a:r>
          </a:p>
          <a:p>
            <a:endParaRPr lang="en-US" sz="1800" b="0" u="non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7719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dirty="0"/>
              <a:t>(I developed the scoring-up part of the Measuring Polyphony Editor)</a:t>
            </a:r>
          </a:p>
          <a:p>
            <a:endParaRPr lang="en-US" sz="1800" dirty="0"/>
          </a:p>
          <a:p>
            <a:r>
              <a:rPr lang="en-US" sz="1800" dirty="0"/>
              <a:t>Workflow to go from the manuscript to digital images to machine-readable files encoding the mensural music in score format</a:t>
            </a:r>
          </a:p>
          <a:p>
            <a:endParaRPr lang="en-US" sz="1800" b="0" dirty="0"/>
          </a:p>
          <a:p>
            <a:r>
              <a:rPr lang="en-US" sz="1800" b="0" dirty="0"/>
              <a:t>TO HAVE A SYSTEM that semi-AUTOMATICALLY TRANSCRIBE MENSURAL MUSIC FROM DIGITAL IMAGES OF MANUSCRIPTS IN MENSURAL NOTATION</a:t>
            </a:r>
          </a:p>
          <a:p>
            <a:endParaRPr lang="en-US" sz="1800" dirty="0"/>
          </a:p>
          <a:p>
            <a:r>
              <a:rPr lang="en-US" sz="1800" u="sng" dirty="0"/>
              <a:t>OF COURSE, THIS IS ALL DISCUSSED IN MY DISSERTATION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1814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6D112-248C-D642-9C09-77C8E6164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3260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Includes the great triumvirate of Spanish </a:t>
            </a:r>
            <a:r>
              <a:rPr lang="en-US" dirty="0" err="1"/>
              <a:t>polyphonists</a:t>
            </a:r>
            <a:r>
              <a:rPr lang="en-US" dirty="0"/>
              <a:t>: Victoria, Morales, and Guerrero</a:t>
            </a:r>
          </a:p>
          <a:p>
            <a:endParaRPr lang="en-US" b="0" dirty="0">
              <a:sym typeface="Wingdings" pitchFamily="2" charset="2"/>
            </a:endParaRPr>
          </a:p>
          <a:p>
            <a:r>
              <a:rPr lang="en-US" b="0" dirty="0">
                <a:sym typeface="Wingdings" pitchFamily="2" charset="2"/>
              </a:rPr>
              <a:t>Spanish composers that did travel to the Americas: Hernando Franco and Pedro Bermudez.</a:t>
            </a:r>
          </a:p>
          <a:p>
            <a:r>
              <a:rPr lang="en-US" b="0" dirty="0">
                <a:sym typeface="Wingdings"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ym typeface="Wingdings" pitchFamily="2" charset="2"/>
              </a:rPr>
              <a:t>Local   Gaspar Fernandez  </a:t>
            </a:r>
            <a:r>
              <a:rPr lang="en-US" dirty="0"/>
              <a:t>Guatemalan (before: believed he was the Gaspar Fernandes from Evora, Portugal)</a:t>
            </a:r>
            <a:endParaRPr lang="en-US" b="0" dirty="0">
              <a:sym typeface="Wingdings" pitchFamily="2" charset="2"/>
            </a:endParaRPr>
          </a:p>
          <a:p>
            <a:r>
              <a:rPr lang="en-US" b="0" dirty="0">
                <a:sym typeface="Wingdings" pitchFamily="2" charset="2"/>
              </a:rPr>
              <a:t>--</a:t>
            </a:r>
          </a:p>
          <a:p>
            <a:r>
              <a:rPr lang="en-US" dirty="0"/>
              <a:t>[These 3 </a:t>
            </a:r>
            <a:r>
              <a:rPr lang="en-US" dirty="0">
                <a:sym typeface="Wingdings" pitchFamily="2" charset="2"/>
              </a:rPr>
              <a:t></a:t>
            </a:r>
            <a:r>
              <a:rPr lang="en-US" dirty="0"/>
              <a:t> among the most frequently found composers in various archives from the Mesoamerican region.]</a:t>
            </a:r>
            <a:endParaRPr lang="en-US" b="0" dirty="0">
              <a:sym typeface="Wingdings" pitchFamily="2" charset="2"/>
            </a:endParaRPr>
          </a:p>
          <a:p>
            <a:r>
              <a:rPr lang="en-US" b="0" dirty="0">
                <a:sym typeface="Wingdings" pitchFamily="2" charset="2"/>
              </a:rPr>
              <a:t>--</a:t>
            </a:r>
          </a:p>
          <a:p>
            <a:r>
              <a:rPr lang="en-US" b="0" dirty="0">
                <a:sym typeface="Wingdings" pitchFamily="2" charset="2"/>
              </a:rPr>
              <a:t>Other parts of Europe: </a:t>
            </a:r>
            <a:r>
              <a:rPr lang="en-US" b="0" dirty="0" err="1">
                <a:sym typeface="Wingdings" pitchFamily="2" charset="2"/>
              </a:rPr>
              <a:t>Lassus</a:t>
            </a:r>
            <a:r>
              <a:rPr lang="en-US" b="0" dirty="0">
                <a:sym typeface="Wingdings" pitchFamily="2" charset="2"/>
              </a:rPr>
              <a:t> and Palestrina</a:t>
            </a:r>
          </a:p>
          <a:p>
            <a:r>
              <a:rPr lang="en-US" b="0" dirty="0">
                <a:sym typeface="Wingdings" pitchFamily="2" charset="2"/>
              </a:rPr>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50797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bigger (next slide)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7655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--&gt; composers from the Iberian Peninsula that never set foot in the Americas</a:t>
            </a:r>
          </a:p>
          <a:p>
            <a:endParaRPr lang="en-US" dirty="0"/>
          </a:p>
          <a:p>
            <a:r>
              <a:rPr lang="en-US" dirty="0"/>
              <a:t>Includes the great triumvirate of Spanish polyphonists: Victoria, Morales, and Guerrero</a:t>
            </a:r>
          </a:p>
          <a:p>
            <a:endParaRPr lang="en-US" dirty="0"/>
          </a:p>
          <a:p>
            <a:r>
              <a:rPr lang="en-US" dirty="0"/>
              <a:t>Green --&gt; composers that were active in the Viceroyalty of New Spain at some point (either European composers that came to the Americas or composers born in the Americas)</a:t>
            </a:r>
          </a:p>
          <a:p>
            <a:r>
              <a:rPr lang="en-US" dirty="0"/>
              <a:t>This include these 3 --&gt; Pedro Bermudez, Gaspar Fernandez, and Hernando Franco who are among the most frequently found composers in various archives from the Mesoamerican region. The three of them were actually chapel masters at the Cathedral of Guatemala </a:t>
            </a:r>
            <a:r>
              <a:rPr lang="en-US" i="1" dirty="0"/>
              <a:t>[(also the next one, Quiroz) and Gaspar Fernandez copied various of the choirbooks]</a:t>
            </a:r>
            <a:r>
              <a:rPr lang="en-US" dirty="0"/>
              <a:t>.</a:t>
            </a:r>
          </a:p>
          <a:p>
            <a:r>
              <a:rPr lang="en-US" dirty="0"/>
              <a:t>Bermudez and Franco --&gt; Spanish</a:t>
            </a:r>
          </a:p>
          <a:p>
            <a:r>
              <a:rPr lang="en-US" dirty="0"/>
              <a:t>Fernandez --&gt; Guatemalan (before: believed he was the Gaspar Fernandes from Evora, Portugal)</a:t>
            </a:r>
          </a:p>
          <a:p>
            <a:endParaRPr lang="en-US" dirty="0"/>
          </a:p>
          <a:p>
            <a:r>
              <a:rPr lang="en-US" dirty="0"/>
              <a:t>Here are other local composers (born and trained Guatemalan / Mexican composers)</a:t>
            </a:r>
          </a:p>
          <a:p>
            <a:endParaRPr lang="en-US" dirty="0"/>
          </a:p>
          <a:p>
            <a:r>
              <a:rPr lang="en-US" dirty="0"/>
              <a:t>These two, Fernandez and </a:t>
            </a:r>
            <a:r>
              <a:rPr lang="en-US" dirty="0" err="1"/>
              <a:t>Quiros</a:t>
            </a:r>
            <a:r>
              <a:rPr lang="en-US" dirty="0"/>
              <a:t> are the scribes involved in the choirbook.</a:t>
            </a:r>
          </a:p>
          <a:p>
            <a:endParaRPr lang="en-US" dirty="0"/>
          </a:p>
          <a:p>
            <a:r>
              <a:rPr lang="en-US" dirty="0"/>
              <a:t>Other European composers: Lassus and Palestrina</a:t>
            </a:r>
          </a:p>
          <a:p>
            <a:endParaRPr lang="en-US" dirty="0"/>
          </a:p>
          <a:p>
            <a:r>
              <a:rPr lang="en-US" dirty="0"/>
              <a:t>===============================================================</a:t>
            </a:r>
          </a:p>
          <a:p>
            <a:r>
              <a:rPr lang="en-US" dirty="0"/>
              <a:t>So, </a:t>
            </a:r>
            <a:r>
              <a:rPr lang="en-US" b="1" dirty="0"/>
              <a:t>Bermudez</a:t>
            </a:r>
            <a:r>
              <a:rPr lang="en-US" dirty="0"/>
              <a:t> [</a:t>
            </a:r>
            <a:r>
              <a:rPr lang="en-US" dirty="0" err="1"/>
              <a:t>Catedral</a:t>
            </a:r>
            <a:r>
              <a:rPr lang="en-US" dirty="0"/>
              <a:t> de Guatemala, de </a:t>
            </a:r>
            <a:r>
              <a:rPr lang="en-US" b="1" dirty="0"/>
              <a:t>Puebla</a:t>
            </a:r>
            <a:r>
              <a:rPr lang="en-US" dirty="0"/>
              <a:t>] and </a:t>
            </a:r>
            <a:r>
              <a:rPr lang="en-US" b="1" dirty="0"/>
              <a:t>Franco</a:t>
            </a:r>
            <a:r>
              <a:rPr lang="en-US" dirty="0"/>
              <a:t> [</a:t>
            </a:r>
            <a:r>
              <a:rPr lang="en-US" dirty="0" err="1"/>
              <a:t>Catedral</a:t>
            </a:r>
            <a:r>
              <a:rPr lang="en-US" dirty="0"/>
              <a:t> de Segovia, de Santo Domingo, de Santiago de Cuba, </a:t>
            </a:r>
            <a:r>
              <a:rPr lang="en-US" b="1" dirty="0"/>
              <a:t>de Guatemala, de México</a:t>
            </a:r>
            <a:r>
              <a:rPr lang="en-US" dirty="0"/>
              <a:t>] are </a:t>
            </a:r>
            <a:r>
              <a:rPr lang="en-US" b="1" dirty="0"/>
              <a:t>Spanish</a:t>
            </a:r>
            <a:r>
              <a:rPr lang="en-US" dirty="0"/>
              <a:t> composers </a:t>
            </a:r>
          </a:p>
          <a:p>
            <a:r>
              <a:rPr lang="en-US" dirty="0"/>
              <a:t>&amp; </a:t>
            </a:r>
            <a:r>
              <a:rPr lang="en-US" b="1" dirty="0"/>
              <a:t>Gaspar Fernandez [</a:t>
            </a:r>
            <a:r>
              <a:rPr lang="en-US" b="1" dirty="0" err="1"/>
              <a:t>Catedral</a:t>
            </a:r>
            <a:r>
              <a:rPr lang="en-US" b="1" dirty="0"/>
              <a:t> de Guatemala, de Puebla] </a:t>
            </a:r>
            <a:r>
              <a:rPr lang="en-US" dirty="0"/>
              <a:t>is actually Guatemalan. It was previously believed that he was Portuguese, but recent studies by Omar Morales Abril revealed that this Gaspar Fernandez was born and trained in Guatemala.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87207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The choirbooks contain works by Spanish composers (53%), </a:t>
            </a:r>
          </a:p>
          <a:p>
            <a:r>
              <a:rPr lang="en-US" dirty="0"/>
              <a:t>composers who were born or trained in Guatemala or Mexico (12%), </a:t>
            </a:r>
          </a:p>
          <a:p>
            <a:r>
              <a:rPr lang="en-US" dirty="0"/>
              <a:t>other European composers (8%), </a:t>
            </a:r>
          </a:p>
          <a:p>
            <a:r>
              <a:rPr lang="en-US" dirty="0"/>
              <a:t>anonymous pieces (26%), </a:t>
            </a:r>
          </a:p>
          <a:p>
            <a:r>
              <a:rPr lang="en-US" dirty="0"/>
              <a:t>and pieces by composers whose origin is unknown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71395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of SACRED MUSIC</a:t>
            </a:r>
          </a:p>
        </p:txBody>
      </p:sp>
      <p:sp>
        <p:nvSpPr>
          <p:cNvPr id="4" name="Slide Number Placeholder 3"/>
          <p:cNvSpPr>
            <a:spLocks noGrp="1"/>
          </p:cNvSpPr>
          <p:nvPr>
            <p:ph type="sldNum" sz="quarter" idx="5"/>
          </p:nvPr>
        </p:nvSpPr>
        <p:spPr/>
        <p:txBody>
          <a:bodyPr/>
          <a:lstStyle/>
          <a:p>
            <a:fld id="{82C6D112-248C-D642-9C09-77C8E61647E1}" type="slidenum">
              <a:rPr lang="en-US" smtClean="0"/>
              <a:t>47</a:t>
            </a:fld>
            <a:endParaRPr lang="en-US"/>
          </a:p>
        </p:txBody>
      </p:sp>
    </p:spTree>
    <p:extLst>
      <p:ext uri="{BB962C8B-B14F-4D97-AF65-F5344CB8AC3E}">
        <p14:creationId xmlns:p14="http://schemas.microsoft.com/office/powerpoint/2010/main" val="19897632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400" b="0" kern="1200" dirty="0">
                <a:solidFill>
                  <a:schemeClr val="tx1"/>
                </a:solidFill>
                <a:effectLst/>
                <a:latin typeface="+mn-lt"/>
                <a:ea typeface="+mn-ea"/>
                <a:cs typeface="+mn-cs"/>
              </a:rPr>
              <a:t>12 masses, 6 copied in 1602, 6 added in the 1760s</a:t>
            </a:r>
          </a:p>
          <a:p>
            <a:r>
              <a:rPr lang="en-CA" sz="1400" b="0" kern="1200" dirty="0">
                <a:solidFill>
                  <a:schemeClr val="tx1"/>
                </a:solidFill>
                <a:effectLst/>
                <a:latin typeface="+mn-lt"/>
                <a:ea typeface="+mn-ea"/>
                <a:cs typeface="+mn-cs"/>
              </a:rPr>
              <a:t>here they are (index page)</a:t>
            </a:r>
          </a:p>
          <a:p>
            <a:endParaRPr lang="en-CA" sz="1400" b="0" kern="1200" dirty="0">
              <a:solidFill>
                <a:schemeClr val="tx1"/>
              </a:solidFill>
              <a:effectLst/>
              <a:latin typeface="+mn-lt"/>
              <a:ea typeface="+mn-ea"/>
              <a:cs typeface="+mn-cs"/>
            </a:endParaRPr>
          </a:p>
          <a:p>
            <a:r>
              <a:rPr lang="en-CA" sz="1400" b="0" kern="1200" dirty="0">
                <a:solidFill>
                  <a:schemeClr val="tx1"/>
                </a:solidFill>
                <a:effectLst/>
                <a:latin typeface="+mn-lt"/>
                <a:ea typeface="+mn-ea"/>
                <a:cs typeface="+mn-cs"/>
              </a:rPr>
              <a:t>----NOT: </a:t>
            </a:r>
            <a:r>
              <a:rPr lang="en-CA" sz="1200" b="1" i="0" u="none" strike="noStrike" kern="1200" dirty="0">
                <a:solidFill>
                  <a:schemeClr val="tx1"/>
                </a:solidFill>
                <a:effectLst/>
                <a:latin typeface="+mn-lt"/>
                <a:ea typeface="+mn-ea"/>
                <a:cs typeface="+mn-cs"/>
              </a:rPr>
              <a:t>Gregorio Allegri</a:t>
            </a:r>
            <a:r>
              <a:rPr lang="en-CA" sz="1200" b="0" i="0" u="none" strike="noStrike" kern="1200" dirty="0">
                <a:solidFill>
                  <a:schemeClr val="tx1"/>
                </a:solidFill>
                <a:effectLst/>
                <a:latin typeface="+mn-lt"/>
                <a:ea typeface="+mn-ea"/>
                <a:cs typeface="+mn-cs"/>
              </a:rPr>
              <a:t> (Italian, c. 1582 – 17 February 1652)----</a:t>
            </a:r>
          </a:p>
          <a:p>
            <a:endParaRPr lang="en-CA" sz="1400" b="0" kern="1200" dirty="0">
              <a:solidFill>
                <a:schemeClr val="tx1"/>
              </a:solidFill>
              <a:effectLst/>
              <a:latin typeface="+mn-lt"/>
              <a:ea typeface="+mn-ea"/>
              <a:cs typeface="+mn-cs"/>
            </a:endParaRPr>
          </a:p>
          <a:p>
            <a:r>
              <a:rPr lang="en-CA" sz="1400" b="0" kern="1200" dirty="0">
                <a:solidFill>
                  <a:schemeClr val="tx1"/>
                </a:solidFill>
                <a:effectLst/>
                <a:latin typeface="+mn-lt"/>
                <a:ea typeface="+mn-ea"/>
                <a:cs typeface="+mn-cs"/>
              </a:rPr>
              <a:t>15 short polyphonic pieces</a:t>
            </a:r>
          </a:p>
          <a:p>
            <a:endParaRPr lang="en-CA" sz="1400" b="0" kern="1200" dirty="0">
              <a:solidFill>
                <a:schemeClr val="tx1"/>
              </a:solidFill>
              <a:effectLst/>
              <a:latin typeface="+mn-lt"/>
              <a:ea typeface="+mn-ea"/>
              <a:cs typeface="+mn-cs"/>
            </a:endParaRPr>
          </a:p>
          <a:p>
            <a:r>
              <a:rPr lang="en-CA" sz="1400" b="0" kern="1200" dirty="0">
                <a:solidFill>
                  <a:schemeClr val="tx1"/>
                </a:solidFill>
                <a:effectLst/>
                <a:latin typeface="+mn-lt"/>
                <a:ea typeface="+mn-ea"/>
                <a:cs typeface="+mn-cs"/>
              </a:rPr>
              <a:t>Why this </a:t>
            </a:r>
            <a:r>
              <a:rPr lang="en-CA" sz="1400" b="0" kern="1200" dirty="0" err="1">
                <a:solidFill>
                  <a:schemeClr val="tx1"/>
                </a:solidFill>
                <a:effectLst/>
                <a:latin typeface="+mn-lt"/>
                <a:ea typeface="+mn-ea"/>
                <a:cs typeface="+mn-cs"/>
              </a:rPr>
              <a:t>choirbook</a:t>
            </a:r>
            <a:r>
              <a:rPr lang="en-CA" sz="1400" b="0" kern="1200" dirty="0">
                <a:solidFill>
                  <a:schemeClr val="tx1"/>
                </a:solidFill>
                <a:effectLst/>
                <a:latin typeface="+mn-lt"/>
                <a:ea typeface="+mn-ea"/>
                <a:cs typeface="+mn-cs"/>
              </a:rPr>
              <a:t> for the pilot project? I will talk about this soon when providing details about the project</a:t>
            </a:r>
          </a:p>
          <a:p>
            <a:r>
              <a:rPr lang="en-CA" sz="1400" b="1" kern="1200" dirty="0">
                <a:solidFill>
                  <a:schemeClr val="tx1"/>
                </a:solidFill>
                <a:effectLst/>
                <a:latin typeface="+mn-lt"/>
                <a:ea typeface="+mn-ea"/>
                <a:cs typeface="+mn-cs"/>
              </a:rPr>
              <a:t>===============================================================</a:t>
            </a:r>
          </a:p>
          <a:p>
            <a:r>
              <a:rPr lang="en-CA" sz="1400" kern="1200" dirty="0">
                <a:solidFill>
                  <a:schemeClr val="tx1"/>
                </a:solidFill>
                <a:effectLst/>
                <a:latin typeface="+mn-lt"/>
                <a:ea typeface="+mn-ea"/>
                <a:cs typeface="+mn-cs"/>
              </a:rPr>
              <a:t>IN CASE OF QUESTIONS:</a:t>
            </a:r>
          </a:p>
          <a:p>
            <a:endParaRPr lang="en-CA" sz="1400" kern="1200" dirty="0">
              <a:solidFill>
                <a:schemeClr val="tx1"/>
              </a:solidFill>
              <a:effectLst/>
              <a:latin typeface="+mn-lt"/>
              <a:ea typeface="+mn-ea"/>
              <a:cs typeface="+mn-cs"/>
            </a:endParaRPr>
          </a:p>
          <a:p>
            <a:pPr marL="0" indent="0">
              <a:buNone/>
            </a:pPr>
            <a:r>
              <a:rPr lang="en-US" sz="1400" dirty="0"/>
              <a:t>12 masses:</a:t>
            </a:r>
          </a:p>
          <a:p>
            <a:r>
              <a:rPr lang="en-US" sz="1400" dirty="0"/>
              <a:t>Six of them come from a previous book copied in 1602 (by Gaspar Fernández)</a:t>
            </a:r>
          </a:p>
          <a:p>
            <a:pPr lvl="1"/>
            <a:r>
              <a:rPr lang="en-US" sz="1400" dirty="0"/>
              <a:t>Cristobal de Morales (1), Palestrina (1), Colin (1), Ceballos (2), </a:t>
            </a:r>
            <a:r>
              <a:rPr lang="en-US" sz="1400" dirty="0">
                <a:highlight>
                  <a:srgbClr val="00FF00"/>
                </a:highlight>
              </a:rPr>
              <a:t>Bermúdez (1)</a:t>
            </a:r>
          </a:p>
          <a:p>
            <a:r>
              <a:rPr lang="en-US" sz="1400" dirty="0"/>
              <a:t>The other six were added in the eighteenth century (by Manuel José de Quiroz)</a:t>
            </a:r>
          </a:p>
          <a:p>
            <a:pPr lvl="1"/>
            <a:r>
              <a:rPr lang="en-US" sz="1400" dirty="0"/>
              <a:t>Victoria (2), </a:t>
            </a:r>
            <a:r>
              <a:rPr lang="en-US" sz="1400" dirty="0">
                <a:highlight>
                  <a:srgbClr val="00FFFF"/>
                </a:highlight>
              </a:rPr>
              <a:t>Torres y Martínez Bravo (1), Serra (1), Alegre (1), Matías de Rivera (1)</a:t>
            </a:r>
          </a:p>
          <a:p>
            <a:pPr marL="0" indent="0">
              <a:buNone/>
            </a:pPr>
            <a:r>
              <a:rPr lang="en-US" sz="1400" dirty="0"/>
              <a:t>15 brief polyphonic pieces (eighteenth century additions) </a:t>
            </a:r>
          </a:p>
          <a:p>
            <a:r>
              <a:rPr lang="en-US" sz="1400" dirty="0"/>
              <a:t>Pedro Bermúdez, Hernando Franco, Francisco Guerrero, and others</a:t>
            </a:r>
          </a:p>
          <a:p>
            <a:pPr lvl="1"/>
            <a:endParaRPr lang="en-US" sz="1400" dirty="0"/>
          </a:p>
          <a:p>
            <a:pPr marL="0" indent="0">
              <a:buNone/>
            </a:pPr>
            <a:r>
              <a:rPr lang="en-US" sz="1400" dirty="0"/>
              <a:t>Microfilm images (cropped and missing pages)</a:t>
            </a:r>
          </a:p>
          <a:p>
            <a:r>
              <a:rPr lang="en-US" sz="1400" dirty="0"/>
              <a:t>Some pieces have been transcribed</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Selected items from the microfilms have been transcribed into modern scores and are available in the Choral Public Domain Library “Música colonial scores” site (http://www0.cpdl .org/wiki/index .php/</a:t>
            </a:r>
            <a:r>
              <a:rPr lang="en-CA" sz="1200" kern="1200" dirty="0" err="1">
                <a:solidFill>
                  <a:schemeClr val="tx1"/>
                </a:solidFill>
                <a:effectLst/>
                <a:latin typeface="+mn-lt"/>
                <a:ea typeface="+mn-ea"/>
                <a:cs typeface="+mn-cs"/>
              </a:rPr>
              <a:t>Category:Música_colonial</a:t>
            </a:r>
            <a:r>
              <a:rPr lang="en-CA" sz="1200" kern="1200" dirty="0">
                <a:solidFill>
                  <a:schemeClr val="tx1"/>
                </a:solidFill>
                <a:effectLst/>
                <a:latin typeface="+mn-lt"/>
                <a:ea typeface="+mn-ea"/>
                <a:cs typeface="+mn-cs"/>
              </a:rPr>
              <a:t> _scores). Unsurprisingly, because the GuatC 1 choirbook is well preserved, many of its pieces have been transcribed. Ten out of its twelve masses can be found in the CPDL Música colonial scores website (missing only Palestrina and one Victoria), but only four of its short pieces have been transcribed (Christus </a:t>
            </a:r>
            <a:r>
              <a:rPr lang="en-CA" sz="1200" kern="1200" dirty="0" err="1">
                <a:solidFill>
                  <a:schemeClr val="tx1"/>
                </a:solidFill>
                <a:effectLst/>
                <a:latin typeface="+mn-lt"/>
                <a:ea typeface="+mn-ea"/>
                <a:cs typeface="+mn-cs"/>
              </a:rPr>
              <a:t>natus</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est</a:t>
            </a:r>
            <a:r>
              <a:rPr lang="en-CA" sz="1200" kern="1200" dirty="0">
                <a:solidFill>
                  <a:schemeClr val="tx1"/>
                </a:solidFill>
                <a:effectLst/>
                <a:latin typeface="+mn-lt"/>
                <a:ea typeface="+mn-ea"/>
                <a:cs typeface="+mn-cs"/>
              </a:rPr>
              <a:t>, Bermúdez, folios 180v–181r; Christus </a:t>
            </a:r>
            <a:r>
              <a:rPr lang="en-CA" sz="1200" kern="1200" dirty="0" err="1">
                <a:solidFill>
                  <a:schemeClr val="tx1"/>
                </a:solidFill>
                <a:effectLst/>
                <a:latin typeface="+mn-lt"/>
                <a:ea typeface="+mn-ea"/>
                <a:cs typeface="+mn-cs"/>
              </a:rPr>
              <a:t>natus</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est</a:t>
            </a:r>
            <a:r>
              <a:rPr lang="en-CA" sz="1200" kern="1200" dirty="0">
                <a:solidFill>
                  <a:schemeClr val="tx1"/>
                </a:solidFill>
                <a:effectLst/>
                <a:latin typeface="+mn-lt"/>
                <a:ea typeface="+mn-ea"/>
                <a:cs typeface="+mn-cs"/>
              </a:rPr>
              <a:t>, Anonymous, f. 183v–184; Lumen ad </a:t>
            </a:r>
            <a:r>
              <a:rPr lang="en-CA" sz="1200" kern="1200" dirty="0" err="1">
                <a:solidFill>
                  <a:schemeClr val="tx1"/>
                </a:solidFill>
                <a:effectLst/>
                <a:latin typeface="+mn-lt"/>
                <a:ea typeface="+mn-ea"/>
                <a:cs typeface="+mn-cs"/>
              </a:rPr>
              <a:t>revelationem</a:t>
            </a:r>
            <a:r>
              <a:rPr lang="en-CA" sz="1200" kern="1200" dirty="0">
                <a:solidFill>
                  <a:schemeClr val="tx1"/>
                </a:solidFill>
                <a:effectLst/>
                <a:latin typeface="+mn-lt"/>
                <a:ea typeface="+mn-ea"/>
                <a:cs typeface="+mn-cs"/>
              </a:rPr>
              <a:t>, Hernando Franco, 186v–187rñ Victimae </a:t>
            </a:r>
            <a:r>
              <a:rPr lang="en-CA" sz="1200" kern="1200" dirty="0" err="1">
                <a:solidFill>
                  <a:schemeClr val="tx1"/>
                </a:solidFill>
                <a:effectLst/>
                <a:latin typeface="+mn-lt"/>
                <a:ea typeface="+mn-ea"/>
                <a:cs typeface="+mn-cs"/>
              </a:rPr>
              <a:t>Paschali</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laudes</a:t>
            </a:r>
            <a:r>
              <a:rPr lang="en-CA" sz="1200" kern="1200" dirty="0">
                <a:solidFill>
                  <a:schemeClr val="tx1"/>
                </a:solidFill>
                <a:effectLst/>
                <a:latin typeface="+mn-lt"/>
                <a:ea typeface="+mn-ea"/>
                <a:cs typeface="+mn-cs"/>
              </a:rPr>
              <a:t>, Francisco Guerrero, 190v–192r).</a:t>
            </a:r>
          </a:p>
          <a:p>
            <a:endParaRPr lang="en-CA" sz="1200"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All of the masses from the original Libro de Kyries except one, Pedro</a:t>
            </a:r>
          </a:p>
          <a:p>
            <a:r>
              <a:rPr lang="en-CA" sz="1200" b="1" kern="1200" dirty="0" err="1">
                <a:solidFill>
                  <a:schemeClr val="tx1"/>
                </a:solidFill>
                <a:effectLst/>
                <a:latin typeface="+mn-lt"/>
                <a:ea typeface="+mn-ea"/>
                <a:cs typeface="+mn-cs"/>
              </a:rPr>
              <a:t>Bermúdez’s</a:t>
            </a:r>
            <a:r>
              <a:rPr lang="en-CA" sz="1200" b="1" kern="1200" dirty="0">
                <a:solidFill>
                  <a:schemeClr val="tx1"/>
                </a:solidFill>
                <a:effectLst/>
                <a:latin typeface="+mn-lt"/>
                <a:ea typeface="+mn-ea"/>
                <a:cs typeface="+mn-cs"/>
              </a:rPr>
              <a:t> </a:t>
            </a:r>
            <a:r>
              <a:rPr lang="en-CA" sz="1200" b="1" kern="1200" dirty="0" err="1">
                <a:solidFill>
                  <a:schemeClr val="tx1"/>
                </a:solidFill>
                <a:effectLst/>
                <a:latin typeface="+mn-lt"/>
                <a:ea typeface="+mn-ea"/>
                <a:cs typeface="+mn-cs"/>
              </a:rPr>
              <a:t>Missa</a:t>
            </a:r>
            <a:r>
              <a:rPr lang="en-CA" sz="1200" b="1" kern="1200" dirty="0">
                <a:solidFill>
                  <a:schemeClr val="tx1"/>
                </a:solidFill>
                <a:effectLst/>
                <a:latin typeface="+mn-lt"/>
                <a:ea typeface="+mn-ea"/>
                <a:cs typeface="+mn-cs"/>
              </a:rPr>
              <a:t> de </a:t>
            </a:r>
            <a:r>
              <a:rPr lang="en-CA" sz="1200" b="1" kern="1200" dirty="0" err="1">
                <a:solidFill>
                  <a:schemeClr val="tx1"/>
                </a:solidFill>
                <a:effectLst/>
                <a:latin typeface="+mn-lt"/>
                <a:ea typeface="+mn-ea"/>
                <a:cs typeface="+mn-cs"/>
              </a:rPr>
              <a:t>Bomba</a:t>
            </a:r>
            <a:r>
              <a:rPr lang="en-CA" sz="1200" b="1" kern="1200" dirty="0">
                <a:solidFill>
                  <a:schemeClr val="tx1"/>
                </a:solidFill>
                <a:effectLst/>
                <a:latin typeface="+mn-lt"/>
                <a:ea typeface="+mn-ea"/>
                <a:cs typeface="+mn-cs"/>
              </a:rPr>
              <a:t>, were brought from Europe.</a:t>
            </a:r>
            <a:r>
              <a:rPr lang="en-CA" sz="1200" kern="1200" dirty="0">
                <a:solidFill>
                  <a:schemeClr val="tx1"/>
                </a:solidFill>
                <a:effectLst/>
                <a:latin typeface="+mn-lt"/>
                <a:ea typeface="+mn-ea"/>
                <a:cs typeface="+mn-cs"/>
              </a:rPr>
              <a:t> Snow mentions</a:t>
            </a:r>
          </a:p>
          <a:p>
            <a:r>
              <a:rPr lang="en-CA" sz="1200" kern="1200" dirty="0">
                <a:solidFill>
                  <a:schemeClr val="tx1"/>
                </a:solidFill>
                <a:effectLst/>
                <a:latin typeface="+mn-lt"/>
                <a:ea typeface="+mn-ea"/>
                <a:cs typeface="+mn-cs"/>
              </a:rPr>
              <a:t>concordant sources for Morales, Palestrina, Colin, and one of Ceballos’s</a:t>
            </a:r>
          </a:p>
          <a:p>
            <a:r>
              <a:rPr lang="en-CA" sz="1200" kern="1200" dirty="0">
                <a:solidFill>
                  <a:schemeClr val="tx1"/>
                </a:solidFill>
                <a:effectLst/>
                <a:latin typeface="+mn-lt"/>
                <a:ea typeface="+mn-ea"/>
                <a:cs typeface="+mn-cs"/>
              </a:rPr>
              <a:t>masses (his popular </a:t>
            </a:r>
            <a:r>
              <a:rPr lang="en-CA" sz="1200" kern="1200" dirty="0" err="1">
                <a:solidFill>
                  <a:schemeClr val="tx1"/>
                </a:solidFill>
                <a:effectLst/>
                <a:latin typeface="+mn-lt"/>
                <a:ea typeface="+mn-ea"/>
                <a:cs typeface="+mn-cs"/>
              </a:rPr>
              <a:t>Missa</a:t>
            </a:r>
            <a:r>
              <a:rPr lang="en-CA" sz="1200" kern="1200" dirty="0">
                <a:solidFill>
                  <a:schemeClr val="tx1"/>
                </a:solidFill>
                <a:effectLst/>
                <a:latin typeface="+mn-lt"/>
                <a:ea typeface="+mn-ea"/>
                <a:cs typeface="+mn-cs"/>
              </a:rPr>
              <a:t> tertii </a:t>
            </a:r>
            <a:r>
              <a:rPr lang="en-CA" sz="1200" kern="1200" dirty="0" err="1">
                <a:solidFill>
                  <a:schemeClr val="tx1"/>
                </a:solidFill>
                <a:effectLst/>
                <a:latin typeface="+mn-lt"/>
                <a:ea typeface="+mn-ea"/>
                <a:cs typeface="+mn-cs"/>
              </a:rPr>
              <a:t>toni</a:t>
            </a:r>
            <a:r>
              <a:rPr lang="en-CA" sz="1200" kern="1200" dirty="0">
                <a:solidFill>
                  <a:schemeClr val="tx1"/>
                </a:solidFill>
                <a:effectLst/>
                <a:latin typeface="+mn-lt"/>
                <a:ea typeface="+mn-ea"/>
                <a:cs typeface="+mn-cs"/>
              </a:rPr>
              <a:t>). The </a:t>
            </a:r>
            <a:r>
              <a:rPr lang="en-CA" sz="1200" u="sng" kern="1200" dirty="0" err="1">
                <a:solidFill>
                  <a:schemeClr val="tx1"/>
                </a:solidFill>
                <a:effectLst/>
                <a:latin typeface="+mn-lt"/>
                <a:ea typeface="+mn-ea"/>
                <a:cs typeface="+mn-cs"/>
              </a:rPr>
              <a:t>Missa</a:t>
            </a:r>
            <a:r>
              <a:rPr lang="en-CA" sz="1200" u="sng" kern="1200" dirty="0">
                <a:solidFill>
                  <a:schemeClr val="tx1"/>
                </a:solidFill>
                <a:effectLst/>
                <a:latin typeface="+mn-lt"/>
                <a:ea typeface="+mn-ea"/>
                <a:cs typeface="+mn-cs"/>
              </a:rPr>
              <a:t> de 8vo </a:t>
            </a:r>
            <a:r>
              <a:rPr lang="en-CA" sz="1200" u="sng" kern="1200" dirty="0" err="1">
                <a:solidFill>
                  <a:schemeClr val="tx1"/>
                </a:solidFill>
                <a:effectLst/>
                <a:latin typeface="+mn-lt"/>
                <a:ea typeface="+mn-ea"/>
                <a:cs typeface="+mn-cs"/>
              </a:rPr>
              <a:t>Tono</a:t>
            </a:r>
            <a:r>
              <a:rPr lang="en-CA" sz="1200" u="sng" kern="1200" dirty="0">
                <a:solidFill>
                  <a:schemeClr val="tx1"/>
                </a:solidFill>
                <a:effectLst/>
                <a:latin typeface="+mn-lt"/>
                <a:ea typeface="+mn-ea"/>
                <a:cs typeface="+mn-cs"/>
              </a:rPr>
              <a:t> by Ceballos is</a:t>
            </a:r>
          </a:p>
          <a:p>
            <a:r>
              <a:rPr lang="en-CA" sz="1200" u="sng" kern="1200" dirty="0">
                <a:solidFill>
                  <a:schemeClr val="tx1"/>
                </a:solidFill>
                <a:effectLst/>
                <a:latin typeface="+mn-lt"/>
                <a:ea typeface="+mn-ea"/>
                <a:cs typeface="+mn-cs"/>
              </a:rPr>
              <a:t>his </a:t>
            </a:r>
            <a:r>
              <a:rPr lang="en-CA" sz="1200" u="sng" kern="1200" dirty="0" err="1">
                <a:solidFill>
                  <a:schemeClr val="tx1"/>
                </a:solidFill>
                <a:effectLst/>
                <a:latin typeface="+mn-lt"/>
                <a:ea typeface="+mn-ea"/>
                <a:cs typeface="+mn-cs"/>
              </a:rPr>
              <a:t>Missa</a:t>
            </a:r>
            <a:r>
              <a:rPr lang="en-CA" sz="1200" u="sng" kern="1200" dirty="0">
                <a:solidFill>
                  <a:schemeClr val="tx1"/>
                </a:solidFill>
                <a:effectLst/>
                <a:latin typeface="+mn-lt"/>
                <a:ea typeface="+mn-ea"/>
                <a:cs typeface="+mn-cs"/>
              </a:rPr>
              <a:t> Simile </a:t>
            </a:r>
            <a:r>
              <a:rPr lang="en-CA" sz="1200" u="sng" kern="1200" dirty="0" err="1">
                <a:solidFill>
                  <a:schemeClr val="tx1"/>
                </a:solidFill>
                <a:effectLst/>
                <a:latin typeface="+mn-lt"/>
                <a:ea typeface="+mn-ea"/>
                <a:cs typeface="+mn-cs"/>
              </a:rPr>
              <a:t>est</a:t>
            </a:r>
            <a:r>
              <a:rPr lang="en-CA" sz="1200" u="sng" kern="1200" dirty="0">
                <a:solidFill>
                  <a:schemeClr val="tx1"/>
                </a:solidFill>
                <a:effectLst/>
                <a:latin typeface="+mn-lt"/>
                <a:ea typeface="+mn-ea"/>
                <a:cs typeface="+mn-cs"/>
              </a:rPr>
              <a:t> regnum </a:t>
            </a:r>
            <a:r>
              <a:rPr lang="en-CA" sz="1200" u="sng" kern="1200" dirty="0" err="1">
                <a:solidFill>
                  <a:schemeClr val="tx1"/>
                </a:solidFill>
                <a:effectLst/>
                <a:latin typeface="+mn-lt"/>
                <a:ea typeface="+mn-ea"/>
                <a:cs typeface="+mn-cs"/>
              </a:rPr>
              <a:t>caelorum</a:t>
            </a:r>
            <a:r>
              <a:rPr lang="en-CA" sz="1200" u="sng" kern="1200" dirty="0">
                <a:solidFill>
                  <a:schemeClr val="tx1"/>
                </a:solidFill>
                <a:effectLst/>
                <a:latin typeface="+mn-lt"/>
                <a:ea typeface="+mn-ea"/>
                <a:cs typeface="+mn-cs"/>
              </a:rPr>
              <a:t>, a parody mass based on a motet by</a:t>
            </a:r>
          </a:p>
          <a:p>
            <a:r>
              <a:rPr lang="en-CA" sz="1200" u="sng" kern="1200" dirty="0">
                <a:solidFill>
                  <a:schemeClr val="tx1"/>
                </a:solidFill>
                <a:effectLst/>
                <a:latin typeface="+mn-lt"/>
                <a:ea typeface="+mn-ea"/>
                <a:cs typeface="+mn-cs"/>
              </a:rPr>
              <a:t>Morales</a:t>
            </a:r>
            <a:r>
              <a:rPr lang="en-CA" sz="1200" kern="1200" dirty="0">
                <a:solidFill>
                  <a:schemeClr val="tx1"/>
                </a:solidFill>
                <a:effectLst/>
                <a:latin typeface="+mn-lt"/>
                <a:ea typeface="+mn-ea"/>
                <a:cs typeface="+mn-cs"/>
              </a:rPr>
              <a:t>. The </a:t>
            </a:r>
            <a:r>
              <a:rPr lang="en-CA" sz="1200" u="sng" kern="1200" dirty="0" err="1">
                <a:solidFill>
                  <a:schemeClr val="tx1"/>
                </a:solidFill>
                <a:effectLst/>
                <a:latin typeface="+mn-lt"/>
                <a:ea typeface="+mn-ea"/>
                <a:cs typeface="+mn-cs"/>
              </a:rPr>
              <a:t>Missa</a:t>
            </a:r>
            <a:r>
              <a:rPr lang="en-CA" sz="1200" u="sng" kern="1200" dirty="0">
                <a:solidFill>
                  <a:schemeClr val="tx1"/>
                </a:solidFill>
                <a:effectLst/>
                <a:latin typeface="+mn-lt"/>
                <a:ea typeface="+mn-ea"/>
                <a:cs typeface="+mn-cs"/>
              </a:rPr>
              <a:t> de </a:t>
            </a:r>
            <a:r>
              <a:rPr lang="en-CA" sz="1200" u="sng" kern="1200" dirty="0" err="1">
                <a:solidFill>
                  <a:schemeClr val="tx1"/>
                </a:solidFill>
                <a:effectLst/>
                <a:latin typeface="+mn-lt"/>
                <a:ea typeface="+mn-ea"/>
                <a:cs typeface="+mn-cs"/>
              </a:rPr>
              <a:t>Bomba</a:t>
            </a:r>
            <a:r>
              <a:rPr lang="en-CA" sz="1200" u="sng" kern="1200" dirty="0">
                <a:solidFill>
                  <a:schemeClr val="tx1"/>
                </a:solidFill>
                <a:effectLst/>
                <a:latin typeface="+mn-lt"/>
                <a:ea typeface="+mn-ea"/>
                <a:cs typeface="+mn-cs"/>
              </a:rPr>
              <a:t> by Pedro Bermúdez, Guatemalan choirmaster</a:t>
            </a:r>
          </a:p>
          <a:p>
            <a:r>
              <a:rPr lang="en-CA" sz="1200" u="sng" kern="1200" dirty="0">
                <a:solidFill>
                  <a:schemeClr val="tx1"/>
                </a:solidFill>
                <a:effectLst/>
                <a:latin typeface="+mn-lt"/>
                <a:ea typeface="+mn-ea"/>
                <a:cs typeface="+mn-cs"/>
              </a:rPr>
              <a:t>between 1601 and 1603, is a parody mass based on the ensalada La </a:t>
            </a:r>
            <a:r>
              <a:rPr lang="en-CA" sz="1200" u="sng" kern="1200" dirty="0" err="1">
                <a:solidFill>
                  <a:schemeClr val="tx1"/>
                </a:solidFill>
                <a:effectLst/>
                <a:latin typeface="+mn-lt"/>
                <a:ea typeface="+mn-ea"/>
                <a:cs typeface="+mn-cs"/>
              </a:rPr>
              <a:t>Bomba</a:t>
            </a:r>
            <a:endParaRPr lang="en-CA" sz="1200" u="sng" kern="1200" dirty="0">
              <a:solidFill>
                <a:schemeClr val="tx1"/>
              </a:solidFill>
              <a:effectLst/>
              <a:latin typeface="+mn-lt"/>
              <a:ea typeface="+mn-ea"/>
              <a:cs typeface="+mn-cs"/>
            </a:endParaRPr>
          </a:p>
          <a:p>
            <a:r>
              <a:rPr lang="en-CA" sz="1200" u="sng" kern="1200" dirty="0">
                <a:solidFill>
                  <a:schemeClr val="tx1"/>
                </a:solidFill>
                <a:effectLst/>
                <a:latin typeface="+mn-lt"/>
                <a:ea typeface="+mn-ea"/>
                <a:cs typeface="+mn-cs"/>
              </a:rPr>
              <a:t>by Mateo </a:t>
            </a:r>
            <a:r>
              <a:rPr lang="en-CA" sz="1200" u="sng" kern="1200" dirty="0" err="1">
                <a:solidFill>
                  <a:schemeClr val="tx1"/>
                </a:solidFill>
                <a:effectLst/>
                <a:latin typeface="+mn-lt"/>
                <a:ea typeface="+mn-ea"/>
                <a:cs typeface="+mn-cs"/>
              </a:rPr>
              <a:t>Flecha</a:t>
            </a:r>
            <a:r>
              <a:rPr lang="en-CA" sz="1200" u="sng" kern="1200" dirty="0">
                <a:solidFill>
                  <a:schemeClr val="tx1"/>
                </a:solidFill>
                <a:effectLst/>
                <a:latin typeface="+mn-lt"/>
                <a:ea typeface="+mn-ea"/>
                <a:cs typeface="+mn-cs"/>
              </a:rPr>
              <a:t> (el Viejo)</a:t>
            </a:r>
            <a:r>
              <a:rPr lang="en-CA" sz="1200" kern="1200" dirty="0">
                <a:solidFill>
                  <a:schemeClr val="tx1"/>
                </a:solidFill>
                <a:effectLst/>
                <a:latin typeface="+mn-lt"/>
                <a:ea typeface="+mn-ea"/>
                <a:cs typeface="+mn-cs"/>
              </a:rPr>
              <a:t>. According to Snow, from the group of six masses</a:t>
            </a:r>
          </a:p>
          <a:p>
            <a:r>
              <a:rPr lang="en-CA" sz="1200" kern="1200" dirty="0">
                <a:solidFill>
                  <a:schemeClr val="tx1"/>
                </a:solidFill>
                <a:effectLst/>
                <a:latin typeface="+mn-lt"/>
                <a:ea typeface="+mn-ea"/>
                <a:cs typeface="+mn-cs"/>
              </a:rPr>
              <a:t>added in the eighteenth century, only the ones by Torres, Serra, Alegre, and</a:t>
            </a:r>
          </a:p>
          <a:p>
            <a:r>
              <a:rPr lang="en-CA" sz="1200" kern="1200" dirty="0">
                <a:solidFill>
                  <a:schemeClr val="tx1"/>
                </a:solidFill>
                <a:effectLst/>
                <a:latin typeface="+mn-lt"/>
                <a:ea typeface="+mn-ea"/>
                <a:cs typeface="+mn-cs"/>
              </a:rPr>
              <a:t>Rivera </a:t>
            </a:r>
            <a:r>
              <a:rPr lang="en-CA" sz="1200" b="1" kern="1200" dirty="0">
                <a:solidFill>
                  <a:schemeClr val="tx1"/>
                </a:solidFill>
                <a:effectLst/>
                <a:latin typeface="+mn-lt"/>
                <a:ea typeface="+mn-ea"/>
                <a:cs typeface="+mn-cs"/>
              </a:rPr>
              <a:t>appear to be unique to this manuscript</a:t>
            </a:r>
            <a:r>
              <a:rPr lang="en-US" sz="1200" b="1"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70994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792747-EAAC-B644-81ED-C6A16CD2E1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2750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66513-018D-CD40-A448-2AF5B3D939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C45754-81A6-C041-A2A4-5CBF2482D0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A65421-4DCF-524E-A76A-A14784177739}"/>
              </a:ext>
            </a:extLst>
          </p:cNvPr>
          <p:cNvSpPr>
            <a:spLocks noGrp="1"/>
          </p:cNvSpPr>
          <p:nvPr>
            <p:ph type="dt" sz="half" idx="10"/>
          </p:nvPr>
        </p:nvSpPr>
        <p:spPr/>
        <p:txBody>
          <a:bodyPr/>
          <a:lstStyle/>
          <a:p>
            <a:fld id="{944F2986-2EB5-D34B-BC4D-FA893FCF2402}" type="datetime1">
              <a:rPr lang="en-CA" smtClean="0"/>
              <a:t>2024-07-26</a:t>
            </a:fld>
            <a:endParaRPr lang="en-US"/>
          </a:p>
        </p:txBody>
      </p:sp>
      <p:sp>
        <p:nvSpPr>
          <p:cNvPr id="5" name="Footer Placeholder 4">
            <a:extLst>
              <a:ext uri="{FF2B5EF4-FFF2-40B4-BE49-F238E27FC236}">
                <a16:creationId xmlns:a16="http://schemas.microsoft.com/office/drawing/2014/main" id="{B1FF0DBD-0548-F64E-8048-FAEB1D5B3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A5224-D38B-0044-B45C-7D0A63B1F220}"/>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85332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B5623-F062-FC44-A778-88CF31A0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60843C-E99A-2245-86B9-452EE393C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9BFB9-BB36-424C-899E-C10502B824D3}"/>
              </a:ext>
            </a:extLst>
          </p:cNvPr>
          <p:cNvSpPr>
            <a:spLocks noGrp="1"/>
          </p:cNvSpPr>
          <p:nvPr>
            <p:ph type="dt" sz="half" idx="10"/>
          </p:nvPr>
        </p:nvSpPr>
        <p:spPr/>
        <p:txBody>
          <a:bodyPr/>
          <a:lstStyle/>
          <a:p>
            <a:fld id="{C07217C4-B0FE-4847-9A6E-628A2FCE2669}" type="datetime1">
              <a:rPr lang="en-CA" smtClean="0"/>
              <a:t>2024-07-26</a:t>
            </a:fld>
            <a:endParaRPr lang="en-US"/>
          </a:p>
        </p:txBody>
      </p:sp>
      <p:sp>
        <p:nvSpPr>
          <p:cNvPr id="5" name="Footer Placeholder 4">
            <a:extLst>
              <a:ext uri="{FF2B5EF4-FFF2-40B4-BE49-F238E27FC236}">
                <a16:creationId xmlns:a16="http://schemas.microsoft.com/office/drawing/2014/main" id="{7F1A7201-E0F4-C54E-B03C-A96CBA966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1B89D-59D4-7845-8F9C-89C0DF605FB0}"/>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411724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6DA5-1F7D-7E46-A26D-51DC2FD64C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DBC874-FB6B-5046-A63A-39E2A54D67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50A219-C591-B047-8B5F-045688FEED62}"/>
              </a:ext>
            </a:extLst>
          </p:cNvPr>
          <p:cNvSpPr>
            <a:spLocks noGrp="1"/>
          </p:cNvSpPr>
          <p:nvPr>
            <p:ph type="dt" sz="half" idx="10"/>
          </p:nvPr>
        </p:nvSpPr>
        <p:spPr/>
        <p:txBody>
          <a:bodyPr/>
          <a:lstStyle/>
          <a:p>
            <a:fld id="{D455BF6A-9855-E347-A004-50E4FE6AC66F}" type="datetime1">
              <a:rPr lang="en-CA" smtClean="0"/>
              <a:t>2024-07-26</a:t>
            </a:fld>
            <a:endParaRPr lang="en-US"/>
          </a:p>
        </p:txBody>
      </p:sp>
      <p:sp>
        <p:nvSpPr>
          <p:cNvPr id="5" name="Footer Placeholder 4">
            <a:extLst>
              <a:ext uri="{FF2B5EF4-FFF2-40B4-BE49-F238E27FC236}">
                <a16:creationId xmlns:a16="http://schemas.microsoft.com/office/drawing/2014/main" id="{36368BE6-A23E-0042-ADBD-DE91FB556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9F6AA1-AFC0-C944-B6AE-18A57F7EC507}"/>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4083856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7FE04-5DC8-B544-9EA0-CD4258467A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74DFAA-458B-3E49-B6B8-109D12C7A2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79FB82-20C2-0443-A229-9D3AC9617F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A29436-4747-8349-A132-CA891B04F8E5}"/>
              </a:ext>
            </a:extLst>
          </p:cNvPr>
          <p:cNvSpPr>
            <a:spLocks noGrp="1"/>
          </p:cNvSpPr>
          <p:nvPr>
            <p:ph type="dt" sz="half" idx="10"/>
          </p:nvPr>
        </p:nvSpPr>
        <p:spPr/>
        <p:txBody>
          <a:bodyPr/>
          <a:lstStyle/>
          <a:p>
            <a:fld id="{98DD7860-7DAF-3A41-BDE3-43B6DAE325ED}" type="datetime1">
              <a:rPr lang="en-CA" smtClean="0"/>
              <a:t>2024-07-26</a:t>
            </a:fld>
            <a:endParaRPr lang="en-US"/>
          </a:p>
        </p:txBody>
      </p:sp>
      <p:sp>
        <p:nvSpPr>
          <p:cNvPr id="6" name="Footer Placeholder 5">
            <a:extLst>
              <a:ext uri="{FF2B5EF4-FFF2-40B4-BE49-F238E27FC236}">
                <a16:creationId xmlns:a16="http://schemas.microsoft.com/office/drawing/2014/main" id="{FA7EBA88-66A2-3347-8BEF-18F304DDC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325E9-DA68-2C46-856B-1CBE9C44408C}"/>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1510666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0194-DBC6-1144-AC6B-2B737DB119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D3FF94-D7F1-CA40-A409-25F8BF160D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7D7398-9148-E14E-924D-FF43754D68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9958EC-5392-C24B-9061-5FAD5F4579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1FA714-23F6-4243-8C3D-8A2C2F82DF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67DE20-3935-5A47-8180-5982BC7169C3}"/>
              </a:ext>
            </a:extLst>
          </p:cNvPr>
          <p:cNvSpPr>
            <a:spLocks noGrp="1"/>
          </p:cNvSpPr>
          <p:nvPr>
            <p:ph type="dt" sz="half" idx="10"/>
          </p:nvPr>
        </p:nvSpPr>
        <p:spPr/>
        <p:txBody>
          <a:bodyPr/>
          <a:lstStyle/>
          <a:p>
            <a:fld id="{87AAD159-4624-1C4D-A2E6-BF3F6AEC32A0}" type="datetime1">
              <a:rPr lang="en-CA" smtClean="0"/>
              <a:t>2024-07-26</a:t>
            </a:fld>
            <a:endParaRPr lang="en-US"/>
          </a:p>
        </p:txBody>
      </p:sp>
      <p:sp>
        <p:nvSpPr>
          <p:cNvPr id="8" name="Footer Placeholder 7">
            <a:extLst>
              <a:ext uri="{FF2B5EF4-FFF2-40B4-BE49-F238E27FC236}">
                <a16:creationId xmlns:a16="http://schemas.microsoft.com/office/drawing/2014/main" id="{B87FE52F-A6E2-0743-8D01-E36529B1BE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9CAE1E-9BE3-CB4D-8A45-1AF5292A699E}"/>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2547789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260FA-53C4-744A-919E-8A164C0286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E8479A-CBED-5F4E-BB82-AA6E05410D2C}"/>
              </a:ext>
            </a:extLst>
          </p:cNvPr>
          <p:cNvSpPr>
            <a:spLocks noGrp="1"/>
          </p:cNvSpPr>
          <p:nvPr>
            <p:ph type="dt" sz="half" idx="10"/>
          </p:nvPr>
        </p:nvSpPr>
        <p:spPr/>
        <p:txBody>
          <a:bodyPr/>
          <a:lstStyle/>
          <a:p>
            <a:fld id="{A3B4288B-9761-5D45-8B5E-3ABD4AEA5506}" type="datetime1">
              <a:rPr lang="en-CA" smtClean="0"/>
              <a:t>2024-07-26</a:t>
            </a:fld>
            <a:endParaRPr lang="en-US"/>
          </a:p>
        </p:txBody>
      </p:sp>
      <p:sp>
        <p:nvSpPr>
          <p:cNvPr id="4" name="Footer Placeholder 3">
            <a:extLst>
              <a:ext uri="{FF2B5EF4-FFF2-40B4-BE49-F238E27FC236}">
                <a16:creationId xmlns:a16="http://schemas.microsoft.com/office/drawing/2014/main" id="{92034737-D5C6-154C-8C74-343D845721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9EF8D4-887C-5844-9B8A-B7E1996E65AC}"/>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2249162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C07AAA-F36D-4640-80D3-6B6ED29BA5D9}"/>
              </a:ext>
            </a:extLst>
          </p:cNvPr>
          <p:cNvSpPr>
            <a:spLocks noGrp="1"/>
          </p:cNvSpPr>
          <p:nvPr>
            <p:ph type="dt" sz="half" idx="10"/>
          </p:nvPr>
        </p:nvSpPr>
        <p:spPr/>
        <p:txBody>
          <a:bodyPr/>
          <a:lstStyle/>
          <a:p>
            <a:fld id="{997ED9F2-FCAA-1C4B-B4CA-BCC8AFF31657}" type="datetime1">
              <a:rPr lang="en-CA" smtClean="0"/>
              <a:t>2024-07-26</a:t>
            </a:fld>
            <a:endParaRPr lang="en-US"/>
          </a:p>
        </p:txBody>
      </p:sp>
      <p:sp>
        <p:nvSpPr>
          <p:cNvPr id="3" name="Footer Placeholder 2">
            <a:extLst>
              <a:ext uri="{FF2B5EF4-FFF2-40B4-BE49-F238E27FC236}">
                <a16:creationId xmlns:a16="http://schemas.microsoft.com/office/drawing/2014/main" id="{B68E6B30-76FD-BA49-A00D-D52E3AA8F4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E28650-A81D-5E45-A0B6-8A1746611306}"/>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2976864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070D-C492-394D-817F-2FF74C0FA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05F2EA-1707-314E-BB62-EF058668E8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03FD4-5F63-C244-B421-0FC58AF2F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E8089-07A9-9D4B-AB87-11802219683D}"/>
              </a:ext>
            </a:extLst>
          </p:cNvPr>
          <p:cNvSpPr>
            <a:spLocks noGrp="1"/>
          </p:cNvSpPr>
          <p:nvPr>
            <p:ph type="dt" sz="half" idx="10"/>
          </p:nvPr>
        </p:nvSpPr>
        <p:spPr/>
        <p:txBody>
          <a:bodyPr/>
          <a:lstStyle/>
          <a:p>
            <a:fld id="{418615BD-8765-674E-AA0D-E3B696B0BE59}" type="datetime1">
              <a:rPr lang="en-CA" smtClean="0"/>
              <a:t>2024-07-26</a:t>
            </a:fld>
            <a:endParaRPr lang="en-US"/>
          </a:p>
        </p:txBody>
      </p:sp>
      <p:sp>
        <p:nvSpPr>
          <p:cNvPr id="6" name="Footer Placeholder 5">
            <a:extLst>
              <a:ext uri="{FF2B5EF4-FFF2-40B4-BE49-F238E27FC236}">
                <a16:creationId xmlns:a16="http://schemas.microsoft.com/office/drawing/2014/main" id="{BCDD42DD-7474-5E4B-9763-EE7606CF4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68BD5-3D32-3244-A487-B42497A89200}"/>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1722527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F7A53-A850-894C-9D7C-010AC51E2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DC1B4C-A6A2-2B43-962C-6C69321958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26EB1E-4AB2-9549-BCC4-521AFD80D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BAD38-AF80-8242-B0FA-89B3A0999444}"/>
              </a:ext>
            </a:extLst>
          </p:cNvPr>
          <p:cNvSpPr>
            <a:spLocks noGrp="1"/>
          </p:cNvSpPr>
          <p:nvPr>
            <p:ph type="dt" sz="half" idx="10"/>
          </p:nvPr>
        </p:nvSpPr>
        <p:spPr/>
        <p:txBody>
          <a:bodyPr/>
          <a:lstStyle/>
          <a:p>
            <a:fld id="{0E66FD06-FEA8-DD4B-B47D-4F814A0A42CB}" type="datetime1">
              <a:rPr lang="en-CA" smtClean="0"/>
              <a:t>2024-07-26</a:t>
            </a:fld>
            <a:endParaRPr lang="en-US"/>
          </a:p>
        </p:txBody>
      </p:sp>
      <p:sp>
        <p:nvSpPr>
          <p:cNvPr id="6" name="Footer Placeholder 5">
            <a:extLst>
              <a:ext uri="{FF2B5EF4-FFF2-40B4-BE49-F238E27FC236}">
                <a16:creationId xmlns:a16="http://schemas.microsoft.com/office/drawing/2014/main" id="{85D4DBD6-98C6-5742-A9B7-8A72A99AF9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3651E-306A-8C4E-8E09-9A8D375071C4}"/>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153630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7094-F353-2541-903F-838734E3B7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004381-2511-0942-B723-9B7454C2AB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448924-9A55-9642-BEE0-EFC7D2C548BB}"/>
              </a:ext>
            </a:extLst>
          </p:cNvPr>
          <p:cNvSpPr>
            <a:spLocks noGrp="1"/>
          </p:cNvSpPr>
          <p:nvPr>
            <p:ph type="dt" sz="half" idx="10"/>
          </p:nvPr>
        </p:nvSpPr>
        <p:spPr/>
        <p:txBody>
          <a:bodyPr/>
          <a:lstStyle/>
          <a:p>
            <a:fld id="{D60BE0BC-7159-C542-9219-5A7CDC726DB1}" type="datetime1">
              <a:rPr lang="en-CA" smtClean="0"/>
              <a:t>2024-07-26</a:t>
            </a:fld>
            <a:endParaRPr lang="en-US"/>
          </a:p>
        </p:txBody>
      </p:sp>
      <p:sp>
        <p:nvSpPr>
          <p:cNvPr id="5" name="Footer Placeholder 4">
            <a:extLst>
              <a:ext uri="{FF2B5EF4-FFF2-40B4-BE49-F238E27FC236}">
                <a16:creationId xmlns:a16="http://schemas.microsoft.com/office/drawing/2014/main" id="{F11D52F3-3D74-A94B-BA25-415CD1722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A7EF1-97A4-E044-B272-55F1D49F300B}"/>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1280710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B1F322-FBC5-154E-8549-CD28D7C7D7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314BB7-878F-764F-BB3D-D0BFC01466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3091A4-B3B1-524E-AF1C-AC2AD26B7C80}"/>
              </a:ext>
            </a:extLst>
          </p:cNvPr>
          <p:cNvSpPr>
            <a:spLocks noGrp="1"/>
          </p:cNvSpPr>
          <p:nvPr>
            <p:ph type="dt" sz="half" idx="10"/>
          </p:nvPr>
        </p:nvSpPr>
        <p:spPr/>
        <p:txBody>
          <a:bodyPr/>
          <a:lstStyle/>
          <a:p>
            <a:fld id="{8C076AB6-BA28-8F44-9CF6-F835B9D46CB5}" type="datetime1">
              <a:rPr lang="en-CA" smtClean="0"/>
              <a:t>2024-07-26</a:t>
            </a:fld>
            <a:endParaRPr lang="en-US"/>
          </a:p>
        </p:txBody>
      </p:sp>
      <p:sp>
        <p:nvSpPr>
          <p:cNvPr id="5" name="Footer Placeholder 4">
            <a:extLst>
              <a:ext uri="{FF2B5EF4-FFF2-40B4-BE49-F238E27FC236}">
                <a16:creationId xmlns:a16="http://schemas.microsoft.com/office/drawing/2014/main" id="{21739A28-04E0-1949-8AEA-2E6948BB6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78273-8B59-C442-A1D3-C82C2E40B227}"/>
              </a:ext>
            </a:extLst>
          </p:cNvPr>
          <p:cNvSpPr>
            <a:spLocks noGrp="1"/>
          </p:cNvSpPr>
          <p:nvPr>
            <p:ph type="sldNum" sz="quarter" idx="12"/>
          </p:nvPr>
        </p:nvSpPr>
        <p:spPr/>
        <p:txBody>
          <a:bodyPr/>
          <a:lstStyle/>
          <a:p>
            <a:fld id="{77C70584-727D-3042-B647-9AD6EF4C2F51}" type="slidenum">
              <a:rPr lang="en-US" smtClean="0"/>
              <a:t>‹#›</a:t>
            </a:fld>
            <a:endParaRPr lang="en-US"/>
          </a:p>
        </p:txBody>
      </p:sp>
    </p:spTree>
    <p:extLst>
      <p:ext uri="{BB962C8B-B14F-4D97-AF65-F5344CB8AC3E}">
        <p14:creationId xmlns:p14="http://schemas.microsoft.com/office/powerpoint/2010/main" val="2866948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9575E-F44C-2248-B92F-77DBCB42AC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B7ADB1-3697-FD4D-B045-E16F3BA1B8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EAB4A1-EEA6-204B-9150-9B3D701C824A}"/>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F126B693-0FB9-7146-ABC9-83BB1C0EF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13BE11-6319-A54D-9563-0FF251CF56F0}"/>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1925657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364E8-E7F3-5146-8E0F-71CAF8A0F9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B21C5A-4317-A246-A313-34DDA17031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97622-0781-984F-B9D5-A8F107395588}"/>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63D7209E-1889-EC48-8C1F-E7F45522F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7AEE4-4BDA-324E-8C84-FD0648D25F62}"/>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1816291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CE81D-90C0-EC42-8298-2DD5A08959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CD8279-00F2-0B4D-978C-5805FB52FC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25F1AE-308D-F44A-9DB0-05BFC9545EEC}"/>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32FDFEF8-7D44-EF47-A27C-8B8DECF14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55EEC2-1D58-A04C-A982-AF95F8AD1C38}"/>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3670833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133DB-5370-264E-A5FC-6F83D66A34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B065A-9D80-3445-A756-DB305D0721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A57C2-F8E0-2541-93E3-33B8D209D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D845FA-4ECE-B54F-8C3D-36679C57BF4B}"/>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6" name="Footer Placeholder 5">
            <a:extLst>
              <a:ext uri="{FF2B5EF4-FFF2-40B4-BE49-F238E27FC236}">
                <a16:creationId xmlns:a16="http://schemas.microsoft.com/office/drawing/2014/main" id="{78A26C5A-96C4-CD42-84CC-CAA5FA8E21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B5330-29AD-B34E-94F4-0AC496F1AFAE}"/>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3565661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004B-B8BA-1C46-8544-77A8B294E1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CE059-E3FF-864C-BF57-97FC27EF00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BEAFE-F6A8-F94B-A4A7-B1F08EB807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28CDCC-3B43-A14D-9BC7-D36FAFBD54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161DD3-1EAB-6446-BC88-706CD7AA8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5B4ED7-6055-C444-B6A7-DE2F82A1D1AB}"/>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8" name="Footer Placeholder 7">
            <a:extLst>
              <a:ext uri="{FF2B5EF4-FFF2-40B4-BE49-F238E27FC236}">
                <a16:creationId xmlns:a16="http://schemas.microsoft.com/office/drawing/2014/main" id="{7DB6B5B0-B318-9F45-86A5-4E021C8B9A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9FB00B-A524-3A40-A33C-8C3D589EBF84}"/>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39070313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15DD-E332-704F-B4A2-675372FE3A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2FDECF-19C7-DD46-A6A2-46627F8D2BEC}"/>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4" name="Footer Placeholder 3">
            <a:extLst>
              <a:ext uri="{FF2B5EF4-FFF2-40B4-BE49-F238E27FC236}">
                <a16:creationId xmlns:a16="http://schemas.microsoft.com/office/drawing/2014/main" id="{40A6F3E3-C629-3347-A137-57F49E5527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D5A5D2-C078-AA44-99F9-2E556577823C}"/>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23990924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D7B1DF-3949-4648-A15F-AFF5623FE7B4}"/>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3" name="Footer Placeholder 2">
            <a:extLst>
              <a:ext uri="{FF2B5EF4-FFF2-40B4-BE49-F238E27FC236}">
                <a16:creationId xmlns:a16="http://schemas.microsoft.com/office/drawing/2014/main" id="{5033BF39-722D-DB41-9C0F-C7A2358583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EB492A-F3FF-C943-9568-6F9B1E230BA5}"/>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9105166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212DF-B210-D34A-A147-77D4BE43AD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A9E3D4-F8F8-B54D-92EE-6B077DBCFC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E80CB-D0EB-494D-903D-D53662BAD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E530CC-412C-8142-AE61-27A6B4B46E41}"/>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6" name="Footer Placeholder 5">
            <a:extLst>
              <a:ext uri="{FF2B5EF4-FFF2-40B4-BE49-F238E27FC236}">
                <a16:creationId xmlns:a16="http://schemas.microsoft.com/office/drawing/2014/main" id="{02556D0E-80D7-C24D-BA54-0EB398284C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80E77-8C3C-544A-BB0C-40AE0B3B6B7C}"/>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1934994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E7D06-B519-2A4E-851C-AC962C0C96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3C5484-1DE4-DC44-BD40-F25217D817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609802-1F30-0645-A800-85F4CF465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8CD09E-D62C-8C47-9C53-A18652AE045E}"/>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6" name="Footer Placeholder 5">
            <a:extLst>
              <a:ext uri="{FF2B5EF4-FFF2-40B4-BE49-F238E27FC236}">
                <a16:creationId xmlns:a16="http://schemas.microsoft.com/office/drawing/2014/main" id="{E5D0F6A4-551C-8246-BFE1-3F596EA92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7567BA-D87C-5E48-B734-3398B84090E4}"/>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1774680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9C548-1F48-1645-9399-EF27B05ECC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B94CCF-6C93-CA4F-8318-FD73095D7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4C742-6C2C-3945-A56A-8EF69A0F6203}"/>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F4C32ED7-3F25-FF42-B680-4A3F3794C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63CDC-27E4-4F4A-912C-0DEBC868E0A9}"/>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16248241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5122C3-91B8-4745-9EE2-342153B37C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2A427B-6985-E84D-A912-9713C0243F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B8804F-20FE-3D43-AB47-5ED6E09887CE}"/>
              </a:ext>
            </a:extLst>
          </p:cNvPr>
          <p:cNvSpPr>
            <a:spLocks noGrp="1"/>
          </p:cNvSpPr>
          <p:nvPr>
            <p:ph type="dt" sz="half" idx="10"/>
          </p:nvPr>
        </p:nvSpPr>
        <p:spPr/>
        <p:txBody>
          <a:body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41B56D41-18EC-0E4F-B81C-5A6C4A4C70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46BD9-0D3C-C642-B641-432B37FAB2A1}"/>
              </a:ext>
            </a:extLst>
          </p:cNvPr>
          <p:cNvSpPr>
            <a:spLocks noGrp="1"/>
          </p:cNvSpPr>
          <p:nvPr>
            <p:ph type="sldNum" sz="quarter" idx="12"/>
          </p:nvPr>
        </p:nvSpPr>
        <p:spPr/>
        <p:txBody>
          <a:bodyPr/>
          <a:lstStyle/>
          <a:p>
            <a:fld id="{AF25ADAF-0B79-2A49-880F-4D626DC729EB}" type="slidenum">
              <a:rPr lang="en-US" smtClean="0"/>
              <a:t>‹#›</a:t>
            </a:fld>
            <a:endParaRPr lang="en-US"/>
          </a:p>
        </p:txBody>
      </p:sp>
    </p:spTree>
    <p:extLst>
      <p:ext uri="{BB962C8B-B14F-4D97-AF65-F5344CB8AC3E}">
        <p14:creationId xmlns:p14="http://schemas.microsoft.com/office/powerpoint/2010/main" val="4890517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05EF9-E677-D74A-938C-6F4D9F858F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AAC880-EDC8-BE4D-8E16-CE644EEF4C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7C5441-B30A-B24D-951E-9DD64AC871CA}"/>
              </a:ext>
            </a:extLst>
          </p:cNvPr>
          <p:cNvSpPr>
            <a:spLocks noGrp="1"/>
          </p:cNvSpPr>
          <p:nvPr>
            <p:ph type="dt" sz="half" idx="10"/>
          </p:nvPr>
        </p:nvSpPr>
        <p:spPr/>
        <p:txBody>
          <a:bodyPr/>
          <a:lstStyle/>
          <a:p>
            <a:fld id="{F565DBE3-FCA1-2148-B187-5A2EF6773117}"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AB758ED7-49C4-4F4F-A56E-A8FB8F45A46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B1134E2-98A7-0B4E-9806-5E392873FC51}"/>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13400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530B4-BC9A-6F40-A85D-3BC8FFC3C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F8A8C0-E16C-B14D-BF4C-43035A3CF9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8BD964-6E1B-4C4E-B481-93053C11C98A}"/>
              </a:ext>
            </a:extLst>
          </p:cNvPr>
          <p:cNvSpPr>
            <a:spLocks noGrp="1"/>
          </p:cNvSpPr>
          <p:nvPr>
            <p:ph type="dt" sz="half" idx="10"/>
          </p:nvPr>
        </p:nvSpPr>
        <p:spPr/>
        <p:txBody>
          <a:bodyPr/>
          <a:lstStyle/>
          <a:p>
            <a:fld id="{594164EC-3916-DE43-919E-83BBF2758563}"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FCE98E2-3824-A744-AB1E-5501FFD1EAC0}"/>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38CA455-E575-EA48-B668-D8F432BEDA8A}"/>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588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EFDB3-68B7-1D48-A449-CD1D460CB0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048658-A3BE-DF46-B9AD-69CC27841C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C8F632-EBC4-B845-A11D-3F7FB61902CE}"/>
              </a:ext>
            </a:extLst>
          </p:cNvPr>
          <p:cNvSpPr>
            <a:spLocks noGrp="1"/>
          </p:cNvSpPr>
          <p:nvPr>
            <p:ph type="dt" sz="half" idx="10"/>
          </p:nvPr>
        </p:nvSpPr>
        <p:spPr/>
        <p:txBody>
          <a:bodyPr/>
          <a:lstStyle/>
          <a:p>
            <a:fld id="{512381EC-D1AF-8044-81B9-06761EF674E9}"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F17F6352-2DF1-5D41-92BF-3437E7D6D65E}"/>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D4F7DF2-82D9-324B-8EE6-B69274983F29}"/>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380167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97D4-A26B-AD47-B7FE-2273F09F75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D9283-A4FF-4344-93D7-A287DA25A8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C4CD64-E912-FE41-BBDD-46230B1B09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D64B48-A95F-284B-9963-9C206CD5C609}"/>
              </a:ext>
            </a:extLst>
          </p:cNvPr>
          <p:cNvSpPr>
            <a:spLocks noGrp="1"/>
          </p:cNvSpPr>
          <p:nvPr>
            <p:ph type="dt" sz="half" idx="10"/>
          </p:nvPr>
        </p:nvSpPr>
        <p:spPr/>
        <p:txBody>
          <a:bodyPr/>
          <a:lstStyle/>
          <a:p>
            <a:fld id="{8BA998E4-8200-5E48-A6DF-13C287A553EC}" type="datetime1">
              <a:rPr lang="en-CA" smtClean="0">
                <a:solidFill>
                  <a:prstClr val="black">
                    <a:tint val="75000"/>
                  </a:prstClr>
                </a:solidFill>
              </a:rPr>
              <a:t>2024-07-26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039DB703-2D34-4E42-A579-E6C212369C61}"/>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14EB3A87-4335-894C-B61F-037B8E0ED966}"/>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34037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A6635-C7BE-494F-87B3-8527928BF8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3C8830-65B2-6E47-8B77-30FB51B67F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927F27-E4F1-524A-A762-14071B57E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418B86-21FC-F248-ABFA-6E06CBFA41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F67005-0D59-B245-B9FB-76D1DEAD8B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363861-3968-CF48-93CC-1E83589DEFC2}"/>
              </a:ext>
            </a:extLst>
          </p:cNvPr>
          <p:cNvSpPr>
            <a:spLocks noGrp="1"/>
          </p:cNvSpPr>
          <p:nvPr>
            <p:ph type="dt" sz="half" idx="10"/>
          </p:nvPr>
        </p:nvSpPr>
        <p:spPr/>
        <p:txBody>
          <a:bodyPr/>
          <a:lstStyle/>
          <a:p>
            <a:fld id="{6BEA2C25-DAFB-BE45-8ABF-57DF40F9B20D}" type="datetime1">
              <a:rPr lang="en-CA" smtClean="0">
                <a:solidFill>
                  <a:prstClr val="black">
                    <a:tint val="75000"/>
                  </a:prstClr>
                </a:solidFill>
              </a:rPr>
              <a:t>2024-07-26</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165EE204-6F58-FC40-8B36-6816ADE55419}"/>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997C2A4B-B461-DC49-AF14-3E012772E6FA}"/>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222804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673F-D3B1-D74F-BDAE-30F6929CDE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10CB7B-D0E3-7340-865D-D98205A11987}"/>
              </a:ext>
            </a:extLst>
          </p:cNvPr>
          <p:cNvSpPr>
            <a:spLocks noGrp="1"/>
          </p:cNvSpPr>
          <p:nvPr>
            <p:ph type="dt" sz="half" idx="10"/>
          </p:nvPr>
        </p:nvSpPr>
        <p:spPr/>
        <p:txBody>
          <a:bodyPr/>
          <a:lstStyle/>
          <a:p>
            <a:fld id="{45D48CC0-1953-D34D-A071-F8483A5A7152}" type="datetime1">
              <a:rPr lang="en-CA" smtClean="0">
                <a:solidFill>
                  <a:prstClr val="black">
                    <a:tint val="75000"/>
                  </a:prstClr>
                </a:solidFill>
              </a:rPr>
              <a:t>2024-07-26</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0C40639C-2178-5940-8C80-D5DC7064A879}"/>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149D73C5-51B2-FA48-831A-5E1FCB0D42F1}"/>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59660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33A253-A751-BF45-9B1C-9E65C7C6BE89}"/>
              </a:ext>
            </a:extLst>
          </p:cNvPr>
          <p:cNvSpPr>
            <a:spLocks noGrp="1"/>
          </p:cNvSpPr>
          <p:nvPr>
            <p:ph type="dt" sz="half" idx="10"/>
          </p:nvPr>
        </p:nvSpPr>
        <p:spPr/>
        <p:txBody>
          <a:bodyPr/>
          <a:lstStyle/>
          <a:p>
            <a:fld id="{0D186F07-8C3F-6340-BC6C-A0A95C90292A}" type="datetime1">
              <a:rPr lang="en-CA" smtClean="0">
                <a:solidFill>
                  <a:prstClr val="black">
                    <a:tint val="75000"/>
                  </a:prstClr>
                </a:solidFill>
              </a:rPr>
              <a:t>2024-07-26</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5B455B92-028D-C944-95EC-F21001B2A758}"/>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A7A1F577-1B3A-2E44-A133-F3DEA1AA93A0}"/>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89395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0E96-EB5F-CD4A-A1A6-569B3F27A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4F10B6-5076-E048-B9D0-1C635E73D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8855A1-AE3F-8C47-8D6E-C3E9A10C50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C2B44-2473-AB4D-8BCD-DF88BC67E02A}"/>
              </a:ext>
            </a:extLst>
          </p:cNvPr>
          <p:cNvSpPr>
            <a:spLocks noGrp="1"/>
          </p:cNvSpPr>
          <p:nvPr>
            <p:ph type="dt" sz="half" idx="10"/>
          </p:nvPr>
        </p:nvSpPr>
        <p:spPr/>
        <p:txBody>
          <a:bodyPr/>
          <a:lstStyle/>
          <a:p>
            <a:fld id="{EAF08877-9908-FC48-8EDC-BD7C79F2CD76}" type="datetime1">
              <a:rPr lang="en-CA" smtClean="0">
                <a:solidFill>
                  <a:prstClr val="black">
                    <a:tint val="75000"/>
                  </a:prstClr>
                </a:solidFill>
              </a:rPr>
              <a:t>2024-07-26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8CA2892C-FA5E-C749-936A-152F80B76D2C}"/>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1756ABEE-E946-2A46-B5AF-0CAABA054136}"/>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93268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A1F3-8BB4-DC4E-A2AE-F51E19A9A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DF0E07-0D74-4345-8C38-3B893223D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9B73CF-E9FE-E04F-9E47-2BE84AACC9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1EF4B-A979-9740-B980-AA383E6AC0A4}"/>
              </a:ext>
            </a:extLst>
          </p:cNvPr>
          <p:cNvSpPr>
            <a:spLocks noGrp="1"/>
          </p:cNvSpPr>
          <p:nvPr>
            <p:ph type="dt" sz="half" idx="10"/>
          </p:nvPr>
        </p:nvSpPr>
        <p:spPr/>
        <p:txBody>
          <a:bodyPr/>
          <a:lstStyle/>
          <a:p>
            <a:fld id="{E7131159-34E3-1341-8E61-2FDE7A7ED691}" type="datetime1">
              <a:rPr lang="en-CA" smtClean="0">
                <a:solidFill>
                  <a:prstClr val="black">
                    <a:tint val="75000"/>
                  </a:prstClr>
                </a:solidFill>
              </a:rPr>
              <a:t>2024-07-26</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0CA44A02-5C9B-354A-A603-3A0ACFA8D10F}"/>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FC768DF0-3979-8348-99E1-8AC0242B5166}"/>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58937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5367F-8728-1244-8233-D61C0C4A4F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428FA-D102-AA46-B497-C5666F3BF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DE1517-92B3-F247-80B9-ACEF9BC0E709}"/>
              </a:ext>
            </a:extLst>
          </p:cNvPr>
          <p:cNvSpPr>
            <a:spLocks noGrp="1"/>
          </p:cNvSpPr>
          <p:nvPr>
            <p:ph type="dt" sz="half" idx="10"/>
          </p:nvPr>
        </p:nvSpPr>
        <p:spPr/>
        <p:txBody>
          <a:bodyPr/>
          <a:lstStyle/>
          <a:p>
            <a:fld id="{3EF35B82-424C-E743-8781-AD58E46209F6}"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FF90506-5B0A-1747-84CF-BE9524FB28E8}"/>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9E0676C-E082-E541-94EC-A9F4AC6290FE}"/>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8908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5AA3F2-A58A-ED4F-BDC5-7D66698C76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28DDB9-956D-5F43-92E5-D083E2E312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B9759B-AC05-2041-BD7B-CDAB7238FBB4}"/>
              </a:ext>
            </a:extLst>
          </p:cNvPr>
          <p:cNvSpPr>
            <a:spLocks noGrp="1"/>
          </p:cNvSpPr>
          <p:nvPr>
            <p:ph type="dt" sz="half" idx="10"/>
          </p:nvPr>
        </p:nvSpPr>
        <p:spPr/>
        <p:txBody>
          <a:bodyPr/>
          <a:lstStyle/>
          <a:p>
            <a:fld id="{155AC2BB-028F-1649-9161-797F2935AC01}"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346BE8A-96D1-E74F-9D09-93C88D2C0566}"/>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DCEFFA2-1DC5-0C41-8546-3FFA364CDECF}"/>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102985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15600" y="2867800"/>
            <a:ext cx="11360800" cy="1122400"/>
          </a:xfrm>
          <a:prstGeom prst="rect">
            <a:avLst/>
          </a:prstGeom>
        </p:spPr>
        <p:txBody>
          <a:bodyPr lIns="91425" tIns="91425" rIns="91425" bIns="91425"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ldNum" idx="12"/>
          </p:nvPr>
        </p:nvSpPr>
        <p:spPr>
          <a:xfrm>
            <a:off x="11296609" y="6217621"/>
            <a:ext cx="731600" cy="524800"/>
          </a:xfrm>
          <a:prstGeom prst="rect">
            <a:avLst/>
          </a:prstGeom>
        </p:spPr>
        <p:txBody>
          <a:bodyPr lIns="91425" tIns="91425" rIns="91425" bIns="91425" anchor="ctr" anchorCtr="0">
            <a:noAutofit/>
          </a:bodyPr>
          <a:lstStyle/>
          <a:p>
            <a:fld id="{00000000-1234-1234-1234-123412341234}" type="slidenum">
              <a:rPr lang="en" smtClean="0">
                <a:solidFill>
                  <a:prstClr val="black">
                    <a:tint val="75000"/>
                  </a:prstClr>
                </a:solidFill>
              </a:rPr>
              <a:pPr/>
              <a:t>‹#›</a:t>
            </a:fld>
            <a:endParaRPr lang="en">
              <a:solidFill>
                <a:prstClr val="black">
                  <a:tint val="75000"/>
                </a:prstClr>
              </a:solidFill>
            </a:endParaRPr>
          </a:p>
        </p:txBody>
      </p:sp>
    </p:spTree>
    <p:extLst>
      <p:ext uri="{BB962C8B-B14F-4D97-AF65-F5344CB8AC3E}">
        <p14:creationId xmlns:p14="http://schemas.microsoft.com/office/powerpoint/2010/main" val="2296011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71900-2C84-624F-BB67-0DBB6C1692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46E927-33BB-6047-B2A9-1DC39DE944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74A462-6D23-4C43-AE3F-6004BB106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1E3150-2131-B940-94B1-E5FBBBCF2C4C}" type="datetime1">
              <a:rPr lang="en-CA" smtClean="0"/>
              <a:t>2024-07-26</a:t>
            </a:fld>
            <a:endParaRPr lang="en-US"/>
          </a:p>
        </p:txBody>
      </p:sp>
      <p:sp>
        <p:nvSpPr>
          <p:cNvPr id="5" name="Footer Placeholder 4">
            <a:extLst>
              <a:ext uri="{FF2B5EF4-FFF2-40B4-BE49-F238E27FC236}">
                <a16:creationId xmlns:a16="http://schemas.microsoft.com/office/drawing/2014/main" id="{B5C8ED31-839F-384B-9199-C84C5FE78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D5D58C-91AB-D240-86D3-47808B5184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70584-727D-3042-B647-9AD6EF4C2F51}" type="slidenum">
              <a:rPr lang="en-US" smtClean="0"/>
              <a:t>‹#›</a:t>
            </a:fld>
            <a:endParaRPr lang="en-US"/>
          </a:p>
        </p:txBody>
      </p:sp>
    </p:spTree>
    <p:extLst>
      <p:ext uri="{BB962C8B-B14F-4D97-AF65-F5344CB8AC3E}">
        <p14:creationId xmlns:p14="http://schemas.microsoft.com/office/powerpoint/2010/main" val="35427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BF5A0-FB40-7E4B-ABFF-6A32C9D24C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044103-CFE8-CB48-B963-678FB2619D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D8072E-525C-F248-BF09-05DC14DAC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CFDD60-845C-1847-8F3E-1C4735D3EE47}" type="datetimeFigureOut">
              <a:rPr lang="en-US" smtClean="0"/>
              <a:t>7/26/24</a:t>
            </a:fld>
            <a:endParaRPr lang="en-US"/>
          </a:p>
        </p:txBody>
      </p:sp>
      <p:sp>
        <p:nvSpPr>
          <p:cNvPr id="5" name="Footer Placeholder 4">
            <a:extLst>
              <a:ext uri="{FF2B5EF4-FFF2-40B4-BE49-F238E27FC236}">
                <a16:creationId xmlns:a16="http://schemas.microsoft.com/office/drawing/2014/main" id="{2EDE5F67-BDE7-B24B-945C-2F58C4C257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A333456-7DA9-A646-A954-17DF50C61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5ADAF-0B79-2A49-880F-4D626DC729EB}" type="slidenum">
              <a:rPr lang="en-US" smtClean="0"/>
              <a:t>‹#›</a:t>
            </a:fld>
            <a:endParaRPr lang="en-US"/>
          </a:p>
        </p:txBody>
      </p:sp>
    </p:spTree>
    <p:extLst>
      <p:ext uri="{BB962C8B-B14F-4D97-AF65-F5344CB8AC3E}">
        <p14:creationId xmlns:p14="http://schemas.microsoft.com/office/powerpoint/2010/main" val="111143371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D65873-547C-4C47-9558-C3597A3177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9068CD-6C91-474D-BAAE-7538021EFD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5036F5-B1E3-D74E-AEB3-9F924A435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626E5-A8C3-5E44-8152-6112F77D24B3}" type="datetime1">
              <a:rPr lang="en-CA" smtClean="0">
                <a:solidFill>
                  <a:prstClr val="black">
                    <a:tint val="75000"/>
                  </a:prstClr>
                </a:solidFill>
              </a:rPr>
              <a:t>2024-07-26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37571F16-C655-E24C-917E-CF06A47F4D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8F08D2F-C2B8-4849-AF2F-FC2FB89664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8FBB84-544C-A04C-A3A4-7697852BFAF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69605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cpdl.org/wiki/index.php/M%C3%BAsica_Colonial_Archiv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hyperlink" Target="http://diybookscanner.or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youtu.be/VDbJQSMjB0s?t=15" TargetMode="External"/><Relationship Id="rId2" Type="http://schemas.openxmlformats.org/officeDocument/2006/relationships/notesSlide" Target="../notesSlides/notesSlide14.xml"/><Relationship Id="rId1" Type="http://schemas.openxmlformats.org/officeDocument/2006/relationships/slideLayout" Target="../slideLayouts/slideLayout26.xml"/><Relationship Id="rId6" Type="http://schemas.openxmlformats.org/officeDocument/2006/relationships/image" Target="../media/image7.png"/><Relationship Id="rId5" Type="http://schemas.openxmlformats.org/officeDocument/2006/relationships/hyperlink" Target="https://youtu.be/ULAE4sE2Wqg"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youtu.be/4KFCom8Vndo"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https://youtu.be/cDn3b8RsQBM?t"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hyperlink" Target="https://martha-thomae.github.io/projects/digit_guatemala" TargetMode="External"/><Relationship Id="rId2" Type="http://schemas.openxmlformats.org/officeDocument/2006/relationships/notesSlide" Target="../notesSlides/notesSlide26.xml"/><Relationship Id="rId1" Type="http://schemas.openxmlformats.org/officeDocument/2006/relationships/slideLayout" Target="../slideLayouts/slideLayout24.xml"/><Relationship Id="rId5" Type="http://schemas.openxmlformats.org/officeDocument/2006/relationships/hyperlink" Target="https://doi.org/10.1145/3543882.3543885" TargetMode="External"/><Relationship Id="rId4" Type="http://schemas.openxmlformats.org/officeDocument/2006/relationships/hyperlink" Target="https://www.youtube.com/playlist?list=PLC08PttZdHNBpl8z1MV2U3UZFNBL3jQ5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hyperlink" Target="https://martha-thomae.github.io/projects/digit_guatemala" TargetMode="External"/><Relationship Id="rId2" Type="http://schemas.openxmlformats.org/officeDocument/2006/relationships/notesSlide" Target="../notesSlides/notesSlide29.xml"/><Relationship Id="rId16" Type="http://schemas.openxmlformats.org/officeDocument/2006/relationships/hyperlink" Target="mailto:marthathomae@fcsh.unl.pt" TargetMode="External"/><Relationship Id="rId1" Type="http://schemas.openxmlformats.org/officeDocument/2006/relationships/slideLayout" Target="../slideLayouts/slideLayout2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39.jpeg"/><Relationship Id="rId5" Type="http://schemas.openxmlformats.org/officeDocument/2006/relationships/image" Target="../media/image38.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8" Type="http://schemas.openxmlformats.org/officeDocument/2006/relationships/image" Target="../media/image39.jpeg"/><Relationship Id="rId13" Type="http://schemas.openxmlformats.org/officeDocument/2006/relationships/image" Target="../media/image38.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36.jpeg"/><Relationship Id="rId5" Type="http://schemas.openxmlformats.org/officeDocument/2006/relationships/diagramQuickStyle" Target="../diagrams/quickStyle1.xml"/><Relationship Id="rId10" Type="http://schemas.openxmlformats.org/officeDocument/2006/relationships/image" Target="../media/image41.png"/><Relationship Id="rId4" Type="http://schemas.openxmlformats.org/officeDocument/2006/relationships/diagramLayout" Target="../diagrams/layout1.xml"/><Relationship Id="rId9" Type="http://schemas.openxmlformats.org/officeDocument/2006/relationships/image" Target="../media/image40.png"/></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39.jpeg"/><Relationship Id="rId3" Type="http://schemas.openxmlformats.org/officeDocument/2006/relationships/image" Target="../media/image36.jpeg"/><Relationship Id="rId7" Type="http://schemas.openxmlformats.org/officeDocument/2006/relationships/image" Target="../media/image38.png"/><Relationship Id="rId12" Type="http://schemas.microsoft.com/office/2007/relationships/diagramDrawing" Target="../diagrams/drawing2.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diagramColors" Target="../diagrams/colors2.xml"/><Relationship Id="rId5" Type="http://schemas.openxmlformats.org/officeDocument/2006/relationships/image" Target="../media/image43.png"/><Relationship Id="rId15" Type="http://schemas.openxmlformats.org/officeDocument/2006/relationships/image" Target="../media/image41.png"/><Relationship Id="rId10" Type="http://schemas.openxmlformats.org/officeDocument/2006/relationships/diagramQuickStyle" Target="../diagrams/quickStyle2.xml"/><Relationship Id="rId4" Type="http://schemas.openxmlformats.org/officeDocument/2006/relationships/image" Target="../media/image42.png"/><Relationship Id="rId9" Type="http://schemas.openxmlformats.org/officeDocument/2006/relationships/diagramLayout" Target="../diagrams/layout2.xml"/><Relationship Id="rId14" Type="http://schemas.openxmlformats.org/officeDocument/2006/relationships/image" Target="../media/image4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D43EAEA4-7CED-5EF5-7EE4-DAD0CA14EC7C}"/>
              </a:ext>
            </a:extLst>
          </p:cNvPr>
          <p:cNvPicPr>
            <a:picLocks noChangeAspect="1"/>
          </p:cNvPicPr>
          <p:nvPr/>
        </p:nvPicPr>
        <p:blipFill rotWithShape="1">
          <a:blip r:embed="rId3" cstate="screen">
            <a:alphaModFix amt="54000"/>
            <a:extLst>
              <a:ext uri="{28A0092B-C50C-407E-A947-70E740481C1C}">
                <a14:useLocalDpi xmlns:a14="http://schemas.microsoft.com/office/drawing/2010/main"/>
              </a:ext>
            </a:extLst>
          </a:blip>
          <a:srcRect l="-14892"/>
          <a:stretch/>
        </p:blipFill>
        <p:spPr>
          <a:xfrm>
            <a:off x="2522358" y="10"/>
            <a:ext cx="9669642" cy="6857990"/>
          </a:xfrm>
          <a:prstGeom prst="rect">
            <a:avLst/>
          </a:prstGeom>
        </p:spPr>
      </p:pic>
      <p:sp>
        <p:nvSpPr>
          <p:cNvPr id="131" name="Rectangle 13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3A875F9-61C6-F78C-DAE6-21C883D96E5F}"/>
              </a:ext>
            </a:extLst>
          </p:cNvPr>
          <p:cNvSpPr>
            <a:spLocks noGrp="1"/>
          </p:cNvSpPr>
          <p:nvPr>
            <p:ph type="ctrTitle"/>
          </p:nvPr>
        </p:nvSpPr>
        <p:spPr>
          <a:xfrm>
            <a:off x="728664" y="743447"/>
            <a:ext cx="6446836" cy="2528393"/>
          </a:xfrm>
          <a:noFill/>
        </p:spPr>
        <p:txBody>
          <a:bodyPr vert="horz" lIns="91440" tIns="45720" rIns="91440" bIns="45720" rtlCol="0">
            <a:noAutofit/>
          </a:bodyPr>
          <a:lstStyle/>
          <a:p>
            <a:pPr algn="l"/>
            <a:r>
              <a:rPr lang="en-US" sz="3200" b="1" dirty="0"/>
              <a:t>From Manuscript to Pixel: </a:t>
            </a:r>
            <a:br>
              <a:rPr lang="en-US" sz="3200" b="1" dirty="0"/>
            </a:br>
            <a:r>
              <a:rPr lang="en-US" sz="3200" dirty="0"/>
              <a:t>Tips for a Digitizing Campaign and </a:t>
            </a:r>
            <a:br>
              <a:rPr lang="en-US" sz="3200" dirty="0"/>
            </a:br>
            <a:r>
              <a:rPr lang="en-US" sz="3200" dirty="0"/>
              <a:t>for Handling Endangered Sources </a:t>
            </a:r>
            <a:br>
              <a:rPr lang="en-US" sz="4000" b="1" dirty="0"/>
            </a:br>
            <a:br>
              <a:rPr lang="en-US" sz="1000" b="1" dirty="0"/>
            </a:br>
            <a:r>
              <a:rPr lang="en-US" sz="3200" b="1" dirty="0">
                <a:solidFill>
                  <a:schemeClr val="accent6">
                    <a:lumMod val="75000"/>
                  </a:schemeClr>
                </a:solidFill>
                <a:latin typeface="+mn-lt"/>
              </a:rPr>
              <a:t>Digitization of Polyphonic</a:t>
            </a:r>
            <a:br>
              <a:rPr lang="en-US" sz="3200" b="1" dirty="0">
                <a:solidFill>
                  <a:schemeClr val="accent6">
                    <a:lumMod val="75000"/>
                  </a:schemeClr>
                </a:solidFill>
                <a:latin typeface="+mn-lt"/>
              </a:rPr>
            </a:br>
            <a:r>
              <a:rPr lang="en-US" sz="3200" b="1" dirty="0">
                <a:solidFill>
                  <a:schemeClr val="accent6">
                    <a:lumMod val="75000"/>
                  </a:schemeClr>
                </a:solidFill>
                <a:latin typeface="+mn-lt"/>
              </a:rPr>
              <a:t>Choirbooks in Guatemala</a:t>
            </a:r>
            <a:endParaRPr lang="en-US" sz="3000" b="1" dirty="0">
              <a:solidFill>
                <a:schemeClr val="accent6">
                  <a:lumMod val="75000"/>
                </a:schemeClr>
              </a:solidFill>
              <a:latin typeface="+mn-lt"/>
            </a:endParaRPr>
          </a:p>
        </p:txBody>
      </p:sp>
      <p:sp>
        <p:nvSpPr>
          <p:cNvPr id="3" name="Subtitle 2">
            <a:extLst>
              <a:ext uri="{FF2B5EF4-FFF2-40B4-BE49-F238E27FC236}">
                <a16:creationId xmlns:a16="http://schemas.microsoft.com/office/drawing/2014/main" id="{8E316E16-AD2F-1EF3-563A-3AEDD12893CE}"/>
              </a:ext>
            </a:extLst>
          </p:cNvPr>
          <p:cNvSpPr>
            <a:spLocks noGrp="1"/>
          </p:cNvSpPr>
          <p:nvPr>
            <p:ph type="subTitle" idx="1"/>
          </p:nvPr>
        </p:nvSpPr>
        <p:spPr>
          <a:xfrm>
            <a:off x="838199" y="3586161"/>
            <a:ext cx="5035659" cy="2800350"/>
          </a:xfrm>
          <a:noFill/>
        </p:spPr>
        <p:txBody>
          <a:bodyPr vert="horz" lIns="91440" tIns="45720" rIns="91440" bIns="45720" rtlCol="0">
            <a:normAutofit fontScale="92500" lnSpcReduction="10000"/>
          </a:bodyPr>
          <a:lstStyle/>
          <a:p>
            <a:pPr algn="l">
              <a:lnSpc>
                <a:spcPct val="100000"/>
              </a:lnSpc>
              <a:spcBef>
                <a:spcPts val="0"/>
              </a:spcBef>
            </a:pPr>
            <a:r>
              <a:rPr lang="en-US" sz="2600" b="1" dirty="0"/>
              <a:t>Martha E. Thomae</a:t>
            </a:r>
          </a:p>
          <a:p>
            <a:pPr algn="l">
              <a:lnSpc>
                <a:spcPct val="100000"/>
              </a:lnSpc>
              <a:spcBef>
                <a:spcPts val="600"/>
              </a:spcBef>
              <a:spcAft>
                <a:spcPts val="1200"/>
              </a:spcAft>
            </a:pPr>
            <a:r>
              <a:rPr lang="en-US" sz="2200" b="1" dirty="0"/>
              <a:t>Postdoctoral research fellow at CESEM, </a:t>
            </a:r>
            <a:br>
              <a:rPr lang="en-US" sz="2200" b="1" dirty="0"/>
            </a:br>
            <a:r>
              <a:rPr lang="en-US" sz="2200" b="1" dirty="0"/>
              <a:t>NOVA University of Lisbon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CA" sz="2200" b="0" i="0" u="none" strike="noStrike" kern="1200" cap="none" spc="0" normalizeH="0" baseline="0" noProof="0" dirty="0">
                <a:ln>
                  <a:noFill/>
                </a:ln>
                <a:solidFill>
                  <a:schemeClr val="tx2"/>
                </a:solidFill>
                <a:effectLst/>
                <a:uLnTx/>
                <a:uFillTx/>
                <a:ea typeface="+mn-ea"/>
                <a:cs typeface="+mn-cs"/>
              </a:rPr>
              <a:t>Research Seminars Series </a:t>
            </a:r>
            <a:br>
              <a:rPr kumimoji="0" lang="en-CA" sz="2200" b="0" i="0" u="none" strike="noStrike" kern="1200" cap="none" spc="0" normalizeH="0" baseline="0" noProof="0" dirty="0">
                <a:ln>
                  <a:noFill/>
                </a:ln>
                <a:solidFill>
                  <a:schemeClr val="tx2"/>
                </a:solidFill>
                <a:effectLst/>
                <a:uLnTx/>
                <a:uFillTx/>
                <a:ea typeface="+mn-ea"/>
                <a:cs typeface="+mn-cs"/>
              </a:rPr>
            </a:br>
            <a:r>
              <a:rPr kumimoji="0" lang="en-CA" sz="2200" b="0" i="0" u="none" strike="noStrike" kern="1200" cap="none" spc="0" normalizeH="0" baseline="0" noProof="0" dirty="0">
                <a:ln>
                  <a:noFill/>
                </a:ln>
                <a:solidFill>
                  <a:schemeClr val="tx2"/>
                </a:solidFill>
                <a:effectLst/>
                <a:uLnTx/>
                <a:uFillTx/>
                <a:ea typeface="+mn-ea"/>
                <a:cs typeface="+mn-cs"/>
              </a:rPr>
              <a:t>“Musicologists and Their Sources: </a:t>
            </a:r>
            <a:br>
              <a:rPr kumimoji="0" lang="en-CA" sz="2200" b="0" i="0" u="none" strike="noStrike" kern="1200" cap="none" spc="0" normalizeH="0" baseline="0" noProof="0" dirty="0">
                <a:ln>
                  <a:noFill/>
                </a:ln>
                <a:solidFill>
                  <a:schemeClr val="tx2"/>
                </a:solidFill>
                <a:effectLst/>
                <a:uLnTx/>
                <a:uFillTx/>
                <a:ea typeface="+mn-ea"/>
                <a:cs typeface="+mn-cs"/>
              </a:rPr>
            </a:br>
            <a:r>
              <a:rPr kumimoji="0" lang="en-CA" sz="2200" b="0" i="0" u="none" strike="noStrike" kern="1200" cap="none" spc="0" normalizeH="0" baseline="0" noProof="0" dirty="0">
                <a:ln>
                  <a:noFill/>
                </a:ln>
                <a:solidFill>
                  <a:schemeClr val="tx2"/>
                </a:solidFill>
                <a:effectLst/>
                <a:uLnTx/>
                <a:uFillTx/>
                <a:ea typeface="+mn-ea"/>
                <a:cs typeface="+mn-cs"/>
              </a:rPr>
              <a:t>The Alchemy of Turning Parchment into Pixels”</a:t>
            </a:r>
          </a:p>
          <a:p>
            <a:pPr algn="l">
              <a:lnSpc>
                <a:spcPct val="100000"/>
              </a:lnSpc>
              <a:spcBef>
                <a:spcPts val="1200"/>
              </a:spcBef>
            </a:pPr>
            <a:r>
              <a:rPr lang="en-US" sz="2200" dirty="0">
                <a:solidFill>
                  <a:schemeClr val="tx2"/>
                </a:solidFill>
              </a:rPr>
              <a:t>NOVA University of Lisbon, </a:t>
            </a:r>
            <a:br>
              <a:rPr lang="en-US" sz="2200" dirty="0">
                <a:solidFill>
                  <a:schemeClr val="tx2"/>
                </a:solidFill>
              </a:rPr>
            </a:br>
            <a:r>
              <a:rPr lang="en-US" sz="2200" dirty="0">
                <a:solidFill>
                  <a:schemeClr val="tx2"/>
                </a:solidFill>
              </a:rPr>
              <a:t>Portugal, 22 June 2024</a:t>
            </a:r>
          </a:p>
        </p:txBody>
      </p:sp>
      <p:sp>
        <p:nvSpPr>
          <p:cNvPr id="4" name="Slide Number Placeholder 3">
            <a:extLst>
              <a:ext uri="{FF2B5EF4-FFF2-40B4-BE49-F238E27FC236}">
                <a16:creationId xmlns:a16="http://schemas.microsoft.com/office/drawing/2014/main" id="{3C463C13-B19F-32F7-3649-3AB558BE1529}"/>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defRPr/>
            </a:pPr>
            <a:fld id="{068FBB84-544C-A04C-A3A4-7697852BFAF3}" type="slidenum">
              <a:rPr lang="en-US">
                <a:solidFill>
                  <a:srgbClr val="FFFFFF"/>
                </a:solidFill>
                <a:latin typeface="Calibri" panose="020F0502020204030204"/>
              </a:rPr>
              <a:pPr>
                <a:spcAft>
                  <a:spcPts val="600"/>
                </a:spcAft>
                <a:defRPr/>
              </a:pPr>
              <a:t>1</a:t>
            </a:fld>
            <a:endParaRPr lang="en-US">
              <a:solidFill>
                <a:srgbClr val="FFFFFF"/>
              </a:solidFill>
              <a:latin typeface="Calibri" panose="020F0502020204030204"/>
            </a:endParaRPr>
          </a:p>
        </p:txBody>
      </p:sp>
    </p:spTree>
    <p:extLst>
      <p:ext uri="{BB962C8B-B14F-4D97-AF65-F5344CB8AC3E}">
        <p14:creationId xmlns:p14="http://schemas.microsoft.com/office/powerpoint/2010/main" val="3101551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15">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19">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D8E3F69-F8D2-E74C-ADB6-4117FF759445}"/>
              </a:ext>
            </a:extLst>
          </p:cNvPr>
          <p:cNvSpPr>
            <a:spLocks noGrp="1"/>
          </p:cNvSpPr>
          <p:nvPr>
            <p:ph type="title"/>
          </p:nvPr>
        </p:nvSpPr>
        <p:spPr>
          <a:xfrm>
            <a:off x="1288060" y="1369938"/>
            <a:ext cx="3210854" cy="4114800"/>
          </a:xfrm>
        </p:spPr>
        <p:txBody>
          <a:bodyPr>
            <a:normAutofit/>
          </a:bodyPr>
          <a:lstStyle/>
          <a:p>
            <a:pPr algn="r"/>
            <a:r>
              <a:rPr lang="en-US"/>
              <a:t>Outline</a:t>
            </a:r>
          </a:p>
        </p:txBody>
      </p:sp>
      <p:cxnSp>
        <p:nvCxnSpPr>
          <p:cNvPr id="22" name="Straight Connector 21">
            <a:extLst>
              <a:ext uri="{FF2B5EF4-FFF2-40B4-BE49-F238E27FC236}">
                <a16:creationId xmlns:a16="http://schemas.microsoft.com/office/drawing/2014/main" id="{F492F8DF-EE34-4FC5-9FFE-76EB2E3BB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3168614" y="3429000"/>
            <a:ext cx="3200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1" name="Content Placeholder 2">
            <a:extLst>
              <a:ext uri="{FF2B5EF4-FFF2-40B4-BE49-F238E27FC236}">
                <a16:creationId xmlns:a16="http://schemas.microsoft.com/office/drawing/2014/main" id="{40DB905B-13A7-1745-A91F-B413B84C4BEA}"/>
              </a:ext>
            </a:extLst>
          </p:cNvPr>
          <p:cNvSpPr>
            <a:spLocks noGrp="1"/>
          </p:cNvSpPr>
          <p:nvPr>
            <p:ph idx="1"/>
          </p:nvPr>
        </p:nvSpPr>
        <p:spPr>
          <a:xfrm>
            <a:off x="5030505" y="1371600"/>
            <a:ext cx="5872185" cy="4114800"/>
          </a:xfrm>
        </p:spPr>
        <p:txBody>
          <a:bodyPr anchor="ctr">
            <a:normAutofit/>
          </a:bodyPr>
          <a:lstStyle/>
          <a:p>
            <a:r>
              <a:rPr lang="en-US" dirty="0"/>
              <a:t>Guatemalan Cathedral (GuatC) polyphonic </a:t>
            </a:r>
            <a:r>
              <a:rPr lang="en-US" dirty="0" err="1"/>
              <a:t>choirbook</a:t>
            </a:r>
            <a:r>
              <a:rPr lang="en-US" dirty="0"/>
              <a:t> collection</a:t>
            </a:r>
          </a:p>
          <a:p>
            <a:r>
              <a:rPr lang="en-US" dirty="0"/>
              <a:t>Digitization of GuatC 1</a:t>
            </a:r>
          </a:p>
          <a:p>
            <a:r>
              <a:rPr lang="en-US" dirty="0"/>
              <a:t>Final remarks</a:t>
            </a:r>
          </a:p>
        </p:txBody>
      </p:sp>
      <p:sp>
        <p:nvSpPr>
          <p:cNvPr id="4" name="Slide Number Placeholder 3">
            <a:extLst>
              <a:ext uri="{FF2B5EF4-FFF2-40B4-BE49-F238E27FC236}">
                <a16:creationId xmlns:a16="http://schemas.microsoft.com/office/drawing/2014/main" id="{84A6F894-1D3F-DD4A-AB08-F510142260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10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18520" cy="1434415"/>
          </a:xfrm>
        </p:spPr>
        <p:txBody>
          <a:bodyPr anchor="b">
            <a:normAutofit/>
          </a:bodyPr>
          <a:lstStyle/>
          <a:p>
            <a:r>
              <a:rPr lang="en-US" sz="5400" dirty="0"/>
              <a:t>The GuatC Collection</a:t>
            </a:r>
          </a:p>
        </p:txBody>
      </p:sp>
      <p:sp>
        <p:nvSpPr>
          <p:cNvPr id="3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728C8BF-4EDF-A44E-8F41-3D5C65BB428C}"/>
              </a:ext>
            </a:extLst>
          </p:cNvPr>
          <p:cNvSpPr>
            <a:spLocks noGrp="1"/>
          </p:cNvSpPr>
          <p:nvPr>
            <p:ph idx="1"/>
          </p:nvPr>
        </p:nvSpPr>
        <p:spPr>
          <a:xfrm>
            <a:off x="572493" y="1972245"/>
            <a:ext cx="10972800" cy="857174"/>
          </a:xfrm>
        </p:spPr>
        <p:txBody>
          <a:bodyPr anchor="ctr">
            <a:normAutofit/>
          </a:bodyPr>
          <a:lstStyle/>
          <a:p>
            <a:pPr marL="0" indent="0">
              <a:buNone/>
            </a:pPr>
            <a:r>
              <a:rPr lang="en-US" sz="2300" dirty="0"/>
              <a:t>Collection of six choirbooks, held at the </a:t>
            </a:r>
            <a:r>
              <a:rPr lang="es-ES_tradnl" sz="2300" i="1" dirty="0"/>
              <a:t>Archivo Histórico </a:t>
            </a:r>
            <a:r>
              <a:rPr lang="es-ES_tradnl" sz="2300" i="1" dirty="0" err="1"/>
              <a:t>Arquidiocesano</a:t>
            </a:r>
            <a:r>
              <a:rPr lang="es-ES_tradnl" sz="2300" i="1" dirty="0"/>
              <a:t> </a:t>
            </a:r>
            <a:r>
              <a:rPr lang="en-US" sz="2300" i="1" dirty="0"/>
              <a:t>de Guatemala </a:t>
            </a:r>
            <a:r>
              <a:rPr lang="en-US" sz="2300" dirty="0"/>
              <a:t>(Archdiocesan Historical Archive of Guatemala, </a:t>
            </a:r>
            <a:r>
              <a:rPr lang="en-US" sz="2300" i="1" dirty="0"/>
              <a:t>AHAG</a:t>
            </a:r>
            <a:r>
              <a:rPr lang="en-US" sz="2300" dirty="0"/>
              <a:t>) in Guatemala City.</a:t>
            </a:r>
          </a:p>
        </p:txBody>
      </p:sp>
      <p:sp>
        <p:nvSpPr>
          <p:cNvPr id="4" name="Slide Number Placeholder 3">
            <a:extLst>
              <a:ext uri="{FF2B5EF4-FFF2-40B4-BE49-F238E27FC236}">
                <a16:creationId xmlns:a16="http://schemas.microsoft.com/office/drawing/2014/main" id="{268D5382-2C08-7445-9913-DE5B653FC979}"/>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Content Placeholder 4" descr="A picture containing sky, outdoor, road, ground&#10;&#10;Description automatically generated">
            <a:extLst>
              <a:ext uri="{FF2B5EF4-FFF2-40B4-BE49-F238E27FC236}">
                <a16:creationId xmlns:a16="http://schemas.microsoft.com/office/drawing/2014/main" id="{92861C69-EB2D-DD42-B217-08EE0C916018}"/>
              </a:ext>
            </a:extLst>
          </p:cNvPr>
          <p:cNvPicPr>
            <a:picLocks noChangeAspect="1"/>
          </p:cNvPicPr>
          <p:nvPr/>
        </p:nvPicPr>
        <p:blipFill rotWithShape="1">
          <a:blip r:embed="rId3">
            <a:alphaModFix/>
            <a:extLst>
              <a:ext uri="{28A0092B-C50C-407E-A947-70E740481C1C}">
                <a14:useLocalDpi xmlns:a14="http://schemas.microsoft.com/office/drawing/2010/main"/>
              </a:ext>
            </a:extLst>
          </a:blip>
          <a:srcRect/>
          <a:stretch/>
        </p:blipFill>
        <p:spPr>
          <a:xfrm>
            <a:off x="1789276" y="2987176"/>
            <a:ext cx="8539234" cy="3211417"/>
          </a:xfrm>
          <a:prstGeom prst="rect">
            <a:avLst/>
          </a:prstGeom>
        </p:spPr>
      </p:pic>
    </p:spTree>
    <p:extLst>
      <p:ext uri="{BB962C8B-B14F-4D97-AF65-F5344CB8AC3E}">
        <p14:creationId xmlns:p14="http://schemas.microsoft.com/office/powerpoint/2010/main" val="1773313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18520" cy="1434415"/>
          </a:xfrm>
        </p:spPr>
        <p:txBody>
          <a:bodyPr anchor="b">
            <a:normAutofit/>
          </a:bodyPr>
          <a:lstStyle/>
          <a:p>
            <a:r>
              <a:rPr lang="en-US" sz="5400" dirty="0"/>
              <a:t>The GuatC Collection</a:t>
            </a:r>
          </a:p>
        </p:txBody>
      </p:sp>
      <p:sp>
        <p:nvSpPr>
          <p:cNvPr id="3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728C8BF-4EDF-A44E-8F41-3D5C65BB428C}"/>
              </a:ext>
            </a:extLst>
          </p:cNvPr>
          <p:cNvSpPr>
            <a:spLocks noGrp="1"/>
          </p:cNvSpPr>
          <p:nvPr>
            <p:ph idx="1"/>
          </p:nvPr>
        </p:nvSpPr>
        <p:spPr>
          <a:xfrm>
            <a:off x="572493" y="1974535"/>
            <a:ext cx="10972800" cy="857174"/>
          </a:xfrm>
        </p:spPr>
        <p:txBody>
          <a:bodyPr anchor="ctr">
            <a:normAutofit/>
          </a:bodyPr>
          <a:lstStyle/>
          <a:p>
            <a:pPr marL="0" indent="0">
              <a:buNone/>
            </a:pPr>
            <a:r>
              <a:rPr lang="en-US" sz="2300" dirty="0"/>
              <a:t>Collection of six choirbooks, held at the </a:t>
            </a:r>
            <a:r>
              <a:rPr lang="es-ES_tradnl" sz="2300" i="1" dirty="0"/>
              <a:t>Archivo Histórico </a:t>
            </a:r>
            <a:r>
              <a:rPr lang="es-ES_tradnl" sz="2300" i="1" dirty="0" err="1"/>
              <a:t>Arquidiocesano</a:t>
            </a:r>
            <a:r>
              <a:rPr lang="es-ES_tradnl" sz="2300" i="1" dirty="0"/>
              <a:t> </a:t>
            </a:r>
            <a:r>
              <a:rPr lang="en-US" sz="2300" i="1" dirty="0"/>
              <a:t>de Guatemala </a:t>
            </a:r>
            <a:r>
              <a:rPr lang="en-US" sz="2300" dirty="0"/>
              <a:t>(Archdiocesan Historical Archive of Guatemala, </a:t>
            </a:r>
            <a:r>
              <a:rPr lang="en-US" sz="2300" i="1" dirty="0"/>
              <a:t>AHAG</a:t>
            </a:r>
            <a:r>
              <a:rPr lang="en-US" sz="2300" dirty="0"/>
              <a:t>) in Guatemala City.</a:t>
            </a:r>
          </a:p>
        </p:txBody>
      </p:sp>
      <p:pic>
        <p:nvPicPr>
          <p:cNvPr id="19" name="Picture 18">
            <a:extLst>
              <a:ext uri="{FF2B5EF4-FFF2-40B4-BE49-F238E27FC236}">
                <a16:creationId xmlns:a16="http://schemas.microsoft.com/office/drawing/2014/main" id="{9533E6CD-5305-E04D-AA3F-4A398E5E6F1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63298" y="2906403"/>
            <a:ext cx="4470144" cy="3449947"/>
          </a:xfrm>
          <a:prstGeom prst="rect">
            <a:avLst/>
          </a:prstGeom>
        </p:spPr>
      </p:pic>
      <p:sp>
        <p:nvSpPr>
          <p:cNvPr id="4" name="Slide Number Placeholder 3">
            <a:extLst>
              <a:ext uri="{FF2B5EF4-FFF2-40B4-BE49-F238E27FC236}">
                <a16:creationId xmlns:a16="http://schemas.microsoft.com/office/drawing/2014/main" id="{268D5382-2C08-7445-9913-DE5B653FC979}"/>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4758F1DA-ECD8-D04E-A4D6-C6466467F748}"/>
              </a:ext>
            </a:extLst>
          </p:cNvPr>
          <p:cNvSpPr/>
          <p:nvPr/>
        </p:nvSpPr>
        <p:spPr>
          <a:xfrm>
            <a:off x="6177101" y="3426311"/>
            <a:ext cx="5368192" cy="2215991"/>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Manuscripts written in paper</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Large dimensions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Average folio size = 30 cm x 45 cm</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Book 6, size = 21.5 cm x 30 cm</a:t>
            </a:r>
          </a:p>
          <a:p>
            <a:pPr marL="342900" indent="-342900">
              <a:buFont typeface="Arial" panose="020B0604020202020204" pitchFamily="34" charset="0"/>
              <a:buChar char="•"/>
              <a:defRPr/>
            </a:pPr>
            <a:r>
              <a:rPr lang="en-US" sz="2300" dirty="0">
                <a:solidFill>
                  <a:prstClr val="black"/>
                </a:solidFill>
              </a:rPr>
              <a:t>In mensural notation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Voices in </a:t>
            </a:r>
            <a:r>
              <a:rPr kumimoji="0" lang="en-US" sz="2300" b="0" i="0" u="none" strike="noStrike" kern="1200" cap="none" spc="0" normalizeH="0" baseline="0" noProof="0" dirty="0" err="1">
                <a:ln>
                  <a:noFill/>
                </a:ln>
                <a:solidFill>
                  <a:prstClr val="black"/>
                </a:solidFill>
                <a:effectLst/>
                <a:uLnTx/>
                <a:uFillTx/>
                <a:latin typeface="Calibri" panose="020F0502020204030204"/>
                <a:ea typeface="+mn-ea"/>
                <a:cs typeface="+mn-cs"/>
              </a:rPr>
              <a:t>choirbook</a:t>
            </a: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 format</a:t>
            </a:r>
          </a:p>
        </p:txBody>
      </p:sp>
    </p:spTree>
    <p:extLst>
      <p:ext uri="{BB962C8B-B14F-4D97-AF65-F5344CB8AC3E}">
        <p14:creationId xmlns:p14="http://schemas.microsoft.com/office/powerpoint/2010/main" val="820839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18520" cy="1434415"/>
          </a:xfrm>
        </p:spPr>
        <p:txBody>
          <a:bodyPr anchor="b">
            <a:normAutofit/>
          </a:bodyPr>
          <a:lstStyle/>
          <a:p>
            <a:r>
              <a:rPr lang="en-US" sz="5400"/>
              <a:t>The GuatC Collection</a:t>
            </a:r>
          </a:p>
        </p:txBody>
      </p:sp>
      <p:sp>
        <p:nvSpPr>
          <p:cNvPr id="2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728C8BF-4EDF-A44E-8F41-3D5C65BB428C}"/>
              </a:ext>
            </a:extLst>
          </p:cNvPr>
          <p:cNvSpPr>
            <a:spLocks noGrp="1"/>
          </p:cNvSpPr>
          <p:nvPr>
            <p:ph idx="1"/>
          </p:nvPr>
        </p:nvSpPr>
        <p:spPr>
          <a:xfrm>
            <a:off x="572492" y="2071316"/>
            <a:ext cx="10972799" cy="4119172"/>
          </a:xfrm>
        </p:spPr>
        <p:txBody>
          <a:bodyPr anchor="t">
            <a:normAutofit/>
          </a:bodyPr>
          <a:lstStyle/>
          <a:p>
            <a:r>
              <a:rPr lang="en-US" sz="3600" dirty="0"/>
              <a:t>Copied in the 17</a:t>
            </a:r>
            <a:r>
              <a:rPr lang="en-US" sz="3600" baseline="30000" dirty="0"/>
              <a:t>th</a:t>
            </a:r>
            <a:r>
              <a:rPr lang="en-US" sz="3600" dirty="0"/>
              <a:t> and 18</a:t>
            </a:r>
            <a:r>
              <a:rPr lang="en-US" sz="3600" baseline="30000" dirty="0"/>
              <a:t>th</a:t>
            </a:r>
            <a:r>
              <a:rPr lang="en-US" sz="3600" dirty="0"/>
              <a:t> centuries</a:t>
            </a:r>
          </a:p>
          <a:p>
            <a:r>
              <a:rPr lang="en-US" sz="3600" dirty="0"/>
              <a:t>Repertoire: mostly 16</a:t>
            </a:r>
            <a:r>
              <a:rPr lang="en-US" sz="3600" baseline="30000" dirty="0"/>
              <a:t>th</a:t>
            </a:r>
            <a:r>
              <a:rPr lang="en-US" sz="3600" dirty="0"/>
              <a:t> c. polyphonic music</a:t>
            </a:r>
          </a:p>
          <a:p>
            <a:r>
              <a:rPr lang="en-US" sz="3600" dirty="0"/>
              <a:t>Document a continuous performance tradition of sacred choral music from the Renaissance to early 19</a:t>
            </a:r>
            <a:r>
              <a:rPr lang="en-US" sz="3600" baseline="30000" dirty="0"/>
              <a:t>th</a:t>
            </a:r>
            <a:r>
              <a:rPr lang="en-US" sz="3600" dirty="0"/>
              <a:t> century</a:t>
            </a:r>
            <a:endParaRPr lang="en-US" sz="3200" dirty="0"/>
          </a:p>
        </p:txBody>
      </p:sp>
      <p:sp>
        <p:nvSpPr>
          <p:cNvPr id="4" name="Slide Number Placeholder 3">
            <a:extLst>
              <a:ext uri="{FF2B5EF4-FFF2-40B4-BE49-F238E27FC236}">
                <a16:creationId xmlns:a16="http://schemas.microsoft.com/office/drawing/2014/main" id="{D9ECE325-FEDA-6D43-9808-F73293DC1BA3}"/>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9144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643467" y="319333"/>
            <a:ext cx="6901193" cy="1135737"/>
          </a:xfrm>
        </p:spPr>
        <p:txBody>
          <a:bodyPr>
            <a:normAutofit/>
          </a:bodyPr>
          <a:lstStyle/>
          <a:p>
            <a:r>
              <a:rPr lang="en-US" sz="4000" dirty="0"/>
              <a:t>The GuatC Collection</a:t>
            </a:r>
          </a:p>
        </p:txBody>
      </p:sp>
      <p:sp>
        <p:nvSpPr>
          <p:cNvPr id="3" name="Content Placeholder 2">
            <a:extLst>
              <a:ext uri="{FF2B5EF4-FFF2-40B4-BE49-F238E27FC236}">
                <a16:creationId xmlns:a16="http://schemas.microsoft.com/office/drawing/2014/main" id="{4728C8BF-4EDF-A44E-8F41-3D5C65BB428C}"/>
              </a:ext>
            </a:extLst>
          </p:cNvPr>
          <p:cNvSpPr>
            <a:spLocks noGrp="1"/>
          </p:cNvSpPr>
          <p:nvPr>
            <p:ph idx="1"/>
          </p:nvPr>
        </p:nvSpPr>
        <p:spPr>
          <a:xfrm>
            <a:off x="643468" y="1455071"/>
            <a:ext cx="7795138" cy="4901280"/>
          </a:xfrm>
        </p:spPr>
        <p:txBody>
          <a:bodyPr anchor="ctr">
            <a:normAutofit/>
          </a:bodyPr>
          <a:lstStyle/>
          <a:p>
            <a:r>
              <a:rPr lang="en-US" dirty="0"/>
              <a:t>Inventories of books 1 to 3:</a:t>
            </a:r>
          </a:p>
          <a:p>
            <a:pPr lvl="1"/>
            <a:r>
              <a:rPr lang="en-US" dirty="0"/>
              <a:t>Pujol (1965), Stevenson (1970), Snow (1996)</a:t>
            </a:r>
          </a:p>
          <a:p>
            <a:r>
              <a:rPr lang="en-US" dirty="0"/>
              <a:t>General overview of the repertoire</a:t>
            </a:r>
          </a:p>
          <a:p>
            <a:pPr lvl="1"/>
            <a:r>
              <a:rPr lang="en-US" dirty="0"/>
              <a:t>Morales Abril (2015)</a:t>
            </a:r>
          </a:p>
          <a:p>
            <a:r>
              <a:rPr lang="en-US" dirty="0"/>
              <a:t>Transcriptions into modern notation</a:t>
            </a:r>
          </a:p>
          <a:p>
            <a:pPr lvl="1"/>
            <a:r>
              <a:rPr lang="en-US" dirty="0"/>
              <a:t>Snow’s transcription of 4</a:t>
            </a:r>
            <a:r>
              <a:rPr lang="en-US" baseline="30000" dirty="0"/>
              <a:t>th</a:t>
            </a:r>
            <a:r>
              <a:rPr lang="en-US" dirty="0"/>
              <a:t> book</a:t>
            </a:r>
          </a:p>
          <a:p>
            <a:pPr lvl="1"/>
            <a:r>
              <a:rPr lang="en-US" dirty="0"/>
              <a:t>Dieter </a:t>
            </a:r>
            <a:r>
              <a:rPr lang="en-US" dirty="0" err="1"/>
              <a:t>Lehnhoff</a:t>
            </a:r>
            <a:r>
              <a:rPr lang="en-US" dirty="0"/>
              <a:t> and Omar Morales Abril</a:t>
            </a:r>
          </a:p>
          <a:p>
            <a:r>
              <a:rPr lang="en-US" dirty="0"/>
              <a:t>Microfilms (1984) </a:t>
            </a:r>
            <a:r>
              <a:rPr lang="en-US" dirty="0">
                <a:sym typeface="Wingdings" pitchFamily="2" charset="2"/>
              </a:rPr>
              <a:t> Books 1 to 3</a:t>
            </a:r>
            <a:endParaRPr lang="en-US" dirty="0"/>
          </a:p>
          <a:p>
            <a:r>
              <a:rPr lang="en-US" dirty="0"/>
              <a:t>Access </a:t>
            </a:r>
            <a:r>
              <a:rPr lang="en-US">
                <a:sym typeface="Wingdings" pitchFamily="2" charset="2"/>
              </a:rPr>
              <a:t>  Permission </a:t>
            </a:r>
            <a:r>
              <a:rPr lang="en-US" dirty="0">
                <a:sym typeface="Wingdings" pitchFamily="2" charset="2"/>
              </a:rPr>
              <a:t>from </a:t>
            </a:r>
            <a:br>
              <a:rPr lang="en-US">
                <a:sym typeface="Wingdings" pitchFamily="2" charset="2"/>
              </a:rPr>
            </a:br>
            <a:r>
              <a:rPr lang="en-US">
                <a:sym typeface="Wingdings" pitchFamily="2" charset="2"/>
              </a:rPr>
              <a:t>		the </a:t>
            </a:r>
            <a:r>
              <a:rPr lang="en-US" dirty="0">
                <a:sym typeface="Wingdings" pitchFamily="2" charset="2"/>
              </a:rPr>
              <a:t>archive</a:t>
            </a:r>
            <a:endParaRPr lang="en-US" dirty="0"/>
          </a:p>
        </p:txBody>
      </p:sp>
      <p:pic>
        <p:nvPicPr>
          <p:cNvPr id="6" name="Content Placeholder 4">
            <a:extLst>
              <a:ext uri="{FF2B5EF4-FFF2-40B4-BE49-F238E27FC236}">
                <a16:creationId xmlns:a16="http://schemas.microsoft.com/office/drawing/2014/main" id="{751BBA8F-C70B-444D-98EF-960968A8E26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97" r="-894" b="-679"/>
          <a:stretch/>
        </p:blipFill>
        <p:spPr>
          <a:xfrm>
            <a:off x="7746479" y="702503"/>
            <a:ext cx="3689214" cy="4700427"/>
          </a:xfrm>
          <a:prstGeom prst="rect">
            <a:avLst/>
          </a:prstGeom>
        </p:spPr>
      </p:pic>
      <p:sp>
        <p:nvSpPr>
          <p:cNvPr id="5" name="Slide Number Placeholder 4">
            <a:extLst>
              <a:ext uri="{FF2B5EF4-FFF2-40B4-BE49-F238E27FC236}">
                <a16:creationId xmlns:a16="http://schemas.microsoft.com/office/drawing/2014/main" id="{F90EC01D-7F87-1948-BF5B-C75D313A2AA5}"/>
              </a:ext>
            </a:extLst>
          </p:cNvPr>
          <p:cNvSpPr>
            <a:spLocks noGrp="1"/>
          </p:cNvSpPr>
          <p:nvPr>
            <p:ph type="sldNum" sz="quarter" idx="12"/>
          </p:nvPr>
        </p:nvSpPr>
        <p:spPr>
          <a:xfrm>
            <a:off x="8805333"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FC8AAC2-07BD-C34E-AA0D-4833EE3EE21B}"/>
              </a:ext>
            </a:extLst>
          </p:cNvPr>
          <p:cNvSpPr txBox="1"/>
          <p:nvPr/>
        </p:nvSpPr>
        <p:spPr>
          <a:xfrm>
            <a:off x="5711734" y="5425089"/>
            <a:ext cx="5722498" cy="815608"/>
          </a:xfrm>
          <a:prstGeom prst="rect">
            <a:avLst/>
          </a:prstGeom>
          <a:solidFill>
            <a:schemeClr val="accent5">
              <a:alpha val="69804"/>
            </a:schemeClr>
          </a:solidFill>
        </p:spPr>
        <p:txBody>
          <a:bodyPr wrap="square" rtlCol="0">
            <a:sp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Microfilm at </a:t>
            </a:r>
            <a:r>
              <a:rPr kumimoji="0" lang="es-ES_tradnl" sz="1400" b="0" i="1" u="none" strike="noStrike" kern="1200" cap="none" spc="0" normalizeH="0" baseline="0" noProof="0" dirty="0">
                <a:ln>
                  <a:noFill/>
                </a:ln>
                <a:solidFill>
                  <a:prstClr val="black"/>
                </a:solidFill>
                <a:effectLst/>
                <a:uLnTx/>
                <a:uFillTx/>
                <a:latin typeface="Calibri" panose="020F0502020204030204"/>
                <a:ea typeface="+mn-ea"/>
                <a:cs typeface="+mn-cs"/>
              </a:rPr>
              <a:t>Centro de Investigaciones Regionales de Mesoamérica </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(CIRMA).</a:t>
            </a:r>
          </a:p>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CA" sz="1400" b="0" i="0" u="none" strike="noStrike" kern="1200" cap="none" spc="0" normalizeH="0" baseline="0" noProof="0" dirty="0" err="1">
                <a:ln>
                  <a:noFill/>
                </a:ln>
                <a:solidFill>
                  <a:prstClr val="black"/>
                </a:solidFill>
                <a:effectLst/>
                <a:uLnTx/>
                <a:uFillTx/>
                <a:latin typeface="Calibri" panose="020F0502020204030204"/>
                <a:ea typeface="+mn-ea"/>
                <a:cs typeface="+mn-cs"/>
              </a:rPr>
              <a:t>DjVu</a:t>
            </a:r>
            <a:r>
              <a:rPr kumimoji="0" lang="en-CA" sz="1400" b="0" i="0" u="none" strike="noStrike" kern="1200" cap="none" spc="0" normalizeH="0" baseline="0" noProof="0" dirty="0">
                <a:ln>
                  <a:noFill/>
                </a:ln>
                <a:solidFill>
                  <a:prstClr val="black"/>
                </a:solidFill>
                <a:effectLst/>
                <a:uLnTx/>
                <a:uFillTx/>
                <a:latin typeface="Calibri" panose="020F0502020204030204"/>
                <a:ea typeface="+mn-ea"/>
                <a:cs typeface="+mn-cs"/>
              </a:rPr>
              <a:t> file at Música Colonial Archive. Reel 9. Folio 2r.</a:t>
            </a:r>
            <a:br>
              <a:rPr kumimoji="0" lang="en-CA"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CA" sz="1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CA"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extLst>
                    <a:ext uri="{A12FA001-AC4F-418D-AE19-62706E023703}">
                      <ahyp:hlinkClr xmlns:ahyp="http://schemas.microsoft.com/office/drawing/2018/hyperlinkcolor" val="tx"/>
                    </a:ext>
                  </a:extLst>
                </a:hlinkClick>
              </a:rPr>
              <a:t>https://www.cpdl.org/wiki/index.php/M%C3%BAsica_Colonial_Archive</a:t>
            </a:r>
            <a:r>
              <a:rPr kumimoji="0" lang="en-CA" sz="14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DF944625-8F3C-F343-A5E4-703D80D9046E}"/>
              </a:ext>
            </a:extLst>
          </p:cNvPr>
          <p:cNvCxnSpPr/>
          <p:nvPr/>
        </p:nvCxnSpPr>
        <p:spPr>
          <a:xfrm>
            <a:off x="643467" y="1455070"/>
            <a:ext cx="6901193" cy="0"/>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37635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C9FF-1DDB-FE7B-F911-DE76F31A5157}"/>
              </a:ext>
            </a:extLst>
          </p:cNvPr>
          <p:cNvSpPr>
            <a:spLocks noGrp="1"/>
          </p:cNvSpPr>
          <p:nvPr>
            <p:ph type="title"/>
          </p:nvPr>
        </p:nvSpPr>
        <p:spPr/>
        <p:txBody>
          <a:bodyPr>
            <a:normAutofit fontScale="90000"/>
          </a:bodyPr>
          <a:lstStyle/>
          <a:p>
            <a:pPr algn="ctr"/>
            <a:r>
              <a:rPr lang="en-US" dirty="0">
                <a:solidFill>
                  <a:schemeClr val="accent2"/>
                </a:solidFill>
              </a:rPr>
              <a:t>Preserve and increase access to this music corpus </a:t>
            </a:r>
            <a:r>
              <a:rPr lang="en-US" dirty="0"/>
              <a:t>by using </a:t>
            </a:r>
            <a:r>
              <a:rPr lang="en-US" b="1" dirty="0">
                <a:solidFill>
                  <a:schemeClr val="accent1"/>
                </a:solidFill>
              </a:rPr>
              <a:t>digitization</a:t>
            </a:r>
            <a:r>
              <a:rPr lang="en-US" dirty="0">
                <a:solidFill>
                  <a:schemeClr val="accent1"/>
                </a:solidFill>
              </a:rPr>
              <a:t> and music-encoding </a:t>
            </a:r>
            <a:r>
              <a:rPr lang="en-US" dirty="0"/>
              <a:t>technologies </a:t>
            </a:r>
          </a:p>
        </p:txBody>
      </p:sp>
      <p:sp>
        <p:nvSpPr>
          <p:cNvPr id="3" name="Text Placeholder 2">
            <a:extLst>
              <a:ext uri="{FF2B5EF4-FFF2-40B4-BE49-F238E27FC236}">
                <a16:creationId xmlns:a16="http://schemas.microsoft.com/office/drawing/2014/main" id="{21F53C69-880C-992E-BAAC-C12352CA55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7D54FC-7516-1EB2-0C0B-AFD641FAA22B}"/>
              </a:ext>
            </a:extLst>
          </p:cNvPr>
          <p:cNvSpPr>
            <a:spLocks noGrp="1"/>
          </p:cNvSpPr>
          <p:nvPr>
            <p:ph type="sldNum" sz="quarter" idx="12"/>
          </p:nvPr>
        </p:nvSpPr>
        <p:spPr/>
        <p:txBody>
          <a:bodyPr/>
          <a:lstStyle/>
          <a:p>
            <a:fld id="{77C70584-727D-3042-B647-9AD6EF4C2F51}" type="slidenum">
              <a:rPr lang="en-US" smtClean="0"/>
              <a:t>7</a:t>
            </a:fld>
            <a:endParaRPr lang="en-US"/>
          </a:p>
        </p:txBody>
      </p:sp>
      <p:sp>
        <p:nvSpPr>
          <p:cNvPr id="5" name="Rounded Rectangle 4">
            <a:extLst>
              <a:ext uri="{FF2B5EF4-FFF2-40B4-BE49-F238E27FC236}">
                <a16:creationId xmlns:a16="http://schemas.microsoft.com/office/drawing/2014/main" id="{AA98F619-8DAC-FF99-FE0B-7B4EEF455250}"/>
              </a:ext>
            </a:extLst>
          </p:cNvPr>
          <p:cNvSpPr/>
          <p:nvPr/>
        </p:nvSpPr>
        <p:spPr>
          <a:xfrm>
            <a:off x="7600950" y="2990850"/>
            <a:ext cx="3238500" cy="838200"/>
          </a:xfrm>
          <a:prstGeom prst="roundRect">
            <a:avLst/>
          </a:prstGeom>
          <a:solidFill>
            <a:schemeClr val="accent1">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686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repeatCount="0" fill="hold" grpId="0" nodeType="with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dirty="0">
                <a:solidFill>
                  <a:schemeClr val="bg1"/>
                </a:solidFill>
              </a:rPr>
              <a:t>Digitization of GuatC 1</a:t>
            </a:r>
            <a:endParaRPr lang="en-US" sz="6600" kern="1200" dirty="0">
              <a:solidFill>
                <a:schemeClr val="bg1"/>
              </a:solidFill>
              <a:latin typeface="+mj-lt"/>
              <a:ea typeface="+mj-ea"/>
              <a:cs typeface="+mj-cs"/>
            </a:endParaRP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892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D576A-AF3D-7E49-956D-B6C407EE136E}"/>
              </a:ext>
            </a:extLst>
          </p:cNvPr>
          <p:cNvSpPr>
            <a:spLocks noGrp="1"/>
          </p:cNvSpPr>
          <p:nvPr>
            <p:ph idx="1"/>
          </p:nvPr>
        </p:nvSpPr>
        <p:spPr>
          <a:xfrm>
            <a:off x="838200" y="1711233"/>
            <a:ext cx="10082349" cy="4465729"/>
          </a:xfrm>
        </p:spPr>
        <p:txBody>
          <a:bodyPr>
            <a:normAutofit fontScale="92500" lnSpcReduction="10000"/>
          </a:bodyPr>
          <a:lstStyle/>
          <a:p>
            <a:pPr>
              <a:lnSpc>
                <a:spcPct val="120000"/>
              </a:lnSpc>
            </a:pPr>
            <a:r>
              <a:rPr lang="en-US" dirty="0"/>
              <a:t>Request of permission for the project to the AHAG:</a:t>
            </a:r>
          </a:p>
          <a:p>
            <a:pPr lvl="1">
              <a:lnSpc>
                <a:spcPct val="120000"/>
              </a:lnSpc>
            </a:pPr>
            <a:r>
              <a:rPr lang="en-US" dirty="0"/>
              <a:t>Contacted Guatemalan musicologist Omar Morales Abril</a:t>
            </a:r>
          </a:p>
          <a:p>
            <a:pPr lvl="1">
              <a:lnSpc>
                <a:spcPct val="120000"/>
              </a:lnSpc>
            </a:pPr>
            <a:r>
              <a:rPr lang="en-US" dirty="0"/>
              <a:t>Morales Abril advised me to contact the AHAG archivist Alejandro Conde</a:t>
            </a:r>
          </a:p>
          <a:p>
            <a:pPr lvl="1">
              <a:lnSpc>
                <a:spcPct val="120000"/>
              </a:lnSpc>
            </a:pPr>
            <a:r>
              <a:rPr lang="en-US" dirty="0"/>
              <a:t>Conde suggested to ask permission for a pilot project involving </a:t>
            </a:r>
            <a:r>
              <a:rPr lang="en-US" b="1" dirty="0"/>
              <a:t>only one </a:t>
            </a:r>
            <a:r>
              <a:rPr lang="en-US" dirty="0"/>
              <a:t>of the </a:t>
            </a:r>
            <a:r>
              <a:rPr lang="en-US" dirty="0" err="1"/>
              <a:t>choirbooks</a:t>
            </a:r>
            <a:endParaRPr lang="en-US" dirty="0"/>
          </a:p>
          <a:p>
            <a:pPr lvl="1">
              <a:lnSpc>
                <a:spcPct val="120000"/>
              </a:lnSpc>
            </a:pPr>
            <a:r>
              <a:rPr lang="en-US" dirty="0"/>
              <a:t>Wrote a letter to the chancellor of the Ecclesiastical Curia of Santiago de Guatemala and director of the AHAG, Father Eddy René Calvillo, to ask permission for the pilot (23 October 2018)</a:t>
            </a:r>
          </a:p>
          <a:p>
            <a:pPr lvl="1">
              <a:lnSpc>
                <a:spcPct val="120000"/>
              </a:lnSpc>
            </a:pPr>
            <a:r>
              <a:rPr lang="en-US" dirty="0"/>
              <a:t>The archivist hand it to Father Calvillo</a:t>
            </a:r>
          </a:p>
          <a:p>
            <a:pPr lvl="1">
              <a:lnSpc>
                <a:spcPct val="120000"/>
              </a:lnSpc>
            </a:pPr>
            <a:r>
              <a:rPr lang="en-US" dirty="0"/>
              <a:t>Approved on 31 October 2018</a:t>
            </a:r>
          </a:p>
        </p:txBody>
      </p:sp>
      <p:sp>
        <p:nvSpPr>
          <p:cNvPr id="25" name="Slide Number Placeholder 24">
            <a:extLst>
              <a:ext uri="{FF2B5EF4-FFF2-40B4-BE49-F238E27FC236}">
                <a16:creationId xmlns:a16="http://schemas.microsoft.com/office/drawing/2014/main" id="{A07D9788-E7CF-5D49-AD6A-FD23B3E917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C0B70A4C-D3AE-D546-B4FA-C2C1B3EB085F}"/>
              </a:ext>
            </a:extLst>
          </p:cNvPr>
          <p:cNvSpPr txBox="1">
            <a:spLocks/>
          </p:cNvSpPr>
          <p:nvPr/>
        </p:nvSpPr>
        <p:spPr>
          <a:xfrm>
            <a:off x="838199" y="455107"/>
            <a:ext cx="10663046" cy="10767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The Start</a:t>
            </a:r>
            <a:endPar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171681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D576A-AF3D-7E49-956D-B6C407EE136E}"/>
              </a:ext>
            </a:extLst>
          </p:cNvPr>
          <p:cNvSpPr>
            <a:spLocks noGrp="1"/>
          </p:cNvSpPr>
          <p:nvPr>
            <p:ph idx="1"/>
          </p:nvPr>
        </p:nvSpPr>
        <p:spPr>
          <a:xfrm>
            <a:off x="838200" y="1676400"/>
            <a:ext cx="10082349" cy="4433455"/>
          </a:xfrm>
        </p:spPr>
        <p:txBody>
          <a:bodyPr>
            <a:normAutofit/>
          </a:bodyPr>
          <a:lstStyle/>
          <a:p>
            <a:pPr>
              <a:lnSpc>
                <a:spcPct val="120000"/>
              </a:lnSpc>
            </a:pPr>
            <a:r>
              <a:rPr lang="en-US" dirty="0"/>
              <a:t>The AHAG does not have its own digitization and conservation departments</a:t>
            </a:r>
          </a:p>
          <a:p>
            <a:pPr>
              <a:lnSpc>
                <a:spcPct val="120000"/>
              </a:lnSpc>
            </a:pPr>
            <a:r>
              <a:rPr lang="en-US" dirty="0"/>
              <a:t>Outsource digitization and conservation</a:t>
            </a:r>
          </a:p>
          <a:p>
            <a:pPr>
              <a:lnSpc>
                <a:spcPct val="120000"/>
              </a:lnSpc>
            </a:pPr>
            <a:r>
              <a:rPr lang="en-US" b="1" dirty="0"/>
              <a:t>Paper conservation: </a:t>
            </a:r>
          </a:p>
          <a:p>
            <a:pPr lvl="1">
              <a:lnSpc>
                <a:spcPct val="120000"/>
              </a:lnSpc>
            </a:pPr>
            <a:r>
              <a:rPr lang="en-US" dirty="0"/>
              <a:t>Centro de </a:t>
            </a:r>
            <a:r>
              <a:rPr lang="en-US" dirty="0" err="1"/>
              <a:t>Rescate</a:t>
            </a:r>
            <a:r>
              <a:rPr lang="en-US" dirty="0"/>
              <a:t>, </a:t>
            </a:r>
            <a:r>
              <a:rPr lang="en-US" dirty="0" err="1"/>
              <a:t>Estudio</a:t>
            </a:r>
            <a:r>
              <a:rPr lang="en-US" dirty="0"/>
              <a:t> y </a:t>
            </a:r>
            <a:r>
              <a:rPr lang="en-US" dirty="0" err="1"/>
              <a:t>Análisis</a:t>
            </a:r>
            <a:r>
              <a:rPr lang="en-US" dirty="0"/>
              <a:t> </a:t>
            </a:r>
            <a:r>
              <a:rPr lang="en-US" dirty="0" err="1"/>
              <a:t>Científico</a:t>
            </a:r>
            <a:r>
              <a:rPr lang="en-US" dirty="0"/>
              <a:t> del </a:t>
            </a:r>
            <a:r>
              <a:rPr lang="en-US" dirty="0" err="1"/>
              <a:t>Arte</a:t>
            </a:r>
            <a:r>
              <a:rPr lang="en-US" dirty="0"/>
              <a:t> (CREA)</a:t>
            </a:r>
          </a:p>
          <a:p>
            <a:pPr lvl="1">
              <a:lnSpc>
                <a:spcPct val="120000"/>
              </a:lnSpc>
            </a:pPr>
            <a:r>
              <a:rPr lang="en-US" dirty="0"/>
              <a:t>Non-profit institution</a:t>
            </a:r>
          </a:p>
          <a:p>
            <a:pPr lvl="1">
              <a:lnSpc>
                <a:spcPct val="120000"/>
              </a:lnSpc>
            </a:pPr>
            <a:r>
              <a:rPr lang="en-US" dirty="0"/>
              <a:t>Conservation assessment of the six </a:t>
            </a:r>
            <a:r>
              <a:rPr lang="en-US" dirty="0" err="1"/>
              <a:t>choirbooks</a:t>
            </a:r>
            <a:r>
              <a:rPr lang="en-US" dirty="0"/>
              <a:t> (November 2018)</a:t>
            </a:r>
          </a:p>
        </p:txBody>
      </p:sp>
      <p:sp>
        <p:nvSpPr>
          <p:cNvPr id="25" name="Slide Number Placeholder 24">
            <a:extLst>
              <a:ext uri="{FF2B5EF4-FFF2-40B4-BE49-F238E27FC236}">
                <a16:creationId xmlns:a16="http://schemas.microsoft.com/office/drawing/2014/main" id="{A07D9788-E7CF-5D49-AD6A-FD23B3E917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C0B70A4C-D3AE-D546-B4FA-C2C1B3EB085F}"/>
              </a:ext>
            </a:extLst>
          </p:cNvPr>
          <p:cNvSpPr txBox="1">
            <a:spLocks/>
          </p:cNvSpPr>
          <p:nvPr/>
        </p:nvSpPr>
        <p:spPr>
          <a:xfrm>
            <a:off x="838199" y="360217"/>
            <a:ext cx="10663046" cy="131618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The Survey &amp; Findings</a:t>
            </a:r>
            <a:endPar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2486383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D576A-AF3D-7E49-956D-B6C407EE136E}"/>
              </a:ext>
            </a:extLst>
          </p:cNvPr>
          <p:cNvSpPr>
            <a:spLocks noGrp="1"/>
          </p:cNvSpPr>
          <p:nvPr>
            <p:ph idx="1"/>
          </p:nvPr>
        </p:nvSpPr>
        <p:spPr>
          <a:xfrm>
            <a:off x="838200" y="1676400"/>
            <a:ext cx="10082349" cy="4225636"/>
          </a:xfrm>
        </p:spPr>
        <p:txBody>
          <a:bodyPr>
            <a:normAutofit/>
          </a:bodyPr>
          <a:lstStyle/>
          <a:p>
            <a:pPr>
              <a:lnSpc>
                <a:spcPct val="120000"/>
              </a:lnSpc>
            </a:pPr>
            <a:r>
              <a:rPr lang="en-US" b="1" dirty="0"/>
              <a:t>Digitization: </a:t>
            </a:r>
          </a:p>
          <a:p>
            <a:pPr lvl="1">
              <a:lnSpc>
                <a:spcPct val="120000"/>
              </a:lnSpc>
            </a:pPr>
            <a:r>
              <a:rPr lang="en-US" dirty="0"/>
              <a:t>Survey for digitization equipment and services in Guatemala City</a:t>
            </a:r>
          </a:p>
          <a:p>
            <a:pPr lvl="1">
              <a:lnSpc>
                <a:spcPct val="120000"/>
              </a:lnSpc>
            </a:pPr>
            <a:r>
              <a:rPr lang="en-US" dirty="0"/>
              <a:t>Nothing suitable due to the large dimensions or conservation status of the manuscripts</a:t>
            </a:r>
          </a:p>
          <a:p>
            <a:pPr lvl="1">
              <a:lnSpc>
                <a:spcPct val="120000"/>
              </a:lnSpc>
            </a:pPr>
            <a:r>
              <a:rPr lang="en-US" dirty="0"/>
              <a:t>Do It Yourself (DIY) Book Scanner</a:t>
            </a:r>
          </a:p>
          <a:p>
            <a:pPr lvl="1">
              <a:lnSpc>
                <a:spcPct val="120000"/>
              </a:lnSpc>
            </a:pPr>
            <a:endParaRPr lang="en-US" dirty="0"/>
          </a:p>
          <a:p>
            <a:pPr lvl="1">
              <a:lnSpc>
                <a:spcPct val="120000"/>
              </a:lnSpc>
            </a:pPr>
            <a:r>
              <a:rPr lang="en-US" dirty="0"/>
              <a:t>No digitization technician with experience with special collections </a:t>
            </a:r>
            <a:br>
              <a:rPr lang="en-US" dirty="0"/>
            </a:br>
            <a:r>
              <a:rPr lang="en-US" dirty="0">
                <a:sym typeface="Wingdings" pitchFamily="2" charset="2"/>
              </a:rPr>
              <a:t> Professional photographer (suggested by another archive)</a:t>
            </a:r>
            <a:endParaRPr lang="en-US" dirty="0"/>
          </a:p>
        </p:txBody>
      </p:sp>
      <p:sp>
        <p:nvSpPr>
          <p:cNvPr id="25" name="Slide Number Placeholder 24">
            <a:extLst>
              <a:ext uri="{FF2B5EF4-FFF2-40B4-BE49-F238E27FC236}">
                <a16:creationId xmlns:a16="http://schemas.microsoft.com/office/drawing/2014/main" id="{A07D9788-E7CF-5D49-AD6A-FD23B3E917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C0B70A4C-D3AE-D546-B4FA-C2C1B3EB085F}"/>
              </a:ext>
            </a:extLst>
          </p:cNvPr>
          <p:cNvSpPr txBox="1">
            <a:spLocks/>
          </p:cNvSpPr>
          <p:nvPr/>
        </p:nvSpPr>
        <p:spPr>
          <a:xfrm>
            <a:off x="838199" y="360218"/>
            <a:ext cx="10663046" cy="1316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The Survey &amp; Findings</a:t>
            </a:r>
            <a:endPar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397480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dirty="0">
                <a:solidFill>
                  <a:schemeClr val="bg1"/>
                </a:solidFill>
              </a:rPr>
              <a:t>Digitization of GuatC 1</a:t>
            </a:r>
            <a:endParaRPr lang="en-US" sz="6600" kern="1200" dirty="0">
              <a:solidFill>
                <a:schemeClr val="bg1"/>
              </a:solidFill>
              <a:latin typeface="+mj-lt"/>
              <a:ea typeface="+mj-ea"/>
              <a:cs typeface="+mj-cs"/>
            </a:endParaRPr>
          </a:p>
        </p:txBody>
      </p:sp>
      <p:sp>
        <p:nvSpPr>
          <p:cNvPr id="3" name="Text Placeholder 2">
            <a:extLst>
              <a:ext uri="{FF2B5EF4-FFF2-40B4-BE49-F238E27FC236}">
                <a16:creationId xmlns:a16="http://schemas.microsoft.com/office/drawing/2014/main" id="{5FC69E31-C877-DC84-D8A9-85DF7F516178}"/>
              </a:ext>
            </a:extLst>
          </p:cNvPr>
          <p:cNvSpPr>
            <a:spLocks noGrp="1"/>
          </p:cNvSpPr>
          <p:nvPr>
            <p:ph type="body" idx="1"/>
          </p:nvPr>
        </p:nvSpPr>
        <p:spPr>
          <a:xfrm>
            <a:off x="795338" y="4092320"/>
            <a:ext cx="10601325" cy="1144884"/>
          </a:xfrm>
        </p:spPr>
        <p:txBody>
          <a:bodyPr vert="horz" lIns="91440" tIns="45720" rIns="91440" bIns="45720" rtlCol="0">
            <a:normAutofit/>
          </a:bodyPr>
          <a:lstStyle/>
          <a:p>
            <a:pPr algn="ctr"/>
            <a:r>
              <a:rPr lang="en-US" sz="5400" b="1" dirty="0">
                <a:ln w="22225">
                  <a:solidFill>
                    <a:schemeClr val="accent2"/>
                  </a:solidFill>
                  <a:prstDash val="solid"/>
                </a:ln>
                <a:solidFill>
                  <a:schemeClr val="accent2">
                    <a:lumMod val="40000"/>
                    <a:lumOff val="60000"/>
                  </a:schemeClr>
                </a:solidFill>
              </a:rPr>
              <a:t>THE EQUIPMENT</a:t>
            </a:r>
            <a:endParaRPr lang="en-US" sz="5400" b="1" kern="1200" dirty="0">
              <a:ln w="22225">
                <a:solidFill>
                  <a:schemeClr val="accent2"/>
                </a:solidFill>
                <a:prstDash val="solid"/>
              </a:ln>
              <a:solidFill>
                <a:schemeClr val="accent2">
                  <a:lumMod val="40000"/>
                  <a:lumOff val="60000"/>
                </a:schemeClr>
              </a:solidFill>
              <a:latin typeface="+mn-lt"/>
              <a:ea typeface="+mn-ea"/>
              <a:cs typeface="+mn-cs"/>
            </a:endParaRP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a:spcAft>
                <a:spcPts val="600"/>
              </a:spcAft>
            </a:pPr>
            <a:fld id="{77C70584-727D-3042-B647-9AD6EF4C2F51}" type="slidenum">
              <a:rPr lang="en-US">
                <a:solidFill>
                  <a:schemeClr val="tx1">
                    <a:lumMod val="75000"/>
                    <a:lumOff val="25000"/>
                  </a:schemeClr>
                </a:solidFill>
              </a:rPr>
              <a:pPr>
                <a:spcAft>
                  <a:spcPts val="600"/>
                </a:spcAft>
              </a:pPr>
              <a:t>12</a:t>
            </a:fld>
            <a:endParaRPr lang="en-US">
              <a:solidFill>
                <a:schemeClr val="tx1">
                  <a:lumMod val="75000"/>
                  <a:lumOff val="25000"/>
                </a:schemeClr>
              </a:solidFill>
            </a:endParaRPr>
          </a:p>
        </p:txBody>
      </p:sp>
    </p:spTree>
    <p:extLst>
      <p:ext uri="{BB962C8B-B14F-4D97-AF65-F5344CB8AC3E}">
        <p14:creationId xmlns:p14="http://schemas.microsoft.com/office/powerpoint/2010/main" val="2497784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B7146B-E820-DB45-B879-B3C0AB6A27E8}"/>
              </a:ext>
            </a:extLst>
          </p:cNvPr>
          <p:cNvSpPr>
            <a:spLocks noGrp="1"/>
          </p:cNvSpPr>
          <p:nvPr>
            <p:ph type="title"/>
          </p:nvPr>
        </p:nvSpPr>
        <p:spPr>
          <a:xfrm>
            <a:off x="572493" y="238539"/>
            <a:ext cx="11018520" cy="1434415"/>
          </a:xfrm>
        </p:spPr>
        <p:txBody>
          <a:bodyPr anchor="b">
            <a:normAutofit/>
          </a:bodyPr>
          <a:lstStyle/>
          <a:p>
            <a:r>
              <a:rPr lang="en-US" sz="5400" dirty="0"/>
              <a:t>DIY Book Scanner</a:t>
            </a:r>
          </a:p>
        </p:txBody>
      </p:sp>
      <p:sp>
        <p:nvSpPr>
          <p:cNvPr id="4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7ED3BCC-2228-F14D-AD87-EAC7D7710C0C}"/>
              </a:ext>
            </a:extLst>
          </p:cNvPr>
          <p:cNvSpPr>
            <a:spLocks noGrp="1"/>
          </p:cNvSpPr>
          <p:nvPr>
            <p:ph idx="1"/>
          </p:nvPr>
        </p:nvSpPr>
        <p:spPr>
          <a:xfrm>
            <a:off x="557867" y="1835293"/>
            <a:ext cx="7576483" cy="4653104"/>
          </a:xfrm>
        </p:spPr>
        <p:txBody>
          <a:bodyPr anchor="t">
            <a:normAutofit fontScale="92500"/>
          </a:bodyPr>
          <a:lstStyle/>
          <a:p>
            <a:pPr>
              <a:lnSpc>
                <a:spcPct val="120000"/>
              </a:lnSpc>
            </a:pPr>
            <a:r>
              <a:rPr lang="en-US" sz="2600" dirty="0"/>
              <a:t>Book cradle</a:t>
            </a:r>
          </a:p>
          <a:p>
            <a:pPr lvl="1">
              <a:lnSpc>
                <a:spcPct val="120000"/>
              </a:lnSpc>
            </a:pPr>
            <a:r>
              <a:rPr lang="en-US" b="1" dirty="0"/>
              <a:t>Built</a:t>
            </a:r>
            <a:r>
              <a:rPr lang="en-US" dirty="0"/>
              <a:t> by German </a:t>
            </a:r>
            <a:r>
              <a:rPr lang="en-US" dirty="0" err="1"/>
              <a:t>Thomae</a:t>
            </a:r>
            <a:r>
              <a:rPr lang="en-US" dirty="0"/>
              <a:t> (my father)</a:t>
            </a:r>
          </a:p>
          <a:p>
            <a:pPr>
              <a:lnSpc>
                <a:spcPct val="120000"/>
              </a:lnSpc>
            </a:pPr>
            <a:r>
              <a:rPr lang="en-US" sz="2600" dirty="0"/>
              <a:t>Camera(s)</a:t>
            </a:r>
          </a:p>
          <a:p>
            <a:pPr lvl="1">
              <a:lnSpc>
                <a:spcPct val="120000"/>
              </a:lnSpc>
            </a:pPr>
            <a:r>
              <a:rPr lang="en-US" b="1" dirty="0"/>
              <a:t>Borrowed</a:t>
            </a:r>
            <a:r>
              <a:rPr lang="en-US" dirty="0"/>
              <a:t> from the McGill Music Library</a:t>
            </a:r>
          </a:p>
          <a:p>
            <a:pPr lvl="1">
              <a:lnSpc>
                <a:spcPct val="120000"/>
              </a:lnSpc>
            </a:pPr>
            <a:r>
              <a:rPr lang="en-US" dirty="0"/>
              <a:t>Nikon D750 (Image sensor of 24.3-effective-megapixels)</a:t>
            </a:r>
          </a:p>
          <a:p>
            <a:pPr lvl="1">
              <a:lnSpc>
                <a:spcPct val="120000"/>
              </a:lnSpc>
            </a:pPr>
            <a:r>
              <a:rPr lang="en-US" dirty="0"/>
              <a:t>Images saved at</a:t>
            </a:r>
            <a:r>
              <a:rPr lang="en-US" dirty="0">
                <a:highlight>
                  <a:srgbClr val="00FFFF"/>
                </a:highlight>
              </a:rPr>
              <a:t> </a:t>
            </a:r>
            <a:r>
              <a:rPr lang="en-US" b="1" dirty="0">
                <a:highlight>
                  <a:srgbClr val="00FFFF"/>
                </a:highlight>
              </a:rPr>
              <a:t>300-dpi</a:t>
            </a:r>
            <a:r>
              <a:rPr lang="en-US" dirty="0">
                <a:highlight>
                  <a:srgbClr val="00FFFF"/>
                </a:highlight>
              </a:rPr>
              <a:t> </a:t>
            </a:r>
            <a:r>
              <a:rPr lang="en-US" dirty="0"/>
              <a:t>resolution (with no interpolation)</a:t>
            </a:r>
          </a:p>
          <a:p>
            <a:pPr>
              <a:lnSpc>
                <a:spcPct val="120000"/>
              </a:lnSpc>
            </a:pPr>
            <a:r>
              <a:rPr lang="en-US" sz="2600" dirty="0"/>
              <a:t>Lighting</a:t>
            </a:r>
          </a:p>
          <a:p>
            <a:pPr lvl="1">
              <a:lnSpc>
                <a:spcPct val="120000"/>
              </a:lnSpc>
            </a:pPr>
            <a:r>
              <a:rPr lang="en-US" b="1" dirty="0"/>
              <a:t>Borrowed</a:t>
            </a:r>
            <a:r>
              <a:rPr lang="en-US" dirty="0"/>
              <a:t> from DDMAL Lab, McGill University</a:t>
            </a:r>
          </a:p>
          <a:p>
            <a:pPr lvl="1">
              <a:lnSpc>
                <a:spcPct val="120000"/>
              </a:lnSpc>
            </a:pPr>
            <a:r>
              <a:rPr lang="en-US" dirty="0"/>
              <a:t>Two natural-light LED panels</a:t>
            </a:r>
          </a:p>
        </p:txBody>
      </p:sp>
      <p:pic>
        <p:nvPicPr>
          <p:cNvPr id="11" name="Picture 10">
            <a:extLst>
              <a:ext uri="{FF2B5EF4-FFF2-40B4-BE49-F238E27FC236}">
                <a16:creationId xmlns:a16="http://schemas.microsoft.com/office/drawing/2014/main" id="{FFD08DF0-8350-3D4A-A384-89A83539DFB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465" r="-2987"/>
          <a:stretch/>
        </p:blipFill>
        <p:spPr>
          <a:xfrm>
            <a:off x="8201438" y="1911493"/>
            <a:ext cx="3571462" cy="3896650"/>
          </a:xfrm>
          <a:prstGeom prst="rect">
            <a:avLst/>
          </a:prstGeom>
          <a:ln>
            <a:noFill/>
          </a:ln>
          <a:effectLst>
            <a:outerShdw blurRad="190500" algn="tl" rotWithShape="0">
              <a:srgbClr val="000000">
                <a:alpha val="70000"/>
              </a:srgbClr>
            </a:outerShdw>
          </a:effectLst>
        </p:spPr>
      </p:pic>
      <p:sp>
        <p:nvSpPr>
          <p:cNvPr id="5" name="Slide Number Placeholder 4">
            <a:extLst>
              <a:ext uri="{FF2B5EF4-FFF2-40B4-BE49-F238E27FC236}">
                <a16:creationId xmlns:a16="http://schemas.microsoft.com/office/drawing/2014/main" id="{59B5B8D0-7830-3B4A-B8D0-04B351543125}"/>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8BA839D-8307-134B-B153-D541F4765D66}"/>
              </a:ext>
            </a:extLst>
          </p:cNvPr>
          <p:cNvSpPr txBox="1"/>
          <p:nvPr/>
        </p:nvSpPr>
        <p:spPr>
          <a:xfrm>
            <a:off x="8201438" y="5846627"/>
            <a:ext cx="346478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hlinkClick r:id="rId4"/>
              </a:rPr>
              <a:t>http://diybookscanner.org</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TextBox 5">
            <a:extLst>
              <a:ext uri="{FF2B5EF4-FFF2-40B4-BE49-F238E27FC236}">
                <a16:creationId xmlns:a16="http://schemas.microsoft.com/office/drawing/2014/main" id="{A28E9581-71C3-9F0E-BA7A-2AE71704D2AC}"/>
              </a:ext>
            </a:extLst>
          </p:cNvPr>
          <p:cNvSpPr txBox="1"/>
          <p:nvPr/>
        </p:nvSpPr>
        <p:spPr>
          <a:xfrm>
            <a:off x="2814205" y="4745569"/>
            <a:ext cx="2462645" cy="430887"/>
          </a:xfrm>
          <a:prstGeom prst="rect">
            <a:avLst/>
          </a:prstGeom>
          <a:noFill/>
        </p:spPr>
        <p:txBody>
          <a:bodyPr wrap="square">
            <a:spAutoFit/>
          </a:bodyPr>
          <a:lstStyle/>
          <a:p>
            <a:pPr algn="ctr"/>
            <a:r>
              <a:rPr lang="en-US" sz="2200" b="1" dirty="0">
                <a:highlight>
                  <a:srgbClr val="00FFFF"/>
                </a:highlight>
              </a:rPr>
              <a:t>FADGI approved</a:t>
            </a:r>
            <a:r>
              <a:rPr lang="en-US" sz="2200" dirty="0">
                <a:highlight>
                  <a:srgbClr val="00FFFF"/>
                </a:highlight>
              </a:rPr>
              <a:t> </a:t>
            </a:r>
          </a:p>
        </p:txBody>
      </p:sp>
    </p:spTree>
    <p:extLst>
      <p:ext uri="{BB962C8B-B14F-4D97-AF65-F5344CB8AC3E}">
        <p14:creationId xmlns:p14="http://schemas.microsoft.com/office/powerpoint/2010/main" val="218788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C21C-CCF7-C44C-A6C3-AF0225677274}"/>
              </a:ext>
            </a:extLst>
          </p:cNvPr>
          <p:cNvSpPr>
            <a:spLocks noGrp="1"/>
          </p:cNvSpPr>
          <p:nvPr>
            <p:ph type="title"/>
          </p:nvPr>
        </p:nvSpPr>
        <p:spPr>
          <a:xfrm>
            <a:off x="990600" y="338328"/>
            <a:ext cx="10210800" cy="1078992"/>
          </a:xfrm>
        </p:spPr>
        <p:txBody>
          <a:bodyPr vert="horz" lIns="91440" tIns="45720" rIns="91440" bIns="45720" rtlCol="0" anchor="b">
            <a:normAutofit/>
          </a:bodyPr>
          <a:lstStyle/>
          <a:p>
            <a:pPr algn="ctr"/>
            <a:r>
              <a:rPr lang="en-US" sz="5400" b="1" dirty="0"/>
              <a:t>Book Cradle: </a:t>
            </a:r>
            <a:r>
              <a:rPr lang="en-US" sz="5400" dirty="0"/>
              <a:t>Two Configurations</a:t>
            </a:r>
          </a:p>
        </p:txBody>
      </p:sp>
      <p:sp>
        <p:nvSpPr>
          <p:cNvPr id="21" name="Rectangle 11">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3453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hlinkClick r:id="rId3"/>
            <a:extLst>
              <a:ext uri="{FF2B5EF4-FFF2-40B4-BE49-F238E27FC236}">
                <a16:creationId xmlns:a16="http://schemas.microsoft.com/office/drawing/2014/main" id="{3DF18CFE-B659-96DA-BC5E-D62AA8C4CEDA}"/>
              </a:ext>
            </a:extLst>
          </p:cNvPr>
          <p:cNvPicPr>
            <a:picLocks noChangeAspect="1"/>
          </p:cNvPicPr>
          <p:nvPr/>
        </p:nvPicPr>
        <p:blipFill>
          <a:blip r:embed="rId4"/>
          <a:stretch>
            <a:fillRect/>
          </a:stretch>
        </p:blipFill>
        <p:spPr>
          <a:xfrm>
            <a:off x="639147" y="3154793"/>
            <a:ext cx="4974336" cy="2300630"/>
          </a:xfrm>
          <a:prstGeom prst="rect">
            <a:avLst/>
          </a:prstGeom>
        </p:spPr>
      </p:pic>
      <p:sp>
        <p:nvSpPr>
          <p:cNvPr id="5" name="Slide Number Placeholder 4">
            <a:extLst>
              <a:ext uri="{FF2B5EF4-FFF2-40B4-BE49-F238E27FC236}">
                <a16:creationId xmlns:a16="http://schemas.microsoft.com/office/drawing/2014/main" id="{3B758EF3-D9BF-B747-980D-0D8B42DC5E2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068FBB84-544C-A04C-A3A4-7697852BFAF3}" type="slidenum">
              <a:rPr kumimoji="0" lang="en-US" b="0" i="0" u="none" strike="noStrike" cap="none" spc="0" normalizeH="0" baseline="0" noProof="0">
                <a:ln>
                  <a:noFill/>
                </a:ln>
                <a:solidFill>
                  <a:srgbClr val="898989"/>
                </a:solidFill>
                <a:effectLst/>
                <a:uLnTx/>
                <a:uFillTx/>
              </a:rPr>
              <a:pPr marR="0" lvl="0" indent="0" fontAlgn="auto">
                <a:spcBef>
                  <a:spcPts val="0"/>
                </a:spcBef>
                <a:spcAft>
                  <a:spcPts val="600"/>
                </a:spcAft>
                <a:buClrTx/>
                <a:buSzTx/>
                <a:buFontTx/>
                <a:buNone/>
                <a:tabLst/>
                <a:defRPr/>
              </a:pPr>
              <a:t>14</a:t>
            </a:fld>
            <a:endParaRPr kumimoji="0" lang="en-US" b="0" i="0" u="none" strike="noStrike" cap="none" spc="0" normalizeH="0" baseline="0" noProof="0">
              <a:ln>
                <a:noFill/>
              </a:ln>
              <a:solidFill>
                <a:srgbClr val="898989"/>
              </a:solidFill>
              <a:effectLst/>
              <a:uLnTx/>
              <a:uFillTx/>
            </a:endParaRPr>
          </a:p>
        </p:txBody>
      </p:sp>
      <p:pic>
        <p:nvPicPr>
          <p:cNvPr id="6" name="Picture 5">
            <a:hlinkClick r:id="rId5"/>
            <a:extLst>
              <a:ext uri="{FF2B5EF4-FFF2-40B4-BE49-F238E27FC236}">
                <a16:creationId xmlns:a16="http://schemas.microsoft.com/office/drawing/2014/main" id="{92A187BE-4B5A-E999-A6E9-1A69C295542F}"/>
              </a:ext>
            </a:extLst>
          </p:cNvPr>
          <p:cNvPicPr>
            <a:picLocks noChangeAspect="1"/>
          </p:cNvPicPr>
          <p:nvPr/>
        </p:nvPicPr>
        <p:blipFill>
          <a:blip r:embed="rId6"/>
          <a:stretch>
            <a:fillRect/>
          </a:stretch>
        </p:blipFill>
        <p:spPr>
          <a:xfrm>
            <a:off x="6710218" y="2742397"/>
            <a:ext cx="4702629" cy="3291840"/>
          </a:xfrm>
          <a:prstGeom prst="rect">
            <a:avLst/>
          </a:prstGeom>
        </p:spPr>
      </p:pic>
      <p:sp>
        <p:nvSpPr>
          <p:cNvPr id="3" name="TextBox 2">
            <a:extLst>
              <a:ext uri="{FF2B5EF4-FFF2-40B4-BE49-F238E27FC236}">
                <a16:creationId xmlns:a16="http://schemas.microsoft.com/office/drawing/2014/main" id="{53BEE4BD-1E69-1AFF-02DD-31AF86267716}"/>
              </a:ext>
            </a:extLst>
          </p:cNvPr>
          <p:cNvSpPr txBox="1"/>
          <p:nvPr/>
        </p:nvSpPr>
        <p:spPr>
          <a:xfrm>
            <a:off x="2461902" y="1703326"/>
            <a:ext cx="7161784" cy="969496"/>
          </a:xfrm>
          <a:prstGeom prst="rect">
            <a:avLst/>
          </a:prstGeom>
          <a:solidFill>
            <a:schemeClr val="bg2">
              <a:lumMod val="90000"/>
            </a:schemeClr>
          </a:solidFill>
          <a:ln w="19050">
            <a:solidFill>
              <a:schemeClr val="tx1"/>
            </a:solidFill>
          </a:ln>
        </p:spPr>
        <p:txBody>
          <a:bodyPr wrap="square" rtlCol="0" anchor="ctr">
            <a:spAutoFit/>
          </a:bodyPr>
          <a:lstStyle/>
          <a:p>
            <a:pPr algn="ctr"/>
            <a:endParaRPr lang="en-US" sz="600" dirty="0"/>
          </a:p>
          <a:p>
            <a:pPr algn="ctr"/>
            <a:r>
              <a:rPr lang="en-US" sz="2400" dirty="0"/>
              <a:t>Both allow for the book to be opened at 110º angle</a:t>
            </a:r>
          </a:p>
          <a:p>
            <a:pPr algn="ctr"/>
            <a:r>
              <a:rPr lang="en-US" sz="2000" dirty="0"/>
              <a:t>By using four wedges of 35º</a:t>
            </a:r>
          </a:p>
          <a:p>
            <a:pPr algn="ctr"/>
            <a:endParaRPr lang="en-US" sz="600" dirty="0"/>
          </a:p>
        </p:txBody>
      </p:sp>
    </p:spTree>
    <p:extLst>
      <p:ext uri="{BB962C8B-B14F-4D97-AF65-F5344CB8AC3E}">
        <p14:creationId xmlns:p14="http://schemas.microsoft.com/office/powerpoint/2010/main" val="259950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B7146B-E820-DB45-B879-B3C0AB6A27E8}"/>
              </a:ext>
            </a:extLst>
          </p:cNvPr>
          <p:cNvSpPr>
            <a:spLocks noGrp="1"/>
          </p:cNvSpPr>
          <p:nvPr>
            <p:ph type="title"/>
          </p:nvPr>
        </p:nvSpPr>
        <p:spPr>
          <a:xfrm>
            <a:off x="6458673" y="640080"/>
            <a:ext cx="5090199" cy="3566160"/>
          </a:xfrm>
          <a:prstGeom prst="ellipse">
            <a:avLst/>
          </a:prstGeom>
        </p:spPr>
        <p:txBody>
          <a:bodyPr vert="horz" lIns="91440" tIns="45720" rIns="91440" bIns="45720" rtlCol="0" anchor="b">
            <a:normAutofit/>
          </a:bodyPr>
          <a:lstStyle/>
          <a:p>
            <a:r>
              <a:rPr lang="en-US" sz="4100" dirty="0"/>
              <a:t>The Book Cradle </a:t>
            </a:r>
            <a:br>
              <a:rPr lang="en-US" sz="4100" dirty="0"/>
            </a:br>
            <a:r>
              <a:rPr lang="en-US" sz="3600" dirty="0"/>
              <a:t>(with copy stand)</a:t>
            </a:r>
            <a:endParaRPr lang="en-US" sz="4100" dirty="0"/>
          </a:p>
        </p:txBody>
      </p:sp>
      <p:pic>
        <p:nvPicPr>
          <p:cNvPr id="7" name="Picture 6">
            <a:extLst>
              <a:ext uri="{FF2B5EF4-FFF2-40B4-BE49-F238E27FC236}">
                <a16:creationId xmlns:a16="http://schemas.microsoft.com/office/drawing/2014/main" id="{497349ED-DB96-9645-8F45-A1AE042DFF6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0"/>
            <a:ext cx="6108141" cy="6857990"/>
          </a:xfrm>
          <a:custGeom>
            <a:avLst/>
            <a:gdLst/>
            <a:ahLst/>
            <a:cxnLst/>
            <a:rect l="l" t="t" r="r" b="b"/>
            <a:pathLst>
              <a:path w="6108161" h="6858000">
                <a:moveTo>
                  <a:pt x="0" y="0"/>
                </a:moveTo>
                <a:lnTo>
                  <a:pt x="2058355" y="0"/>
                </a:lnTo>
                <a:lnTo>
                  <a:pt x="3299791" y="0"/>
                </a:lnTo>
                <a:lnTo>
                  <a:pt x="6076880" y="0"/>
                </a:lnTo>
                <a:lnTo>
                  <a:pt x="6078171" y="10931"/>
                </a:lnTo>
                <a:cubicBezTo>
                  <a:pt x="6093300" y="94836"/>
                  <a:pt x="6090630" y="179884"/>
                  <a:pt x="6094698" y="264297"/>
                </a:cubicBezTo>
                <a:cubicBezTo>
                  <a:pt x="6099656" y="367652"/>
                  <a:pt x="6093427" y="471135"/>
                  <a:pt x="6091266" y="574617"/>
                </a:cubicBezTo>
                <a:cubicBezTo>
                  <a:pt x="6089359" y="662717"/>
                  <a:pt x="6080587" y="750690"/>
                  <a:pt x="6083384" y="838916"/>
                </a:cubicBezTo>
                <a:cubicBezTo>
                  <a:pt x="6083384" y="841968"/>
                  <a:pt x="6083384" y="845019"/>
                  <a:pt x="6083384" y="848070"/>
                </a:cubicBezTo>
                <a:cubicBezTo>
                  <a:pt x="6075375" y="945068"/>
                  <a:pt x="6075375" y="1042576"/>
                  <a:pt x="6083384" y="1139574"/>
                </a:cubicBezTo>
                <a:cubicBezTo>
                  <a:pt x="6085964" y="1179950"/>
                  <a:pt x="6085240" y="1220466"/>
                  <a:pt x="6081223" y="1260728"/>
                </a:cubicBezTo>
                <a:cubicBezTo>
                  <a:pt x="6077409" y="1311960"/>
                  <a:pt x="6065204" y="1364083"/>
                  <a:pt x="6073976" y="1414934"/>
                </a:cubicBezTo>
                <a:cubicBezTo>
                  <a:pt x="6079722" y="1456784"/>
                  <a:pt x="6082913" y="1498940"/>
                  <a:pt x="6083511" y="1541172"/>
                </a:cubicBezTo>
                <a:cubicBezTo>
                  <a:pt x="6087833" y="1635755"/>
                  <a:pt x="6083638" y="1730847"/>
                  <a:pt x="6082112" y="1825685"/>
                </a:cubicBezTo>
                <a:cubicBezTo>
                  <a:pt x="6080205" y="1936286"/>
                  <a:pt x="6083002" y="2046634"/>
                  <a:pt x="6074103" y="2157235"/>
                </a:cubicBezTo>
                <a:cubicBezTo>
                  <a:pt x="6069145" y="2246581"/>
                  <a:pt x="6069145" y="2336130"/>
                  <a:pt x="6074103" y="2425476"/>
                </a:cubicBezTo>
                <a:cubicBezTo>
                  <a:pt x="6076519" y="2507473"/>
                  <a:pt x="6088850" y="2588454"/>
                  <a:pt x="6086816" y="2671214"/>
                </a:cubicBezTo>
                <a:cubicBezTo>
                  <a:pt x="6084401" y="2767832"/>
                  <a:pt x="6072959" y="2863940"/>
                  <a:pt x="6076519" y="2960685"/>
                </a:cubicBezTo>
                <a:cubicBezTo>
                  <a:pt x="6078171" y="3006832"/>
                  <a:pt x="6078299" y="3052980"/>
                  <a:pt x="6079316" y="3099127"/>
                </a:cubicBezTo>
                <a:cubicBezTo>
                  <a:pt x="6080333" y="3154682"/>
                  <a:pt x="6090376" y="3210110"/>
                  <a:pt x="6084782" y="3265665"/>
                </a:cubicBezTo>
                <a:cubicBezTo>
                  <a:pt x="6075502" y="3358087"/>
                  <a:pt x="6051475" y="3448857"/>
                  <a:pt x="6066476" y="3543567"/>
                </a:cubicBezTo>
                <a:cubicBezTo>
                  <a:pt x="6074739" y="3595690"/>
                  <a:pt x="6084146" y="3647940"/>
                  <a:pt x="6088850" y="3700571"/>
                </a:cubicBezTo>
                <a:cubicBezTo>
                  <a:pt x="6093045" y="3747608"/>
                  <a:pt x="6103724" y="3795408"/>
                  <a:pt x="6095588" y="3842191"/>
                </a:cubicBezTo>
                <a:cubicBezTo>
                  <a:pt x="6088723" y="3882237"/>
                  <a:pt x="6092410" y="3922282"/>
                  <a:pt x="6087070" y="3962327"/>
                </a:cubicBezTo>
                <a:cubicBezTo>
                  <a:pt x="6080078" y="4014831"/>
                  <a:pt x="6076265" y="4068352"/>
                  <a:pt x="6071052" y="4121111"/>
                </a:cubicBezTo>
                <a:cubicBezTo>
                  <a:pt x="6066221" y="4169038"/>
                  <a:pt x="6062662" y="4216838"/>
                  <a:pt x="6075375" y="4261841"/>
                </a:cubicBezTo>
                <a:cubicBezTo>
                  <a:pt x="6106394" y="4375112"/>
                  <a:pt x="6089359" y="4487748"/>
                  <a:pt x="6077663" y="4600257"/>
                </a:cubicBezTo>
                <a:cubicBezTo>
                  <a:pt x="6071942" y="4655049"/>
                  <a:pt x="6063552" y="4712765"/>
                  <a:pt x="6076265" y="4762853"/>
                </a:cubicBezTo>
                <a:cubicBezTo>
                  <a:pt x="6099783" y="4851716"/>
                  <a:pt x="6081350" y="4936764"/>
                  <a:pt x="6071179" y="5021432"/>
                </a:cubicBezTo>
                <a:cubicBezTo>
                  <a:pt x="6061009" y="5106099"/>
                  <a:pt x="6058594" y="5189495"/>
                  <a:pt x="6076392" y="5272637"/>
                </a:cubicBezTo>
                <a:cubicBezTo>
                  <a:pt x="6088850" y="5331116"/>
                  <a:pt x="6088850" y="5390612"/>
                  <a:pt x="6090376" y="5449600"/>
                </a:cubicBezTo>
                <a:cubicBezTo>
                  <a:pt x="6091266" y="5486339"/>
                  <a:pt x="6077663" y="5523842"/>
                  <a:pt x="6068637" y="5560582"/>
                </a:cubicBezTo>
                <a:cubicBezTo>
                  <a:pt x="6052364" y="5626943"/>
                  <a:pt x="6046517" y="5694321"/>
                  <a:pt x="6068637" y="5759029"/>
                </a:cubicBezTo>
                <a:cubicBezTo>
                  <a:pt x="6099148" y="5848655"/>
                  <a:pt x="6116691" y="5938407"/>
                  <a:pt x="6103978" y="6033117"/>
                </a:cubicBezTo>
                <a:cubicBezTo>
                  <a:pt x="6096732" y="6091724"/>
                  <a:pt x="6094952" y="6151347"/>
                  <a:pt x="6084019" y="6209190"/>
                </a:cubicBezTo>
                <a:cubicBezTo>
                  <a:pt x="6065713" y="6304790"/>
                  <a:pt x="6072196" y="6399882"/>
                  <a:pt x="6086816" y="6494211"/>
                </a:cubicBezTo>
                <a:cubicBezTo>
                  <a:pt x="6096897" y="6573081"/>
                  <a:pt x="6097965" y="6652829"/>
                  <a:pt x="6089994" y="6731941"/>
                </a:cubicBezTo>
                <a:lnTo>
                  <a:pt x="6081268" y="6858000"/>
                </a:lnTo>
                <a:lnTo>
                  <a:pt x="3299791" y="6858000"/>
                </a:lnTo>
                <a:lnTo>
                  <a:pt x="2058355" y="6858000"/>
                </a:lnTo>
                <a:lnTo>
                  <a:pt x="0" y="6858000"/>
                </a:lnTo>
                <a:close/>
              </a:path>
            </a:pathLst>
          </a:custGeom>
        </p:spPr>
      </p:pic>
      <p:sp>
        <p:nvSpPr>
          <p:cNvPr id="73"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1142" y="4409267"/>
            <a:ext cx="4242816" cy="18288"/>
          </a:xfrm>
          <a:custGeom>
            <a:avLst/>
            <a:gdLst>
              <a:gd name="connsiteX0" fmla="*/ 0 w 4242816"/>
              <a:gd name="connsiteY0" fmla="*/ 0 h 18288"/>
              <a:gd name="connsiteX1" fmla="*/ 690973 w 4242816"/>
              <a:gd name="connsiteY1" fmla="*/ 0 h 18288"/>
              <a:gd name="connsiteX2" fmla="*/ 1212233 w 4242816"/>
              <a:gd name="connsiteY2" fmla="*/ 0 h 18288"/>
              <a:gd name="connsiteX3" fmla="*/ 1860778 w 4242816"/>
              <a:gd name="connsiteY3" fmla="*/ 0 h 18288"/>
              <a:gd name="connsiteX4" fmla="*/ 2424466 w 4242816"/>
              <a:gd name="connsiteY4" fmla="*/ 0 h 18288"/>
              <a:gd name="connsiteX5" fmla="*/ 3115439 w 4242816"/>
              <a:gd name="connsiteY5" fmla="*/ 0 h 18288"/>
              <a:gd name="connsiteX6" fmla="*/ 3636699 w 4242816"/>
              <a:gd name="connsiteY6" fmla="*/ 0 h 18288"/>
              <a:gd name="connsiteX7" fmla="*/ 4242816 w 4242816"/>
              <a:gd name="connsiteY7" fmla="*/ 0 h 18288"/>
              <a:gd name="connsiteX8" fmla="*/ 4242816 w 4242816"/>
              <a:gd name="connsiteY8" fmla="*/ 18288 h 18288"/>
              <a:gd name="connsiteX9" fmla="*/ 3636699 w 4242816"/>
              <a:gd name="connsiteY9" fmla="*/ 18288 h 18288"/>
              <a:gd name="connsiteX10" fmla="*/ 3030583 w 4242816"/>
              <a:gd name="connsiteY10" fmla="*/ 18288 h 18288"/>
              <a:gd name="connsiteX11" fmla="*/ 2466894 w 4242816"/>
              <a:gd name="connsiteY11" fmla="*/ 18288 h 18288"/>
              <a:gd name="connsiteX12" fmla="*/ 1988062 w 4242816"/>
              <a:gd name="connsiteY12" fmla="*/ 18288 h 18288"/>
              <a:gd name="connsiteX13" fmla="*/ 1466802 w 4242816"/>
              <a:gd name="connsiteY13" fmla="*/ 18288 h 18288"/>
              <a:gd name="connsiteX14" fmla="*/ 860686 w 4242816"/>
              <a:gd name="connsiteY14" fmla="*/ 18288 h 18288"/>
              <a:gd name="connsiteX15" fmla="*/ 0 w 4242816"/>
              <a:gd name="connsiteY15" fmla="*/ 18288 h 18288"/>
              <a:gd name="connsiteX16" fmla="*/ 0 w 424281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2816" h="18288" fill="none" extrusionOk="0">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w="4242816" h="18288" stroke="0" extrusionOk="0">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DF03CB68-445C-9446-8994-6645F17D833F}"/>
              </a:ext>
            </a:extLst>
          </p:cNvPr>
          <p:cNvSpPr>
            <a:spLocks noGrp="1"/>
          </p:cNvSpPr>
          <p:nvPr>
            <p:ph type="sldNum" sz="quarter" idx="12"/>
          </p:nvPr>
        </p:nvSpPr>
        <p:spPr>
          <a:xfrm>
            <a:off x="10490752" y="6356350"/>
            <a:ext cx="863048"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25FC8FE-EA2C-9285-C930-3648B7EC36B5}"/>
              </a:ext>
            </a:extLst>
          </p:cNvPr>
          <p:cNvSpPr txBox="1"/>
          <p:nvPr/>
        </p:nvSpPr>
        <p:spPr>
          <a:xfrm>
            <a:off x="6649272" y="4327187"/>
            <a:ext cx="4708999" cy="1908215"/>
          </a:xfrm>
          <a:prstGeom prst="rect">
            <a:avLst/>
          </a:prstGeom>
          <a:noFill/>
          <a:ln w="19050">
            <a:noFill/>
          </a:ln>
        </p:spPr>
        <p:txBody>
          <a:bodyPr wrap="square" rtlCol="0" anchor="ctr">
            <a:spAutoFit/>
          </a:bodyPr>
          <a:lstStyle/>
          <a:p>
            <a:endParaRPr lang="en-US" sz="1100" dirty="0"/>
          </a:p>
          <a:p>
            <a:pPr marL="342900" indent="-342900">
              <a:buFont typeface="Arial" panose="020B0604020202020204" pitchFamily="34" charset="0"/>
              <a:buChar char="•"/>
            </a:pPr>
            <a:r>
              <a:rPr lang="en-US" sz="2400" dirty="0"/>
              <a:t>Easier to set the camera </a:t>
            </a:r>
            <a:r>
              <a:rPr lang="en-US" sz="2400" b="1" dirty="0"/>
              <a:t>perpendicular </a:t>
            </a:r>
            <a:r>
              <a:rPr lang="en-US" sz="2400" dirty="0"/>
              <a:t>to the page</a:t>
            </a:r>
            <a:endParaRPr lang="en-US" sz="1050" dirty="0"/>
          </a:p>
          <a:p>
            <a:endParaRPr lang="en-US" sz="1100" dirty="0"/>
          </a:p>
          <a:p>
            <a:pPr marL="342900" indent="-342900">
              <a:buFont typeface="Arial" panose="020B0604020202020204" pitchFamily="34" charset="0"/>
              <a:buChar char="•"/>
            </a:pPr>
            <a:r>
              <a:rPr lang="en-US" sz="2400" dirty="0"/>
              <a:t>And to keep the camera at a </a:t>
            </a:r>
            <a:r>
              <a:rPr lang="en-US" sz="2400" b="1" dirty="0"/>
              <a:t>constant distance </a:t>
            </a:r>
            <a:r>
              <a:rPr lang="en-US" sz="2400" dirty="0"/>
              <a:t>from the page</a:t>
            </a:r>
          </a:p>
        </p:txBody>
      </p:sp>
    </p:spTree>
    <p:extLst>
      <p:ext uri="{BB962C8B-B14F-4D97-AF65-F5344CB8AC3E}">
        <p14:creationId xmlns:p14="http://schemas.microsoft.com/office/powerpoint/2010/main" val="329812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B7146B-E820-DB45-B879-B3C0AB6A27E8}"/>
              </a:ext>
            </a:extLst>
          </p:cNvPr>
          <p:cNvSpPr>
            <a:spLocks noGrp="1"/>
          </p:cNvSpPr>
          <p:nvPr>
            <p:ph type="title"/>
          </p:nvPr>
        </p:nvSpPr>
        <p:spPr>
          <a:xfrm>
            <a:off x="638882" y="639193"/>
            <a:ext cx="3571810" cy="3573516"/>
          </a:xfrm>
          <a:prstGeom prst="ellipse">
            <a:avLst/>
          </a:prstGeom>
        </p:spPr>
        <p:txBody>
          <a:bodyPr vert="horz" lIns="91440" tIns="45720" rIns="91440" bIns="45720" rtlCol="0" anchor="b">
            <a:normAutofit/>
          </a:bodyPr>
          <a:lstStyle/>
          <a:p>
            <a:r>
              <a:rPr lang="en-US" sz="5600" kern="1200">
                <a:solidFill>
                  <a:schemeClr val="tx1"/>
                </a:solidFill>
                <a:latin typeface="+mj-lt"/>
                <a:ea typeface="+mj-ea"/>
                <a:cs typeface="+mj-cs"/>
              </a:rPr>
              <a:t>Cradle </a:t>
            </a:r>
            <a:br>
              <a:rPr lang="en-US" sz="5600" kern="1200">
                <a:solidFill>
                  <a:schemeClr val="tx1"/>
                </a:solidFill>
                <a:latin typeface="+mj-lt"/>
                <a:ea typeface="+mj-ea"/>
                <a:cs typeface="+mj-cs"/>
              </a:rPr>
            </a:br>
            <a:r>
              <a:rPr lang="en-US" sz="5600" kern="1200">
                <a:solidFill>
                  <a:schemeClr val="tx1"/>
                </a:solidFill>
                <a:latin typeface="+mj-lt"/>
                <a:ea typeface="+mj-ea"/>
                <a:cs typeface="+mj-cs"/>
              </a:rPr>
              <a:t>&amp; Camera</a:t>
            </a:r>
          </a:p>
        </p:txBody>
      </p:sp>
      <p:sp>
        <p:nvSpPr>
          <p:cNvPr id="6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FE3AD44A-0992-6742-969F-BE23D957BB48}"/>
              </a:ext>
            </a:extLst>
          </p:cNvPr>
          <p:cNvPicPr/>
          <p:nvPr/>
        </p:nvPicPr>
        <p:blipFill>
          <a:blip r:embed="rId3" cstate="print">
            <a:extLst>
              <a:ext uri="{28A0092B-C50C-407E-A947-70E740481C1C}">
                <a14:useLocalDpi xmlns:a14="http://schemas.microsoft.com/office/drawing/2010/main"/>
              </a:ext>
            </a:extLst>
          </a:blip>
          <a:stretch>
            <a:fillRect/>
          </a:stretch>
        </p:blipFill>
        <p:spPr>
          <a:xfrm>
            <a:off x="4654296" y="709802"/>
            <a:ext cx="7214616" cy="5410963"/>
          </a:xfrm>
          <a:prstGeom prst="rect">
            <a:avLst/>
          </a:prstGeom>
        </p:spPr>
      </p:pic>
      <p:sp>
        <p:nvSpPr>
          <p:cNvPr id="3" name="Slide Number Placeholder 2">
            <a:extLst>
              <a:ext uri="{FF2B5EF4-FFF2-40B4-BE49-F238E27FC236}">
                <a16:creationId xmlns:a16="http://schemas.microsoft.com/office/drawing/2014/main" id="{DF03CB68-445C-9446-8994-6645F17D833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401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B7146B-E820-DB45-B879-B3C0AB6A27E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dirty="0">
                <a:solidFill>
                  <a:schemeClr val="tx1"/>
                </a:solidFill>
                <a:latin typeface="+mj-lt"/>
                <a:ea typeface="+mj-ea"/>
                <a:cs typeface="+mj-cs"/>
              </a:rPr>
              <a:t>Lighting</a:t>
            </a:r>
          </a:p>
        </p:txBody>
      </p:sp>
      <p:sp>
        <p:nvSpPr>
          <p:cNvPr id="4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FB55489-EAF8-7849-BB36-94ED2146F1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74615" y="589883"/>
            <a:ext cx="7214616" cy="5410962"/>
          </a:xfrm>
          <a:prstGeom prst="rect">
            <a:avLst/>
          </a:prstGeom>
        </p:spPr>
      </p:pic>
      <p:sp>
        <p:nvSpPr>
          <p:cNvPr id="3" name="Slide Number Placeholder 2">
            <a:extLst>
              <a:ext uri="{FF2B5EF4-FFF2-40B4-BE49-F238E27FC236}">
                <a16:creationId xmlns:a16="http://schemas.microsoft.com/office/drawing/2014/main" id="{DF4A713C-428E-F947-953F-C5905F4B805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Oval 3">
            <a:extLst>
              <a:ext uri="{FF2B5EF4-FFF2-40B4-BE49-F238E27FC236}">
                <a16:creationId xmlns:a16="http://schemas.microsoft.com/office/drawing/2014/main" id="{9176B390-4BC4-7841-A502-ECBA84D8FE6A}"/>
              </a:ext>
            </a:extLst>
          </p:cNvPr>
          <p:cNvSpPr/>
          <p:nvPr/>
        </p:nvSpPr>
        <p:spPr>
          <a:xfrm>
            <a:off x="3851527" y="1662385"/>
            <a:ext cx="1985695" cy="1921790"/>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A042C343-123B-974D-B7CF-3FBACF6B7CB1}"/>
              </a:ext>
            </a:extLst>
          </p:cNvPr>
          <p:cNvSpPr/>
          <p:nvPr/>
        </p:nvSpPr>
        <p:spPr>
          <a:xfrm>
            <a:off x="8582332" y="1662385"/>
            <a:ext cx="1538827" cy="1567912"/>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DD72AAE-0395-05F4-EB88-8F8738B356C8}"/>
              </a:ext>
            </a:extLst>
          </p:cNvPr>
          <p:cNvSpPr txBox="1"/>
          <p:nvPr/>
        </p:nvSpPr>
        <p:spPr>
          <a:xfrm>
            <a:off x="6332273" y="4780970"/>
            <a:ext cx="5408150" cy="1477328"/>
          </a:xfrm>
          <a:prstGeom prst="rect">
            <a:avLst/>
          </a:prstGeom>
          <a:solidFill>
            <a:schemeClr val="bg2">
              <a:lumMod val="90000"/>
            </a:schemeClr>
          </a:solidFill>
          <a:ln w="19050">
            <a:solidFill>
              <a:schemeClr val="tx1"/>
            </a:solidFill>
          </a:ln>
        </p:spPr>
        <p:txBody>
          <a:bodyPr wrap="square" rtlCol="0" anchor="ctr">
            <a:spAutoFit/>
          </a:bodyPr>
          <a:lstStyle/>
          <a:p>
            <a:pPr marL="342900" indent="-342900">
              <a:buFont typeface="Arial" panose="020B0604020202020204" pitchFamily="34" charset="0"/>
              <a:buChar char="•"/>
            </a:pPr>
            <a:endParaRPr lang="en-US" sz="500" dirty="0"/>
          </a:p>
          <a:p>
            <a:pPr marL="342900" indent="-342900">
              <a:buFont typeface="Arial" panose="020B0604020202020204" pitchFamily="34" charset="0"/>
              <a:buChar char="•"/>
            </a:pPr>
            <a:r>
              <a:rPr lang="en-US" sz="2000" dirty="0"/>
              <a:t>Two natural-light LED panels</a:t>
            </a:r>
          </a:p>
          <a:p>
            <a:pPr marL="342900" indent="-342900">
              <a:buFont typeface="Arial" panose="020B0604020202020204" pitchFamily="34" charset="0"/>
              <a:buChar char="•"/>
            </a:pPr>
            <a:r>
              <a:rPr lang="en-US" sz="2000" dirty="0"/>
              <a:t>Not recommended to use flash or natural light</a:t>
            </a:r>
          </a:p>
          <a:p>
            <a:pPr marL="342900" indent="-342900">
              <a:buFont typeface="Arial" panose="020B0604020202020204" pitchFamily="34" charset="0"/>
              <a:buChar char="•"/>
            </a:pPr>
            <a:r>
              <a:rPr lang="en-US" sz="2000" dirty="0"/>
              <a:t>One at each side </a:t>
            </a:r>
            <a:r>
              <a:rPr lang="en-US" sz="2000" dirty="0">
                <a:sym typeface="Wingdings" pitchFamily="2" charset="2"/>
              </a:rPr>
              <a:t></a:t>
            </a:r>
            <a:r>
              <a:rPr lang="en-US" sz="2000" dirty="0"/>
              <a:t> even distribution </a:t>
            </a:r>
          </a:p>
          <a:p>
            <a:pPr marL="342900" indent="-342900">
              <a:buFont typeface="Arial" panose="020B0604020202020204" pitchFamily="34" charset="0"/>
              <a:buChar char="•"/>
            </a:pPr>
            <a:r>
              <a:rPr lang="en-US" sz="2000" dirty="0"/>
              <a:t>Angle </a:t>
            </a:r>
            <a:r>
              <a:rPr lang="en-US" sz="2000" dirty="0">
                <a:sym typeface="Wingdings" pitchFamily="2" charset="2"/>
              </a:rPr>
              <a:t> avoid reflections on the camera lens</a:t>
            </a:r>
          </a:p>
          <a:p>
            <a:pPr marL="342900" indent="-342900">
              <a:buFont typeface="Arial" panose="020B0604020202020204" pitchFamily="34" charset="0"/>
              <a:buChar char="•"/>
            </a:pPr>
            <a:endParaRPr lang="en-US" sz="500" dirty="0">
              <a:sym typeface="Wingdings" pitchFamily="2" charset="2"/>
            </a:endParaRPr>
          </a:p>
        </p:txBody>
      </p:sp>
    </p:spTree>
    <p:extLst>
      <p:ext uri="{BB962C8B-B14F-4D97-AF65-F5344CB8AC3E}">
        <p14:creationId xmlns:p14="http://schemas.microsoft.com/office/powerpoint/2010/main" val="166523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911BE883-46B4-412C-B6C3-88A2FF74B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43549-6DA0-C344-891F-9A07C60CEA9B}"/>
              </a:ext>
            </a:extLst>
          </p:cNvPr>
          <p:cNvSpPr>
            <a:spLocks noGrp="1"/>
          </p:cNvSpPr>
          <p:nvPr>
            <p:ph type="title"/>
          </p:nvPr>
        </p:nvSpPr>
        <p:spPr>
          <a:xfrm>
            <a:off x="8045751" y="629266"/>
            <a:ext cx="3667039" cy="1676603"/>
          </a:xfrm>
        </p:spPr>
        <p:txBody>
          <a:bodyPr vert="horz" lIns="91440" tIns="45720" rIns="91440" bIns="45720" rtlCol="0" anchor="ctr">
            <a:normAutofit/>
          </a:bodyPr>
          <a:lstStyle/>
          <a:p>
            <a:r>
              <a:rPr lang="en-US" sz="4000"/>
              <a:t>DIY Book Scanner</a:t>
            </a:r>
            <a:endParaRPr lang="en-US" sz="4000" dirty="0"/>
          </a:p>
        </p:txBody>
      </p:sp>
      <p:sp>
        <p:nvSpPr>
          <p:cNvPr id="61" name="Rectangle 60">
            <a:extLst>
              <a:ext uri="{FF2B5EF4-FFF2-40B4-BE49-F238E27FC236}">
                <a16:creationId xmlns:a16="http://schemas.microsoft.com/office/drawing/2014/main" id="{577D1452-F0B7-431E-9A24-D3F7103D8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ounded Rectangle 20">
            <a:extLst>
              <a:ext uri="{FF2B5EF4-FFF2-40B4-BE49-F238E27FC236}">
                <a16:creationId xmlns:a16="http://schemas.microsoft.com/office/drawing/2014/main" id="{A660F4F9-5DF5-4F15-BE6A-CD8648BB1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211" y="559407"/>
            <a:ext cx="6594522"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Content Placeholder 4">
            <a:extLst>
              <a:ext uri="{FF2B5EF4-FFF2-40B4-BE49-F238E27FC236}">
                <a16:creationId xmlns:a16="http://schemas.microsoft.com/office/drawing/2014/main" id="{CDC6648E-4F3A-1642-9C63-5F5F11EE6E2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1" b="-1"/>
          <a:stretch/>
        </p:blipFill>
        <p:spPr>
          <a:xfrm>
            <a:off x="644652" y="722376"/>
            <a:ext cx="6263640" cy="5413248"/>
          </a:xfrm>
          <a:prstGeom prst="rect">
            <a:avLst/>
          </a:prstGeom>
          <a:effectLst/>
        </p:spPr>
      </p:pic>
      <p:sp>
        <p:nvSpPr>
          <p:cNvPr id="4" name="TextBox 3">
            <a:extLst>
              <a:ext uri="{FF2B5EF4-FFF2-40B4-BE49-F238E27FC236}">
                <a16:creationId xmlns:a16="http://schemas.microsoft.com/office/drawing/2014/main" id="{EAD9D12F-94B3-FD49-A5BD-8EA546557CF3}"/>
              </a:ext>
            </a:extLst>
          </p:cNvPr>
          <p:cNvSpPr txBox="1"/>
          <p:nvPr/>
        </p:nvSpPr>
        <p:spPr>
          <a:xfrm>
            <a:off x="8045753" y="2438401"/>
            <a:ext cx="3667036" cy="3779520"/>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Advice from:</a:t>
            </a:r>
          </a:p>
          <a:p>
            <a:pPr marL="28575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Digital Image Archive of Medieval Music (DIAMM)</a:t>
            </a:r>
          </a:p>
          <a:p>
            <a:pPr marL="74295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Julia Craig-</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McFeely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Bibliothèque et Archives Nationales du Québec (BAnQ)</a:t>
            </a:r>
          </a:p>
          <a:p>
            <a:pPr marL="28575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McGill Library</a:t>
            </a:r>
          </a:p>
          <a:p>
            <a:pPr marL="74295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C02AAA1-A9A0-204E-8ABE-96EB126F3DAD}"/>
              </a:ext>
            </a:extLst>
          </p:cNvPr>
          <p:cNvSpPr>
            <a:spLocks noGrp="1"/>
          </p:cNvSpPr>
          <p:nvPr>
            <p:ph type="sldNum" sz="quarter" idx="12"/>
          </p:nvPr>
        </p:nvSpPr>
        <p:spPr>
          <a:xfrm>
            <a:off x="10853928" y="6356350"/>
            <a:ext cx="704088"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604A8EA-F0C8-4DD3-FCDF-903372643853}"/>
              </a:ext>
            </a:extLst>
          </p:cNvPr>
          <p:cNvSpPr txBox="1"/>
          <p:nvPr/>
        </p:nvSpPr>
        <p:spPr>
          <a:xfrm>
            <a:off x="3552668" y="5431288"/>
            <a:ext cx="3280673" cy="646331"/>
          </a:xfrm>
          <a:prstGeom prst="rect">
            <a:avLst/>
          </a:prstGeom>
          <a:noFill/>
          <a:ln w="19050">
            <a:noFill/>
          </a:ln>
        </p:spPr>
        <p:txBody>
          <a:bodyPr wrap="square" rtlCol="0" anchor="ctr">
            <a:spAutoFit/>
          </a:bodyPr>
          <a:lstStyle/>
          <a:p>
            <a:pPr algn="r"/>
            <a:r>
              <a:rPr lang="en-US" i="1" dirty="0">
                <a:solidFill>
                  <a:schemeClr val="bg1"/>
                </a:solidFill>
              </a:rPr>
              <a:t>with professional photographer Daniel Hernández-Salazar</a:t>
            </a:r>
            <a:endParaRPr lang="en-US" sz="500" i="1" dirty="0"/>
          </a:p>
        </p:txBody>
      </p:sp>
      <p:sp>
        <p:nvSpPr>
          <p:cNvPr id="6" name="TextBox 5">
            <a:extLst>
              <a:ext uri="{FF2B5EF4-FFF2-40B4-BE49-F238E27FC236}">
                <a16:creationId xmlns:a16="http://schemas.microsoft.com/office/drawing/2014/main" id="{6278795C-A8F2-A550-AA10-FD27AA708E4B}"/>
              </a:ext>
            </a:extLst>
          </p:cNvPr>
          <p:cNvSpPr txBox="1"/>
          <p:nvPr/>
        </p:nvSpPr>
        <p:spPr>
          <a:xfrm>
            <a:off x="8032155" y="4087366"/>
            <a:ext cx="3680634" cy="2031325"/>
          </a:xfrm>
          <a:prstGeom prst="rect">
            <a:avLst/>
          </a:prstGeom>
          <a:solidFill>
            <a:srgbClr val="C00000">
              <a:alpha val="10980"/>
            </a:srgbClr>
          </a:solidFill>
        </p:spPr>
        <p:txBody>
          <a:bodyPr wrap="square" rtlCol="0" anchor="ctr">
            <a:spAutoFit/>
          </a:bodyPr>
          <a:lstStyle/>
          <a:p>
            <a:pPr algn="ctr"/>
            <a:endParaRPr lang="en-CA" sz="2100" b="1" dirty="0">
              <a:solidFill>
                <a:srgbClr val="C00000"/>
              </a:solidFill>
            </a:endParaRPr>
          </a:p>
          <a:p>
            <a:pPr algn="ctr"/>
            <a:endParaRPr lang="en-CA" sz="2100" b="1" dirty="0">
              <a:solidFill>
                <a:srgbClr val="C00000"/>
              </a:solidFill>
            </a:endParaRPr>
          </a:p>
          <a:p>
            <a:pPr algn="ctr"/>
            <a:endParaRPr lang="en-CA" sz="2100" b="1" dirty="0">
              <a:solidFill>
                <a:srgbClr val="C00000"/>
              </a:solidFill>
            </a:endParaRPr>
          </a:p>
          <a:p>
            <a:pPr algn="ctr"/>
            <a:endParaRPr lang="en-CA" sz="2100" b="1" dirty="0">
              <a:solidFill>
                <a:srgbClr val="C00000"/>
              </a:solidFill>
            </a:endParaRPr>
          </a:p>
          <a:p>
            <a:pPr algn="ctr"/>
            <a:endParaRPr lang="en-CA" sz="2100" b="1" dirty="0">
              <a:solidFill>
                <a:srgbClr val="C00000"/>
              </a:solidFill>
            </a:endParaRPr>
          </a:p>
          <a:p>
            <a:pPr algn="r"/>
            <a:r>
              <a:rPr lang="en-CA" sz="2200" b="1" dirty="0">
                <a:solidFill>
                  <a:srgbClr val="C00000"/>
                </a:solidFill>
              </a:rPr>
              <a:t>Canadian institutions</a:t>
            </a:r>
          </a:p>
        </p:txBody>
      </p:sp>
    </p:spTree>
    <p:extLst>
      <p:ext uri="{BB962C8B-B14F-4D97-AF65-F5344CB8AC3E}">
        <p14:creationId xmlns:p14="http://schemas.microsoft.com/office/powerpoint/2010/main" val="371472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kern="1200" dirty="0">
                <a:solidFill>
                  <a:schemeClr val="bg1"/>
                </a:solidFill>
                <a:latin typeface="+mj-lt"/>
                <a:ea typeface="+mj-ea"/>
                <a:cs typeface="+mj-cs"/>
              </a:rPr>
              <a:t>Digitization of GuatC 1</a:t>
            </a:r>
          </a:p>
        </p:txBody>
      </p:sp>
      <p:sp>
        <p:nvSpPr>
          <p:cNvPr id="3" name="Text Placeholder 2">
            <a:extLst>
              <a:ext uri="{FF2B5EF4-FFF2-40B4-BE49-F238E27FC236}">
                <a16:creationId xmlns:a16="http://schemas.microsoft.com/office/drawing/2014/main" id="{5FC69E31-C877-DC84-D8A9-85DF7F516178}"/>
              </a:ext>
            </a:extLst>
          </p:cNvPr>
          <p:cNvSpPr>
            <a:spLocks noGrp="1"/>
          </p:cNvSpPr>
          <p:nvPr>
            <p:ph type="body" idx="1"/>
          </p:nvPr>
        </p:nvSpPr>
        <p:spPr>
          <a:xfrm>
            <a:off x="795338" y="4092320"/>
            <a:ext cx="10601325" cy="1144884"/>
          </a:xfrm>
        </p:spPr>
        <p:txBody>
          <a:bodyPr vert="horz" lIns="91440" tIns="45720" rIns="91440" bIns="45720" rtlCol="0">
            <a:normAutofit/>
          </a:bodyPr>
          <a:lstStyle/>
          <a:p>
            <a:pPr algn="ctr"/>
            <a:r>
              <a:rPr lang="en-US" sz="5400" b="1" kern="1200" dirty="0">
                <a:ln w="22225">
                  <a:solidFill>
                    <a:schemeClr val="accent5"/>
                  </a:solidFill>
                  <a:prstDash val="solid"/>
                </a:ln>
                <a:solidFill>
                  <a:schemeClr val="accent5">
                    <a:lumMod val="40000"/>
                    <a:lumOff val="60000"/>
                  </a:schemeClr>
                </a:solidFill>
                <a:latin typeface="+mn-lt"/>
                <a:ea typeface="+mn-ea"/>
                <a:cs typeface="+mn-cs"/>
              </a:rPr>
              <a:t>THE PROCESS</a:t>
            </a: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024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19A423-8A8F-4647-96EB-AE73BEF834B1}"/>
              </a:ext>
            </a:extLst>
          </p:cNvPr>
          <p:cNvSpPr>
            <a:spLocks noGrp="1"/>
          </p:cNvSpPr>
          <p:nvPr>
            <p:ph type="title"/>
          </p:nvPr>
        </p:nvSpPr>
        <p:spPr>
          <a:xfrm>
            <a:off x="572493" y="238539"/>
            <a:ext cx="11018520" cy="1434415"/>
          </a:xfrm>
        </p:spPr>
        <p:txBody>
          <a:bodyPr anchor="b">
            <a:normAutofit/>
          </a:bodyPr>
          <a:lstStyle/>
          <a:p>
            <a:r>
              <a:rPr lang="en-US" sz="5400"/>
              <a:t>Digitization Process &amp; Issues</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DEB2DE1-EF73-AC47-9C00-37BB25BE4814}"/>
              </a:ext>
            </a:extLst>
          </p:cNvPr>
          <p:cNvSpPr>
            <a:spLocks noGrp="1"/>
          </p:cNvSpPr>
          <p:nvPr>
            <p:ph idx="1"/>
          </p:nvPr>
        </p:nvSpPr>
        <p:spPr>
          <a:xfrm>
            <a:off x="572492" y="3760030"/>
            <a:ext cx="7484358" cy="2587089"/>
          </a:xfrm>
        </p:spPr>
        <p:txBody>
          <a:bodyPr anchor="t">
            <a:noAutofit/>
          </a:bodyPr>
          <a:lstStyle/>
          <a:p>
            <a:pPr>
              <a:lnSpc>
                <a:spcPct val="100000"/>
              </a:lnSpc>
            </a:pPr>
            <a:r>
              <a:rPr lang="en-US" sz="2600" dirty="0"/>
              <a:t>Have to come up with a </a:t>
            </a:r>
            <a:r>
              <a:rPr lang="en-US" sz="2600" dirty="0">
                <a:hlinkClick r:id="rId3"/>
              </a:rPr>
              <a:t>small workflow (series of steps)</a:t>
            </a:r>
            <a:r>
              <a:rPr lang="en-US" sz="2600" dirty="0"/>
              <a:t> to make the digitization process as consistent as possible</a:t>
            </a:r>
            <a:endParaRPr lang="en-US" sz="500" dirty="0"/>
          </a:p>
          <a:p>
            <a:pPr>
              <a:lnSpc>
                <a:spcPct val="100000"/>
              </a:lnSpc>
            </a:pPr>
            <a:r>
              <a:rPr lang="en-US" sz="2600" dirty="0"/>
              <a:t>The “page falling” and the “increase in curvature” issues when </a:t>
            </a:r>
            <a:r>
              <a:rPr lang="en-US" sz="2600" dirty="0">
                <a:hlinkClick r:id="rId4"/>
              </a:rPr>
              <a:t>reaching the other end of the book</a:t>
            </a:r>
            <a:endParaRPr lang="en-US" sz="2600" dirty="0"/>
          </a:p>
        </p:txBody>
      </p:sp>
      <p:pic>
        <p:nvPicPr>
          <p:cNvPr id="6" name="Picture 5" descr="A picture containing person, indoor, person&#10;&#10;Description automatically generated">
            <a:extLst>
              <a:ext uri="{FF2B5EF4-FFF2-40B4-BE49-F238E27FC236}">
                <a16:creationId xmlns:a16="http://schemas.microsoft.com/office/drawing/2014/main" id="{72880C27-5F24-B80E-CE74-F21DBFD5D2C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299705" y="3004628"/>
            <a:ext cx="3245588" cy="3373605"/>
          </a:xfrm>
          <a:prstGeom prst="rect">
            <a:avLst/>
          </a:prstGeom>
        </p:spPr>
      </p:pic>
      <p:sp>
        <p:nvSpPr>
          <p:cNvPr id="5" name="Slide Number Placeholder 4">
            <a:extLst>
              <a:ext uri="{FF2B5EF4-FFF2-40B4-BE49-F238E27FC236}">
                <a16:creationId xmlns:a16="http://schemas.microsoft.com/office/drawing/2014/main" id="{592232C3-FDB0-4D43-8389-49DA1DB55CD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6B1F5771-F6A0-16E9-5A6E-C67CD2F070E2}"/>
              </a:ext>
            </a:extLst>
          </p:cNvPr>
          <p:cNvSpPr txBox="1">
            <a:spLocks/>
          </p:cNvSpPr>
          <p:nvPr/>
        </p:nvSpPr>
        <p:spPr>
          <a:xfrm>
            <a:off x="572492" y="1925205"/>
            <a:ext cx="10820400" cy="1678194"/>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The photographer set the camera parameters on the first day</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Since I conducted the digitization on my own, he set the camera to shoot </a:t>
            </a:r>
            <a:b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in one of its auto modes (Mode A – Aperture-Priority Auto)</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Also, auto white balancing &amp; auto-focus</a:t>
            </a:r>
          </a:p>
        </p:txBody>
      </p:sp>
    </p:spTree>
    <p:extLst>
      <p:ext uri="{BB962C8B-B14F-4D97-AF65-F5344CB8AC3E}">
        <p14:creationId xmlns:p14="http://schemas.microsoft.com/office/powerpoint/2010/main" val="2360715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A423-8A8F-4647-96EB-AE73BEF834B1}"/>
              </a:ext>
            </a:extLst>
          </p:cNvPr>
          <p:cNvSpPr>
            <a:spLocks noGrp="1"/>
          </p:cNvSpPr>
          <p:nvPr>
            <p:ph type="title"/>
          </p:nvPr>
        </p:nvSpPr>
        <p:spPr/>
        <p:txBody>
          <a:bodyPr/>
          <a:lstStyle/>
          <a:p>
            <a:r>
              <a:rPr lang="en-US" dirty="0"/>
              <a:t>Digitization Process &amp; Issues</a:t>
            </a:r>
          </a:p>
        </p:txBody>
      </p:sp>
      <p:sp>
        <p:nvSpPr>
          <p:cNvPr id="3" name="Content Placeholder 2">
            <a:extLst>
              <a:ext uri="{FF2B5EF4-FFF2-40B4-BE49-F238E27FC236}">
                <a16:creationId xmlns:a16="http://schemas.microsoft.com/office/drawing/2014/main" id="{2DEB2DE1-EF73-AC47-9C00-37BB25BE4814}"/>
              </a:ext>
            </a:extLst>
          </p:cNvPr>
          <p:cNvSpPr>
            <a:spLocks noGrp="1"/>
          </p:cNvSpPr>
          <p:nvPr>
            <p:ph idx="1"/>
          </p:nvPr>
        </p:nvSpPr>
        <p:spPr>
          <a:xfrm>
            <a:off x="838199" y="1539433"/>
            <a:ext cx="10515599" cy="4637530"/>
          </a:xfrm>
        </p:spPr>
        <p:txBody>
          <a:bodyPr>
            <a:normAutofit fontScale="92500"/>
          </a:bodyPr>
          <a:lstStyle/>
          <a:p>
            <a:pPr>
              <a:lnSpc>
                <a:spcPct val="150000"/>
              </a:lnSpc>
            </a:pPr>
            <a:r>
              <a:rPr lang="en-US" dirty="0"/>
              <a:t>Shooting tethered with the camera connected wirelessly to my computer:</a:t>
            </a:r>
          </a:p>
          <a:p>
            <a:pPr lvl="1">
              <a:lnSpc>
                <a:spcPct val="150000"/>
              </a:lnSpc>
            </a:pPr>
            <a:r>
              <a:rPr lang="en-US" dirty="0"/>
              <a:t>Preview the photos on a larger monitor</a:t>
            </a:r>
          </a:p>
          <a:p>
            <a:pPr lvl="1">
              <a:lnSpc>
                <a:spcPct val="150000"/>
              </a:lnSpc>
            </a:pPr>
            <a:r>
              <a:rPr lang="en-US" dirty="0"/>
              <a:t>Shoot remotely</a:t>
            </a:r>
          </a:p>
          <a:p>
            <a:pPr>
              <a:lnSpc>
                <a:spcPct val="150000"/>
              </a:lnSpc>
            </a:pPr>
            <a:r>
              <a:rPr lang="en-US" dirty="0"/>
              <a:t>Issues with computer application tethered to the camera</a:t>
            </a:r>
          </a:p>
          <a:p>
            <a:pPr lvl="1">
              <a:lnSpc>
                <a:spcPct val="150000"/>
              </a:lnSpc>
            </a:pPr>
            <a:r>
              <a:rPr lang="en-US" b="1" dirty="0"/>
              <a:t>Solution during digitization</a:t>
            </a:r>
            <a:r>
              <a:rPr lang="en-US" dirty="0"/>
              <a:t>: Switched to </a:t>
            </a:r>
            <a:r>
              <a:rPr lang="en-US" dirty="0">
                <a:sym typeface="Wingdings" pitchFamily="2" charset="2"/>
              </a:rPr>
              <a:t>mobile tethered application</a:t>
            </a:r>
          </a:p>
          <a:p>
            <a:pPr lvl="1">
              <a:lnSpc>
                <a:spcPct val="150000"/>
              </a:lnSpc>
            </a:pPr>
            <a:r>
              <a:rPr lang="en-US" b="1" dirty="0">
                <a:sym typeface="Wingdings" pitchFamily="2" charset="2"/>
              </a:rPr>
              <a:t>In the future:</a:t>
            </a:r>
            <a:r>
              <a:rPr lang="en-US" dirty="0">
                <a:sym typeface="Wingdings" pitchFamily="2" charset="2"/>
              </a:rPr>
              <a:t> camera’s official tethering app, connect through a (long) cable, and save images on external hard drive</a:t>
            </a:r>
          </a:p>
        </p:txBody>
      </p:sp>
      <p:sp>
        <p:nvSpPr>
          <p:cNvPr id="5" name="Slide Number Placeholder 4">
            <a:extLst>
              <a:ext uri="{FF2B5EF4-FFF2-40B4-BE49-F238E27FC236}">
                <a16:creationId xmlns:a16="http://schemas.microsoft.com/office/drawing/2014/main" id="{592232C3-FDB0-4D43-8389-49DA1DB55C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70584-727D-3042-B647-9AD6EF4C2F5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6302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A423-8A8F-4647-96EB-AE73BEF834B1}"/>
              </a:ext>
            </a:extLst>
          </p:cNvPr>
          <p:cNvSpPr>
            <a:spLocks noGrp="1"/>
          </p:cNvSpPr>
          <p:nvPr>
            <p:ph type="title"/>
          </p:nvPr>
        </p:nvSpPr>
        <p:spPr/>
        <p:txBody>
          <a:bodyPr/>
          <a:lstStyle/>
          <a:p>
            <a:r>
              <a:rPr lang="en-US" dirty="0"/>
              <a:t>Digitization Process &amp; Issues</a:t>
            </a:r>
          </a:p>
        </p:txBody>
      </p:sp>
      <p:sp>
        <p:nvSpPr>
          <p:cNvPr id="3" name="Content Placeholder 2">
            <a:extLst>
              <a:ext uri="{FF2B5EF4-FFF2-40B4-BE49-F238E27FC236}">
                <a16:creationId xmlns:a16="http://schemas.microsoft.com/office/drawing/2014/main" id="{2DEB2DE1-EF73-AC47-9C00-37BB25BE4814}"/>
              </a:ext>
            </a:extLst>
          </p:cNvPr>
          <p:cNvSpPr>
            <a:spLocks noGrp="1"/>
          </p:cNvSpPr>
          <p:nvPr>
            <p:ph idx="1"/>
          </p:nvPr>
        </p:nvSpPr>
        <p:spPr>
          <a:xfrm>
            <a:off x="838200" y="1683441"/>
            <a:ext cx="7256490" cy="4493521"/>
          </a:xfrm>
        </p:spPr>
        <p:txBody>
          <a:bodyPr>
            <a:noAutofit/>
          </a:bodyPr>
          <a:lstStyle/>
          <a:p>
            <a:pPr>
              <a:lnSpc>
                <a:spcPct val="150000"/>
              </a:lnSpc>
            </a:pPr>
            <a:r>
              <a:rPr lang="en-US" sz="2500" dirty="0"/>
              <a:t>As with most manuscripts, the verso of the pages is not numbered (only the front of the pages are numbered)</a:t>
            </a:r>
          </a:p>
          <a:p>
            <a:pPr>
              <a:lnSpc>
                <a:spcPct val="150000"/>
              </a:lnSpc>
            </a:pPr>
            <a:r>
              <a:rPr lang="en-US" sz="2500" dirty="0"/>
              <a:t>Difficult to keep track of the page number for versos</a:t>
            </a:r>
          </a:p>
          <a:p>
            <a:pPr>
              <a:lnSpc>
                <a:spcPct val="150000"/>
              </a:lnSpc>
            </a:pPr>
            <a:r>
              <a:rPr lang="en-US" sz="2500" dirty="0"/>
              <a:t>Although the tethering app can do that</a:t>
            </a:r>
          </a:p>
          <a:p>
            <a:pPr>
              <a:lnSpc>
                <a:spcPct val="150000"/>
              </a:lnSpc>
            </a:pPr>
            <a:r>
              <a:rPr lang="en-US" sz="2500" b="1" dirty="0"/>
              <a:t>Solution</a:t>
            </a:r>
            <a:r>
              <a:rPr lang="en-US" sz="2500" dirty="0"/>
              <a:t> proposed by the photographer</a:t>
            </a:r>
            <a:r>
              <a:rPr lang="en-US" sz="2500" b="1" dirty="0"/>
              <a:t>:</a:t>
            </a:r>
            <a:r>
              <a:rPr lang="en-US" sz="2500" dirty="0"/>
              <a:t> </a:t>
            </a:r>
            <a:br>
              <a:rPr lang="en-US" sz="2500" dirty="0"/>
            </a:br>
            <a:r>
              <a:rPr lang="en-US" sz="2500" dirty="0"/>
              <a:t>Include the verso numbers in the photograph itself</a:t>
            </a:r>
          </a:p>
        </p:txBody>
      </p:sp>
      <p:sp>
        <p:nvSpPr>
          <p:cNvPr id="5" name="Slide Number Placeholder 4">
            <a:extLst>
              <a:ext uri="{FF2B5EF4-FFF2-40B4-BE49-F238E27FC236}">
                <a16:creationId xmlns:a16="http://schemas.microsoft.com/office/drawing/2014/main" id="{592232C3-FDB0-4D43-8389-49DA1DB55C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70584-727D-3042-B647-9AD6EF4C2F5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A66CFC8-EE6C-2F21-378B-1B80AA7F05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54375" y="1683440"/>
            <a:ext cx="2999425" cy="4493521"/>
          </a:xfrm>
          <a:prstGeom prst="rect">
            <a:avLst/>
          </a:prstGeom>
        </p:spPr>
      </p:pic>
    </p:spTree>
    <p:extLst>
      <p:ext uri="{BB962C8B-B14F-4D97-AF65-F5344CB8AC3E}">
        <p14:creationId xmlns:p14="http://schemas.microsoft.com/office/powerpoint/2010/main" val="2516390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A423-8A8F-4647-96EB-AE73BEF834B1}"/>
              </a:ext>
            </a:extLst>
          </p:cNvPr>
          <p:cNvSpPr>
            <a:spLocks noGrp="1"/>
          </p:cNvSpPr>
          <p:nvPr>
            <p:ph type="title"/>
          </p:nvPr>
        </p:nvSpPr>
        <p:spPr/>
        <p:txBody>
          <a:bodyPr/>
          <a:lstStyle/>
          <a:p>
            <a:r>
              <a:rPr lang="en-US" dirty="0"/>
              <a:t>Digitization Process &amp; Issues</a:t>
            </a:r>
          </a:p>
        </p:txBody>
      </p:sp>
      <p:sp>
        <p:nvSpPr>
          <p:cNvPr id="3" name="Content Placeholder 2">
            <a:extLst>
              <a:ext uri="{FF2B5EF4-FFF2-40B4-BE49-F238E27FC236}">
                <a16:creationId xmlns:a16="http://schemas.microsoft.com/office/drawing/2014/main" id="{2DEB2DE1-EF73-AC47-9C00-37BB25BE4814}"/>
              </a:ext>
            </a:extLst>
          </p:cNvPr>
          <p:cNvSpPr>
            <a:spLocks noGrp="1"/>
          </p:cNvSpPr>
          <p:nvPr>
            <p:ph idx="1"/>
          </p:nvPr>
        </p:nvSpPr>
        <p:spPr>
          <a:xfrm>
            <a:off x="838200" y="1683441"/>
            <a:ext cx="7256490" cy="4493521"/>
          </a:xfrm>
        </p:spPr>
        <p:txBody>
          <a:bodyPr>
            <a:noAutofit/>
          </a:bodyPr>
          <a:lstStyle/>
          <a:p>
            <a:pPr>
              <a:lnSpc>
                <a:spcPct val="150000"/>
              </a:lnSpc>
            </a:pPr>
            <a:r>
              <a:rPr lang="en-US" sz="2500" dirty="0"/>
              <a:t>As with most manuscripts, the verso of the pages is not numbered (only the front of the pages are numbered)</a:t>
            </a:r>
          </a:p>
          <a:p>
            <a:pPr>
              <a:lnSpc>
                <a:spcPct val="150000"/>
              </a:lnSpc>
            </a:pPr>
            <a:r>
              <a:rPr lang="en-US" sz="2500" dirty="0"/>
              <a:t>Difficult to keep track of the page number for versos</a:t>
            </a:r>
          </a:p>
          <a:p>
            <a:pPr>
              <a:lnSpc>
                <a:spcPct val="150000"/>
              </a:lnSpc>
            </a:pPr>
            <a:r>
              <a:rPr lang="en-US" sz="2500" dirty="0"/>
              <a:t>Although the tethering app can do that</a:t>
            </a:r>
          </a:p>
          <a:p>
            <a:pPr>
              <a:lnSpc>
                <a:spcPct val="150000"/>
              </a:lnSpc>
            </a:pPr>
            <a:r>
              <a:rPr lang="en-US" sz="2500" b="1" dirty="0"/>
              <a:t>Solution</a:t>
            </a:r>
            <a:r>
              <a:rPr lang="en-US" sz="2500" dirty="0"/>
              <a:t> proposed by the photographer</a:t>
            </a:r>
            <a:r>
              <a:rPr lang="en-US" sz="2500" b="1" dirty="0"/>
              <a:t>:</a:t>
            </a:r>
            <a:r>
              <a:rPr lang="en-US" sz="2500" dirty="0"/>
              <a:t> </a:t>
            </a:r>
            <a:br>
              <a:rPr lang="en-US" sz="2500" dirty="0"/>
            </a:br>
            <a:r>
              <a:rPr lang="en-US" sz="2500" dirty="0"/>
              <a:t>Include the verso numbers in the photograph itself</a:t>
            </a:r>
          </a:p>
        </p:txBody>
      </p:sp>
      <p:sp>
        <p:nvSpPr>
          <p:cNvPr id="5" name="Slide Number Placeholder 4">
            <a:extLst>
              <a:ext uri="{FF2B5EF4-FFF2-40B4-BE49-F238E27FC236}">
                <a16:creationId xmlns:a16="http://schemas.microsoft.com/office/drawing/2014/main" id="{592232C3-FDB0-4D43-8389-49DA1DB55C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70584-727D-3042-B647-9AD6EF4C2F5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A66CFC8-EE6C-2F21-378B-1B80AA7F059A}"/>
              </a:ext>
            </a:extLst>
          </p:cNvPr>
          <p:cNvPicPr>
            <a:picLocks noChangeAspect="1"/>
          </p:cNvPicPr>
          <p:nvPr/>
        </p:nvPicPr>
        <p:blipFill>
          <a:blip r:embed="rId3"/>
          <a:stretch>
            <a:fillRect/>
          </a:stretch>
        </p:blipFill>
        <p:spPr>
          <a:xfrm>
            <a:off x="524657" y="-10046476"/>
            <a:ext cx="10829144" cy="16223438"/>
          </a:xfrm>
          <a:prstGeom prst="rect">
            <a:avLst/>
          </a:prstGeom>
        </p:spPr>
      </p:pic>
    </p:spTree>
    <p:extLst>
      <p:ext uri="{BB962C8B-B14F-4D97-AF65-F5344CB8AC3E}">
        <p14:creationId xmlns:p14="http://schemas.microsoft.com/office/powerpoint/2010/main" val="471324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0B70A4C-D3AE-D546-B4FA-C2C1B3EB085F}"/>
              </a:ext>
            </a:extLst>
          </p:cNvPr>
          <p:cNvSpPr txBox="1">
            <a:spLocks/>
          </p:cNvSpPr>
          <p:nvPr/>
        </p:nvSpPr>
        <p:spPr>
          <a:xfrm>
            <a:off x="556532" y="643467"/>
            <a:ext cx="11210925" cy="7448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fontAlgn="auto">
              <a:spcAft>
                <a:spcPts val="600"/>
              </a:spcAft>
              <a:buClrTx/>
              <a:buSzTx/>
              <a:tabLst/>
              <a:defRPr/>
            </a:pPr>
            <a:r>
              <a:rPr kumimoji="0" lang="en-US" sz="3200" b="1" i="0" u="none" strike="noStrike" kern="1200" cap="none" spc="0" normalizeH="0" baseline="0" noProof="0" dirty="0">
                <a:ln>
                  <a:noFill/>
                </a:ln>
                <a:solidFill>
                  <a:schemeClr val="bg1"/>
                </a:solidFill>
                <a:effectLst/>
                <a:uLnTx/>
                <a:uFillTx/>
                <a:latin typeface="+mj-lt"/>
                <a:ea typeface="+mj-ea"/>
                <a:cs typeface="+mj-cs"/>
              </a:rPr>
              <a:t>The </a:t>
            </a:r>
            <a:r>
              <a:rPr lang="en-US" sz="3200" b="1" kern="1200" dirty="0">
                <a:solidFill>
                  <a:schemeClr val="bg1"/>
                </a:solidFill>
                <a:latin typeface="+mj-lt"/>
                <a:ea typeface="+mj-ea"/>
                <a:cs typeface="+mj-cs"/>
              </a:rPr>
              <a:t>Digitization Project (January 2019)</a:t>
            </a:r>
            <a:endParaRPr kumimoji="0" lang="en-US" sz="3200" b="0" i="0" u="none" strike="noStrike" kern="1200" cap="none" spc="0" normalizeH="0" baseline="0" noProof="0" dirty="0">
              <a:ln>
                <a:noFill/>
              </a:ln>
              <a:solidFill>
                <a:schemeClr val="bg1"/>
              </a:solidFill>
              <a:effectLst/>
              <a:uLnTx/>
              <a:uFillTx/>
              <a:latin typeface="+mj-lt"/>
              <a:ea typeface="+mj-ea"/>
              <a:cs typeface="+mj-cs"/>
            </a:endParaRPr>
          </a:p>
        </p:txBody>
      </p:sp>
      <p:pic>
        <p:nvPicPr>
          <p:cNvPr id="6" name="Content Placeholder 5">
            <a:extLst>
              <a:ext uri="{FF2B5EF4-FFF2-40B4-BE49-F238E27FC236}">
                <a16:creationId xmlns:a16="http://schemas.microsoft.com/office/drawing/2014/main" id="{CFF0BA0C-2ECB-632A-DB45-81651D3156FC}"/>
              </a:ext>
            </a:extLst>
          </p:cNvPr>
          <p:cNvPicPr>
            <a:picLocks noGrp="1" noChangeAspect="1"/>
          </p:cNvPicPr>
          <p:nvPr>
            <p:ph idx="1"/>
          </p:nvPr>
        </p:nvPicPr>
        <p:blipFill>
          <a:blip r:embed="rId3"/>
          <a:stretch>
            <a:fillRect/>
          </a:stretch>
        </p:blipFill>
        <p:spPr>
          <a:xfrm>
            <a:off x="556532" y="1571414"/>
            <a:ext cx="10905066" cy="3489621"/>
          </a:xfrm>
          <a:prstGeom prst="rect">
            <a:avLst/>
          </a:prstGeom>
        </p:spPr>
      </p:pic>
      <p:sp>
        <p:nvSpPr>
          <p:cNvPr id="25" name="Slide Number Placeholder 24">
            <a:extLst>
              <a:ext uri="{FF2B5EF4-FFF2-40B4-BE49-F238E27FC236}">
                <a16:creationId xmlns:a16="http://schemas.microsoft.com/office/drawing/2014/main" id="{A07D9788-E7CF-5D49-AD6A-FD23B3E9175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02516BDC-2EEF-D84D-AE1A-346AD4C669A9}" type="slidenum">
              <a:rPr kumimoji="0" lang="en-US"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24</a:t>
            </a:fld>
            <a:endParaRPr kumimoji="0" lang="en-US" b="0" i="0" u="none" strike="noStrike" cap="none" spc="0" normalizeH="0" baseline="0" noProof="0">
              <a:ln>
                <a:noFill/>
              </a:ln>
              <a:effectLst/>
              <a:uLnTx/>
              <a:uFillTx/>
            </a:endParaRPr>
          </a:p>
        </p:txBody>
      </p:sp>
      <p:sp>
        <p:nvSpPr>
          <p:cNvPr id="3" name="TextBox 2">
            <a:extLst>
              <a:ext uri="{FF2B5EF4-FFF2-40B4-BE49-F238E27FC236}">
                <a16:creationId xmlns:a16="http://schemas.microsoft.com/office/drawing/2014/main" id="{C3F29479-8046-20F6-B009-9B65D7768DA6}"/>
              </a:ext>
            </a:extLst>
          </p:cNvPr>
          <p:cNvSpPr txBox="1"/>
          <p:nvPr/>
        </p:nvSpPr>
        <p:spPr>
          <a:xfrm>
            <a:off x="556532" y="5209467"/>
            <a:ext cx="7045107" cy="707886"/>
          </a:xfrm>
          <a:prstGeom prst="rect">
            <a:avLst/>
          </a:prstGeom>
          <a:noFill/>
        </p:spPr>
        <p:txBody>
          <a:bodyPr wrap="square">
            <a:spAutoFit/>
          </a:bodyPr>
          <a:lstStyle/>
          <a:p>
            <a:r>
              <a:rPr lang="en-US" sz="2000" b="1" dirty="0"/>
              <a:t>Master: </a:t>
            </a:r>
            <a:r>
              <a:rPr lang="en-US" sz="2000" dirty="0"/>
              <a:t>NEFF (Nikon’s RAW format) &amp; TIFF, unmodified</a:t>
            </a:r>
          </a:p>
          <a:p>
            <a:r>
              <a:rPr lang="en-US" sz="2000" b="1" dirty="0"/>
              <a:t>Access: </a:t>
            </a:r>
            <a:r>
              <a:rPr lang="en-US" sz="2000" dirty="0"/>
              <a:t>JPEG</a:t>
            </a:r>
          </a:p>
        </p:txBody>
      </p:sp>
      <p:sp>
        <p:nvSpPr>
          <p:cNvPr id="5" name="TextBox 4">
            <a:extLst>
              <a:ext uri="{FF2B5EF4-FFF2-40B4-BE49-F238E27FC236}">
                <a16:creationId xmlns:a16="http://schemas.microsoft.com/office/drawing/2014/main" id="{6576EF40-67BC-DFA7-B591-610507E3EDED}"/>
              </a:ext>
            </a:extLst>
          </p:cNvPr>
          <p:cNvSpPr txBox="1"/>
          <p:nvPr/>
        </p:nvSpPr>
        <p:spPr>
          <a:xfrm>
            <a:off x="7601639" y="5185459"/>
            <a:ext cx="3859959" cy="707886"/>
          </a:xfrm>
          <a:prstGeom prst="rect">
            <a:avLst/>
          </a:prstGeom>
          <a:noFill/>
        </p:spPr>
        <p:txBody>
          <a:bodyPr wrap="square">
            <a:spAutoFit/>
          </a:bodyPr>
          <a:lstStyle/>
          <a:p>
            <a:r>
              <a:rPr lang="en-US" sz="2000" b="1" dirty="0"/>
              <a:t>Resolution: </a:t>
            </a:r>
            <a:r>
              <a:rPr lang="en-US" sz="2000" dirty="0"/>
              <a:t>300 dpi</a:t>
            </a:r>
          </a:p>
          <a:p>
            <a:r>
              <a:rPr lang="en-US" sz="2000" b="1" dirty="0"/>
              <a:t>Bit depth: </a:t>
            </a:r>
            <a:r>
              <a:rPr lang="en-US" sz="2000" dirty="0"/>
              <a:t>24 bits</a:t>
            </a:r>
          </a:p>
        </p:txBody>
      </p:sp>
      <p:sp>
        <p:nvSpPr>
          <p:cNvPr id="7" name="TextBox 6">
            <a:extLst>
              <a:ext uri="{FF2B5EF4-FFF2-40B4-BE49-F238E27FC236}">
                <a16:creationId xmlns:a16="http://schemas.microsoft.com/office/drawing/2014/main" id="{D95B980E-30A7-C827-5291-22D57CA7C241}"/>
              </a:ext>
            </a:extLst>
          </p:cNvPr>
          <p:cNvSpPr txBox="1"/>
          <p:nvPr/>
        </p:nvSpPr>
        <p:spPr>
          <a:xfrm>
            <a:off x="556532" y="5952586"/>
            <a:ext cx="10797268" cy="400110"/>
          </a:xfrm>
          <a:prstGeom prst="rect">
            <a:avLst/>
          </a:prstGeom>
          <a:noFill/>
        </p:spPr>
        <p:txBody>
          <a:bodyPr wrap="square">
            <a:spAutoFit/>
          </a:bodyPr>
          <a:lstStyle/>
          <a:p>
            <a:r>
              <a:rPr lang="en-US" sz="2000" dirty="0"/>
              <a:t>From a total of approx. 580 photos taken, approx. 187 were discarded</a:t>
            </a:r>
          </a:p>
        </p:txBody>
      </p:sp>
      <p:sp>
        <p:nvSpPr>
          <p:cNvPr id="2" name="TextBox 1">
            <a:extLst>
              <a:ext uri="{FF2B5EF4-FFF2-40B4-BE49-F238E27FC236}">
                <a16:creationId xmlns:a16="http://schemas.microsoft.com/office/drawing/2014/main" id="{FFFE0837-C09F-F33E-4436-7FEA9980CB64}"/>
              </a:ext>
            </a:extLst>
          </p:cNvPr>
          <p:cNvSpPr txBox="1"/>
          <p:nvPr/>
        </p:nvSpPr>
        <p:spPr>
          <a:xfrm>
            <a:off x="5888140" y="2226249"/>
            <a:ext cx="1713499" cy="646331"/>
          </a:xfrm>
          <a:prstGeom prst="rect">
            <a:avLst/>
          </a:prstGeom>
          <a:solidFill>
            <a:schemeClr val="accent6"/>
          </a:solidFill>
        </p:spPr>
        <p:txBody>
          <a:bodyPr wrap="square" rtlCol="0">
            <a:spAutoFit/>
          </a:bodyPr>
          <a:lstStyle/>
          <a:p>
            <a:r>
              <a:rPr lang="en-US" dirty="0">
                <a:latin typeface="Times New Roman" panose="02020603050405020304" pitchFamily="18" charset="0"/>
                <a:cs typeface="Times New Roman" panose="02020603050405020304" pitchFamily="18" charset="0"/>
              </a:rPr>
              <a:t>Photographing the manuscript</a:t>
            </a:r>
          </a:p>
        </p:txBody>
      </p:sp>
      <p:sp>
        <p:nvSpPr>
          <p:cNvPr id="4" name="TextBox 3">
            <a:extLst>
              <a:ext uri="{FF2B5EF4-FFF2-40B4-BE49-F238E27FC236}">
                <a16:creationId xmlns:a16="http://schemas.microsoft.com/office/drawing/2014/main" id="{1B279B7F-9913-FFEB-8141-479E1B5AF2BF}"/>
              </a:ext>
            </a:extLst>
          </p:cNvPr>
          <p:cNvSpPr txBox="1"/>
          <p:nvPr/>
        </p:nvSpPr>
        <p:spPr>
          <a:xfrm>
            <a:off x="7909686" y="2226249"/>
            <a:ext cx="1713499" cy="646331"/>
          </a:xfrm>
          <a:prstGeom prst="rect">
            <a:avLst/>
          </a:prstGeom>
          <a:solidFill>
            <a:schemeClr val="accent6"/>
          </a:solidFill>
        </p:spPr>
        <p:txBody>
          <a:bodyPr wrap="square" rtlCol="0">
            <a:spAutoFit/>
          </a:bodyPr>
          <a:lstStyle/>
          <a:p>
            <a:r>
              <a:rPr lang="en-US" dirty="0">
                <a:latin typeface="Times New Roman" panose="02020603050405020304" pitchFamily="18" charset="0"/>
                <a:cs typeface="Times New Roman" panose="02020603050405020304" pitchFamily="18" charset="0"/>
              </a:rPr>
              <a:t>Photographing the manuscript</a:t>
            </a:r>
          </a:p>
        </p:txBody>
      </p:sp>
      <p:sp>
        <p:nvSpPr>
          <p:cNvPr id="8" name="TextBox 7">
            <a:extLst>
              <a:ext uri="{FF2B5EF4-FFF2-40B4-BE49-F238E27FC236}">
                <a16:creationId xmlns:a16="http://schemas.microsoft.com/office/drawing/2014/main" id="{C24A57FE-7A8C-A819-3708-1B04125D3E2F}"/>
              </a:ext>
            </a:extLst>
          </p:cNvPr>
          <p:cNvSpPr txBox="1"/>
          <p:nvPr/>
        </p:nvSpPr>
        <p:spPr>
          <a:xfrm>
            <a:off x="9863635" y="2226249"/>
            <a:ext cx="1567983" cy="646331"/>
          </a:xfrm>
          <a:prstGeom prst="rect">
            <a:avLst/>
          </a:prstGeom>
          <a:solidFill>
            <a:schemeClr val="accent6"/>
          </a:solidFill>
        </p:spPr>
        <p:txBody>
          <a:bodyPr wrap="square" rtlCol="0">
            <a:spAutoFit/>
          </a:bodyPr>
          <a:lstStyle/>
          <a:p>
            <a:r>
              <a:rPr lang="en-US" dirty="0">
                <a:latin typeface="Times New Roman" panose="02020603050405020304" pitchFamily="18" charset="0"/>
                <a:cs typeface="Times New Roman" panose="02020603050405020304" pitchFamily="18" charset="0"/>
              </a:rPr>
              <a:t>Photographing the manuscript</a:t>
            </a:r>
          </a:p>
        </p:txBody>
      </p:sp>
      <p:sp>
        <p:nvSpPr>
          <p:cNvPr id="10" name="TextBox 9">
            <a:extLst>
              <a:ext uri="{FF2B5EF4-FFF2-40B4-BE49-F238E27FC236}">
                <a16:creationId xmlns:a16="http://schemas.microsoft.com/office/drawing/2014/main" id="{67DCDA93-1949-CA56-5A84-FDD1D73B6115}"/>
              </a:ext>
            </a:extLst>
          </p:cNvPr>
          <p:cNvSpPr txBox="1"/>
          <p:nvPr/>
        </p:nvSpPr>
        <p:spPr>
          <a:xfrm>
            <a:off x="838953" y="3817705"/>
            <a:ext cx="1713499" cy="646331"/>
          </a:xfrm>
          <a:prstGeom prst="rect">
            <a:avLst/>
          </a:prstGeom>
          <a:solidFill>
            <a:schemeClr val="accent6"/>
          </a:solidFill>
        </p:spPr>
        <p:txBody>
          <a:bodyPr wrap="square" rtlCol="0">
            <a:spAutoFit/>
          </a:bodyPr>
          <a:lstStyle/>
          <a:p>
            <a:r>
              <a:rPr lang="en-US" dirty="0">
                <a:latin typeface="Times New Roman" panose="02020603050405020304" pitchFamily="18" charset="0"/>
                <a:cs typeface="Times New Roman" panose="02020603050405020304" pitchFamily="18" charset="0"/>
              </a:rPr>
              <a:t>Photographing the manuscript</a:t>
            </a:r>
          </a:p>
        </p:txBody>
      </p:sp>
    </p:spTree>
    <p:extLst>
      <p:ext uri="{BB962C8B-B14F-4D97-AF65-F5344CB8AC3E}">
        <p14:creationId xmlns:p14="http://schemas.microsoft.com/office/powerpoint/2010/main" val="1749579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65D7F-1E8C-A90C-C618-EF957DDBAEFC}"/>
              </a:ext>
            </a:extLst>
          </p:cNvPr>
          <p:cNvSpPr>
            <a:spLocks noGrp="1"/>
          </p:cNvSpPr>
          <p:nvPr>
            <p:ph type="title"/>
          </p:nvPr>
        </p:nvSpPr>
        <p:spPr>
          <a:xfrm>
            <a:off x="838200" y="440266"/>
            <a:ext cx="10515600" cy="1032934"/>
          </a:xfrm>
        </p:spPr>
        <p:txBody>
          <a:bodyPr/>
          <a:lstStyle/>
          <a:p>
            <a:r>
              <a:rPr lang="en-US" dirty="0"/>
              <a:t>Final Remarks</a:t>
            </a:r>
          </a:p>
        </p:txBody>
      </p:sp>
      <p:sp>
        <p:nvSpPr>
          <p:cNvPr id="3" name="Content Placeholder 2">
            <a:extLst>
              <a:ext uri="{FF2B5EF4-FFF2-40B4-BE49-F238E27FC236}">
                <a16:creationId xmlns:a16="http://schemas.microsoft.com/office/drawing/2014/main" id="{F423866F-AB46-D873-BBED-7D8C7AFFFAE2}"/>
              </a:ext>
            </a:extLst>
          </p:cNvPr>
          <p:cNvSpPr>
            <a:spLocks noGrp="1"/>
          </p:cNvSpPr>
          <p:nvPr>
            <p:ph idx="1"/>
          </p:nvPr>
        </p:nvSpPr>
        <p:spPr>
          <a:xfrm>
            <a:off x="838200" y="1473200"/>
            <a:ext cx="10515600" cy="4703763"/>
          </a:xfrm>
        </p:spPr>
        <p:txBody>
          <a:bodyPr>
            <a:noAutofit/>
          </a:bodyPr>
          <a:lstStyle/>
          <a:p>
            <a:pPr>
              <a:lnSpc>
                <a:spcPct val="150000"/>
              </a:lnSpc>
            </a:pPr>
            <a:r>
              <a:rPr lang="en-US" sz="2400" dirty="0"/>
              <a:t>Try to present a realistic solution for the digitization of old music books in an archive that lacks the resources and personnel for this kind of project</a:t>
            </a:r>
          </a:p>
          <a:p>
            <a:pPr lvl="1">
              <a:lnSpc>
                <a:spcPct val="150000"/>
              </a:lnSpc>
            </a:pPr>
            <a:r>
              <a:rPr lang="en-US" dirty="0"/>
              <a:t>There are many music documents locked in archives around the world</a:t>
            </a:r>
          </a:p>
          <a:p>
            <a:pPr lvl="1">
              <a:lnSpc>
                <a:spcPct val="150000"/>
              </a:lnSpc>
            </a:pPr>
            <a:r>
              <a:rPr lang="en-US" dirty="0"/>
              <a:t>Not all these archives have digitization and conservation departments</a:t>
            </a:r>
          </a:p>
          <a:p>
            <a:pPr lvl="1">
              <a:lnSpc>
                <a:spcPct val="150000"/>
              </a:lnSpc>
            </a:pPr>
            <a:r>
              <a:rPr lang="en-US" dirty="0"/>
              <a:t>Present a case study of a digitization project conducted under such conditions</a:t>
            </a:r>
          </a:p>
          <a:p>
            <a:pPr>
              <a:lnSpc>
                <a:spcPct val="150000"/>
              </a:lnSpc>
            </a:pPr>
            <a:r>
              <a:rPr lang="en-US" sz="2400" dirty="0"/>
              <a:t>Hope it is useful for similar initiatives</a:t>
            </a:r>
          </a:p>
          <a:p>
            <a:pPr>
              <a:lnSpc>
                <a:spcPct val="150000"/>
              </a:lnSpc>
            </a:pPr>
            <a:endParaRPr lang="en-US" sz="2400" dirty="0"/>
          </a:p>
        </p:txBody>
      </p:sp>
      <p:sp>
        <p:nvSpPr>
          <p:cNvPr id="4" name="Slide Number Placeholder 3">
            <a:extLst>
              <a:ext uri="{FF2B5EF4-FFF2-40B4-BE49-F238E27FC236}">
                <a16:creationId xmlns:a16="http://schemas.microsoft.com/office/drawing/2014/main" id="{CBDA607E-9E88-18B5-E073-3373FCD22251}"/>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2924614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65D7F-1E8C-A90C-C618-EF957DDBAEFC}"/>
              </a:ext>
            </a:extLst>
          </p:cNvPr>
          <p:cNvSpPr>
            <a:spLocks noGrp="1"/>
          </p:cNvSpPr>
          <p:nvPr>
            <p:ph type="title"/>
          </p:nvPr>
        </p:nvSpPr>
        <p:spPr>
          <a:xfrm>
            <a:off x="838200" y="440266"/>
            <a:ext cx="10515600" cy="1032934"/>
          </a:xfrm>
        </p:spPr>
        <p:txBody>
          <a:bodyPr/>
          <a:lstStyle/>
          <a:p>
            <a:r>
              <a:rPr lang="en-US" dirty="0"/>
              <a:t>Final Remarks</a:t>
            </a:r>
          </a:p>
        </p:txBody>
      </p:sp>
      <p:sp>
        <p:nvSpPr>
          <p:cNvPr id="3" name="Content Placeholder 2">
            <a:extLst>
              <a:ext uri="{FF2B5EF4-FFF2-40B4-BE49-F238E27FC236}">
                <a16:creationId xmlns:a16="http://schemas.microsoft.com/office/drawing/2014/main" id="{F423866F-AB46-D873-BBED-7D8C7AFFFAE2}"/>
              </a:ext>
            </a:extLst>
          </p:cNvPr>
          <p:cNvSpPr>
            <a:spLocks noGrp="1"/>
          </p:cNvSpPr>
          <p:nvPr>
            <p:ph idx="1"/>
          </p:nvPr>
        </p:nvSpPr>
        <p:spPr>
          <a:xfrm>
            <a:off x="838200" y="1473200"/>
            <a:ext cx="10515600" cy="4703763"/>
          </a:xfrm>
        </p:spPr>
        <p:txBody>
          <a:bodyPr>
            <a:noAutofit/>
          </a:bodyPr>
          <a:lstStyle/>
          <a:p>
            <a:pPr>
              <a:lnSpc>
                <a:spcPct val="150000"/>
              </a:lnSpc>
            </a:pPr>
            <a:r>
              <a:rPr lang="en-US" sz="2400" dirty="0"/>
              <a:t>Hope it is useful for similar initiatives</a:t>
            </a:r>
          </a:p>
          <a:p>
            <a:pPr>
              <a:lnSpc>
                <a:spcPct val="150000"/>
              </a:lnSpc>
            </a:pPr>
            <a:r>
              <a:rPr lang="en-CA" sz="2400" b="1" dirty="0">
                <a:solidFill>
                  <a:prstClr val="black"/>
                </a:solidFill>
                <a:ea typeface="+mj-ea"/>
                <a:cs typeface="+mj-cs"/>
              </a:rPr>
              <a:t>Website: </a:t>
            </a:r>
            <a:r>
              <a:rPr lang="en-CA" sz="2400" dirty="0">
                <a:solidFill>
                  <a:prstClr val="black"/>
                </a:solidFill>
                <a:ea typeface="+mj-ea"/>
                <a:cs typeface="+mj-cs"/>
                <a:hlinkClick r:id="rId3"/>
              </a:rPr>
              <a:t>https://martha-thomae.github.io/projects/digit_guatemala</a:t>
            </a:r>
            <a:endParaRPr lang="en-CA" sz="2400" dirty="0">
              <a:solidFill>
                <a:prstClr val="black"/>
              </a:solidFill>
              <a:ea typeface="+mj-ea"/>
              <a:cs typeface="+mj-cs"/>
            </a:endParaRPr>
          </a:p>
          <a:p>
            <a:pPr lvl="1">
              <a:lnSpc>
                <a:spcPct val="150000"/>
              </a:lnSpc>
            </a:pPr>
            <a:r>
              <a:rPr lang="en-CA" sz="2200" b="1" dirty="0"/>
              <a:t>YouTube Playlist: </a:t>
            </a:r>
            <a:r>
              <a:rPr kumimoji="0" lang="en-CA" sz="2200" i="0" u="none" strike="noStrike" kern="1200" cap="none" spc="0" normalizeH="0" baseline="0" noProof="0" dirty="0">
                <a:ln>
                  <a:noFill/>
                </a:ln>
                <a:solidFill>
                  <a:srgbClr val="0563C1"/>
                </a:solidFill>
                <a:effectLst/>
                <a:uLnTx/>
                <a:uFillTx/>
                <a:ea typeface="+mj-ea"/>
                <a:cs typeface="+mj-cs"/>
                <a:hlinkClick r:id="rId4">
                  <a:extLst>
                    <a:ext uri="{A12FA001-AC4F-418D-AE19-62706E023703}">
                      <ahyp:hlinkClr xmlns:ahyp="http://schemas.microsoft.com/office/drawing/2018/hyperlinkcolor" val="tx"/>
                    </a:ext>
                  </a:extLst>
                </a:hlinkClick>
              </a:rPr>
              <a:t>https://www.youtube.com/playlist?list=PLC08Ptt</a:t>
            </a:r>
            <a:br>
              <a:rPr kumimoji="0" lang="en-CA" sz="2200" i="0" u="none" strike="noStrike" kern="1200" cap="none" spc="0" normalizeH="0" baseline="0" noProof="0" dirty="0">
                <a:ln>
                  <a:noFill/>
                </a:ln>
                <a:solidFill>
                  <a:srgbClr val="0563C1"/>
                </a:solidFill>
                <a:effectLst/>
                <a:uLnTx/>
                <a:uFillTx/>
                <a:ea typeface="+mj-ea"/>
                <a:cs typeface="+mj-cs"/>
                <a:hlinkClick r:id="rId4">
                  <a:extLst>
                    <a:ext uri="{A12FA001-AC4F-418D-AE19-62706E023703}">
                      <ahyp:hlinkClr xmlns:ahyp="http://schemas.microsoft.com/office/drawing/2018/hyperlinkcolor" val="tx"/>
                    </a:ext>
                  </a:extLst>
                </a:hlinkClick>
              </a:rPr>
            </a:br>
            <a:r>
              <a:rPr kumimoji="0" lang="en-CA" sz="2200" i="0" u="none" strike="noStrike" kern="1200" cap="none" spc="0" normalizeH="0" baseline="0" noProof="0" dirty="0">
                <a:ln>
                  <a:noFill/>
                </a:ln>
                <a:solidFill>
                  <a:srgbClr val="0563C1"/>
                </a:solidFill>
                <a:effectLst/>
                <a:uLnTx/>
                <a:uFillTx/>
                <a:ea typeface="+mj-ea"/>
                <a:cs typeface="+mj-cs"/>
                <a:hlinkClick r:id="rId4">
                  <a:extLst>
                    <a:ext uri="{A12FA001-AC4F-418D-AE19-62706E023703}">
                      <ahyp:hlinkClr xmlns:ahyp="http://schemas.microsoft.com/office/drawing/2018/hyperlinkcolor" val="tx"/>
                    </a:ext>
                  </a:extLst>
                </a:hlinkClick>
              </a:rPr>
              <a:t>ZdHNBpl8z1MV2U3UZFNBL3jQ5g</a:t>
            </a:r>
            <a:endParaRPr lang="en-CA" sz="2200" dirty="0">
              <a:solidFill>
                <a:prstClr val="black"/>
              </a:solidFill>
              <a:ea typeface="+mj-ea"/>
              <a:cs typeface="+mj-cs"/>
            </a:endParaRPr>
          </a:p>
          <a:p>
            <a:pPr lvl="1">
              <a:lnSpc>
                <a:spcPct val="150000"/>
              </a:lnSpc>
            </a:pPr>
            <a:r>
              <a:rPr kumimoji="0" lang="en-CA" sz="2200" b="1" i="0" u="none" strike="noStrike" kern="1200" cap="none" spc="0" normalizeH="0" baseline="0" noProof="0" dirty="0">
                <a:ln>
                  <a:noFill/>
                </a:ln>
                <a:solidFill>
                  <a:prstClr val="black"/>
                </a:solidFill>
                <a:effectLst/>
                <a:uLnTx/>
                <a:uFillTx/>
                <a:ea typeface="+mj-ea"/>
                <a:cs typeface="+mj-cs"/>
              </a:rPr>
              <a:t>Paper: </a:t>
            </a:r>
            <a:r>
              <a:rPr kumimoji="0" lang="en-CA" sz="2200" i="0" u="none" strike="noStrike" kern="1200" cap="none" spc="0" normalizeH="0" baseline="0" noProof="0" dirty="0">
                <a:ln>
                  <a:noFill/>
                </a:ln>
                <a:solidFill>
                  <a:prstClr val="black"/>
                </a:solidFill>
                <a:effectLst/>
                <a:uLnTx/>
                <a:uFillTx/>
                <a:ea typeface="+mj-ea"/>
                <a:cs typeface="+mj-cs"/>
              </a:rPr>
              <a:t>Martha E. Thomae, Julie E. Cumming, and Ichiro </a:t>
            </a:r>
            <a:r>
              <a:rPr kumimoji="0" lang="en-CA" sz="2200" i="0" u="none" strike="noStrike" kern="1200" cap="none" spc="0" normalizeH="0" baseline="0" noProof="0" dirty="0" err="1">
                <a:ln>
                  <a:noFill/>
                </a:ln>
                <a:solidFill>
                  <a:prstClr val="black"/>
                </a:solidFill>
                <a:effectLst/>
                <a:uLnTx/>
                <a:uFillTx/>
                <a:ea typeface="+mj-ea"/>
                <a:cs typeface="+mj-cs"/>
              </a:rPr>
              <a:t>Fujinaga</a:t>
            </a:r>
            <a:r>
              <a:rPr kumimoji="0" lang="en-CA" sz="2200" i="0" u="none" strike="noStrike" kern="1200" cap="none" spc="0" normalizeH="0" baseline="0" noProof="0" dirty="0">
                <a:ln>
                  <a:noFill/>
                </a:ln>
                <a:solidFill>
                  <a:prstClr val="black"/>
                </a:solidFill>
                <a:effectLst/>
                <a:uLnTx/>
                <a:uFillTx/>
                <a:ea typeface="+mj-ea"/>
                <a:cs typeface="+mj-cs"/>
              </a:rPr>
              <a:t>. 2022. Digitization of Choirbooks in Guatemala. In Proceedings of the 9th International Conference on Digital Libraries for Musicology (</a:t>
            </a:r>
            <a:r>
              <a:rPr kumimoji="0" lang="en-CA" sz="2200" i="0" u="none" strike="noStrike" kern="1200" cap="none" spc="0" normalizeH="0" baseline="0" noProof="0" dirty="0" err="1">
                <a:ln>
                  <a:noFill/>
                </a:ln>
                <a:solidFill>
                  <a:prstClr val="black"/>
                </a:solidFill>
                <a:effectLst/>
                <a:uLnTx/>
                <a:uFillTx/>
                <a:ea typeface="+mj-ea"/>
                <a:cs typeface="+mj-cs"/>
              </a:rPr>
              <a:t>DLfM</a:t>
            </a:r>
            <a:r>
              <a:rPr kumimoji="0" lang="en-CA" sz="2200" i="0" u="none" strike="noStrike" kern="1200" cap="none" spc="0" normalizeH="0" baseline="0" noProof="0" dirty="0">
                <a:ln>
                  <a:noFill/>
                </a:ln>
                <a:solidFill>
                  <a:prstClr val="black"/>
                </a:solidFill>
                <a:effectLst/>
                <a:uLnTx/>
                <a:uFillTx/>
                <a:ea typeface="+mj-ea"/>
                <a:cs typeface="+mj-cs"/>
              </a:rPr>
              <a:t> '22). Association for Computing Machinery, New York, NY, USA, 19–26. </a:t>
            </a:r>
            <a:r>
              <a:rPr kumimoji="0" lang="en-CA" sz="2200" i="0" u="none" strike="noStrike" kern="1200" cap="none" spc="0" normalizeH="0" baseline="0" noProof="0" dirty="0">
                <a:ln>
                  <a:noFill/>
                </a:ln>
                <a:solidFill>
                  <a:prstClr val="black"/>
                </a:solidFill>
                <a:effectLst/>
                <a:uLnTx/>
                <a:uFillTx/>
                <a:ea typeface="+mj-ea"/>
                <a:cs typeface="+mj-cs"/>
                <a:hlinkClick r:id="rId5"/>
              </a:rPr>
              <a:t>https://doi.org/10.1145/3543882.3543885</a:t>
            </a:r>
            <a:endParaRPr kumimoji="0" lang="en-CA" sz="2200" i="0" u="none" strike="noStrike" kern="1200" cap="none" spc="0" normalizeH="0" baseline="0" noProof="0" dirty="0">
              <a:ln>
                <a:noFill/>
              </a:ln>
              <a:solidFill>
                <a:prstClr val="black"/>
              </a:solidFill>
              <a:effectLst/>
              <a:uLnTx/>
              <a:uFillTx/>
              <a:ea typeface="+mj-ea"/>
              <a:cs typeface="+mj-cs"/>
            </a:endParaRPr>
          </a:p>
          <a:p>
            <a:pPr>
              <a:lnSpc>
                <a:spcPct val="150000"/>
              </a:lnSpc>
            </a:pPr>
            <a:endParaRPr lang="en-US" sz="2400" dirty="0"/>
          </a:p>
          <a:p>
            <a:pPr>
              <a:lnSpc>
                <a:spcPct val="150000"/>
              </a:lnSpc>
            </a:pPr>
            <a:endParaRPr lang="en-US" sz="2400" dirty="0"/>
          </a:p>
        </p:txBody>
      </p:sp>
      <p:sp>
        <p:nvSpPr>
          <p:cNvPr id="4" name="Slide Number Placeholder 3">
            <a:extLst>
              <a:ext uri="{FF2B5EF4-FFF2-40B4-BE49-F238E27FC236}">
                <a16:creationId xmlns:a16="http://schemas.microsoft.com/office/drawing/2014/main" id="{CBDA607E-9E88-18B5-E073-3373FCD22251}"/>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2248594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8188-0981-CB46-9A0B-D75F46DBA6AB}"/>
              </a:ext>
            </a:extLst>
          </p:cNvPr>
          <p:cNvSpPr>
            <a:spLocks noGrp="1"/>
          </p:cNvSpPr>
          <p:nvPr>
            <p:ph type="title"/>
          </p:nvPr>
        </p:nvSpPr>
        <p:spPr>
          <a:xfrm>
            <a:off x="838200" y="365126"/>
            <a:ext cx="10515600" cy="955674"/>
          </a:xfrm>
        </p:spPr>
        <p:txBody>
          <a:bodyPr/>
          <a:lstStyle/>
          <a:p>
            <a:r>
              <a:rPr lang="en-US" dirty="0"/>
              <a:t>Acknowledgements</a:t>
            </a:r>
          </a:p>
        </p:txBody>
      </p:sp>
      <p:sp>
        <p:nvSpPr>
          <p:cNvPr id="3" name="Content Placeholder 2">
            <a:extLst>
              <a:ext uri="{FF2B5EF4-FFF2-40B4-BE49-F238E27FC236}">
                <a16:creationId xmlns:a16="http://schemas.microsoft.com/office/drawing/2014/main" id="{68E51209-8D7E-1B47-B094-63617A699F0C}"/>
              </a:ext>
            </a:extLst>
          </p:cNvPr>
          <p:cNvSpPr>
            <a:spLocks noGrp="1"/>
          </p:cNvSpPr>
          <p:nvPr>
            <p:ph idx="1"/>
          </p:nvPr>
        </p:nvSpPr>
        <p:spPr>
          <a:xfrm>
            <a:off x="838200" y="1320800"/>
            <a:ext cx="10515600" cy="5172075"/>
          </a:xfrm>
        </p:spPr>
        <p:txBody>
          <a:bodyPr anchor="ctr">
            <a:noAutofit/>
          </a:bodyPr>
          <a:lstStyle/>
          <a:p>
            <a:pPr>
              <a:lnSpc>
                <a:spcPct val="120000"/>
              </a:lnSpc>
              <a:spcBef>
                <a:spcPts val="400"/>
              </a:spcBef>
            </a:pPr>
            <a:r>
              <a:rPr lang="en-US" sz="2400" b="1" dirty="0"/>
              <a:t>Omar Morales Abril</a:t>
            </a:r>
            <a:r>
              <a:rPr lang="en-US" sz="2400" dirty="0"/>
              <a:t>, Guatemalan musicologist that provided me with advice </a:t>
            </a:r>
            <a:br>
              <a:rPr lang="en-US" sz="2400" dirty="0"/>
            </a:br>
            <a:r>
              <a:rPr lang="en-US" sz="2400" dirty="0"/>
              <a:t>and information about the </a:t>
            </a:r>
            <a:r>
              <a:rPr lang="en-US" sz="2400" dirty="0" err="1"/>
              <a:t>choirbooks</a:t>
            </a:r>
            <a:endParaRPr lang="en-US" sz="2400" dirty="0"/>
          </a:p>
          <a:p>
            <a:pPr>
              <a:lnSpc>
                <a:spcPct val="120000"/>
              </a:lnSpc>
              <a:spcBef>
                <a:spcPts val="400"/>
              </a:spcBef>
            </a:pPr>
            <a:r>
              <a:rPr lang="en-US" sz="2400" b="1" dirty="0"/>
              <a:t>Alejandro Conde</a:t>
            </a:r>
            <a:r>
              <a:rPr lang="en-US" sz="2400" dirty="0"/>
              <a:t>, AHAG’s archivist that supported and facilitated the project</a:t>
            </a:r>
          </a:p>
          <a:p>
            <a:pPr>
              <a:lnSpc>
                <a:spcPct val="120000"/>
              </a:lnSpc>
              <a:spcBef>
                <a:spcPts val="400"/>
              </a:spcBef>
            </a:pPr>
            <a:r>
              <a:rPr lang="en-US" sz="2400" b="1" dirty="0"/>
              <a:t>José German </a:t>
            </a:r>
            <a:r>
              <a:rPr lang="en-US" sz="2400" b="1" dirty="0" err="1"/>
              <a:t>Thomae</a:t>
            </a:r>
            <a:r>
              <a:rPr lang="en-US" sz="2400" b="1" dirty="0"/>
              <a:t> </a:t>
            </a:r>
            <a:r>
              <a:rPr lang="en-US" sz="2400" b="1" dirty="0" err="1"/>
              <a:t>Villela</a:t>
            </a:r>
            <a:r>
              <a:rPr lang="en-US" sz="2400" dirty="0"/>
              <a:t> for constructing the cradle</a:t>
            </a:r>
          </a:p>
          <a:p>
            <a:pPr>
              <a:lnSpc>
                <a:spcPct val="120000"/>
              </a:lnSpc>
              <a:spcBef>
                <a:spcPts val="400"/>
              </a:spcBef>
            </a:pPr>
            <a:r>
              <a:rPr lang="en-US" sz="2400" b="1" dirty="0"/>
              <a:t>Darryl Cameron </a:t>
            </a:r>
            <a:r>
              <a:rPr lang="en-US" sz="2400" dirty="0"/>
              <a:t>for lending the </a:t>
            </a:r>
            <a:r>
              <a:rPr lang="en-US" sz="2400" dirty="0" err="1"/>
              <a:t>copystand</a:t>
            </a:r>
            <a:endParaRPr lang="en-US" sz="2400" dirty="0"/>
          </a:p>
          <a:p>
            <a:pPr>
              <a:lnSpc>
                <a:spcPct val="120000"/>
              </a:lnSpc>
              <a:spcBef>
                <a:spcPts val="400"/>
              </a:spcBef>
            </a:pPr>
            <a:r>
              <a:rPr lang="en-US" sz="2400" b="1" dirty="0"/>
              <a:t>Daniel Hernández-Salazar </a:t>
            </a:r>
            <a:r>
              <a:rPr lang="en-US" sz="2400" dirty="0"/>
              <a:t>for setting the camera parameters</a:t>
            </a:r>
          </a:p>
          <a:p>
            <a:pPr>
              <a:lnSpc>
                <a:spcPct val="120000"/>
              </a:lnSpc>
              <a:spcBef>
                <a:spcPts val="400"/>
              </a:spcBef>
            </a:pPr>
            <a:r>
              <a:rPr lang="en-CA" sz="2400" dirty="0"/>
              <a:t>The following experts for their advice regarding digitization and conservation of special collections: </a:t>
            </a:r>
            <a:r>
              <a:rPr lang="en-US" sz="2400" b="1" dirty="0"/>
              <a:t>Julia Craig-</a:t>
            </a:r>
            <a:r>
              <a:rPr lang="en-US" sz="2400" b="1" dirty="0" err="1"/>
              <a:t>McFeely</a:t>
            </a:r>
            <a:r>
              <a:rPr lang="en-US" sz="2400" b="1" dirty="0"/>
              <a:t> </a:t>
            </a:r>
            <a:r>
              <a:rPr lang="en-US" sz="2400" dirty="0"/>
              <a:t>and </a:t>
            </a:r>
            <a:r>
              <a:rPr lang="en-US" sz="2400" b="1" dirty="0"/>
              <a:t>Lynda </a:t>
            </a:r>
            <a:r>
              <a:rPr lang="en-US" sz="2400" b="1" dirty="0" err="1"/>
              <a:t>Sayce</a:t>
            </a:r>
            <a:r>
              <a:rPr lang="en-US" sz="2400" b="1" dirty="0"/>
              <a:t> </a:t>
            </a:r>
            <a:r>
              <a:rPr lang="en-US" sz="2400" dirty="0"/>
              <a:t>(DIAMM), </a:t>
            </a:r>
            <a:br>
              <a:rPr lang="en-US" sz="2400" dirty="0"/>
            </a:br>
            <a:r>
              <a:rPr lang="en-CA" sz="2400" b="1" dirty="0"/>
              <a:t>Jessica </a:t>
            </a:r>
            <a:r>
              <a:rPr lang="en-CA" sz="2400" b="1" dirty="0" err="1"/>
              <a:t>Régimbald</a:t>
            </a:r>
            <a:r>
              <a:rPr lang="en-CA" sz="2400" dirty="0"/>
              <a:t>, </a:t>
            </a:r>
            <a:r>
              <a:rPr lang="en-CA" sz="2400" b="1" dirty="0"/>
              <a:t>Marie-Chantal </a:t>
            </a:r>
            <a:r>
              <a:rPr lang="en-CA" sz="2400" b="1" dirty="0" err="1"/>
              <a:t>Anctil</a:t>
            </a:r>
            <a:r>
              <a:rPr lang="en-CA" sz="2400" dirty="0"/>
              <a:t>, and </a:t>
            </a:r>
            <a:r>
              <a:rPr lang="en-CA" sz="2400" b="1" dirty="0"/>
              <a:t>Michel Legendre </a:t>
            </a:r>
            <a:r>
              <a:rPr lang="en-CA" sz="2400" dirty="0"/>
              <a:t>(</a:t>
            </a:r>
            <a:r>
              <a:rPr lang="en-CA" sz="2400" dirty="0" err="1"/>
              <a:t>BAnQ</a:t>
            </a:r>
            <a:r>
              <a:rPr lang="en-CA" sz="2400" dirty="0"/>
              <a:t>), </a:t>
            </a:r>
            <a:br>
              <a:rPr lang="en-CA" sz="2400" dirty="0"/>
            </a:br>
            <a:r>
              <a:rPr lang="en-CA" sz="2400" dirty="0"/>
              <a:t>and </a:t>
            </a:r>
            <a:r>
              <a:rPr lang="en-CA" sz="2400" b="1" dirty="0"/>
              <a:t>Gregory Houston </a:t>
            </a:r>
            <a:r>
              <a:rPr lang="en-CA" sz="2400" dirty="0"/>
              <a:t>(McGill Library)</a:t>
            </a:r>
          </a:p>
        </p:txBody>
      </p:sp>
      <p:sp>
        <p:nvSpPr>
          <p:cNvPr id="4" name="Slide Number Placeholder 3">
            <a:extLst>
              <a:ext uri="{FF2B5EF4-FFF2-40B4-BE49-F238E27FC236}">
                <a16:creationId xmlns:a16="http://schemas.microsoft.com/office/drawing/2014/main" id="{3264711E-C719-D544-A33B-6A1285FE31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0464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8188-0981-CB46-9A0B-D75F46DBA6AB}"/>
              </a:ext>
            </a:extLst>
          </p:cNvPr>
          <p:cNvSpPr>
            <a:spLocks noGrp="1"/>
          </p:cNvSpPr>
          <p:nvPr>
            <p:ph type="title"/>
          </p:nvPr>
        </p:nvSpPr>
        <p:spPr>
          <a:xfrm>
            <a:off x="838200" y="365126"/>
            <a:ext cx="10515600" cy="972608"/>
          </a:xfrm>
        </p:spPr>
        <p:txBody>
          <a:bodyPr/>
          <a:lstStyle/>
          <a:p>
            <a:r>
              <a:rPr lang="en-US" dirty="0"/>
              <a:t>Acknowledgements</a:t>
            </a:r>
          </a:p>
        </p:txBody>
      </p:sp>
      <p:sp>
        <p:nvSpPr>
          <p:cNvPr id="3" name="Content Placeholder 2">
            <a:extLst>
              <a:ext uri="{FF2B5EF4-FFF2-40B4-BE49-F238E27FC236}">
                <a16:creationId xmlns:a16="http://schemas.microsoft.com/office/drawing/2014/main" id="{68E51209-8D7E-1B47-B094-63617A699F0C}"/>
              </a:ext>
            </a:extLst>
          </p:cNvPr>
          <p:cNvSpPr>
            <a:spLocks noGrp="1"/>
          </p:cNvSpPr>
          <p:nvPr>
            <p:ph idx="1"/>
          </p:nvPr>
        </p:nvSpPr>
        <p:spPr>
          <a:xfrm>
            <a:off x="838200" y="1456268"/>
            <a:ext cx="9999133" cy="4720696"/>
          </a:xfrm>
        </p:spPr>
        <p:txBody>
          <a:bodyPr anchor="ctr">
            <a:normAutofit/>
          </a:bodyPr>
          <a:lstStyle/>
          <a:p>
            <a:pPr>
              <a:lnSpc>
                <a:spcPct val="120000"/>
              </a:lnSpc>
              <a:spcBef>
                <a:spcPts val="400"/>
              </a:spcBef>
            </a:pPr>
            <a:r>
              <a:rPr lang="en-US" sz="2400" b="1" dirty="0" err="1"/>
              <a:t>Archivo</a:t>
            </a:r>
            <a:r>
              <a:rPr lang="en-US" sz="2400" b="1" dirty="0"/>
              <a:t> </a:t>
            </a:r>
            <a:r>
              <a:rPr lang="en-US" sz="2400" b="1" dirty="0" err="1"/>
              <a:t>Histórico</a:t>
            </a:r>
            <a:r>
              <a:rPr lang="en-US" sz="2400" b="1" dirty="0"/>
              <a:t> </a:t>
            </a:r>
            <a:r>
              <a:rPr lang="en-US" sz="2400" b="1" dirty="0" err="1"/>
              <a:t>Arquidiocesano</a:t>
            </a:r>
            <a:r>
              <a:rPr lang="en-US" sz="2400" b="1" dirty="0"/>
              <a:t> de Guatemala (AHAG) </a:t>
            </a:r>
            <a:r>
              <a:rPr lang="en-US" sz="2400" dirty="0"/>
              <a:t>for granting permission for the project</a:t>
            </a:r>
            <a:endParaRPr lang="en-CA" sz="2400" dirty="0"/>
          </a:p>
          <a:p>
            <a:pPr>
              <a:lnSpc>
                <a:spcPct val="120000"/>
              </a:lnSpc>
              <a:spcBef>
                <a:spcPts val="400"/>
              </a:spcBef>
            </a:pPr>
            <a:r>
              <a:rPr lang="en-US" sz="2400" b="1" dirty="0"/>
              <a:t>Distributed Digital Music Archives and Libraries (DDMAL) Lab at McGill University </a:t>
            </a:r>
            <a:r>
              <a:rPr lang="en-US" sz="2400" dirty="0"/>
              <a:t>for lending the lights and other parts of the equipment</a:t>
            </a:r>
            <a:endParaRPr lang="en-US" sz="2400" b="1" dirty="0"/>
          </a:p>
          <a:p>
            <a:pPr>
              <a:lnSpc>
                <a:spcPct val="120000"/>
              </a:lnSpc>
              <a:spcBef>
                <a:spcPts val="400"/>
              </a:spcBef>
            </a:pPr>
            <a:r>
              <a:rPr lang="en-US" sz="2400" b="1" dirty="0"/>
              <a:t>Marvin </a:t>
            </a:r>
            <a:r>
              <a:rPr lang="en-US" sz="2400" b="1" dirty="0" err="1"/>
              <a:t>Duchow</a:t>
            </a:r>
            <a:r>
              <a:rPr lang="en-US" sz="2400" b="1" dirty="0"/>
              <a:t> Music Library at McGill University</a:t>
            </a:r>
            <a:r>
              <a:rPr lang="en-US" sz="2400" dirty="0"/>
              <a:t> for lending the camera</a:t>
            </a:r>
            <a:endParaRPr lang="en-US" sz="2400" b="1" dirty="0"/>
          </a:p>
          <a:p>
            <a:pPr>
              <a:lnSpc>
                <a:spcPct val="120000"/>
              </a:lnSpc>
              <a:spcBef>
                <a:spcPts val="400"/>
              </a:spcBef>
            </a:pPr>
            <a:r>
              <a:rPr lang="en-US" sz="2400" b="1" dirty="0"/>
              <a:t>Centro de </a:t>
            </a:r>
            <a:r>
              <a:rPr lang="en-US" sz="2400" b="1" dirty="0" err="1"/>
              <a:t>Rescate</a:t>
            </a:r>
            <a:r>
              <a:rPr lang="en-US" sz="2400" b="1" dirty="0"/>
              <a:t>, </a:t>
            </a:r>
            <a:r>
              <a:rPr lang="en-US" sz="2400" b="1" dirty="0" err="1"/>
              <a:t>Estudio</a:t>
            </a:r>
            <a:r>
              <a:rPr lang="en-US" sz="2400" b="1" dirty="0"/>
              <a:t> y </a:t>
            </a:r>
            <a:r>
              <a:rPr lang="en-US" sz="2400" b="1" dirty="0" err="1"/>
              <a:t>Análisis</a:t>
            </a:r>
            <a:r>
              <a:rPr lang="en-US" sz="2400" b="1" dirty="0"/>
              <a:t> </a:t>
            </a:r>
            <a:r>
              <a:rPr lang="en-US" sz="2400" b="1" dirty="0" err="1"/>
              <a:t>Científico</a:t>
            </a:r>
            <a:r>
              <a:rPr lang="en-US" sz="2400" b="1" dirty="0"/>
              <a:t> del </a:t>
            </a:r>
            <a:r>
              <a:rPr lang="en-US" sz="2400" b="1" dirty="0" err="1"/>
              <a:t>Arte</a:t>
            </a:r>
            <a:r>
              <a:rPr lang="en-US" sz="2400" b="1" dirty="0"/>
              <a:t> (CREA) </a:t>
            </a:r>
            <a:r>
              <a:rPr lang="en-US" sz="2400" dirty="0"/>
              <a:t>for the conservation assessment of the collection and the conservation treatment of the </a:t>
            </a:r>
            <a:r>
              <a:rPr lang="en-US" sz="2400" dirty="0" err="1"/>
              <a:t>choirbook</a:t>
            </a:r>
            <a:endParaRPr lang="en-US" sz="2400" b="1" dirty="0"/>
          </a:p>
        </p:txBody>
      </p:sp>
      <p:sp>
        <p:nvSpPr>
          <p:cNvPr id="4" name="Slide Number Placeholder 3">
            <a:extLst>
              <a:ext uri="{FF2B5EF4-FFF2-40B4-BE49-F238E27FC236}">
                <a16:creationId xmlns:a16="http://schemas.microsoft.com/office/drawing/2014/main" id="{3264711E-C719-D544-A33B-6A1285FE31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8070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408">
            <a:extLst>
              <a:ext uri="{FF2B5EF4-FFF2-40B4-BE49-F238E27FC236}">
                <a16:creationId xmlns:a16="http://schemas.microsoft.com/office/drawing/2014/main" id="{1445CD71-4C77-8042-927C-A21AA1378845}"/>
              </a:ext>
            </a:extLst>
          </p:cNvPr>
          <p:cNvPicPr preferRelativeResize="0"/>
          <p:nvPr/>
        </p:nvPicPr>
        <p:blipFill>
          <a:blip r:embed="rId3">
            <a:alphaModFix/>
          </a:blip>
          <a:stretch>
            <a:fillRect/>
          </a:stretch>
        </p:blipFill>
        <p:spPr>
          <a:xfrm>
            <a:off x="761265" y="3505478"/>
            <a:ext cx="4717996" cy="562185"/>
          </a:xfrm>
          <a:prstGeom prst="rect">
            <a:avLst/>
          </a:prstGeom>
          <a:noFill/>
          <a:ln>
            <a:noFill/>
          </a:ln>
        </p:spPr>
      </p:pic>
      <p:pic>
        <p:nvPicPr>
          <p:cNvPr id="6" name="Shape 409">
            <a:extLst>
              <a:ext uri="{FF2B5EF4-FFF2-40B4-BE49-F238E27FC236}">
                <a16:creationId xmlns:a16="http://schemas.microsoft.com/office/drawing/2014/main" id="{1A2C92EF-EB3C-8B4F-8CE5-801B5EB8315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769804" y="777712"/>
            <a:ext cx="1036067" cy="1036067"/>
          </a:xfrm>
          <a:prstGeom prst="rect">
            <a:avLst/>
          </a:prstGeom>
          <a:noFill/>
          <a:ln>
            <a:noFill/>
          </a:ln>
        </p:spPr>
      </p:pic>
      <p:pic>
        <p:nvPicPr>
          <p:cNvPr id="7" name="Shape 410">
            <a:extLst>
              <a:ext uri="{FF2B5EF4-FFF2-40B4-BE49-F238E27FC236}">
                <a16:creationId xmlns:a16="http://schemas.microsoft.com/office/drawing/2014/main" id="{55BBB775-680E-EF45-9BD7-9E62B7D82B96}"/>
              </a:ext>
            </a:extLst>
          </p:cNvPr>
          <p:cNvPicPr preferRelativeResize="0"/>
          <p:nvPr/>
        </p:nvPicPr>
        <p:blipFill>
          <a:blip r:embed="rId5">
            <a:alphaModFix/>
          </a:blip>
          <a:stretch>
            <a:fillRect/>
          </a:stretch>
        </p:blipFill>
        <p:spPr>
          <a:xfrm>
            <a:off x="715619" y="4220193"/>
            <a:ext cx="7849335" cy="1963387"/>
          </a:xfrm>
          <a:prstGeom prst="rect">
            <a:avLst/>
          </a:prstGeom>
          <a:noFill/>
          <a:ln>
            <a:noFill/>
          </a:ln>
        </p:spPr>
      </p:pic>
      <p:pic>
        <p:nvPicPr>
          <p:cNvPr id="8" name="Picture 7">
            <a:extLst>
              <a:ext uri="{FF2B5EF4-FFF2-40B4-BE49-F238E27FC236}">
                <a16:creationId xmlns:a16="http://schemas.microsoft.com/office/drawing/2014/main" id="{614C9E47-A1A3-6A4D-A406-E0DF70D23E4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61265" y="1744798"/>
            <a:ext cx="1898282" cy="661687"/>
          </a:xfrm>
          <a:prstGeom prst="rect">
            <a:avLst/>
          </a:prstGeom>
        </p:spPr>
      </p:pic>
      <p:pic>
        <p:nvPicPr>
          <p:cNvPr id="15" name="Picture 14" descr="A close up of a sign&#10;&#10;Description automatically generated">
            <a:extLst>
              <a:ext uri="{FF2B5EF4-FFF2-40B4-BE49-F238E27FC236}">
                <a16:creationId xmlns:a16="http://schemas.microsoft.com/office/drawing/2014/main" id="{ABCC5163-1267-9843-B14F-1613468442F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69804" y="2565523"/>
            <a:ext cx="3882214" cy="751853"/>
          </a:xfrm>
          <a:prstGeom prst="rect">
            <a:avLst/>
          </a:prstGeom>
        </p:spPr>
      </p:pic>
      <p:pic>
        <p:nvPicPr>
          <p:cNvPr id="3" name="Picture 2" descr="A picture containing drawing&#10;&#10;Description automatically generated">
            <a:extLst>
              <a:ext uri="{FF2B5EF4-FFF2-40B4-BE49-F238E27FC236}">
                <a16:creationId xmlns:a16="http://schemas.microsoft.com/office/drawing/2014/main" id="{7C7E63FB-842B-2B4E-B4C0-415952FF2AF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779174" y="1744797"/>
            <a:ext cx="1428833" cy="661688"/>
          </a:xfrm>
          <a:prstGeom prst="rect">
            <a:avLst/>
          </a:prstGeom>
        </p:spPr>
      </p:pic>
      <p:sp>
        <p:nvSpPr>
          <p:cNvPr id="2" name="Slide Number Placeholder 1">
            <a:extLst>
              <a:ext uri="{FF2B5EF4-FFF2-40B4-BE49-F238E27FC236}">
                <a16:creationId xmlns:a16="http://schemas.microsoft.com/office/drawing/2014/main" id="{215FA003-B40D-0444-9472-7CCF9262E6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1121EB-6836-6045-B9C2-40FF927C016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1" name="Picture 10" descr="Text&#10;&#10;Description automatically generated with medium confidence">
            <a:extLst>
              <a:ext uri="{FF2B5EF4-FFF2-40B4-BE49-F238E27FC236}">
                <a16:creationId xmlns:a16="http://schemas.microsoft.com/office/drawing/2014/main" id="{F99CCAE6-AE96-3E47-B13E-EE85CE233DBF}"/>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4652018" y="2565522"/>
            <a:ext cx="3045582" cy="751853"/>
          </a:xfrm>
          <a:prstGeom prst="rect">
            <a:avLst/>
          </a:prstGeom>
        </p:spPr>
      </p:pic>
      <p:pic>
        <p:nvPicPr>
          <p:cNvPr id="14" name="Picture 13" descr="Logo&#10;&#10;Description automatically generated">
            <a:extLst>
              <a:ext uri="{FF2B5EF4-FFF2-40B4-BE49-F238E27FC236}">
                <a16:creationId xmlns:a16="http://schemas.microsoft.com/office/drawing/2014/main" id="{4B4E331F-6B0E-C54C-8985-40785DD69C46}"/>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5479261" y="3522932"/>
            <a:ext cx="3310760" cy="530450"/>
          </a:xfrm>
          <a:prstGeom prst="rect">
            <a:avLst/>
          </a:prstGeom>
        </p:spPr>
      </p:pic>
      <p:pic>
        <p:nvPicPr>
          <p:cNvPr id="16" name="Picture 15" descr="Icon&#10;&#10;Description automatically generated">
            <a:extLst>
              <a:ext uri="{FF2B5EF4-FFF2-40B4-BE49-F238E27FC236}">
                <a16:creationId xmlns:a16="http://schemas.microsoft.com/office/drawing/2014/main" id="{E95FE33A-2F5C-DD42-A403-AF9D0F60233F}"/>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b="-1"/>
          <a:stretch/>
        </p:blipFill>
        <p:spPr>
          <a:xfrm>
            <a:off x="1859519" y="880619"/>
            <a:ext cx="754918" cy="661687"/>
          </a:xfrm>
          <a:prstGeom prst="rect">
            <a:avLst/>
          </a:prstGeom>
        </p:spPr>
      </p:pic>
      <p:pic>
        <p:nvPicPr>
          <p:cNvPr id="13" name="Picture 12">
            <a:extLst>
              <a:ext uri="{FF2B5EF4-FFF2-40B4-BE49-F238E27FC236}">
                <a16:creationId xmlns:a16="http://schemas.microsoft.com/office/drawing/2014/main" id="{FED2C24F-1E99-D345-8570-7DDBBFA7AB2C}"/>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779174" y="930862"/>
            <a:ext cx="2208660" cy="661686"/>
          </a:xfrm>
          <a:prstGeom prst="rect">
            <a:avLst/>
          </a:prstGeom>
        </p:spPr>
      </p:pic>
      <p:pic>
        <p:nvPicPr>
          <p:cNvPr id="9" name="Picture 8">
            <a:extLst>
              <a:ext uri="{FF2B5EF4-FFF2-40B4-BE49-F238E27FC236}">
                <a16:creationId xmlns:a16="http://schemas.microsoft.com/office/drawing/2014/main" id="{2CF3EF9C-975A-4BCF-1213-A7B33EC37ED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8978569" y="4062106"/>
            <a:ext cx="2483842" cy="759346"/>
          </a:xfrm>
          <a:prstGeom prst="rect">
            <a:avLst/>
          </a:prstGeom>
        </p:spPr>
      </p:pic>
      <p:pic>
        <p:nvPicPr>
          <p:cNvPr id="17" name="Picture 16">
            <a:extLst>
              <a:ext uri="{FF2B5EF4-FFF2-40B4-BE49-F238E27FC236}">
                <a16:creationId xmlns:a16="http://schemas.microsoft.com/office/drawing/2014/main" id="{6786D048-AA58-BA39-3ECC-D8007609E129}"/>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8978569" y="5276248"/>
            <a:ext cx="2483842" cy="786355"/>
          </a:xfrm>
          <a:prstGeom prst="rect">
            <a:avLst/>
          </a:prstGeom>
        </p:spPr>
      </p:pic>
      <p:pic>
        <p:nvPicPr>
          <p:cNvPr id="19" name="Picture 18">
            <a:extLst>
              <a:ext uri="{FF2B5EF4-FFF2-40B4-BE49-F238E27FC236}">
                <a16:creationId xmlns:a16="http://schemas.microsoft.com/office/drawing/2014/main" id="{B676E18A-8237-75C5-7CB8-71E6EDAABBEF}"/>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386900" y="2695642"/>
            <a:ext cx="2075511" cy="1004985"/>
          </a:xfrm>
          <a:prstGeom prst="rect">
            <a:avLst/>
          </a:prstGeom>
        </p:spPr>
      </p:pic>
      <p:sp>
        <p:nvSpPr>
          <p:cNvPr id="12" name="Shape 406">
            <a:extLst>
              <a:ext uri="{FF2B5EF4-FFF2-40B4-BE49-F238E27FC236}">
                <a16:creationId xmlns:a16="http://schemas.microsoft.com/office/drawing/2014/main" id="{FAB976C9-F0CA-0A44-ADEF-BF1AA90136E7}"/>
              </a:ext>
            </a:extLst>
          </p:cNvPr>
          <p:cNvSpPr txBox="1">
            <a:spLocks/>
          </p:cNvSpPr>
          <p:nvPr/>
        </p:nvSpPr>
        <p:spPr>
          <a:xfrm>
            <a:off x="5181310" y="674420"/>
            <a:ext cx="6569411" cy="1566426"/>
          </a:xfrm>
          <a:prstGeom prst="rect">
            <a:avLst/>
          </a:prstGeom>
          <a:solidFill>
            <a:schemeClr val="bg2"/>
          </a:solidFill>
          <a:ln>
            <a:solidFill>
              <a:schemeClr val="tx1"/>
            </a:solidFill>
          </a:ln>
          <a:effectLst>
            <a:outerShdw blurRad="50800" dist="127000" dir="8100000" algn="tr" rotWithShape="0">
              <a:prstClr val="black">
                <a:alpha val="40000"/>
              </a:prstClr>
            </a:outerShdw>
            <a:softEdge rad="31750"/>
          </a:effectLst>
        </p:spPr>
        <p:txBody>
          <a:bodyPr vert="horz" lIns="121900" tIns="121900" rIns="121900" bIns="1219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 b="1" i="0" u="none" strike="noStrike" kern="1200" cap="none" spc="0" normalizeH="0" baseline="0" noProof="0" dirty="0">
                <a:ln>
                  <a:noFill/>
                </a:ln>
                <a:solidFill>
                  <a:prstClr val="black"/>
                </a:solidFill>
                <a:effectLst/>
                <a:uLnTx/>
                <a:uFillTx/>
                <a:latin typeface="Calibri Light" panose="020F0302020204030204"/>
                <a:ea typeface="+mj-ea"/>
                <a:cs typeface="+mj-cs"/>
              </a:rPr>
              <a:t>Thank you!</a:t>
            </a:r>
          </a:p>
          <a:p>
            <a:pPr marL="0" marR="0" lvl="0" indent="0" algn="r" defTabSz="914400" rtl="0" eaLnBrk="1" fontAlgn="auto" latinLnBrk="0" hangingPunct="1">
              <a:lnSpc>
                <a:spcPct val="90000"/>
              </a:lnSpc>
              <a:spcBef>
                <a:spcPct val="0"/>
              </a:spcBef>
              <a:spcAft>
                <a:spcPts val="0"/>
              </a:spcAft>
              <a:buClrTx/>
              <a:buSzTx/>
              <a:buFontTx/>
              <a:buNone/>
              <a:tabLst/>
              <a:defRPr/>
            </a:pPr>
            <a:r>
              <a:rPr kumimoji="0" lang="en" sz="2000" b="1" i="0" u="none" strike="noStrike" kern="1200" cap="none" spc="0" normalizeH="0" baseline="0" noProof="0" dirty="0">
                <a:ln>
                  <a:noFill/>
                </a:ln>
                <a:solidFill>
                  <a:prstClr val="black"/>
                </a:solidFill>
                <a:effectLst/>
                <a:uLnTx/>
                <a:uFillTx/>
                <a:latin typeface="Calibri Light" panose="020F0302020204030204"/>
                <a:ea typeface="+mj-ea"/>
                <a:cs typeface="+mj-cs"/>
                <a:hlinkClick r:id="rId16"/>
              </a:rPr>
              <a:t>marthathomae@fcsh.unl.pt</a:t>
            </a:r>
            <a:endParaRPr kumimoji="0" lang="en" sz="2000" b="1" i="0" u="none" strike="noStrike" kern="1200" cap="none" spc="0" normalizeH="0" baseline="0" noProof="0" dirty="0">
              <a:ln>
                <a:noFill/>
              </a:ln>
              <a:solidFill>
                <a:prstClr val="black"/>
              </a:solidFill>
              <a:effectLst/>
              <a:uLnTx/>
              <a:uFillTx/>
              <a:latin typeface="Calibri Light" panose="020F0302020204030204"/>
              <a:ea typeface="+mj-ea"/>
              <a:cs typeface="+mj-cs"/>
            </a:endParaRPr>
          </a:p>
          <a:p>
            <a:pPr marL="0" marR="0" lvl="0" indent="0" algn="r" defTabSz="914400" rtl="0" eaLnBrk="1" fontAlgn="auto" latinLnBrk="0" hangingPunct="1">
              <a:lnSpc>
                <a:spcPct val="90000"/>
              </a:lnSpc>
              <a:spcBef>
                <a:spcPct val="0"/>
              </a:spcBef>
              <a:spcAft>
                <a:spcPts val="0"/>
              </a:spcAft>
              <a:buClrTx/>
              <a:buSzTx/>
              <a:buFontTx/>
              <a:buNone/>
              <a:tabLst/>
              <a:defRPr/>
            </a:pPr>
            <a:endParaRPr kumimoji="0" lang="en" sz="600" b="1" i="0" u="none" strike="noStrike" kern="1200" cap="none" spc="0" normalizeH="0" baseline="0" noProof="0" dirty="0">
              <a:ln>
                <a:noFill/>
              </a:ln>
              <a:solidFill>
                <a:prstClr val="black"/>
              </a:solidFill>
              <a:effectLst/>
              <a:uLnTx/>
              <a:uFillTx/>
              <a:latin typeface="Calibri Light" panose="020F0302020204030204"/>
              <a:ea typeface="+mj-ea"/>
              <a:cs typeface="+mj-cs"/>
            </a:endParaRPr>
          </a:p>
          <a:p>
            <a:pPr marL="0" marR="0" lvl="0" indent="0" algn="r" defTabSz="914400" rtl="0" eaLnBrk="1" fontAlgn="auto" latinLnBrk="0" hangingPunct="1">
              <a:lnSpc>
                <a:spcPct val="90000"/>
              </a:lnSpc>
              <a:spcBef>
                <a:spcPct val="0"/>
              </a:spcBef>
              <a:spcAft>
                <a:spcPts val="0"/>
              </a:spcAft>
              <a:buClrTx/>
              <a:buSzTx/>
              <a:buFontTx/>
              <a:buNone/>
              <a:tabLst/>
              <a:defRPr/>
            </a:pPr>
            <a:r>
              <a:rPr lang="en-CA" sz="2000" b="1" dirty="0">
                <a:solidFill>
                  <a:prstClr val="black"/>
                </a:solidFill>
                <a:ea typeface="+mj-ea"/>
                <a:cs typeface="+mj-cs"/>
                <a:hlinkClick r:id="rId17"/>
              </a:rPr>
              <a:t>https://martha-thomae.github.io/projects/digit_guatemala</a:t>
            </a:r>
            <a:endParaRPr kumimoji="0" lang="en-CA" sz="2000" b="1"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2295455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7EAF-C410-9E4E-889A-4F664E9679BC}"/>
              </a:ext>
            </a:extLst>
          </p:cNvPr>
          <p:cNvSpPr>
            <a:spLocks noGrp="1"/>
          </p:cNvSpPr>
          <p:nvPr>
            <p:ph type="ctrTitle"/>
          </p:nvPr>
        </p:nvSpPr>
        <p:spPr/>
        <p:txBody>
          <a:bodyPr/>
          <a:lstStyle/>
          <a:p>
            <a:r>
              <a:rPr lang="en-US" dirty="0"/>
              <a:t>Extra Slides</a:t>
            </a:r>
          </a:p>
        </p:txBody>
      </p:sp>
      <p:sp>
        <p:nvSpPr>
          <p:cNvPr id="4" name="Slide Number Placeholder 3">
            <a:extLst>
              <a:ext uri="{FF2B5EF4-FFF2-40B4-BE49-F238E27FC236}">
                <a16:creationId xmlns:a16="http://schemas.microsoft.com/office/drawing/2014/main" id="{D1482393-9704-2507-F3FC-4B64D6455DB8}"/>
              </a:ext>
            </a:extLst>
          </p:cNvPr>
          <p:cNvSpPr>
            <a:spLocks noGrp="1"/>
          </p:cNvSpPr>
          <p:nvPr>
            <p:ph type="sldNum" sz="quarter" idx="12"/>
          </p:nvPr>
        </p:nvSpPr>
        <p:spPr/>
        <p:txBody>
          <a:bodyPr/>
          <a:lstStyle/>
          <a:p>
            <a:fld id="{068FBB84-544C-A04C-A3A4-7697852BFAF3}"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42283671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dirty="0">
                <a:solidFill>
                  <a:schemeClr val="bg1"/>
                </a:solidFill>
              </a:rPr>
              <a:t>Digitization of GuatC 1</a:t>
            </a:r>
            <a:endParaRPr lang="en-US" sz="6600" kern="1200" dirty="0">
              <a:solidFill>
                <a:schemeClr val="bg1"/>
              </a:solidFill>
              <a:latin typeface="+mj-lt"/>
              <a:ea typeface="+mj-ea"/>
              <a:cs typeface="+mj-cs"/>
            </a:endParaRPr>
          </a:p>
        </p:txBody>
      </p:sp>
      <p:sp>
        <p:nvSpPr>
          <p:cNvPr id="3" name="Text Placeholder 2">
            <a:extLst>
              <a:ext uri="{FF2B5EF4-FFF2-40B4-BE49-F238E27FC236}">
                <a16:creationId xmlns:a16="http://schemas.microsoft.com/office/drawing/2014/main" id="{5FC69E31-C877-DC84-D8A9-85DF7F516178}"/>
              </a:ext>
            </a:extLst>
          </p:cNvPr>
          <p:cNvSpPr>
            <a:spLocks noGrp="1"/>
          </p:cNvSpPr>
          <p:nvPr>
            <p:ph type="body" idx="1"/>
          </p:nvPr>
        </p:nvSpPr>
        <p:spPr>
          <a:xfrm>
            <a:off x="795338" y="4092320"/>
            <a:ext cx="10601325" cy="1144884"/>
          </a:xfrm>
        </p:spPr>
        <p:txBody>
          <a:bodyPr vert="horz" lIns="91440" tIns="45720" rIns="91440" bIns="45720" rtlCol="0">
            <a:normAutofit fontScale="77500" lnSpcReduction="20000"/>
          </a:bodyPr>
          <a:lstStyle/>
          <a:p>
            <a:pPr algn="ctr"/>
            <a:r>
              <a:rPr lang="en-US" sz="5400" b="1" kern="1200" dirty="0">
                <a:ln w="22225">
                  <a:solidFill>
                    <a:schemeClr val="accent2"/>
                  </a:solidFill>
                  <a:prstDash val="solid"/>
                </a:ln>
                <a:solidFill>
                  <a:schemeClr val="accent2">
                    <a:lumMod val="40000"/>
                    <a:lumOff val="60000"/>
                  </a:schemeClr>
                </a:solidFill>
                <a:latin typeface="+mn-lt"/>
                <a:ea typeface="+mn-ea"/>
                <a:cs typeface="+mn-cs"/>
              </a:rPr>
              <a:t>THE EQUIPMENT:</a:t>
            </a:r>
          </a:p>
          <a:p>
            <a:pPr algn="ctr"/>
            <a:r>
              <a:rPr lang="en-US" sz="5400" b="1" i="1" dirty="0">
                <a:ln w="22225">
                  <a:solidFill>
                    <a:schemeClr val="accent2"/>
                  </a:solidFill>
                  <a:prstDash val="solid"/>
                </a:ln>
                <a:solidFill>
                  <a:schemeClr val="accent2">
                    <a:lumMod val="40000"/>
                    <a:lumOff val="60000"/>
                  </a:schemeClr>
                </a:solidFill>
              </a:rPr>
              <a:t>C</a:t>
            </a:r>
            <a:r>
              <a:rPr lang="en-US" sz="5400" b="1" i="1" kern="1200" dirty="0">
                <a:ln w="22225">
                  <a:solidFill>
                    <a:schemeClr val="accent2"/>
                  </a:solidFill>
                  <a:prstDash val="solid"/>
                </a:ln>
                <a:solidFill>
                  <a:schemeClr val="accent2">
                    <a:lumMod val="40000"/>
                    <a:lumOff val="60000"/>
                  </a:schemeClr>
                </a:solidFill>
                <a:latin typeface="+mn-lt"/>
                <a:ea typeface="+mn-ea"/>
                <a:cs typeface="+mn-cs"/>
              </a:rPr>
              <a:t>radle</a:t>
            </a: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8333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47C1119-A236-F086-E3C4-0C50B1A82B00}"/>
              </a:ext>
            </a:extLst>
          </p:cNvPr>
          <p:cNvPicPr>
            <a:picLocks noChangeAspect="1"/>
          </p:cNvPicPr>
          <p:nvPr/>
        </p:nvPicPr>
        <p:blipFill>
          <a:blip r:embed="rId3"/>
          <a:stretch>
            <a:fillRect/>
          </a:stretch>
        </p:blipFill>
        <p:spPr>
          <a:xfrm>
            <a:off x="643467" y="1288881"/>
            <a:ext cx="10905066" cy="4280238"/>
          </a:xfrm>
          <a:prstGeom prst="rect">
            <a:avLst/>
          </a:prstGeom>
        </p:spPr>
      </p:pic>
      <p:sp>
        <p:nvSpPr>
          <p:cNvPr id="2" name="Slide Number Placeholder 1">
            <a:extLst>
              <a:ext uri="{FF2B5EF4-FFF2-40B4-BE49-F238E27FC236}">
                <a16:creationId xmlns:a16="http://schemas.microsoft.com/office/drawing/2014/main" id="{7E8013BC-E4CD-9E9B-2BC1-A8A60B29DEEC}"/>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32</a:t>
            </a:fld>
            <a:endParaRPr lang="en-US">
              <a:solidFill>
                <a:srgbClr val="FFFFFF"/>
              </a:solidFill>
            </a:endParaRPr>
          </a:p>
        </p:txBody>
      </p:sp>
      <p:sp>
        <p:nvSpPr>
          <p:cNvPr id="3" name="TextBox 2">
            <a:extLst>
              <a:ext uri="{FF2B5EF4-FFF2-40B4-BE49-F238E27FC236}">
                <a16:creationId xmlns:a16="http://schemas.microsoft.com/office/drawing/2014/main" id="{0CE367C6-60AF-D816-0583-5C55106D18B9}"/>
              </a:ext>
            </a:extLst>
          </p:cNvPr>
          <p:cNvSpPr txBox="1"/>
          <p:nvPr/>
        </p:nvSpPr>
        <p:spPr>
          <a:xfrm>
            <a:off x="477012" y="572026"/>
            <a:ext cx="11237976"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Bottom of the Cradle</a:t>
            </a:r>
          </a:p>
        </p:txBody>
      </p:sp>
    </p:spTree>
    <p:extLst>
      <p:ext uri="{BB962C8B-B14F-4D97-AF65-F5344CB8AC3E}">
        <p14:creationId xmlns:p14="http://schemas.microsoft.com/office/powerpoint/2010/main" val="2626950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E00A4CB-863D-39E3-B342-18965D644BC9}"/>
              </a:ext>
            </a:extLst>
          </p:cNvPr>
          <p:cNvPicPr>
            <a:picLocks noChangeAspect="1"/>
          </p:cNvPicPr>
          <p:nvPr/>
        </p:nvPicPr>
        <p:blipFill>
          <a:blip r:embed="rId3"/>
          <a:stretch>
            <a:fillRect/>
          </a:stretch>
        </p:blipFill>
        <p:spPr>
          <a:xfrm>
            <a:off x="643467" y="1316143"/>
            <a:ext cx="10905066" cy="4225713"/>
          </a:xfrm>
          <a:prstGeom prst="rect">
            <a:avLst/>
          </a:prstGeom>
        </p:spPr>
      </p:pic>
      <p:sp>
        <p:nvSpPr>
          <p:cNvPr id="2" name="Slide Number Placeholder 1">
            <a:extLst>
              <a:ext uri="{FF2B5EF4-FFF2-40B4-BE49-F238E27FC236}">
                <a16:creationId xmlns:a16="http://schemas.microsoft.com/office/drawing/2014/main" id="{00FC2653-27BD-483C-D9CC-7C4A4FDB7729}"/>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33</a:t>
            </a:fld>
            <a:endParaRPr lang="en-US">
              <a:solidFill>
                <a:srgbClr val="FFFFFF"/>
              </a:solidFill>
            </a:endParaRPr>
          </a:p>
        </p:txBody>
      </p:sp>
      <p:sp>
        <p:nvSpPr>
          <p:cNvPr id="3" name="TextBox 2">
            <a:extLst>
              <a:ext uri="{FF2B5EF4-FFF2-40B4-BE49-F238E27FC236}">
                <a16:creationId xmlns:a16="http://schemas.microsoft.com/office/drawing/2014/main" id="{587FE440-FBDA-AD7C-091E-2E9AFC6683DD}"/>
              </a:ext>
            </a:extLst>
          </p:cNvPr>
          <p:cNvSpPr txBox="1"/>
          <p:nvPr/>
        </p:nvSpPr>
        <p:spPr>
          <a:xfrm>
            <a:off x="477012" y="572026"/>
            <a:ext cx="11237976"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Bottom of the Cradle</a:t>
            </a:r>
          </a:p>
        </p:txBody>
      </p:sp>
    </p:spTree>
    <p:extLst>
      <p:ext uri="{BB962C8B-B14F-4D97-AF65-F5344CB8AC3E}">
        <p14:creationId xmlns:p14="http://schemas.microsoft.com/office/powerpoint/2010/main" val="308569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40645B9-D5D1-5D7D-A4D3-5DC2C774076E}"/>
              </a:ext>
            </a:extLst>
          </p:cNvPr>
          <p:cNvPicPr>
            <a:picLocks noChangeAspect="1"/>
          </p:cNvPicPr>
          <p:nvPr/>
        </p:nvPicPr>
        <p:blipFill>
          <a:blip r:embed="rId3"/>
          <a:stretch>
            <a:fillRect/>
          </a:stretch>
        </p:blipFill>
        <p:spPr>
          <a:xfrm>
            <a:off x="643467" y="1588770"/>
            <a:ext cx="10905066" cy="3680460"/>
          </a:xfrm>
          <a:prstGeom prst="rect">
            <a:avLst/>
          </a:prstGeom>
        </p:spPr>
      </p:pic>
      <p:sp>
        <p:nvSpPr>
          <p:cNvPr id="2" name="Slide Number Placeholder 1">
            <a:extLst>
              <a:ext uri="{FF2B5EF4-FFF2-40B4-BE49-F238E27FC236}">
                <a16:creationId xmlns:a16="http://schemas.microsoft.com/office/drawing/2014/main" id="{B4AD9B8B-E1EB-E7AA-0D46-2701C14A06BB}"/>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34</a:t>
            </a:fld>
            <a:endParaRPr lang="en-US">
              <a:solidFill>
                <a:srgbClr val="FFFFFF"/>
              </a:solidFill>
            </a:endParaRPr>
          </a:p>
        </p:txBody>
      </p:sp>
      <p:sp>
        <p:nvSpPr>
          <p:cNvPr id="3" name="TextBox 2">
            <a:extLst>
              <a:ext uri="{FF2B5EF4-FFF2-40B4-BE49-F238E27FC236}">
                <a16:creationId xmlns:a16="http://schemas.microsoft.com/office/drawing/2014/main" id="{55873BED-F2A0-A3B7-57B6-8E0C964ABE2A}"/>
              </a:ext>
            </a:extLst>
          </p:cNvPr>
          <p:cNvSpPr txBox="1"/>
          <p:nvPr/>
        </p:nvSpPr>
        <p:spPr>
          <a:xfrm>
            <a:off x="477012" y="572026"/>
            <a:ext cx="11237976"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Top of the Cradle</a:t>
            </a:r>
          </a:p>
        </p:txBody>
      </p:sp>
    </p:spTree>
    <p:extLst>
      <p:ext uri="{BB962C8B-B14F-4D97-AF65-F5344CB8AC3E}">
        <p14:creationId xmlns:p14="http://schemas.microsoft.com/office/powerpoint/2010/main" val="1165045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0A0DFBE-36F9-E8A0-7383-913E6DDB1B8E}"/>
              </a:ext>
            </a:extLst>
          </p:cNvPr>
          <p:cNvPicPr>
            <a:picLocks noChangeAspect="1"/>
          </p:cNvPicPr>
          <p:nvPr/>
        </p:nvPicPr>
        <p:blipFill>
          <a:blip r:embed="rId3"/>
          <a:stretch>
            <a:fillRect/>
          </a:stretch>
        </p:blipFill>
        <p:spPr>
          <a:xfrm>
            <a:off x="6421035" y="1232108"/>
            <a:ext cx="5129784" cy="4783523"/>
          </a:xfrm>
          <a:prstGeom prst="rect">
            <a:avLst/>
          </a:prstGeom>
        </p:spPr>
      </p:pic>
      <p:sp>
        <p:nvSpPr>
          <p:cNvPr id="15" name="Rectangle 14">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48DEFF5-2EC2-33FF-4134-408158491DB6}"/>
              </a:ext>
            </a:extLst>
          </p:cNvPr>
          <p:cNvPicPr>
            <a:picLocks noChangeAspect="1"/>
          </p:cNvPicPr>
          <p:nvPr/>
        </p:nvPicPr>
        <p:blipFill>
          <a:blip r:embed="rId4"/>
          <a:stretch>
            <a:fillRect/>
          </a:stretch>
        </p:blipFill>
        <p:spPr>
          <a:xfrm>
            <a:off x="641180" y="1270582"/>
            <a:ext cx="5129784" cy="4706576"/>
          </a:xfrm>
          <a:prstGeom prst="rect">
            <a:avLst/>
          </a:prstGeom>
        </p:spPr>
      </p:pic>
      <p:sp>
        <p:nvSpPr>
          <p:cNvPr id="2" name="Slide Number Placeholder 1">
            <a:extLst>
              <a:ext uri="{FF2B5EF4-FFF2-40B4-BE49-F238E27FC236}">
                <a16:creationId xmlns:a16="http://schemas.microsoft.com/office/drawing/2014/main" id="{6154E810-08E8-E7AD-517C-3965289EF4F6}"/>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35</a:t>
            </a:fld>
            <a:endParaRPr lang="en-US">
              <a:solidFill>
                <a:srgbClr val="FFFFFF"/>
              </a:solidFill>
            </a:endParaRPr>
          </a:p>
        </p:txBody>
      </p:sp>
      <p:sp>
        <p:nvSpPr>
          <p:cNvPr id="3" name="TextBox 2">
            <a:extLst>
              <a:ext uri="{FF2B5EF4-FFF2-40B4-BE49-F238E27FC236}">
                <a16:creationId xmlns:a16="http://schemas.microsoft.com/office/drawing/2014/main" id="{386E3FAB-C70A-4B51-BE53-82B12D2469E9}"/>
              </a:ext>
            </a:extLst>
          </p:cNvPr>
          <p:cNvSpPr txBox="1"/>
          <p:nvPr/>
        </p:nvSpPr>
        <p:spPr>
          <a:xfrm>
            <a:off x="477012" y="572026"/>
            <a:ext cx="5458121"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Left Door</a:t>
            </a:r>
          </a:p>
        </p:txBody>
      </p:sp>
      <p:sp>
        <p:nvSpPr>
          <p:cNvPr id="5" name="TextBox 4">
            <a:extLst>
              <a:ext uri="{FF2B5EF4-FFF2-40B4-BE49-F238E27FC236}">
                <a16:creationId xmlns:a16="http://schemas.microsoft.com/office/drawing/2014/main" id="{7E4385CF-8F7B-3EE1-3CDA-2EB0E19EFF3D}"/>
              </a:ext>
            </a:extLst>
          </p:cNvPr>
          <p:cNvSpPr txBox="1"/>
          <p:nvPr/>
        </p:nvSpPr>
        <p:spPr>
          <a:xfrm>
            <a:off x="6256867" y="569734"/>
            <a:ext cx="5458121"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Right Door</a:t>
            </a:r>
          </a:p>
        </p:txBody>
      </p:sp>
    </p:spTree>
    <p:extLst>
      <p:ext uri="{BB962C8B-B14F-4D97-AF65-F5344CB8AC3E}">
        <p14:creationId xmlns:p14="http://schemas.microsoft.com/office/powerpoint/2010/main" val="871023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77E5193-33C3-6262-2967-60A0BFF0E53A}"/>
              </a:ext>
            </a:extLst>
          </p:cNvPr>
          <p:cNvPicPr>
            <a:picLocks noChangeAspect="1"/>
          </p:cNvPicPr>
          <p:nvPr/>
        </p:nvPicPr>
        <p:blipFill>
          <a:blip r:embed="rId3"/>
          <a:stretch>
            <a:fillRect/>
          </a:stretch>
        </p:blipFill>
        <p:spPr>
          <a:xfrm>
            <a:off x="643467" y="1493350"/>
            <a:ext cx="10905066" cy="3871299"/>
          </a:xfrm>
          <a:prstGeom prst="rect">
            <a:avLst/>
          </a:prstGeom>
        </p:spPr>
      </p:pic>
      <p:sp>
        <p:nvSpPr>
          <p:cNvPr id="2" name="Slide Number Placeholder 1">
            <a:extLst>
              <a:ext uri="{FF2B5EF4-FFF2-40B4-BE49-F238E27FC236}">
                <a16:creationId xmlns:a16="http://schemas.microsoft.com/office/drawing/2014/main" id="{5436FD8B-330A-1D9A-59E8-46B0DEFA707F}"/>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36</a:t>
            </a:fld>
            <a:endParaRPr lang="en-US">
              <a:solidFill>
                <a:srgbClr val="FFFFFF"/>
              </a:solidFill>
            </a:endParaRPr>
          </a:p>
        </p:txBody>
      </p:sp>
      <p:sp>
        <p:nvSpPr>
          <p:cNvPr id="3" name="TextBox 2">
            <a:extLst>
              <a:ext uri="{FF2B5EF4-FFF2-40B4-BE49-F238E27FC236}">
                <a16:creationId xmlns:a16="http://schemas.microsoft.com/office/drawing/2014/main" id="{376DBB86-0014-AD53-5CC3-B693BA512EE8}"/>
              </a:ext>
            </a:extLst>
          </p:cNvPr>
          <p:cNvSpPr txBox="1"/>
          <p:nvPr/>
        </p:nvSpPr>
        <p:spPr>
          <a:xfrm>
            <a:off x="477012" y="572026"/>
            <a:ext cx="11237976"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Cradle with (Closed) Doors</a:t>
            </a:r>
          </a:p>
        </p:txBody>
      </p:sp>
    </p:spTree>
    <p:extLst>
      <p:ext uri="{BB962C8B-B14F-4D97-AF65-F5344CB8AC3E}">
        <p14:creationId xmlns:p14="http://schemas.microsoft.com/office/powerpoint/2010/main" val="1098262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5E6B1DA-9096-3F16-C41C-5596B50266BD}"/>
              </a:ext>
            </a:extLst>
          </p:cNvPr>
          <p:cNvPicPr>
            <a:picLocks noChangeAspect="1"/>
          </p:cNvPicPr>
          <p:nvPr/>
        </p:nvPicPr>
        <p:blipFill>
          <a:blip r:embed="rId3"/>
          <a:stretch>
            <a:fillRect/>
          </a:stretch>
        </p:blipFill>
        <p:spPr>
          <a:xfrm>
            <a:off x="739206" y="808357"/>
            <a:ext cx="10713587" cy="5571066"/>
          </a:xfrm>
          <a:prstGeom prst="rect">
            <a:avLst/>
          </a:prstGeom>
        </p:spPr>
      </p:pic>
      <p:sp>
        <p:nvSpPr>
          <p:cNvPr id="2" name="Slide Number Placeholder 1">
            <a:extLst>
              <a:ext uri="{FF2B5EF4-FFF2-40B4-BE49-F238E27FC236}">
                <a16:creationId xmlns:a16="http://schemas.microsoft.com/office/drawing/2014/main" id="{F4A40B5F-99F9-04E0-34D3-42BD1197E633}"/>
              </a:ext>
            </a:extLst>
          </p:cNvPr>
          <p:cNvSpPr>
            <a:spLocks noGrp="1"/>
          </p:cNvSpPr>
          <p:nvPr>
            <p:ph type="sldNum" sz="quarter" idx="12"/>
          </p:nvPr>
        </p:nvSpPr>
        <p:spPr>
          <a:xfrm>
            <a:off x="8610600" y="6356350"/>
            <a:ext cx="2743200" cy="365125"/>
          </a:xfrm>
        </p:spPr>
        <p:txBody>
          <a:bodyPr>
            <a:normAutofit/>
          </a:bodyPr>
          <a:lstStyle/>
          <a:p>
            <a:pPr>
              <a:spcAft>
                <a:spcPts val="600"/>
              </a:spcAft>
            </a:pPr>
            <a:fld id="{068FBB84-544C-A04C-A3A4-7697852BFAF3}" type="slidenum">
              <a:rPr lang="en-US">
                <a:solidFill>
                  <a:srgbClr val="FFFFFF"/>
                </a:solidFill>
              </a:rPr>
              <a:pPr>
                <a:spcAft>
                  <a:spcPts val="600"/>
                </a:spcAft>
              </a:pPr>
              <a:t>37</a:t>
            </a:fld>
            <a:endParaRPr lang="en-US">
              <a:solidFill>
                <a:srgbClr val="FFFFFF"/>
              </a:solidFill>
            </a:endParaRPr>
          </a:p>
        </p:txBody>
      </p:sp>
      <p:sp>
        <p:nvSpPr>
          <p:cNvPr id="6" name="TextBox 5">
            <a:extLst>
              <a:ext uri="{FF2B5EF4-FFF2-40B4-BE49-F238E27FC236}">
                <a16:creationId xmlns:a16="http://schemas.microsoft.com/office/drawing/2014/main" id="{C4F23F7D-A112-820A-AA15-C12AEC3D53B3}"/>
              </a:ext>
            </a:extLst>
          </p:cNvPr>
          <p:cNvSpPr txBox="1"/>
          <p:nvPr/>
        </p:nvSpPr>
        <p:spPr>
          <a:xfrm>
            <a:off x="477012" y="572026"/>
            <a:ext cx="11237976" cy="523220"/>
          </a:xfrm>
          <a:prstGeom prst="rect">
            <a:avLst/>
          </a:prstGeom>
          <a:noFill/>
          <a:ln w="19050">
            <a:noFill/>
          </a:ln>
        </p:spPr>
        <p:txBody>
          <a:bodyPr wrap="square" rtlCol="0" anchor="ctr">
            <a:spAutoFit/>
          </a:bodyPr>
          <a:lstStyle/>
          <a:p>
            <a:pPr algn="ctr"/>
            <a:r>
              <a:rPr lang="en-US" sz="2800" dirty="0">
                <a:ln w="0"/>
                <a:solidFill>
                  <a:schemeClr val="accent1"/>
                </a:solidFill>
                <a:effectLst>
                  <a:outerShdw blurRad="38100" dist="25400" dir="5400000" algn="ctr" rotWithShape="0">
                    <a:srgbClr val="6E747A">
                      <a:alpha val="43000"/>
                    </a:srgbClr>
                  </a:outerShdw>
                </a:effectLst>
              </a:rPr>
              <a:t>Cradle with (Opened) Doors</a:t>
            </a:r>
          </a:p>
        </p:txBody>
      </p:sp>
    </p:spTree>
    <p:extLst>
      <p:ext uri="{BB962C8B-B14F-4D97-AF65-F5344CB8AC3E}">
        <p14:creationId xmlns:p14="http://schemas.microsoft.com/office/powerpoint/2010/main" val="3535533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kern="1200" dirty="0">
                <a:solidFill>
                  <a:schemeClr val="bg1"/>
                </a:solidFill>
                <a:latin typeface="+mj-lt"/>
                <a:ea typeface="+mj-ea"/>
                <a:cs typeface="+mj-cs"/>
              </a:rPr>
              <a:t>Digitization of GuatC 1</a:t>
            </a:r>
          </a:p>
        </p:txBody>
      </p:sp>
      <p:sp>
        <p:nvSpPr>
          <p:cNvPr id="3" name="Text Placeholder 2">
            <a:extLst>
              <a:ext uri="{FF2B5EF4-FFF2-40B4-BE49-F238E27FC236}">
                <a16:creationId xmlns:a16="http://schemas.microsoft.com/office/drawing/2014/main" id="{5FC69E31-C877-DC84-D8A9-85DF7F516178}"/>
              </a:ext>
            </a:extLst>
          </p:cNvPr>
          <p:cNvSpPr>
            <a:spLocks noGrp="1"/>
          </p:cNvSpPr>
          <p:nvPr>
            <p:ph type="body" idx="1"/>
          </p:nvPr>
        </p:nvSpPr>
        <p:spPr>
          <a:xfrm>
            <a:off x="795338" y="4092320"/>
            <a:ext cx="10601325" cy="1144884"/>
          </a:xfrm>
        </p:spPr>
        <p:txBody>
          <a:bodyPr vert="horz" lIns="91440" tIns="45720" rIns="91440" bIns="45720" rtlCol="0">
            <a:normAutofit/>
          </a:bodyPr>
          <a:lstStyle/>
          <a:p>
            <a:pPr algn="ctr"/>
            <a:r>
              <a:rPr lang="en-US" sz="5400" b="1" kern="1200" dirty="0">
                <a:ln w="22225">
                  <a:solidFill>
                    <a:schemeClr val="accent4"/>
                  </a:solidFill>
                  <a:prstDash val="solid"/>
                </a:ln>
                <a:solidFill>
                  <a:schemeClr val="accent4">
                    <a:lumMod val="40000"/>
                    <a:lumOff val="60000"/>
                  </a:schemeClr>
                </a:solidFill>
                <a:latin typeface="+mn-lt"/>
                <a:ea typeface="+mn-ea"/>
                <a:cs typeface="+mn-cs"/>
              </a:rPr>
              <a:t>NEXT STEPS</a:t>
            </a: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4887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820A4FF2-2A5A-D034-B47D-68E81F16182C}"/>
              </a:ext>
            </a:extLst>
          </p:cNvPr>
          <p:cNvGrpSpPr/>
          <p:nvPr/>
        </p:nvGrpSpPr>
        <p:grpSpPr>
          <a:xfrm>
            <a:off x="200025" y="3501010"/>
            <a:ext cx="4814888" cy="2742627"/>
            <a:chOff x="-4071937" y="7010552"/>
            <a:chExt cx="4814888" cy="2742627"/>
          </a:xfrm>
        </p:grpSpPr>
        <p:sp>
          <p:nvSpPr>
            <p:cNvPr id="53" name="Rounded Rectangle 52">
              <a:extLst>
                <a:ext uri="{FF2B5EF4-FFF2-40B4-BE49-F238E27FC236}">
                  <a16:creationId xmlns:a16="http://schemas.microsoft.com/office/drawing/2014/main" id="{067CDA03-5196-50AC-623A-72C42C9EB70E}"/>
                </a:ext>
              </a:extLst>
            </p:cNvPr>
            <p:cNvSpPr/>
            <p:nvPr/>
          </p:nvSpPr>
          <p:spPr>
            <a:xfrm>
              <a:off x="-4071937" y="7010552"/>
              <a:ext cx="4814888" cy="2742627"/>
            </a:xfrm>
            <a:prstGeom prst="roundRect">
              <a:avLst/>
            </a:prstGeom>
            <a:solidFill>
              <a:srgbClr val="FFC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Right Arrow 55">
              <a:extLst>
                <a:ext uri="{FF2B5EF4-FFF2-40B4-BE49-F238E27FC236}">
                  <a16:creationId xmlns:a16="http://schemas.microsoft.com/office/drawing/2014/main" id="{4B9572D9-AEE0-E2B1-2ABA-0115A7E6A6E7}"/>
                </a:ext>
              </a:extLst>
            </p:cNvPr>
            <p:cNvSpPr/>
            <p:nvPr/>
          </p:nvSpPr>
          <p:spPr>
            <a:xfrm>
              <a:off x="-2381258" y="7966927"/>
              <a:ext cx="629597" cy="67107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Slide Number Placeholder 2">
            <a:extLst>
              <a:ext uri="{FF2B5EF4-FFF2-40B4-BE49-F238E27FC236}">
                <a16:creationId xmlns:a16="http://schemas.microsoft.com/office/drawing/2014/main" id="{137D2195-AEAC-7841-937C-F80D85593A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AA6AAEFF-AD75-F449-8FEB-F3D760B2DDDD}"/>
              </a:ext>
            </a:extLst>
          </p:cNvPr>
          <p:cNvGrpSpPr/>
          <p:nvPr/>
        </p:nvGrpSpPr>
        <p:grpSpPr>
          <a:xfrm>
            <a:off x="499950" y="3839115"/>
            <a:ext cx="1330505" cy="2191453"/>
            <a:chOff x="499950" y="3839115"/>
            <a:chExt cx="1330505" cy="2191453"/>
          </a:xfrm>
        </p:grpSpPr>
        <p:sp>
          <p:nvSpPr>
            <p:cNvPr id="117" name="TextBox 116">
              <a:extLst>
                <a:ext uri="{FF2B5EF4-FFF2-40B4-BE49-F238E27FC236}">
                  <a16:creationId xmlns:a16="http://schemas.microsoft.com/office/drawing/2014/main" id="{D3D9D195-63FD-C948-8BEE-8D0B4B9305ED}"/>
                </a:ext>
              </a:extLst>
            </p:cNvPr>
            <p:cNvSpPr txBox="1"/>
            <p:nvPr/>
          </p:nvSpPr>
          <p:spPr>
            <a:xfrm>
              <a:off x="499951" y="5661236"/>
              <a:ext cx="13305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Manuscript</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2" name="Picture 121">
              <a:extLst>
                <a:ext uri="{FF2B5EF4-FFF2-40B4-BE49-F238E27FC236}">
                  <a16:creationId xmlns:a16="http://schemas.microsoft.com/office/drawing/2014/main" id="{177BF918-4010-384C-9A2F-8CE86C10DE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9950" y="3839115"/>
              <a:ext cx="1330505" cy="1793289"/>
            </a:xfrm>
            <a:prstGeom prst="rect">
              <a:avLst/>
            </a:prstGeom>
          </p:spPr>
        </p:pic>
      </p:grpSp>
      <p:grpSp>
        <p:nvGrpSpPr>
          <p:cNvPr id="16" name="Group 15">
            <a:extLst>
              <a:ext uri="{FF2B5EF4-FFF2-40B4-BE49-F238E27FC236}">
                <a16:creationId xmlns:a16="http://schemas.microsoft.com/office/drawing/2014/main" id="{767A0CF1-D6AD-964B-BBB0-C9F676E58573}"/>
              </a:ext>
            </a:extLst>
          </p:cNvPr>
          <p:cNvGrpSpPr>
            <a:grpSpLocks noChangeAspect="1"/>
          </p:cNvGrpSpPr>
          <p:nvPr/>
        </p:nvGrpSpPr>
        <p:grpSpPr>
          <a:xfrm>
            <a:off x="2480767" y="3755217"/>
            <a:ext cx="2232000" cy="2230977"/>
            <a:chOff x="2622884" y="3311641"/>
            <a:chExt cx="2731728" cy="2730483"/>
          </a:xfrm>
        </p:grpSpPr>
        <p:pic>
          <p:nvPicPr>
            <p:cNvPr id="17" name="Picture 16">
              <a:extLst>
                <a:ext uri="{FF2B5EF4-FFF2-40B4-BE49-F238E27FC236}">
                  <a16:creationId xmlns:a16="http://schemas.microsoft.com/office/drawing/2014/main" id="{EE457145-B05A-0355-5C3B-48BEA9A1B55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191"/>
            <a:stretch/>
          </p:blipFill>
          <p:spPr>
            <a:xfrm rot="21262997">
              <a:off x="2678927" y="3342760"/>
              <a:ext cx="1336356" cy="2271637"/>
            </a:xfrm>
            <a:prstGeom prst="rect">
              <a:avLst/>
            </a:prstGeom>
            <a:ln w="12700">
              <a:solidFill>
                <a:schemeClr val="bg2"/>
              </a:solidFill>
            </a:ln>
          </p:spPr>
        </p:pic>
        <p:sp>
          <p:nvSpPr>
            <p:cNvPr id="18" name="TextBox 17">
              <a:extLst>
                <a:ext uri="{FF2B5EF4-FFF2-40B4-BE49-F238E27FC236}">
                  <a16:creationId xmlns:a16="http://schemas.microsoft.com/office/drawing/2014/main" id="{71B60CBF-FDDD-75E6-5D1D-FACC7723C430}"/>
                </a:ext>
              </a:extLst>
            </p:cNvPr>
            <p:cNvSpPr txBox="1"/>
            <p:nvPr/>
          </p:nvSpPr>
          <p:spPr>
            <a:xfrm>
              <a:off x="2622884" y="5664863"/>
              <a:ext cx="2731728" cy="37726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Digital images</a:t>
              </a:r>
            </a:p>
          </p:txBody>
        </p:sp>
        <p:pic>
          <p:nvPicPr>
            <p:cNvPr id="21" name="Picture 20">
              <a:extLst>
                <a:ext uri="{FF2B5EF4-FFF2-40B4-BE49-F238E27FC236}">
                  <a16:creationId xmlns:a16="http://schemas.microsoft.com/office/drawing/2014/main" id="{B4E8D881-E822-C15C-98B0-50BF50E134E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269"/>
            <a:stretch/>
          </p:blipFill>
          <p:spPr>
            <a:xfrm rot="307372">
              <a:off x="3974329" y="3311641"/>
              <a:ext cx="1281470" cy="2270583"/>
            </a:xfrm>
            <a:prstGeom prst="rect">
              <a:avLst/>
            </a:prstGeom>
            <a:ln w="12700">
              <a:solidFill>
                <a:schemeClr val="bg2"/>
              </a:solidFill>
            </a:ln>
          </p:spPr>
        </p:pic>
      </p:grpSp>
      <p:sp>
        <p:nvSpPr>
          <p:cNvPr id="10" name="Title 1">
            <a:extLst>
              <a:ext uri="{FF2B5EF4-FFF2-40B4-BE49-F238E27FC236}">
                <a16:creationId xmlns:a16="http://schemas.microsoft.com/office/drawing/2014/main" id="{4225D0F7-9E42-B78C-1C4C-CFE715A5C7BC}"/>
              </a:ext>
            </a:extLst>
          </p:cNvPr>
          <p:cNvSpPr txBox="1">
            <a:spLocks/>
          </p:cNvSpPr>
          <p:nvPr/>
        </p:nvSpPr>
        <p:spPr>
          <a:xfrm>
            <a:off x="499950" y="276431"/>
            <a:ext cx="10853850" cy="15310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5400" dirty="0"/>
              <a:t>Digitization</a:t>
            </a:r>
            <a:br>
              <a:rPr lang="en-US" dirty="0"/>
            </a:br>
            <a:r>
              <a:rPr lang="en-US" sz="2400" dirty="0">
                <a:solidFill>
                  <a:prstClr val="black">
                    <a:tint val="75000"/>
                  </a:prstClr>
                </a:solidFill>
                <a:latin typeface="Calibri" panose="020F0502020204030204"/>
                <a:ea typeface="+mn-ea"/>
                <a:cs typeface="+mn-cs"/>
              </a:rPr>
              <a:t>Do-it-yourself (DIY) book scanner</a:t>
            </a:r>
            <a:endParaRPr lang="en-US" dirty="0">
              <a:solidFill>
                <a:schemeClr val="bg2">
                  <a:lumMod val="75000"/>
                </a:schemeClr>
              </a:solidFill>
            </a:endParaRPr>
          </a:p>
        </p:txBody>
      </p:sp>
      <p:sp>
        <p:nvSpPr>
          <p:cNvPr id="11" name="Content Placeholder 2">
            <a:extLst>
              <a:ext uri="{FF2B5EF4-FFF2-40B4-BE49-F238E27FC236}">
                <a16:creationId xmlns:a16="http://schemas.microsoft.com/office/drawing/2014/main" id="{CF5F9A42-43D5-3749-63E0-5BA08DA69828}"/>
              </a:ext>
            </a:extLst>
          </p:cNvPr>
          <p:cNvSpPr>
            <a:spLocks noGrp="1"/>
          </p:cNvSpPr>
          <p:nvPr>
            <p:ph idx="1"/>
          </p:nvPr>
        </p:nvSpPr>
        <p:spPr>
          <a:xfrm>
            <a:off x="5926875" y="2461844"/>
            <a:ext cx="4669688" cy="2447432"/>
          </a:xfrm>
          <a:ln>
            <a:solidFill>
              <a:schemeClr val="accent1"/>
            </a:solidFill>
          </a:ln>
          <a:effectLst>
            <a:glow rad="228600">
              <a:schemeClr val="accent5">
                <a:satMod val="175000"/>
                <a:alpha val="40000"/>
              </a:schemeClr>
            </a:glow>
            <a:outerShdw blurRad="50800" dist="38100" dir="2700000" algn="tl" rotWithShape="0">
              <a:prstClr val="black">
                <a:alpha val="40000"/>
              </a:prstClr>
            </a:outerShdw>
            <a:softEdge rad="12700"/>
          </a:effectLst>
        </p:spPr>
        <p:style>
          <a:lnRef idx="2">
            <a:schemeClr val="accent6"/>
          </a:lnRef>
          <a:fillRef idx="1">
            <a:schemeClr val="lt1"/>
          </a:fillRef>
          <a:effectRef idx="0">
            <a:schemeClr val="accent6"/>
          </a:effectRef>
          <a:fontRef idx="minor">
            <a:schemeClr val="dk1"/>
          </a:fontRef>
        </p:style>
        <p:txBody>
          <a:bodyPr anchor="ctr">
            <a:normAutofit/>
          </a:bodyPr>
          <a:lstStyle/>
          <a:p>
            <a:pPr marL="0" indent="0" algn="ctr">
              <a:buNone/>
            </a:pPr>
            <a:r>
              <a:rPr lang="en-US" sz="3000" dirty="0"/>
              <a:t>Part of a larger workflow to preserve and increase access to this music corpus </a:t>
            </a:r>
            <a:r>
              <a:rPr lang="en-US" sz="3000" dirty="0">
                <a:sym typeface="Wingdings" pitchFamily="2" charset="2"/>
              </a:rPr>
              <a:t>through digital images and symbolic scores</a:t>
            </a:r>
            <a:endParaRPr lang="en-US" sz="3000" dirty="0"/>
          </a:p>
        </p:txBody>
      </p:sp>
      <p:grpSp>
        <p:nvGrpSpPr>
          <p:cNvPr id="33" name="Group 32">
            <a:extLst>
              <a:ext uri="{FF2B5EF4-FFF2-40B4-BE49-F238E27FC236}">
                <a16:creationId xmlns:a16="http://schemas.microsoft.com/office/drawing/2014/main" id="{CE73992E-A399-B894-365A-E7C3AD06028F}"/>
              </a:ext>
            </a:extLst>
          </p:cNvPr>
          <p:cNvGrpSpPr/>
          <p:nvPr/>
        </p:nvGrpSpPr>
        <p:grpSpPr>
          <a:xfrm>
            <a:off x="1008034" y="1765516"/>
            <a:ext cx="1826168" cy="1727755"/>
            <a:chOff x="1351145" y="2015861"/>
            <a:chExt cx="1826168" cy="1727755"/>
          </a:xfrm>
        </p:grpSpPr>
        <p:grpSp>
          <p:nvGrpSpPr>
            <p:cNvPr id="34" name="Group 33">
              <a:extLst>
                <a:ext uri="{FF2B5EF4-FFF2-40B4-BE49-F238E27FC236}">
                  <a16:creationId xmlns:a16="http://schemas.microsoft.com/office/drawing/2014/main" id="{70DF3AC1-A53B-F648-1475-03EA9F882B7C}"/>
                </a:ext>
              </a:extLst>
            </p:cNvPr>
            <p:cNvGrpSpPr/>
            <p:nvPr/>
          </p:nvGrpSpPr>
          <p:grpSpPr>
            <a:xfrm>
              <a:off x="1351145" y="2015861"/>
              <a:ext cx="1826168" cy="1727755"/>
              <a:chOff x="2524" y="0"/>
              <a:chExt cx="1826168" cy="1727755"/>
            </a:xfrm>
          </p:grpSpPr>
          <p:sp>
            <p:nvSpPr>
              <p:cNvPr id="36" name="Rounded Rectangle 35">
                <a:extLst>
                  <a:ext uri="{FF2B5EF4-FFF2-40B4-BE49-F238E27FC236}">
                    <a16:creationId xmlns:a16="http://schemas.microsoft.com/office/drawing/2014/main" id="{39C0FAD4-DF30-B3A2-81EE-3DF6DC80F781}"/>
                  </a:ext>
                </a:extLst>
              </p:cNvPr>
              <p:cNvSpPr/>
              <p:nvPr/>
            </p:nvSpPr>
            <p:spPr>
              <a:xfrm>
                <a:off x="2524" y="0"/>
                <a:ext cx="1826168" cy="1727755"/>
              </a:xfrm>
              <a:prstGeom prst="roundRect">
                <a:avLst>
                  <a:gd name="adj" fmla="val 10000"/>
                </a:avLst>
              </a:prstGeom>
              <a:solidFill>
                <a:schemeClr val="accent4"/>
              </a:solidFill>
            </p:spPr>
            <p:style>
              <a:lnRef idx="3">
                <a:schemeClr val="dk2">
                  <a:shade val="80000"/>
                  <a:hueOff val="0"/>
                  <a:satOff val="0"/>
                  <a:lumOff val="0"/>
                  <a:alphaOff val="0"/>
                </a:schemeClr>
              </a:lnRef>
              <a:fillRef idx="1">
                <a:scrgbClr r="0" g="0" b="0"/>
              </a:fillRef>
              <a:effectRef idx="1">
                <a:schemeClr val="lt1">
                  <a:hueOff val="0"/>
                  <a:satOff val="0"/>
                  <a:lumOff val="0"/>
                  <a:alphaOff val="0"/>
                </a:schemeClr>
              </a:effectRef>
              <a:fontRef idx="minor">
                <a:schemeClr val="dk2">
                  <a:hueOff val="0"/>
                  <a:satOff val="0"/>
                  <a:lumOff val="0"/>
                  <a:alphaOff val="0"/>
                </a:schemeClr>
              </a:fontRef>
            </p:style>
            <p:txBody>
              <a:bodyPr/>
              <a:lstStyle/>
              <a:p>
                <a:endParaRPr lang="en-CA"/>
              </a:p>
            </p:txBody>
          </p:sp>
          <p:sp>
            <p:nvSpPr>
              <p:cNvPr id="37" name="Rounded Rectangle 4">
                <a:extLst>
                  <a:ext uri="{FF2B5EF4-FFF2-40B4-BE49-F238E27FC236}">
                    <a16:creationId xmlns:a16="http://schemas.microsoft.com/office/drawing/2014/main" id="{9957D268-42F8-327C-35A3-A2BC52768D01}"/>
                  </a:ext>
                </a:extLst>
              </p:cNvPr>
              <p:cNvSpPr txBox="1"/>
              <p:nvPr/>
            </p:nvSpPr>
            <p:spPr>
              <a:xfrm>
                <a:off x="53128" y="50604"/>
                <a:ext cx="1724960" cy="1626547"/>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dirty="0"/>
                  <a:t>Digitization</a:t>
                </a:r>
                <a:endParaRPr lang="en-US" sz="2400" kern="1200" dirty="0"/>
              </a:p>
            </p:txBody>
          </p:sp>
        </p:grpSp>
        <p:pic>
          <p:nvPicPr>
            <p:cNvPr id="35" name="Picture 34">
              <a:extLst>
                <a:ext uri="{FF2B5EF4-FFF2-40B4-BE49-F238E27FC236}">
                  <a16:creationId xmlns:a16="http://schemas.microsoft.com/office/drawing/2014/main" id="{B0C1F3F4-B77B-073F-6635-A8A50661118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544652" y="2597221"/>
              <a:ext cx="1439153" cy="999312"/>
            </a:xfrm>
            <a:prstGeom prst="rect">
              <a:avLst/>
            </a:prstGeom>
          </p:spPr>
        </p:pic>
      </p:grpSp>
    </p:spTree>
    <p:extLst>
      <p:ext uri="{BB962C8B-B14F-4D97-AF65-F5344CB8AC3E}">
        <p14:creationId xmlns:p14="http://schemas.microsoft.com/office/powerpoint/2010/main" val="457823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7D2195-AEAC-7841-937C-F80D85593A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2" name="Group 41">
            <a:extLst>
              <a:ext uri="{FF2B5EF4-FFF2-40B4-BE49-F238E27FC236}">
                <a16:creationId xmlns:a16="http://schemas.microsoft.com/office/drawing/2014/main" id="{44BBA98A-3E00-FE47-BE8B-A9763167543A}"/>
              </a:ext>
            </a:extLst>
          </p:cNvPr>
          <p:cNvGrpSpPr/>
          <p:nvPr/>
        </p:nvGrpSpPr>
        <p:grpSpPr>
          <a:xfrm>
            <a:off x="733530" y="1762543"/>
            <a:ext cx="10620270" cy="1727755"/>
            <a:chOff x="1166328" y="1741241"/>
            <a:chExt cx="9832598" cy="1727755"/>
          </a:xfrm>
        </p:grpSpPr>
        <p:graphicFrame>
          <p:nvGraphicFramePr>
            <p:cNvPr id="43" name="Content Placeholder 3">
              <a:extLst>
                <a:ext uri="{FF2B5EF4-FFF2-40B4-BE49-F238E27FC236}">
                  <a16:creationId xmlns:a16="http://schemas.microsoft.com/office/drawing/2014/main" id="{42ECF86D-C98C-6745-9251-CC4D35B48A9B}"/>
                </a:ext>
              </a:extLst>
            </p:cNvPr>
            <p:cNvGraphicFramePr>
              <a:graphicFrameLocks/>
            </p:cNvGraphicFramePr>
            <p:nvPr>
              <p:extLst>
                <p:ext uri="{D42A27DB-BD31-4B8C-83A1-F6EECF244321}">
                  <p14:modId xmlns:p14="http://schemas.microsoft.com/office/powerpoint/2010/main" val="3979153220"/>
                </p:ext>
              </p:extLst>
            </p:nvPr>
          </p:nvGraphicFramePr>
          <p:xfrm>
            <a:off x="1166328" y="1741241"/>
            <a:ext cx="9832598" cy="17277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4" name="Picture 43">
              <a:extLst>
                <a:ext uri="{FF2B5EF4-FFF2-40B4-BE49-F238E27FC236}">
                  <a16:creationId xmlns:a16="http://schemas.microsoft.com/office/drawing/2014/main" id="{64214826-24C0-1A44-85C9-213A70AFD82B}"/>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600307" y="2316159"/>
              <a:ext cx="1332416" cy="999312"/>
            </a:xfrm>
            <a:prstGeom prst="rect">
              <a:avLst/>
            </a:prstGeom>
          </p:spPr>
        </p:pic>
        <p:pic>
          <p:nvPicPr>
            <p:cNvPr id="45" name="Picture 44">
              <a:extLst>
                <a:ext uri="{FF2B5EF4-FFF2-40B4-BE49-F238E27FC236}">
                  <a16:creationId xmlns:a16="http://schemas.microsoft.com/office/drawing/2014/main" id="{B11E632B-1008-C041-B0DE-776A6738202A}"/>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5014698" y="2520213"/>
              <a:ext cx="1332416" cy="800383"/>
            </a:xfrm>
            <a:prstGeom prst="rect">
              <a:avLst/>
            </a:prstGeom>
          </p:spPr>
        </p:pic>
        <p:pic>
          <p:nvPicPr>
            <p:cNvPr id="46" name="Picture 45">
              <a:extLst>
                <a:ext uri="{FF2B5EF4-FFF2-40B4-BE49-F238E27FC236}">
                  <a16:creationId xmlns:a16="http://schemas.microsoft.com/office/drawing/2014/main" id="{17876877-91DC-AB4B-8C1B-50A65464E26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532796" y="2780700"/>
              <a:ext cx="2106887" cy="532075"/>
            </a:xfrm>
            <a:prstGeom prst="rect">
              <a:avLst/>
            </a:prstGeom>
          </p:spPr>
        </p:pic>
      </p:grpSp>
      <p:sp>
        <p:nvSpPr>
          <p:cNvPr id="11" name="Title 1">
            <a:extLst>
              <a:ext uri="{FF2B5EF4-FFF2-40B4-BE49-F238E27FC236}">
                <a16:creationId xmlns:a16="http://schemas.microsoft.com/office/drawing/2014/main" id="{623DD9CF-055D-98E2-A909-3DBDAA0D0441}"/>
              </a:ext>
            </a:extLst>
          </p:cNvPr>
          <p:cNvSpPr txBox="1">
            <a:spLocks/>
          </p:cNvSpPr>
          <p:nvPr/>
        </p:nvSpPr>
        <p:spPr>
          <a:xfrm>
            <a:off x="499950" y="276431"/>
            <a:ext cx="10853850" cy="15310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5400" dirty="0"/>
              <a:t>Three-Step Workflow</a:t>
            </a:r>
            <a:endParaRPr lang="en-US" dirty="0">
              <a:solidFill>
                <a:schemeClr val="bg2">
                  <a:lumMod val="75000"/>
                </a:schemeClr>
              </a:solidFill>
            </a:endParaRPr>
          </a:p>
        </p:txBody>
      </p:sp>
      <p:grpSp>
        <p:nvGrpSpPr>
          <p:cNvPr id="12" name="Group 11">
            <a:extLst>
              <a:ext uri="{FF2B5EF4-FFF2-40B4-BE49-F238E27FC236}">
                <a16:creationId xmlns:a16="http://schemas.microsoft.com/office/drawing/2014/main" id="{FAE0142B-47F1-3612-6D9C-7D40EBE63600}"/>
              </a:ext>
            </a:extLst>
          </p:cNvPr>
          <p:cNvGrpSpPr/>
          <p:nvPr/>
        </p:nvGrpSpPr>
        <p:grpSpPr>
          <a:xfrm>
            <a:off x="200025" y="3501010"/>
            <a:ext cx="4814888" cy="2742627"/>
            <a:chOff x="-4071937" y="7010552"/>
            <a:chExt cx="4814888" cy="2742627"/>
          </a:xfrm>
        </p:grpSpPr>
        <p:sp>
          <p:nvSpPr>
            <p:cNvPr id="13" name="Rounded Rectangle 12">
              <a:extLst>
                <a:ext uri="{FF2B5EF4-FFF2-40B4-BE49-F238E27FC236}">
                  <a16:creationId xmlns:a16="http://schemas.microsoft.com/office/drawing/2014/main" id="{5FE8DCE2-417F-2EB2-600D-224927B8D6F1}"/>
                </a:ext>
              </a:extLst>
            </p:cNvPr>
            <p:cNvSpPr/>
            <p:nvPr/>
          </p:nvSpPr>
          <p:spPr>
            <a:xfrm>
              <a:off x="-4071937" y="7010552"/>
              <a:ext cx="4814888" cy="2742627"/>
            </a:xfrm>
            <a:prstGeom prst="roundRect">
              <a:avLst/>
            </a:prstGeom>
            <a:solidFill>
              <a:srgbClr val="FFC000">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id="{EADC3420-1DF6-D8D6-32A6-7C5067D4FC7C}"/>
                </a:ext>
              </a:extLst>
            </p:cNvPr>
            <p:cNvSpPr/>
            <p:nvPr/>
          </p:nvSpPr>
          <p:spPr>
            <a:xfrm>
              <a:off x="-2381258" y="7966927"/>
              <a:ext cx="629597" cy="67107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 name="Group 14">
            <a:extLst>
              <a:ext uri="{FF2B5EF4-FFF2-40B4-BE49-F238E27FC236}">
                <a16:creationId xmlns:a16="http://schemas.microsoft.com/office/drawing/2014/main" id="{7EDBC69D-09A1-460F-3C8D-E23E28C5F727}"/>
              </a:ext>
            </a:extLst>
          </p:cNvPr>
          <p:cNvGrpSpPr/>
          <p:nvPr/>
        </p:nvGrpSpPr>
        <p:grpSpPr>
          <a:xfrm>
            <a:off x="499950" y="3839115"/>
            <a:ext cx="1330505" cy="2191453"/>
            <a:chOff x="499950" y="3839115"/>
            <a:chExt cx="1330505" cy="2191453"/>
          </a:xfrm>
        </p:grpSpPr>
        <p:sp>
          <p:nvSpPr>
            <p:cNvPr id="24" name="TextBox 23">
              <a:extLst>
                <a:ext uri="{FF2B5EF4-FFF2-40B4-BE49-F238E27FC236}">
                  <a16:creationId xmlns:a16="http://schemas.microsoft.com/office/drawing/2014/main" id="{45AFA65E-79A3-CA36-1F9C-5FB579C8010E}"/>
                </a:ext>
              </a:extLst>
            </p:cNvPr>
            <p:cNvSpPr txBox="1"/>
            <p:nvPr/>
          </p:nvSpPr>
          <p:spPr>
            <a:xfrm>
              <a:off x="499951" y="5661236"/>
              <a:ext cx="13305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Manuscript</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687B6FD9-94EC-B0AD-5A07-7D401619769F}"/>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99950" y="3839115"/>
              <a:ext cx="1330505" cy="1793289"/>
            </a:xfrm>
            <a:prstGeom prst="rect">
              <a:avLst/>
            </a:prstGeom>
          </p:spPr>
        </p:pic>
      </p:grpSp>
      <p:grpSp>
        <p:nvGrpSpPr>
          <p:cNvPr id="26" name="Group 25">
            <a:extLst>
              <a:ext uri="{FF2B5EF4-FFF2-40B4-BE49-F238E27FC236}">
                <a16:creationId xmlns:a16="http://schemas.microsoft.com/office/drawing/2014/main" id="{04307D16-959E-B369-4486-D8C89462EE65}"/>
              </a:ext>
            </a:extLst>
          </p:cNvPr>
          <p:cNvGrpSpPr>
            <a:grpSpLocks noChangeAspect="1"/>
          </p:cNvGrpSpPr>
          <p:nvPr/>
        </p:nvGrpSpPr>
        <p:grpSpPr>
          <a:xfrm>
            <a:off x="2480767" y="3755217"/>
            <a:ext cx="2232000" cy="2230977"/>
            <a:chOff x="2622884" y="3311641"/>
            <a:chExt cx="2731728" cy="2730483"/>
          </a:xfrm>
        </p:grpSpPr>
        <p:pic>
          <p:nvPicPr>
            <p:cNvPr id="27" name="Picture 26">
              <a:extLst>
                <a:ext uri="{FF2B5EF4-FFF2-40B4-BE49-F238E27FC236}">
                  <a16:creationId xmlns:a16="http://schemas.microsoft.com/office/drawing/2014/main" id="{3D9B7A30-F5D9-9349-EC93-CEF6030DA164}"/>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b="-191"/>
            <a:stretch/>
          </p:blipFill>
          <p:spPr>
            <a:xfrm rot="21262997">
              <a:off x="2678927" y="3342760"/>
              <a:ext cx="1336356" cy="2271637"/>
            </a:xfrm>
            <a:prstGeom prst="rect">
              <a:avLst/>
            </a:prstGeom>
            <a:ln w="12700">
              <a:solidFill>
                <a:schemeClr val="bg2"/>
              </a:solidFill>
            </a:ln>
          </p:spPr>
        </p:pic>
        <p:sp>
          <p:nvSpPr>
            <p:cNvPr id="28" name="TextBox 27">
              <a:extLst>
                <a:ext uri="{FF2B5EF4-FFF2-40B4-BE49-F238E27FC236}">
                  <a16:creationId xmlns:a16="http://schemas.microsoft.com/office/drawing/2014/main" id="{1B3395B8-A992-4CA1-507C-BE45E8C4FDCE}"/>
                </a:ext>
              </a:extLst>
            </p:cNvPr>
            <p:cNvSpPr txBox="1"/>
            <p:nvPr/>
          </p:nvSpPr>
          <p:spPr>
            <a:xfrm>
              <a:off x="2622884" y="5664863"/>
              <a:ext cx="2731728" cy="37726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Digital images</a:t>
              </a:r>
            </a:p>
          </p:txBody>
        </p:sp>
        <p:pic>
          <p:nvPicPr>
            <p:cNvPr id="29" name="Picture 28">
              <a:extLst>
                <a:ext uri="{FF2B5EF4-FFF2-40B4-BE49-F238E27FC236}">
                  <a16:creationId xmlns:a16="http://schemas.microsoft.com/office/drawing/2014/main" id="{9BE79880-F54E-6DEC-00B1-77F86ED18659}"/>
                </a:ext>
              </a:extLst>
            </p:cNvPr>
            <p:cNvPicPr>
              <a:picLocks noChangeAspect="1"/>
            </p:cNvPicPr>
            <p:nvPr/>
          </p:nvPicPr>
          <p:blipFill rotWithShape="1">
            <a:blip r:embed="rId13" cstate="screen">
              <a:extLst>
                <a:ext uri="{28A0092B-C50C-407E-A947-70E740481C1C}">
                  <a14:useLocalDpi xmlns:a14="http://schemas.microsoft.com/office/drawing/2010/main"/>
                </a:ext>
              </a:extLst>
            </a:blip>
            <a:srcRect b="-269"/>
            <a:stretch/>
          </p:blipFill>
          <p:spPr>
            <a:xfrm rot="307372">
              <a:off x="3974329" y="3311641"/>
              <a:ext cx="1281470" cy="2270583"/>
            </a:xfrm>
            <a:prstGeom prst="rect">
              <a:avLst/>
            </a:prstGeom>
            <a:ln w="12700">
              <a:solidFill>
                <a:schemeClr val="bg2"/>
              </a:solidFill>
            </a:ln>
          </p:spPr>
        </p:pic>
      </p:grpSp>
    </p:spTree>
    <p:extLst>
      <p:ext uri="{BB962C8B-B14F-4D97-AF65-F5344CB8AC3E}">
        <p14:creationId xmlns:p14="http://schemas.microsoft.com/office/powerpoint/2010/main" val="1536594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7D2195-AEAC-7841-937C-F80D85593A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AA6AAEFF-AD75-F449-8FEB-F3D760B2DDDD}"/>
              </a:ext>
            </a:extLst>
          </p:cNvPr>
          <p:cNvGrpSpPr/>
          <p:nvPr/>
        </p:nvGrpSpPr>
        <p:grpSpPr>
          <a:xfrm>
            <a:off x="499950" y="3839115"/>
            <a:ext cx="1330505" cy="2191453"/>
            <a:chOff x="499950" y="3839115"/>
            <a:chExt cx="1330505" cy="2191453"/>
          </a:xfrm>
        </p:grpSpPr>
        <p:sp>
          <p:nvSpPr>
            <p:cNvPr id="117" name="TextBox 116">
              <a:extLst>
                <a:ext uri="{FF2B5EF4-FFF2-40B4-BE49-F238E27FC236}">
                  <a16:creationId xmlns:a16="http://schemas.microsoft.com/office/drawing/2014/main" id="{D3D9D195-63FD-C948-8BEE-8D0B4B9305ED}"/>
                </a:ext>
              </a:extLst>
            </p:cNvPr>
            <p:cNvSpPr txBox="1"/>
            <p:nvPr/>
          </p:nvSpPr>
          <p:spPr>
            <a:xfrm>
              <a:off x="499951" y="5661236"/>
              <a:ext cx="13305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Manuscript</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2" name="Picture 121">
              <a:extLst>
                <a:ext uri="{FF2B5EF4-FFF2-40B4-BE49-F238E27FC236}">
                  <a16:creationId xmlns:a16="http://schemas.microsoft.com/office/drawing/2014/main" id="{177BF918-4010-384C-9A2F-8CE86C10DE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9950" y="3839115"/>
              <a:ext cx="1330505" cy="1793289"/>
            </a:xfrm>
            <a:prstGeom prst="rect">
              <a:avLst/>
            </a:prstGeom>
          </p:spPr>
        </p:pic>
      </p:grpSp>
      <p:grpSp>
        <p:nvGrpSpPr>
          <p:cNvPr id="6" name="Group 5">
            <a:extLst>
              <a:ext uri="{FF2B5EF4-FFF2-40B4-BE49-F238E27FC236}">
                <a16:creationId xmlns:a16="http://schemas.microsoft.com/office/drawing/2014/main" id="{81E94F62-298A-9742-8378-39176452D4C5}"/>
              </a:ext>
            </a:extLst>
          </p:cNvPr>
          <p:cNvGrpSpPr/>
          <p:nvPr/>
        </p:nvGrpSpPr>
        <p:grpSpPr>
          <a:xfrm>
            <a:off x="8610600" y="3829119"/>
            <a:ext cx="3339128" cy="2023890"/>
            <a:chOff x="8760501" y="3869529"/>
            <a:chExt cx="3339128" cy="2023890"/>
          </a:xfrm>
        </p:grpSpPr>
        <p:sp>
          <p:nvSpPr>
            <p:cNvPr id="120" name="TextBox 119">
              <a:extLst>
                <a:ext uri="{FF2B5EF4-FFF2-40B4-BE49-F238E27FC236}">
                  <a16:creationId xmlns:a16="http://schemas.microsoft.com/office/drawing/2014/main" id="{4F4D8780-A0BA-7D42-9B52-D933B1E1AF47}"/>
                </a:ext>
              </a:extLst>
            </p:cNvPr>
            <p:cNvSpPr txBox="1"/>
            <p:nvPr/>
          </p:nvSpPr>
          <p:spPr>
            <a:xfrm>
              <a:off x="8760501" y="4970089"/>
              <a:ext cx="3339128"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MEI Score file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interpreted durations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alteration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&amp;</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imperfection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23" name="Group 122">
              <a:extLst>
                <a:ext uri="{FF2B5EF4-FFF2-40B4-BE49-F238E27FC236}">
                  <a16:creationId xmlns:a16="http://schemas.microsoft.com/office/drawing/2014/main" id="{EB7EFC44-018E-8F41-879F-543B20E154CD}"/>
                </a:ext>
              </a:extLst>
            </p:cNvPr>
            <p:cNvGrpSpPr/>
            <p:nvPr/>
          </p:nvGrpSpPr>
          <p:grpSpPr>
            <a:xfrm>
              <a:off x="9062911" y="3869529"/>
              <a:ext cx="2753645" cy="1087712"/>
              <a:chOff x="4786914" y="4254189"/>
              <a:chExt cx="5924630" cy="2212896"/>
            </a:xfrm>
          </p:grpSpPr>
          <p:pic>
            <p:nvPicPr>
              <p:cNvPr id="124" name="Picture 123" descr="A close up of a device&#10;&#10;Description automatically generated">
                <a:extLst>
                  <a:ext uri="{FF2B5EF4-FFF2-40B4-BE49-F238E27FC236}">
                    <a16:creationId xmlns:a16="http://schemas.microsoft.com/office/drawing/2014/main" id="{2A666781-6D4A-6E4D-8F0E-B989A84A918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04909" y="4271085"/>
                <a:ext cx="5447035" cy="2196000"/>
              </a:xfrm>
              <a:prstGeom prst="rect">
                <a:avLst/>
              </a:prstGeom>
            </p:spPr>
          </p:pic>
          <p:grpSp>
            <p:nvGrpSpPr>
              <p:cNvPr id="125" name="Group 124">
                <a:extLst>
                  <a:ext uri="{FF2B5EF4-FFF2-40B4-BE49-F238E27FC236}">
                    <a16:creationId xmlns:a16="http://schemas.microsoft.com/office/drawing/2014/main" id="{A2F3F9CB-5724-C54D-BCFD-19AD6E6C0419}"/>
                  </a:ext>
                </a:extLst>
              </p:cNvPr>
              <p:cNvGrpSpPr/>
              <p:nvPr/>
            </p:nvGrpSpPr>
            <p:grpSpPr>
              <a:xfrm>
                <a:off x="4786914" y="4254189"/>
                <a:ext cx="5924630" cy="2119057"/>
                <a:chOff x="1150397" y="4175088"/>
                <a:chExt cx="5617540" cy="1411516"/>
              </a:xfrm>
            </p:grpSpPr>
            <p:sp>
              <p:nvSpPr>
                <p:cNvPr id="126" name="Rectangle 125">
                  <a:extLst>
                    <a:ext uri="{FF2B5EF4-FFF2-40B4-BE49-F238E27FC236}">
                      <a16:creationId xmlns:a16="http://schemas.microsoft.com/office/drawing/2014/main" id="{8AC846A5-6231-9D4D-B74A-500904EE09D4}"/>
                    </a:ext>
                  </a:extLst>
                </p:cNvPr>
                <p:cNvSpPr/>
                <p:nvPr/>
              </p:nvSpPr>
              <p:spPr>
                <a:xfrm>
                  <a:off x="1150398" y="4525597"/>
                  <a:ext cx="5617539" cy="353451"/>
                </a:xfrm>
                <a:prstGeom prst="rect">
                  <a:avLst/>
                </a:prstGeom>
                <a:solidFill>
                  <a:srgbClr val="92D050">
                    <a:alpha val="1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7" name="Rectangle 126">
                  <a:extLst>
                    <a:ext uri="{FF2B5EF4-FFF2-40B4-BE49-F238E27FC236}">
                      <a16:creationId xmlns:a16="http://schemas.microsoft.com/office/drawing/2014/main" id="{A2925789-96C3-CA43-819C-5190BF725D3B}"/>
                    </a:ext>
                  </a:extLst>
                </p:cNvPr>
                <p:cNvSpPr/>
                <p:nvPr/>
              </p:nvSpPr>
              <p:spPr>
                <a:xfrm>
                  <a:off x="1150397" y="4877306"/>
                  <a:ext cx="5617539" cy="353451"/>
                </a:xfrm>
                <a:prstGeom prst="rect">
                  <a:avLst/>
                </a:prstGeom>
                <a:solidFill>
                  <a:srgbClr val="CF6C6A">
                    <a:alpha val="1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8" name="Rectangle 127">
                  <a:extLst>
                    <a:ext uri="{FF2B5EF4-FFF2-40B4-BE49-F238E27FC236}">
                      <a16:creationId xmlns:a16="http://schemas.microsoft.com/office/drawing/2014/main" id="{07492BF2-311E-E241-A702-4C274D7E8F3B}"/>
                    </a:ext>
                  </a:extLst>
                </p:cNvPr>
                <p:cNvSpPr/>
                <p:nvPr/>
              </p:nvSpPr>
              <p:spPr>
                <a:xfrm>
                  <a:off x="1150397" y="5233153"/>
                  <a:ext cx="5617539" cy="353451"/>
                </a:xfrm>
                <a:prstGeom prst="rect">
                  <a:avLst/>
                </a:prstGeom>
                <a:solidFill>
                  <a:schemeClr val="accent4">
                    <a:lumMod val="60000"/>
                    <a:lumOff val="40000"/>
                    <a:alpha val="1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Rectangle 128">
                  <a:extLst>
                    <a:ext uri="{FF2B5EF4-FFF2-40B4-BE49-F238E27FC236}">
                      <a16:creationId xmlns:a16="http://schemas.microsoft.com/office/drawing/2014/main" id="{BC812E85-6D08-ED49-80ED-224C7804494D}"/>
                    </a:ext>
                  </a:extLst>
                </p:cNvPr>
                <p:cNvSpPr/>
                <p:nvPr/>
              </p:nvSpPr>
              <p:spPr>
                <a:xfrm>
                  <a:off x="1150398" y="4175088"/>
                  <a:ext cx="5617539" cy="353451"/>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5" name="Group 4">
            <a:extLst>
              <a:ext uri="{FF2B5EF4-FFF2-40B4-BE49-F238E27FC236}">
                <a16:creationId xmlns:a16="http://schemas.microsoft.com/office/drawing/2014/main" id="{453B7C73-FE3A-514D-B280-0AF76A36FD72}"/>
              </a:ext>
            </a:extLst>
          </p:cNvPr>
          <p:cNvGrpSpPr/>
          <p:nvPr/>
        </p:nvGrpSpPr>
        <p:grpSpPr>
          <a:xfrm>
            <a:off x="5284921" y="3732064"/>
            <a:ext cx="2999660" cy="2716619"/>
            <a:chOff x="5802576" y="3770808"/>
            <a:chExt cx="2999660" cy="2716619"/>
          </a:xfrm>
        </p:grpSpPr>
        <p:sp>
          <p:nvSpPr>
            <p:cNvPr id="119" name="TextBox 118">
              <a:extLst>
                <a:ext uri="{FF2B5EF4-FFF2-40B4-BE49-F238E27FC236}">
                  <a16:creationId xmlns:a16="http://schemas.microsoft.com/office/drawing/2014/main" id="{9B3D18AB-8A43-0B43-BF0C-079823B1B827}"/>
                </a:ext>
              </a:extLst>
            </p:cNvPr>
            <p:cNvSpPr txBox="1"/>
            <p:nvPr/>
          </p:nvSpPr>
          <p:spPr>
            <a:xfrm>
              <a:off x="5802576" y="5564097"/>
              <a:ext cx="299966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MEI Parts file</a:t>
              </a:r>
              <a:b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encodes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symbols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each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part/voice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the images</a:t>
              </a:r>
            </a:p>
          </p:txBody>
        </p:sp>
        <p:pic>
          <p:nvPicPr>
            <p:cNvPr id="130" name="Picture 129">
              <a:extLst>
                <a:ext uri="{FF2B5EF4-FFF2-40B4-BE49-F238E27FC236}">
                  <a16:creationId xmlns:a16="http://schemas.microsoft.com/office/drawing/2014/main" id="{2AA51B31-02A9-0A47-98CA-5C64532BA8BF}"/>
                </a:ext>
              </a:extLst>
            </p:cNvPr>
            <p:cNvPicPr>
              <a:picLocks noChangeAspect="1"/>
            </p:cNvPicPr>
            <p:nvPr/>
          </p:nvPicPr>
          <p:blipFill>
            <a:blip r:embed="rId5"/>
            <a:stretch>
              <a:fillRect/>
            </a:stretch>
          </p:blipFill>
          <p:spPr>
            <a:xfrm>
              <a:off x="6195307" y="3770808"/>
              <a:ext cx="2270473" cy="1793289"/>
            </a:xfrm>
            <a:prstGeom prst="rect">
              <a:avLst/>
            </a:prstGeom>
            <a:ln>
              <a:solidFill>
                <a:schemeClr val="tx1"/>
              </a:solidFill>
            </a:ln>
          </p:spPr>
        </p:pic>
      </p:grpSp>
      <p:grpSp>
        <p:nvGrpSpPr>
          <p:cNvPr id="16" name="Group 15">
            <a:extLst>
              <a:ext uri="{FF2B5EF4-FFF2-40B4-BE49-F238E27FC236}">
                <a16:creationId xmlns:a16="http://schemas.microsoft.com/office/drawing/2014/main" id="{767A0CF1-D6AD-964B-BBB0-C9F676E58573}"/>
              </a:ext>
            </a:extLst>
          </p:cNvPr>
          <p:cNvGrpSpPr>
            <a:grpSpLocks noChangeAspect="1"/>
          </p:cNvGrpSpPr>
          <p:nvPr/>
        </p:nvGrpSpPr>
        <p:grpSpPr>
          <a:xfrm>
            <a:off x="2480767" y="3755217"/>
            <a:ext cx="2232000" cy="2230977"/>
            <a:chOff x="2622884" y="3311641"/>
            <a:chExt cx="2731728" cy="2730483"/>
          </a:xfrm>
        </p:grpSpPr>
        <p:pic>
          <p:nvPicPr>
            <p:cNvPr id="17" name="Picture 16">
              <a:extLst>
                <a:ext uri="{FF2B5EF4-FFF2-40B4-BE49-F238E27FC236}">
                  <a16:creationId xmlns:a16="http://schemas.microsoft.com/office/drawing/2014/main" id="{EE457145-B05A-0355-5C3B-48BEA9A1B55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191"/>
            <a:stretch/>
          </p:blipFill>
          <p:spPr>
            <a:xfrm rot="21262997">
              <a:off x="2678927" y="3342760"/>
              <a:ext cx="1336356" cy="2271637"/>
            </a:xfrm>
            <a:prstGeom prst="rect">
              <a:avLst/>
            </a:prstGeom>
            <a:ln w="12700">
              <a:solidFill>
                <a:schemeClr val="bg2"/>
              </a:solidFill>
            </a:ln>
          </p:spPr>
        </p:pic>
        <p:sp>
          <p:nvSpPr>
            <p:cNvPr id="18" name="TextBox 17">
              <a:extLst>
                <a:ext uri="{FF2B5EF4-FFF2-40B4-BE49-F238E27FC236}">
                  <a16:creationId xmlns:a16="http://schemas.microsoft.com/office/drawing/2014/main" id="{71B60CBF-FDDD-75E6-5D1D-FACC7723C430}"/>
                </a:ext>
              </a:extLst>
            </p:cNvPr>
            <p:cNvSpPr txBox="1"/>
            <p:nvPr/>
          </p:nvSpPr>
          <p:spPr>
            <a:xfrm>
              <a:off x="2622884" y="5664863"/>
              <a:ext cx="2731728" cy="37726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Digital images</a:t>
              </a:r>
            </a:p>
          </p:txBody>
        </p:sp>
        <p:sp>
          <p:nvSpPr>
            <p:cNvPr id="19" name="Rectangle 18">
              <a:extLst>
                <a:ext uri="{FF2B5EF4-FFF2-40B4-BE49-F238E27FC236}">
                  <a16:creationId xmlns:a16="http://schemas.microsoft.com/office/drawing/2014/main" id="{0AAFFB54-6326-328D-981A-1944A25401F8}"/>
                </a:ext>
              </a:extLst>
            </p:cNvPr>
            <p:cNvSpPr/>
            <p:nvPr/>
          </p:nvSpPr>
          <p:spPr>
            <a:xfrm rot="21156672">
              <a:off x="2746816" y="3471362"/>
              <a:ext cx="1178783" cy="684000"/>
            </a:xfrm>
            <a:prstGeom prst="rect">
              <a:avLst/>
            </a:prstGeom>
            <a:solidFill>
              <a:srgbClr val="0070C0">
                <a:alpha val="9804"/>
              </a:srgbClr>
            </a:solidFill>
            <a:ln w="635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ACD0AD3-A13D-24F0-A88E-F665D427B026}"/>
                </a:ext>
              </a:extLst>
            </p:cNvPr>
            <p:cNvSpPr/>
            <p:nvPr/>
          </p:nvSpPr>
          <p:spPr>
            <a:xfrm rot="21156672">
              <a:off x="2842375" y="4300210"/>
              <a:ext cx="1178783" cy="684000"/>
            </a:xfrm>
            <a:prstGeom prst="rect">
              <a:avLst/>
            </a:prstGeom>
            <a:solidFill>
              <a:srgbClr val="C00000">
                <a:alpha val="9804"/>
              </a:srgbClr>
            </a:solidFill>
            <a:ln w="63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B4E8D881-E822-C15C-98B0-50BF50E134E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b="-269"/>
            <a:stretch/>
          </p:blipFill>
          <p:spPr>
            <a:xfrm rot="307372">
              <a:off x="3974329" y="3311641"/>
              <a:ext cx="1281470" cy="2270583"/>
            </a:xfrm>
            <a:prstGeom prst="rect">
              <a:avLst/>
            </a:prstGeom>
            <a:ln w="12700">
              <a:solidFill>
                <a:schemeClr val="bg2"/>
              </a:solidFill>
            </a:ln>
          </p:spPr>
        </p:pic>
        <p:sp>
          <p:nvSpPr>
            <p:cNvPr id="22" name="Rectangle 21">
              <a:extLst>
                <a:ext uri="{FF2B5EF4-FFF2-40B4-BE49-F238E27FC236}">
                  <a16:creationId xmlns:a16="http://schemas.microsoft.com/office/drawing/2014/main" id="{D9C6247D-3591-6B6B-4D0E-B87D905120D5}"/>
                </a:ext>
              </a:extLst>
            </p:cNvPr>
            <p:cNvSpPr/>
            <p:nvPr/>
          </p:nvSpPr>
          <p:spPr>
            <a:xfrm rot="286521">
              <a:off x="4052997" y="3461238"/>
              <a:ext cx="1178783" cy="684000"/>
            </a:xfrm>
            <a:prstGeom prst="rect">
              <a:avLst/>
            </a:prstGeom>
            <a:solidFill>
              <a:srgbClr val="00B050">
                <a:alpha val="9804"/>
              </a:srgbClr>
            </a:solidFill>
            <a:ln w="63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8EDD4C62-29D8-414D-0AAF-C2DDB99C967D}"/>
                </a:ext>
              </a:extLst>
            </p:cNvPr>
            <p:cNvSpPr/>
            <p:nvPr/>
          </p:nvSpPr>
          <p:spPr>
            <a:xfrm rot="286521">
              <a:off x="3985392" y="4268263"/>
              <a:ext cx="1178783" cy="684000"/>
            </a:xfrm>
            <a:prstGeom prst="rect">
              <a:avLst/>
            </a:prstGeom>
            <a:solidFill>
              <a:srgbClr val="FFC000">
                <a:alpha val="9804"/>
              </a:srgbClr>
            </a:solidFill>
            <a:ln w="63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4" name="Group 3">
            <a:extLst>
              <a:ext uri="{FF2B5EF4-FFF2-40B4-BE49-F238E27FC236}">
                <a16:creationId xmlns:a16="http://schemas.microsoft.com/office/drawing/2014/main" id="{C578204A-8EFD-37D3-9A51-2AE79081A11A}"/>
              </a:ext>
            </a:extLst>
          </p:cNvPr>
          <p:cNvGrpSpPr/>
          <p:nvPr/>
        </p:nvGrpSpPr>
        <p:grpSpPr>
          <a:xfrm>
            <a:off x="733530" y="1762543"/>
            <a:ext cx="10620270" cy="1727755"/>
            <a:chOff x="1166328" y="1741241"/>
            <a:chExt cx="9832598" cy="1727755"/>
          </a:xfrm>
        </p:grpSpPr>
        <p:graphicFrame>
          <p:nvGraphicFramePr>
            <p:cNvPr id="8" name="Content Placeholder 3">
              <a:extLst>
                <a:ext uri="{FF2B5EF4-FFF2-40B4-BE49-F238E27FC236}">
                  <a16:creationId xmlns:a16="http://schemas.microsoft.com/office/drawing/2014/main" id="{F4CAA5FF-5F9D-B342-2221-637A221719C6}"/>
                </a:ext>
              </a:extLst>
            </p:cNvPr>
            <p:cNvGraphicFramePr>
              <a:graphicFrameLocks/>
            </p:cNvGraphicFramePr>
            <p:nvPr/>
          </p:nvGraphicFramePr>
          <p:xfrm>
            <a:off x="1166328" y="1741241"/>
            <a:ext cx="9832598" cy="17277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9" name="Picture 8">
              <a:extLst>
                <a:ext uri="{FF2B5EF4-FFF2-40B4-BE49-F238E27FC236}">
                  <a16:creationId xmlns:a16="http://schemas.microsoft.com/office/drawing/2014/main" id="{5A6C8DE7-51E7-75DE-AD81-3185C75380F0}"/>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1600307" y="2316159"/>
              <a:ext cx="1332416" cy="999312"/>
            </a:xfrm>
            <a:prstGeom prst="rect">
              <a:avLst/>
            </a:prstGeom>
          </p:spPr>
        </p:pic>
        <p:pic>
          <p:nvPicPr>
            <p:cNvPr id="10" name="Picture 9">
              <a:extLst>
                <a:ext uri="{FF2B5EF4-FFF2-40B4-BE49-F238E27FC236}">
                  <a16:creationId xmlns:a16="http://schemas.microsoft.com/office/drawing/2014/main" id="{62DE2527-9152-233D-D242-9F1A34304E45}"/>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014698" y="2520213"/>
              <a:ext cx="1332416" cy="800383"/>
            </a:xfrm>
            <a:prstGeom prst="rect">
              <a:avLst/>
            </a:prstGeom>
          </p:spPr>
        </p:pic>
        <p:pic>
          <p:nvPicPr>
            <p:cNvPr id="11" name="Picture 10">
              <a:extLst>
                <a:ext uri="{FF2B5EF4-FFF2-40B4-BE49-F238E27FC236}">
                  <a16:creationId xmlns:a16="http://schemas.microsoft.com/office/drawing/2014/main" id="{30075496-054E-3A1B-2CF0-A655DC296764}"/>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8532796" y="2780700"/>
              <a:ext cx="2106887" cy="532075"/>
            </a:xfrm>
            <a:prstGeom prst="rect">
              <a:avLst/>
            </a:prstGeom>
          </p:spPr>
        </p:pic>
      </p:grpSp>
      <p:sp>
        <p:nvSpPr>
          <p:cNvPr id="15" name="Title 1">
            <a:extLst>
              <a:ext uri="{FF2B5EF4-FFF2-40B4-BE49-F238E27FC236}">
                <a16:creationId xmlns:a16="http://schemas.microsoft.com/office/drawing/2014/main" id="{EEC6F33C-E478-98B7-3F9C-205ECFEA759A}"/>
              </a:ext>
            </a:extLst>
          </p:cNvPr>
          <p:cNvSpPr txBox="1">
            <a:spLocks/>
          </p:cNvSpPr>
          <p:nvPr/>
        </p:nvSpPr>
        <p:spPr>
          <a:xfrm>
            <a:off x="499950" y="276431"/>
            <a:ext cx="10853850" cy="15310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5400" dirty="0"/>
              <a:t>Three-Step Workflow</a:t>
            </a:r>
            <a:endParaRPr lang="en-US" dirty="0">
              <a:solidFill>
                <a:schemeClr val="bg2">
                  <a:lumMod val="75000"/>
                </a:schemeClr>
              </a:solidFill>
            </a:endParaRPr>
          </a:p>
        </p:txBody>
      </p:sp>
    </p:spTree>
    <p:extLst>
      <p:ext uri="{BB962C8B-B14F-4D97-AF65-F5344CB8AC3E}">
        <p14:creationId xmlns:p14="http://schemas.microsoft.com/office/powerpoint/2010/main" val="3282195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8" name="Straight Connector 10">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Rectangle 12">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8282"/>
            <a:ext cx="12192000" cy="494690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8FB3E9-A8A8-07B0-BAA5-F90B8439786C}"/>
              </a:ext>
            </a:extLst>
          </p:cNvPr>
          <p:cNvSpPr>
            <a:spLocks noGrp="1"/>
          </p:cNvSpPr>
          <p:nvPr>
            <p:ph type="title"/>
          </p:nvPr>
        </p:nvSpPr>
        <p:spPr>
          <a:xfrm>
            <a:off x="795338" y="1566473"/>
            <a:ext cx="10601325" cy="2166723"/>
          </a:xfrm>
        </p:spPr>
        <p:txBody>
          <a:bodyPr vert="horz" lIns="91440" tIns="45720" rIns="91440" bIns="45720" rtlCol="0" anchor="b">
            <a:normAutofit/>
          </a:bodyPr>
          <a:lstStyle/>
          <a:p>
            <a:pPr algn="ctr"/>
            <a:r>
              <a:rPr lang="en-US" sz="6600" kern="1200" dirty="0">
                <a:solidFill>
                  <a:schemeClr val="bg1"/>
                </a:solidFill>
                <a:latin typeface="+mj-lt"/>
                <a:ea typeface="+mj-ea"/>
                <a:cs typeface="+mj-cs"/>
              </a:rPr>
              <a:t>The GuatC Collection</a:t>
            </a:r>
          </a:p>
        </p:txBody>
      </p:sp>
      <p:cxnSp>
        <p:nvCxnSpPr>
          <p:cNvPr id="15" name="Straight Connector 14">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FA46F97-75DD-745D-078B-FF62CD8EA9A4}"/>
              </a:ext>
            </a:extLst>
          </p:cNvPr>
          <p:cNvSpPr>
            <a:spLocks noGrp="1"/>
          </p:cNvSpPr>
          <p:nvPr>
            <p:ph type="sldNum" sz="quarter" idx="12"/>
          </p:nvPr>
        </p:nvSpPr>
        <p:spPr>
          <a:xfrm>
            <a:off x="8610600" y="615971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C70584-727D-3042-B647-9AD6EF4C2F51}"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285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kern="1200">
                <a:latin typeface="+mj-lt"/>
                <a:ea typeface="+mj-ea"/>
                <a:cs typeface="+mj-cs"/>
              </a:rPr>
              <a:t>The GuatC Collection</a:t>
            </a:r>
          </a:p>
        </p:txBody>
      </p:sp>
      <p:sp>
        <p:nvSpPr>
          <p:cNvPr id="2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D9ECE325-FEDA-6D43-9808-F73293DC1BA3}"/>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9" name="Table 4">
            <a:extLst>
              <a:ext uri="{FF2B5EF4-FFF2-40B4-BE49-F238E27FC236}">
                <a16:creationId xmlns:a16="http://schemas.microsoft.com/office/drawing/2014/main" id="{960001FE-F8D0-CA43-85DC-D456DD6778C8}"/>
              </a:ext>
            </a:extLst>
          </p:cNvPr>
          <p:cNvGraphicFramePr>
            <a:graphicFrameLocks noGrp="1"/>
          </p:cNvGraphicFramePr>
          <p:nvPr>
            <p:ph idx="1"/>
          </p:nvPr>
        </p:nvGraphicFramePr>
        <p:xfrm>
          <a:off x="572492" y="1843625"/>
          <a:ext cx="10972799" cy="4376200"/>
        </p:xfrm>
        <a:graphic>
          <a:graphicData uri="http://schemas.openxmlformats.org/drawingml/2006/table">
            <a:tbl>
              <a:tblPr firstRow="1" bandRow="1">
                <a:tableStyleId>{8EC20E35-A176-4012-BC5E-935CFFF8708E}</a:tableStyleId>
              </a:tblPr>
              <a:tblGrid>
                <a:gridCol w="8661829">
                  <a:extLst>
                    <a:ext uri="{9D8B030D-6E8A-4147-A177-3AD203B41FA5}">
                      <a16:colId xmlns:a16="http://schemas.microsoft.com/office/drawing/2014/main" val="2171896170"/>
                    </a:ext>
                  </a:extLst>
                </a:gridCol>
                <a:gridCol w="2310970">
                  <a:extLst>
                    <a:ext uri="{9D8B030D-6E8A-4147-A177-3AD203B41FA5}">
                      <a16:colId xmlns:a16="http://schemas.microsoft.com/office/drawing/2014/main" val="3308817854"/>
                    </a:ext>
                  </a:extLst>
                </a:gridCol>
              </a:tblGrid>
              <a:tr h="1208074">
                <a:tc>
                  <a:txBody>
                    <a:bodyPr/>
                    <a:lstStyle/>
                    <a:p>
                      <a:r>
                        <a:rPr lang="en-US" sz="2400" dirty="0"/>
                        <a:t>Composers</a:t>
                      </a:r>
                    </a:p>
                  </a:txBody>
                  <a:tcPr anchor="ctr"/>
                </a:tc>
                <a:tc>
                  <a:txBody>
                    <a:bodyPr/>
                    <a:lstStyle/>
                    <a:p>
                      <a:r>
                        <a:rPr lang="en-US" sz="2400" dirty="0"/>
                        <a:t>Pieces by Composer (%)</a:t>
                      </a:r>
                    </a:p>
                  </a:txBody>
                  <a:tcPr anchor="ctr"/>
                </a:tc>
                <a:extLst>
                  <a:ext uri="{0D108BD9-81ED-4DB2-BD59-A6C34878D82A}">
                    <a16:rowId xmlns:a16="http://schemas.microsoft.com/office/drawing/2014/main" val="748713123"/>
                  </a:ext>
                </a:extLst>
              </a:tr>
              <a:tr h="951234">
                <a:tc>
                  <a:txBody>
                    <a:bodyPr/>
                    <a:lstStyle/>
                    <a:p>
                      <a:r>
                        <a:rPr lang="en-US" sz="2400" dirty="0"/>
                        <a:t>Iberian Peninsula</a:t>
                      </a:r>
                    </a:p>
                    <a:p>
                      <a:r>
                        <a:rPr lang="en-US" sz="2400" dirty="0"/>
                        <a:t>(never set foot in the Americas and traveled to the Americas)</a:t>
                      </a:r>
                    </a:p>
                  </a:txBody>
                  <a:tcPr anchor="ctr"/>
                </a:tc>
                <a:tc>
                  <a:txBody>
                    <a:bodyPr/>
                    <a:lstStyle/>
                    <a:p>
                      <a:r>
                        <a:rPr lang="en-US" sz="2400" dirty="0"/>
                        <a:t>53%</a:t>
                      </a:r>
                    </a:p>
                  </a:txBody>
                  <a:tcPr anchor="ctr"/>
                </a:tc>
                <a:extLst>
                  <a:ext uri="{0D108BD9-81ED-4DB2-BD59-A6C34878D82A}">
                    <a16:rowId xmlns:a16="http://schemas.microsoft.com/office/drawing/2014/main" val="144772812"/>
                  </a:ext>
                </a:extLst>
              </a:tr>
              <a:tr h="666205">
                <a:tc>
                  <a:txBody>
                    <a:bodyPr/>
                    <a:lstStyle/>
                    <a:p>
                      <a:r>
                        <a:rPr lang="en-US" sz="2400" dirty="0"/>
                        <a:t>Local composers</a:t>
                      </a:r>
                    </a:p>
                    <a:p>
                      <a:r>
                        <a:rPr lang="en-US" sz="2400" dirty="0"/>
                        <a:t>(born and trained in Guatemala or Mexico)</a:t>
                      </a:r>
                    </a:p>
                  </a:txBody>
                  <a:tcPr anchor="ctr"/>
                </a:tc>
                <a:tc>
                  <a:txBody>
                    <a:bodyPr/>
                    <a:lstStyle/>
                    <a:p>
                      <a:r>
                        <a:rPr lang="en-US" sz="2400" dirty="0"/>
                        <a:t>12%</a:t>
                      </a:r>
                    </a:p>
                  </a:txBody>
                  <a:tcPr anchor="ctr"/>
                </a:tc>
                <a:extLst>
                  <a:ext uri="{0D108BD9-81ED-4DB2-BD59-A6C34878D82A}">
                    <a16:rowId xmlns:a16="http://schemas.microsoft.com/office/drawing/2014/main" val="787806708"/>
                  </a:ext>
                </a:extLst>
              </a:tr>
              <a:tr h="464644">
                <a:tc>
                  <a:txBody>
                    <a:bodyPr/>
                    <a:lstStyle/>
                    <a:p>
                      <a:r>
                        <a:rPr lang="en-US" sz="2400" dirty="0"/>
                        <a:t>Other parts of Europe</a:t>
                      </a:r>
                    </a:p>
                  </a:txBody>
                  <a:tcPr anchor="ctr"/>
                </a:tc>
                <a:tc>
                  <a:txBody>
                    <a:bodyPr/>
                    <a:lstStyle/>
                    <a:p>
                      <a:r>
                        <a:rPr lang="en-US" sz="2400" dirty="0"/>
                        <a:t>8%</a:t>
                      </a:r>
                    </a:p>
                  </a:txBody>
                  <a:tcPr anchor="ctr"/>
                </a:tc>
                <a:extLst>
                  <a:ext uri="{0D108BD9-81ED-4DB2-BD59-A6C34878D82A}">
                    <a16:rowId xmlns:a16="http://schemas.microsoft.com/office/drawing/2014/main" val="4241744050"/>
                  </a:ext>
                </a:extLst>
              </a:tr>
              <a:tr h="464644">
                <a:tc>
                  <a:txBody>
                    <a:bodyPr/>
                    <a:lstStyle/>
                    <a:p>
                      <a:r>
                        <a:rPr lang="en-US" sz="2400" dirty="0"/>
                        <a:t>Region of activity is still unknown</a:t>
                      </a:r>
                    </a:p>
                  </a:txBody>
                  <a:tcPr anchor="ctr"/>
                </a:tc>
                <a:tc>
                  <a:txBody>
                    <a:bodyPr/>
                    <a:lstStyle/>
                    <a:p>
                      <a:r>
                        <a:rPr lang="en-US" sz="2400" dirty="0"/>
                        <a:t>1%</a:t>
                      </a:r>
                    </a:p>
                  </a:txBody>
                  <a:tcPr anchor="ctr"/>
                </a:tc>
                <a:extLst>
                  <a:ext uri="{0D108BD9-81ED-4DB2-BD59-A6C34878D82A}">
                    <a16:rowId xmlns:a16="http://schemas.microsoft.com/office/drawing/2014/main" val="1457660645"/>
                  </a:ext>
                </a:extLst>
              </a:tr>
              <a:tr h="464644">
                <a:tc>
                  <a:txBody>
                    <a:bodyPr/>
                    <a:lstStyle/>
                    <a:p>
                      <a:r>
                        <a:rPr lang="en-US" sz="2400" dirty="0"/>
                        <a:t>Anonymous &amp; chant pieces</a:t>
                      </a:r>
                    </a:p>
                  </a:txBody>
                  <a:tcPr anchor="ctr"/>
                </a:tc>
                <a:tc>
                  <a:txBody>
                    <a:bodyPr/>
                    <a:lstStyle/>
                    <a:p>
                      <a:r>
                        <a:rPr lang="en-US" sz="2400" dirty="0"/>
                        <a:t>26%</a:t>
                      </a:r>
                    </a:p>
                  </a:txBody>
                  <a:tcPr anchor="ctr"/>
                </a:tc>
                <a:extLst>
                  <a:ext uri="{0D108BD9-81ED-4DB2-BD59-A6C34878D82A}">
                    <a16:rowId xmlns:a16="http://schemas.microsoft.com/office/drawing/2014/main" val="3429553745"/>
                  </a:ext>
                </a:extLst>
              </a:tr>
            </a:tbl>
          </a:graphicData>
        </a:graphic>
      </p:graphicFrame>
    </p:spTree>
    <p:extLst>
      <p:ext uri="{BB962C8B-B14F-4D97-AF65-F5344CB8AC3E}">
        <p14:creationId xmlns:p14="http://schemas.microsoft.com/office/powerpoint/2010/main" val="15224562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kern="1200">
                <a:latin typeface="+mj-lt"/>
                <a:ea typeface="+mj-ea"/>
                <a:cs typeface="+mj-cs"/>
              </a:rPr>
              <a:t>The GuatC Collection</a:t>
            </a:r>
          </a:p>
        </p:txBody>
      </p:sp>
      <p:sp>
        <p:nvSpPr>
          <p:cNvPr id="2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D9ECE325-FEDA-6D43-9808-F73293DC1BA3}"/>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Content Placeholder 8">
            <a:extLst>
              <a:ext uri="{FF2B5EF4-FFF2-40B4-BE49-F238E27FC236}">
                <a16:creationId xmlns:a16="http://schemas.microsoft.com/office/drawing/2014/main" id="{199A6730-519A-3D49-A62C-5FA1378F9C88}"/>
              </a:ext>
            </a:extLst>
          </p:cNvPr>
          <p:cNvPicPr>
            <a:picLocks noGrp="1" noChangeAspect="1"/>
          </p:cNvPicPr>
          <p:nvPr>
            <p:ph idx="1"/>
          </p:nvPr>
        </p:nvPicPr>
        <p:blipFill rotWithShape="1">
          <a:blip r:embed="rId3" cstate="screen">
            <a:extLst>
              <a:ext uri="{28A0092B-C50C-407E-A947-70E740481C1C}">
                <a14:useLocalDpi xmlns:a14="http://schemas.microsoft.com/office/drawing/2010/main"/>
              </a:ext>
            </a:extLst>
          </a:blip>
          <a:srcRect/>
          <a:stretch/>
        </p:blipFill>
        <p:spPr>
          <a:xfrm>
            <a:off x="4114975" y="1968310"/>
            <a:ext cx="3959002" cy="4119562"/>
          </a:xfrm>
          <a:prstGeom prst="rect">
            <a:avLst/>
          </a:prstGeom>
        </p:spPr>
      </p:pic>
      <p:sp>
        <p:nvSpPr>
          <p:cNvPr id="8" name="TextBox 7">
            <a:extLst>
              <a:ext uri="{FF2B5EF4-FFF2-40B4-BE49-F238E27FC236}">
                <a16:creationId xmlns:a16="http://schemas.microsoft.com/office/drawing/2014/main" id="{E50A3F37-3A79-4F4A-A951-809871B65836}"/>
              </a:ext>
            </a:extLst>
          </p:cNvPr>
          <p:cNvSpPr txBox="1"/>
          <p:nvPr/>
        </p:nvSpPr>
        <p:spPr>
          <a:xfrm>
            <a:off x="8933152" y="5349208"/>
            <a:ext cx="2612141" cy="738664"/>
          </a:xfrm>
          <a:prstGeom prst="rect">
            <a:avLst/>
          </a:prstGeom>
          <a:solidFill>
            <a:schemeClr val="accent5">
              <a:alpha val="69804"/>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graphic</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representation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the</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information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provided</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by</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Morales Abril (2015, 119–120)</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0986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0435C23-084B-F74B-9AC8-5DBAE080B38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201782" y="486843"/>
            <a:ext cx="9679577" cy="8108518"/>
          </a:xfrm>
          <a:prstGeom prst="rect">
            <a:avLst/>
          </a:prstGeom>
        </p:spPr>
      </p:pic>
      <p:sp>
        <p:nvSpPr>
          <p:cNvPr id="4" name="Slide Number Placeholder 3">
            <a:extLst>
              <a:ext uri="{FF2B5EF4-FFF2-40B4-BE49-F238E27FC236}">
                <a16:creationId xmlns:a16="http://schemas.microsoft.com/office/drawing/2014/main" id="{D9ECE325-FEDA-6D43-9808-F73293DC1BA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565AB104-3B96-BE48-AB30-EB71E1F5B155}"/>
              </a:ext>
            </a:extLst>
          </p:cNvPr>
          <p:cNvSpPr/>
          <p:nvPr/>
        </p:nvSpPr>
        <p:spPr>
          <a:xfrm>
            <a:off x="2943499" y="1316184"/>
            <a:ext cx="2582092" cy="262157"/>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a:extLst>
              <a:ext uri="{FF2B5EF4-FFF2-40B4-BE49-F238E27FC236}">
                <a16:creationId xmlns:a16="http://schemas.microsoft.com/office/drawing/2014/main" id="{99065DEE-B03F-384F-B366-64C65F9132D2}"/>
              </a:ext>
            </a:extLst>
          </p:cNvPr>
          <p:cNvSpPr/>
          <p:nvPr/>
        </p:nvSpPr>
        <p:spPr>
          <a:xfrm>
            <a:off x="2573383" y="1580122"/>
            <a:ext cx="2952208" cy="251234"/>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29">
            <a:extLst>
              <a:ext uri="{FF2B5EF4-FFF2-40B4-BE49-F238E27FC236}">
                <a16:creationId xmlns:a16="http://schemas.microsoft.com/office/drawing/2014/main" id="{D0615FB2-2189-EF4D-A2CE-F56E6ED1E94D}"/>
              </a:ext>
            </a:extLst>
          </p:cNvPr>
          <p:cNvSpPr/>
          <p:nvPr/>
        </p:nvSpPr>
        <p:spPr>
          <a:xfrm>
            <a:off x="2455818" y="2990318"/>
            <a:ext cx="3069774" cy="289494"/>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ounded Rectangle 34">
            <a:extLst>
              <a:ext uri="{FF2B5EF4-FFF2-40B4-BE49-F238E27FC236}">
                <a16:creationId xmlns:a16="http://schemas.microsoft.com/office/drawing/2014/main" id="{518C30AA-D091-244A-9B35-7FCB6910E7A3}"/>
              </a:ext>
            </a:extLst>
          </p:cNvPr>
          <p:cNvSpPr/>
          <p:nvPr/>
        </p:nvSpPr>
        <p:spPr>
          <a:xfrm>
            <a:off x="2636521" y="1078332"/>
            <a:ext cx="2889070" cy="253794"/>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ounded Rectangle 35">
            <a:extLst>
              <a:ext uri="{FF2B5EF4-FFF2-40B4-BE49-F238E27FC236}">
                <a16:creationId xmlns:a16="http://schemas.microsoft.com/office/drawing/2014/main" id="{94B123DB-E3F8-894E-9B79-2A3A69F3EDF1}"/>
              </a:ext>
            </a:extLst>
          </p:cNvPr>
          <p:cNvSpPr/>
          <p:nvPr/>
        </p:nvSpPr>
        <p:spPr>
          <a:xfrm>
            <a:off x="2636521" y="1822320"/>
            <a:ext cx="2889070" cy="237691"/>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36">
            <a:extLst>
              <a:ext uri="{FF2B5EF4-FFF2-40B4-BE49-F238E27FC236}">
                <a16:creationId xmlns:a16="http://schemas.microsoft.com/office/drawing/2014/main" id="{6DFDDF28-E92F-C443-98AA-343474D79F1D}"/>
              </a:ext>
            </a:extLst>
          </p:cNvPr>
          <p:cNvSpPr/>
          <p:nvPr/>
        </p:nvSpPr>
        <p:spPr>
          <a:xfrm>
            <a:off x="2636521" y="2066829"/>
            <a:ext cx="2889070" cy="234915"/>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ounded Rectangle 37">
            <a:extLst>
              <a:ext uri="{FF2B5EF4-FFF2-40B4-BE49-F238E27FC236}">
                <a16:creationId xmlns:a16="http://schemas.microsoft.com/office/drawing/2014/main" id="{BB2C2F42-CC79-A845-AD2D-05E43D440F98}"/>
              </a:ext>
            </a:extLst>
          </p:cNvPr>
          <p:cNvSpPr/>
          <p:nvPr/>
        </p:nvSpPr>
        <p:spPr>
          <a:xfrm>
            <a:off x="2636519" y="1835862"/>
            <a:ext cx="2889071" cy="23769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38">
            <a:extLst>
              <a:ext uri="{FF2B5EF4-FFF2-40B4-BE49-F238E27FC236}">
                <a16:creationId xmlns:a16="http://schemas.microsoft.com/office/drawing/2014/main" id="{7E65C054-A312-2344-9E18-A60879D07FEC}"/>
              </a:ext>
            </a:extLst>
          </p:cNvPr>
          <p:cNvSpPr/>
          <p:nvPr/>
        </p:nvSpPr>
        <p:spPr>
          <a:xfrm>
            <a:off x="2286000" y="2295563"/>
            <a:ext cx="3239592" cy="236033"/>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39">
            <a:extLst>
              <a:ext uri="{FF2B5EF4-FFF2-40B4-BE49-F238E27FC236}">
                <a16:creationId xmlns:a16="http://schemas.microsoft.com/office/drawing/2014/main" id="{4961457C-2805-4941-9006-F11A858E9111}"/>
              </a:ext>
            </a:extLst>
          </p:cNvPr>
          <p:cNvSpPr/>
          <p:nvPr/>
        </p:nvSpPr>
        <p:spPr>
          <a:xfrm>
            <a:off x="2695306" y="3263224"/>
            <a:ext cx="2830284"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40">
            <a:extLst>
              <a:ext uri="{FF2B5EF4-FFF2-40B4-BE49-F238E27FC236}">
                <a16:creationId xmlns:a16="http://schemas.microsoft.com/office/drawing/2014/main" id="{940FE760-DF4E-AB47-BDE0-2EF23124D578}"/>
              </a:ext>
            </a:extLst>
          </p:cNvPr>
          <p:cNvSpPr/>
          <p:nvPr/>
        </p:nvSpPr>
        <p:spPr>
          <a:xfrm>
            <a:off x="2943499" y="5912999"/>
            <a:ext cx="2582091"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41">
            <a:extLst>
              <a:ext uri="{FF2B5EF4-FFF2-40B4-BE49-F238E27FC236}">
                <a16:creationId xmlns:a16="http://schemas.microsoft.com/office/drawing/2014/main" id="{7637A1BD-3EB8-B944-92EE-B81C0220C87E}"/>
              </a:ext>
            </a:extLst>
          </p:cNvPr>
          <p:cNvSpPr/>
          <p:nvPr/>
        </p:nvSpPr>
        <p:spPr>
          <a:xfrm>
            <a:off x="2286000" y="6169817"/>
            <a:ext cx="3239590"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ounded Rectangle 44">
            <a:extLst>
              <a:ext uri="{FF2B5EF4-FFF2-40B4-BE49-F238E27FC236}">
                <a16:creationId xmlns:a16="http://schemas.microsoft.com/office/drawing/2014/main" id="{528452D5-7C7E-6948-BE5B-AF3CDAE87BA2}"/>
              </a:ext>
            </a:extLst>
          </p:cNvPr>
          <p:cNvSpPr/>
          <p:nvPr/>
        </p:nvSpPr>
        <p:spPr>
          <a:xfrm>
            <a:off x="2808514" y="2516015"/>
            <a:ext cx="2730141" cy="244315"/>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ounded Rectangle 45">
            <a:extLst>
              <a:ext uri="{FF2B5EF4-FFF2-40B4-BE49-F238E27FC236}">
                <a16:creationId xmlns:a16="http://schemas.microsoft.com/office/drawing/2014/main" id="{D22B0CA3-C720-8B4F-949B-3E78FBAA8774}"/>
              </a:ext>
            </a:extLst>
          </p:cNvPr>
          <p:cNvSpPr/>
          <p:nvPr/>
        </p:nvSpPr>
        <p:spPr>
          <a:xfrm>
            <a:off x="2037807" y="2761585"/>
            <a:ext cx="3513912" cy="236032"/>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ounded Rectangle 46">
            <a:extLst>
              <a:ext uri="{FF2B5EF4-FFF2-40B4-BE49-F238E27FC236}">
                <a16:creationId xmlns:a16="http://schemas.microsoft.com/office/drawing/2014/main" id="{6F932ADC-D33C-F347-B408-01E9C6DFF76C}"/>
              </a:ext>
            </a:extLst>
          </p:cNvPr>
          <p:cNvSpPr/>
          <p:nvPr/>
        </p:nvSpPr>
        <p:spPr>
          <a:xfrm>
            <a:off x="2795449" y="6398889"/>
            <a:ext cx="2730141" cy="244315"/>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ounded Rectangle 47">
            <a:extLst>
              <a:ext uri="{FF2B5EF4-FFF2-40B4-BE49-F238E27FC236}">
                <a16:creationId xmlns:a16="http://schemas.microsoft.com/office/drawing/2014/main" id="{F5BFF386-D3B3-324F-9B3D-5C59368C7733}"/>
              </a:ext>
            </a:extLst>
          </p:cNvPr>
          <p:cNvSpPr/>
          <p:nvPr/>
        </p:nvSpPr>
        <p:spPr>
          <a:xfrm>
            <a:off x="3296093" y="6873782"/>
            <a:ext cx="2229497" cy="244314"/>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27A76DC-9B3F-884D-8B94-2E651263A872}"/>
              </a:ext>
            </a:extLst>
          </p:cNvPr>
          <p:cNvSpPr txBox="1"/>
          <p:nvPr/>
        </p:nvSpPr>
        <p:spPr>
          <a:xfrm>
            <a:off x="2385022" y="1800088"/>
            <a:ext cx="3767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solidFill>
                <a:effectLst/>
                <a:uLnTx/>
                <a:uFillTx/>
                <a:latin typeface="Calibri" panose="020F0502020204030204"/>
                <a:ea typeface="+mn-ea"/>
                <a:cs typeface="+mn-cs"/>
              </a:rPr>
              <a:t>*</a:t>
            </a:r>
          </a:p>
        </p:txBody>
      </p:sp>
      <p:sp>
        <p:nvSpPr>
          <p:cNvPr id="20" name="TextBox 19">
            <a:extLst>
              <a:ext uri="{FF2B5EF4-FFF2-40B4-BE49-F238E27FC236}">
                <a16:creationId xmlns:a16="http://schemas.microsoft.com/office/drawing/2014/main" id="{4850D9A5-1259-5342-AD29-FFFABF309E2D}"/>
              </a:ext>
            </a:extLst>
          </p:cNvPr>
          <p:cNvSpPr txBox="1"/>
          <p:nvPr/>
        </p:nvSpPr>
        <p:spPr>
          <a:xfrm>
            <a:off x="2046441" y="2277259"/>
            <a:ext cx="3767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solidFill>
                <a:effectLst/>
                <a:uLnTx/>
                <a:uFillTx/>
                <a:latin typeface="Calibri" panose="020F0502020204030204"/>
                <a:ea typeface="+mn-ea"/>
                <a:cs typeface="+mn-cs"/>
              </a:rPr>
              <a:t>*</a:t>
            </a:r>
          </a:p>
        </p:txBody>
      </p:sp>
      <p:sp>
        <p:nvSpPr>
          <p:cNvPr id="21" name="TextBox 20">
            <a:extLst>
              <a:ext uri="{FF2B5EF4-FFF2-40B4-BE49-F238E27FC236}">
                <a16:creationId xmlns:a16="http://schemas.microsoft.com/office/drawing/2014/main" id="{25B4802C-D4F0-4C4B-8B6C-C8A3770AF9E3}"/>
              </a:ext>
            </a:extLst>
          </p:cNvPr>
          <p:cNvSpPr txBox="1"/>
          <p:nvPr/>
        </p:nvSpPr>
        <p:spPr>
          <a:xfrm>
            <a:off x="8933152" y="5349208"/>
            <a:ext cx="2612141" cy="738664"/>
          </a:xfrm>
          <a:prstGeom prst="rect">
            <a:avLst/>
          </a:prstGeom>
          <a:solidFill>
            <a:schemeClr val="accent5">
              <a:alpha val="69804"/>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graphic</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representation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the</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information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provided</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by</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Morales Abril (2015, 119–120)</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B08BEA9-0DC4-6B46-8B1E-CC1CED37F49D}"/>
              </a:ext>
            </a:extLst>
          </p:cNvPr>
          <p:cNvSpPr txBox="1"/>
          <p:nvPr/>
        </p:nvSpPr>
        <p:spPr>
          <a:xfrm>
            <a:off x="8721213" y="2879601"/>
            <a:ext cx="3206942"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KEY:</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2000" b="0" i="0" u="none" strike="noStrike" kern="1200" cap="none" spc="0" normalizeH="0" baseline="0" noProof="0" dirty="0">
                <a:ln>
                  <a:noFill/>
                </a:ln>
                <a:solidFill>
                  <a:prstClr val="black"/>
                </a:solidFill>
                <a:effectLst/>
                <a:highlight>
                  <a:srgbClr val="FFC000"/>
                </a:highlight>
                <a:uLnTx/>
                <a:uFillTx/>
                <a:latin typeface="Calibri" panose="020F0502020204030204"/>
                <a:ea typeface="+mn-ea"/>
                <a:cs typeface="+mn-cs"/>
              </a:rPr>
              <a:t>Iberian Peninsula (never set foot in the Americas)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2000" b="0" i="0" u="none" strike="noStrike" kern="1200" cap="none" spc="0" normalizeH="0" baseline="0" noProof="0" dirty="0">
                <a:ln>
                  <a:noFill/>
                </a:ln>
                <a:solidFill>
                  <a:prstClr val="black"/>
                </a:solidFill>
                <a:effectLst/>
                <a:highlight>
                  <a:srgbClr val="00FF00"/>
                </a:highlight>
                <a:uLnTx/>
                <a:uFillTx/>
                <a:latin typeface="Calibri" panose="020F0502020204030204"/>
                <a:ea typeface="+mn-ea"/>
                <a:cs typeface="+mn-cs"/>
              </a:rPr>
              <a:t>Active in the Viceroyalty of New Spain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2000" b="0" i="0" u="none" strike="noStrike" kern="1200" cap="none" spc="0" normalizeH="0" baseline="0" noProof="0" dirty="0">
                <a:ln>
                  <a:noFill/>
                </a:ln>
                <a:solidFill>
                  <a:prstClr val="black"/>
                </a:solidFill>
                <a:effectLst/>
                <a:highlight>
                  <a:srgbClr val="00FFFF"/>
                </a:highlight>
                <a:uLnTx/>
                <a:uFillTx/>
                <a:latin typeface="Calibri" panose="020F0502020204030204"/>
                <a:ea typeface="+mn-ea"/>
                <a:cs typeface="+mn-cs"/>
              </a:rPr>
              <a:t>Other European composers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7738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30" grpId="0" animBg="1"/>
      <p:bldP spid="35" grpId="0" animBg="1"/>
      <p:bldP spid="36" grpId="0" animBg="1"/>
      <p:bldP spid="37" grpId="0" animBg="1"/>
      <p:bldP spid="38" grpId="0" animBg="1"/>
      <p:bldP spid="39" grpId="0" animBg="1"/>
      <p:bldP spid="40" grpId="0" animBg="1"/>
      <p:bldP spid="41" grpId="0" animBg="1"/>
      <p:bldP spid="42" grpId="0" animBg="1"/>
      <p:bldP spid="45" grpId="0" animBg="1"/>
      <p:bldP spid="46" grpId="0" animBg="1"/>
      <p:bldP spid="47" grpId="0" animBg="1"/>
      <p:bldP spid="48" grpId="0" animBg="1"/>
      <p:bldP spid="2"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ECE325-FEDA-6D43-9808-F73293DC1BA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3" name="Group 2">
            <a:extLst>
              <a:ext uri="{FF2B5EF4-FFF2-40B4-BE49-F238E27FC236}">
                <a16:creationId xmlns:a16="http://schemas.microsoft.com/office/drawing/2014/main" id="{05007DA8-2ECF-7A49-A331-446A0A4E5C1E}"/>
              </a:ext>
            </a:extLst>
          </p:cNvPr>
          <p:cNvGrpSpPr/>
          <p:nvPr/>
        </p:nvGrpSpPr>
        <p:grpSpPr>
          <a:xfrm>
            <a:off x="1201782" y="-1916119"/>
            <a:ext cx="9679577" cy="8108518"/>
            <a:chOff x="1201782" y="486843"/>
            <a:chExt cx="9679577" cy="8108518"/>
          </a:xfrm>
        </p:grpSpPr>
        <p:grpSp>
          <p:nvGrpSpPr>
            <p:cNvPr id="2" name="Group 1">
              <a:extLst>
                <a:ext uri="{FF2B5EF4-FFF2-40B4-BE49-F238E27FC236}">
                  <a16:creationId xmlns:a16="http://schemas.microsoft.com/office/drawing/2014/main" id="{EC79BAEA-3760-814B-9E26-4F501F8BDBE4}"/>
                </a:ext>
              </a:extLst>
            </p:cNvPr>
            <p:cNvGrpSpPr/>
            <p:nvPr/>
          </p:nvGrpSpPr>
          <p:grpSpPr>
            <a:xfrm>
              <a:off x="1201782" y="486843"/>
              <a:ext cx="9679577" cy="8108518"/>
              <a:chOff x="1201782" y="486843"/>
              <a:chExt cx="9679577" cy="8108518"/>
            </a:xfrm>
          </p:grpSpPr>
          <p:pic>
            <p:nvPicPr>
              <p:cNvPr id="8" name="Picture 7">
                <a:extLst>
                  <a:ext uri="{FF2B5EF4-FFF2-40B4-BE49-F238E27FC236}">
                    <a16:creationId xmlns:a16="http://schemas.microsoft.com/office/drawing/2014/main" id="{D0435C23-084B-F74B-9AC8-5DBAE080B38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201782" y="486843"/>
                <a:ext cx="9679577" cy="8108518"/>
              </a:xfrm>
              <a:prstGeom prst="rect">
                <a:avLst/>
              </a:prstGeom>
            </p:spPr>
          </p:pic>
          <p:sp>
            <p:nvSpPr>
              <p:cNvPr id="38" name="Rounded Rectangle 37">
                <a:extLst>
                  <a:ext uri="{FF2B5EF4-FFF2-40B4-BE49-F238E27FC236}">
                    <a16:creationId xmlns:a16="http://schemas.microsoft.com/office/drawing/2014/main" id="{BB2C2F42-CC79-A845-AD2D-05E43D440F98}"/>
                  </a:ext>
                </a:extLst>
              </p:cNvPr>
              <p:cNvSpPr/>
              <p:nvPr/>
            </p:nvSpPr>
            <p:spPr>
              <a:xfrm>
                <a:off x="2636519" y="1835862"/>
                <a:ext cx="2889071" cy="23769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565AB104-3B96-BE48-AB30-EB71E1F5B155}"/>
                  </a:ext>
                </a:extLst>
              </p:cNvPr>
              <p:cNvSpPr/>
              <p:nvPr/>
            </p:nvSpPr>
            <p:spPr>
              <a:xfrm>
                <a:off x="2943499" y="1316184"/>
                <a:ext cx="2582092" cy="262157"/>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a:extLst>
                  <a:ext uri="{FF2B5EF4-FFF2-40B4-BE49-F238E27FC236}">
                    <a16:creationId xmlns:a16="http://schemas.microsoft.com/office/drawing/2014/main" id="{99065DEE-B03F-384F-B366-64C65F9132D2}"/>
                  </a:ext>
                </a:extLst>
              </p:cNvPr>
              <p:cNvSpPr/>
              <p:nvPr/>
            </p:nvSpPr>
            <p:spPr>
              <a:xfrm>
                <a:off x="2573383" y="1580122"/>
                <a:ext cx="2952208" cy="251234"/>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ounded Rectangle 29">
                <a:extLst>
                  <a:ext uri="{FF2B5EF4-FFF2-40B4-BE49-F238E27FC236}">
                    <a16:creationId xmlns:a16="http://schemas.microsoft.com/office/drawing/2014/main" id="{D0615FB2-2189-EF4D-A2CE-F56E6ED1E94D}"/>
                  </a:ext>
                </a:extLst>
              </p:cNvPr>
              <p:cNvSpPr/>
              <p:nvPr/>
            </p:nvSpPr>
            <p:spPr>
              <a:xfrm>
                <a:off x="2455818" y="2990318"/>
                <a:ext cx="3069774" cy="289494"/>
              </a:xfrm>
              <a:prstGeom prst="roundRect">
                <a:avLst/>
              </a:prstGeom>
              <a:solidFill>
                <a:schemeClr val="accent4">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ounded Rectangle 34">
                <a:extLst>
                  <a:ext uri="{FF2B5EF4-FFF2-40B4-BE49-F238E27FC236}">
                    <a16:creationId xmlns:a16="http://schemas.microsoft.com/office/drawing/2014/main" id="{518C30AA-D091-244A-9B35-7FCB6910E7A3}"/>
                  </a:ext>
                </a:extLst>
              </p:cNvPr>
              <p:cNvSpPr/>
              <p:nvPr/>
            </p:nvSpPr>
            <p:spPr>
              <a:xfrm>
                <a:off x="2636521" y="1078332"/>
                <a:ext cx="2889070" cy="253794"/>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ounded Rectangle 36">
                <a:extLst>
                  <a:ext uri="{FF2B5EF4-FFF2-40B4-BE49-F238E27FC236}">
                    <a16:creationId xmlns:a16="http://schemas.microsoft.com/office/drawing/2014/main" id="{6DFDDF28-E92F-C443-98AA-343474D79F1D}"/>
                  </a:ext>
                </a:extLst>
              </p:cNvPr>
              <p:cNvSpPr/>
              <p:nvPr/>
            </p:nvSpPr>
            <p:spPr>
              <a:xfrm>
                <a:off x="2636521" y="2066829"/>
                <a:ext cx="2889070" cy="234915"/>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38">
                <a:extLst>
                  <a:ext uri="{FF2B5EF4-FFF2-40B4-BE49-F238E27FC236}">
                    <a16:creationId xmlns:a16="http://schemas.microsoft.com/office/drawing/2014/main" id="{7E65C054-A312-2344-9E18-A60879D07FEC}"/>
                  </a:ext>
                </a:extLst>
              </p:cNvPr>
              <p:cNvSpPr/>
              <p:nvPr/>
            </p:nvSpPr>
            <p:spPr>
              <a:xfrm>
                <a:off x="2286000" y="2295563"/>
                <a:ext cx="3239592" cy="236033"/>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ounded Rectangle 39">
                <a:extLst>
                  <a:ext uri="{FF2B5EF4-FFF2-40B4-BE49-F238E27FC236}">
                    <a16:creationId xmlns:a16="http://schemas.microsoft.com/office/drawing/2014/main" id="{4961457C-2805-4941-9006-F11A858E9111}"/>
                  </a:ext>
                </a:extLst>
              </p:cNvPr>
              <p:cNvSpPr/>
              <p:nvPr/>
            </p:nvSpPr>
            <p:spPr>
              <a:xfrm>
                <a:off x="2695306" y="3263224"/>
                <a:ext cx="2830284"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ounded Rectangle 40">
                <a:extLst>
                  <a:ext uri="{FF2B5EF4-FFF2-40B4-BE49-F238E27FC236}">
                    <a16:creationId xmlns:a16="http://schemas.microsoft.com/office/drawing/2014/main" id="{940FE760-DF4E-AB47-BDE0-2EF23124D578}"/>
                  </a:ext>
                </a:extLst>
              </p:cNvPr>
              <p:cNvSpPr/>
              <p:nvPr/>
            </p:nvSpPr>
            <p:spPr>
              <a:xfrm>
                <a:off x="2943499" y="5912999"/>
                <a:ext cx="2582091"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ounded Rectangle 41">
                <a:extLst>
                  <a:ext uri="{FF2B5EF4-FFF2-40B4-BE49-F238E27FC236}">
                    <a16:creationId xmlns:a16="http://schemas.microsoft.com/office/drawing/2014/main" id="{7637A1BD-3EB8-B944-92EE-B81C0220C87E}"/>
                  </a:ext>
                </a:extLst>
              </p:cNvPr>
              <p:cNvSpPr/>
              <p:nvPr/>
            </p:nvSpPr>
            <p:spPr>
              <a:xfrm>
                <a:off x="2286000" y="6169817"/>
                <a:ext cx="3239590" cy="236032"/>
              </a:xfrm>
              <a:prstGeom prst="roundRect">
                <a:avLst/>
              </a:prstGeom>
              <a:solidFill>
                <a:schemeClr val="accent6">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ounded Rectangle 44">
                <a:extLst>
                  <a:ext uri="{FF2B5EF4-FFF2-40B4-BE49-F238E27FC236}">
                    <a16:creationId xmlns:a16="http://schemas.microsoft.com/office/drawing/2014/main" id="{528452D5-7C7E-6948-BE5B-AF3CDAE87BA2}"/>
                  </a:ext>
                </a:extLst>
              </p:cNvPr>
              <p:cNvSpPr/>
              <p:nvPr/>
            </p:nvSpPr>
            <p:spPr>
              <a:xfrm>
                <a:off x="2808514" y="2516015"/>
                <a:ext cx="2730141" cy="244315"/>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ounded Rectangle 45">
                <a:extLst>
                  <a:ext uri="{FF2B5EF4-FFF2-40B4-BE49-F238E27FC236}">
                    <a16:creationId xmlns:a16="http://schemas.microsoft.com/office/drawing/2014/main" id="{D22B0CA3-C720-8B4F-949B-3E78FBAA8774}"/>
                  </a:ext>
                </a:extLst>
              </p:cNvPr>
              <p:cNvSpPr/>
              <p:nvPr/>
            </p:nvSpPr>
            <p:spPr>
              <a:xfrm>
                <a:off x="2037807" y="2761585"/>
                <a:ext cx="3513912" cy="236032"/>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ounded Rectangle 46">
                <a:extLst>
                  <a:ext uri="{FF2B5EF4-FFF2-40B4-BE49-F238E27FC236}">
                    <a16:creationId xmlns:a16="http://schemas.microsoft.com/office/drawing/2014/main" id="{6F932ADC-D33C-F347-B408-01E9C6DFF76C}"/>
                  </a:ext>
                </a:extLst>
              </p:cNvPr>
              <p:cNvSpPr/>
              <p:nvPr/>
            </p:nvSpPr>
            <p:spPr>
              <a:xfrm>
                <a:off x="2795449" y="6398889"/>
                <a:ext cx="2730141" cy="244315"/>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ounded Rectangle 47">
                <a:extLst>
                  <a:ext uri="{FF2B5EF4-FFF2-40B4-BE49-F238E27FC236}">
                    <a16:creationId xmlns:a16="http://schemas.microsoft.com/office/drawing/2014/main" id="{F5BFF386-D3B3-324F-9B3D-5C59368C7733}"/>
                  </a:ext>
                </a:extLst>
              </p:cNvPr>
              <p:cNvSpPr/>
              <p:nvPr/>
            </p:nvSpPr>
            <p:spPr>
              <a:xfrm>
                <a:off x="3296093" y="6873782"/>
                <a:ext cx="2229497" cy="244314"/>
              </a:xfrm>
              <a:prstGeom prst="roundRect">
                <a:avLst/>
              </a:prstGeom>
              <a:solidFill>
                <a:schemeClr val="accent1">
                  <a:alpha val="2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6" name="Rounded Rectangle 35">
              <a:extLst>
                <a:ext uri="{FF2B5EF4-FFF2-40B4-BE49-F238E27FC236}">
                  <a16:creationId xmlns:a16="http://schemas.microsoft.com/office/drawing/2014/main" id="{94B123DB-E3F8-894E-9B79-2A3A69F3EDF1}"/>
                </a:ext>
              </a:extLst>
            </p:cNvPr>
            <p:cNvSpPr/>
            <p:nvPr/>
          </p:nvSpPr>
          <p:spPr>
            <a:xfrm>
              <a:off x="2636521" y="1822320"/>
              <a:ext cx="2889070" cy="237691"/>
            </a:xfrm>
            <a:prstGeom prst="roundRect">
              <a:avLst/>
            </a:prstGeom>
            <a:noFill/>
            <a:ln w="19050">
              <a:solidFill>
                <a:srgbClr val="70AD4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1" name="TextBox 20">
            <a:extLst>
              <a:ext uri="{FF2B5EF4-FFF2-40B4-BE49-F238E27FC236}">
                <a16:creationId xmlns:a16="http://schemas.microsoft.com/office/drawing/2014/main" id="{229E6F20-9231-8844-8E6F-1002EF9106D4}"/>
              </a:ext>
            </a:extLst>
          </p:cNvPr>
          <p:cNvSpPr txBox="1"/>
          <p:nvPr/>
        </p:nvSpPr>
        <p:spPr>
          <a:xfrm>
            <a:off x="2391556" y="-593124"/>
            <a:ext cx="3767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solidFill>
                <a:effectLst/>
                <a:uLnTx/>
                <a:uFillTx/>
                <a:latin typeface="Calibri" panose="020F0502020204030204"/>
                <a:ea typeface="+mn-ea"/>
                <a:cs typeface="+mn-cs"/>
              </a:rPr>
              <a:t>*</a:t>
            </a:r>
          </a:p>
        </p:txBody>
      </p:sp>
      <p:sp>
        <p:nvSpPr>
          <p:cNvPr id="22" name="TextBox 21">
            <a:extLst>
              <a:ext uri="{FF2B5EF4-FFF2-40B4-BE49-F238E27FC236}">
                <a16:creationId xmlns:a16="http://schemas.microsoft.com/office/drawing/2014/main" id="{76798BBE-C72A-E54E-9540-002EC69A8B77}"/>
              </a:ext>
            </a:extLst>
          </p:cNvPr>
          <p:cNvSpPr txBox="1"/>
          <p:nvPr/>
        </p:nvSpPr>
        <p:spPr>
          <a:xfrm>
            <a:off x="2052975" y="-115953"/>
            <a:ext cx="3767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solidFill>
                <a:effectLst/>
                <a:uLnTx/>
                <a:uFillTx/>
                <a:latin typeface="Calibri" panose="020F0502020204030204"/>
                <a:ea typeface="+mn-ea"/>
                <a:cs typeface="+mn-cs"/>
              </a:rPr>
              <a:t>*</a:t>
            </a:r>
          </a:p>
        </p:txBody>
      </p:sp>
      <p:sp>
        <p:nvSpPr>
          <p:cNvPr id="23" name="TextBox 22">
            <a:extLst>
              <a:ext uri="{FF2B5EF4-FFF2-40B4-BE49-F238E27FC236}">
                <a16:creationId xmlns:a16="http://schemas.microsoft.com/office/drawing/2014/main" id="{D05C2F1A-9F58-834F-A0E8-D6419ABBA124}"/>
              </a:ext>
            </a:extLst>
          </p:cNvPr>
          <p:cNvSpPr txBox="1"/>
          <p:nvPr/>
        </p:nvSpPr>
        <p:spPr>
          <a:xfrm>
            <a:off x="8933152" y="4203582"/>
            <a:ext cx="2612141" cy="738664"/>
          </a:xfrm>
          <a:prstGeom prst="rect">
            <a:avLst/>
          </a:prstGeom>
          <a:solidFill>
            <a:schemeClr val="accent5">
              <a:alpha val="69804"/>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is</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graphic</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representation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the</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information</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provided</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_tradnl" sz="1400" b="0" i="0" u="none" strike="noStrike" kern="1200" cap="none" spc="0" normalizeH="0" baseline="0" noProof="0" dirty="0" err="1">
                <a:ln>
                  <a:noFill/>
                </a:ln>
                <a:solidFill>
                  <a:prstClr val="black"/>
                </a:solidFill>
                <a:effectLst/>
                <a:uLnTx/>
                <a:uFillTx/>
                <a:latin typeface="Calibri" panose="020F0502020204030204"/>
                <a:ea typeface="+mn-ea"/>
                <a:cs typeface="+mn-cs"/>
              </a:rPr>
              <a:t>by</a:t>
            </a:r>
            <a:r>
              <a:rPr kumimoji="0" lang="es-ES_tradnl" sz="1400" b="0" i="0" u="none" strike="noStrike" kern="1200" cap="none" spc="0" normalizeH="0" baseline="0" noProof="0" dirty="0">
                <a:ln>
                  <a:noFill/>
                </a:ln>
                <a:solidFill>
                  <a:prstClr val="black"/>
                </a:solidFill>
                <a:effectLst/>
                <a:uLnTx/>
                <a:uFillTx/>
                <a:latin typeface="Calibri" panose="020F0502020204030204"/>
                <a:ea typeface="+mn-ea"/>
                <a:cs typeface="+mn-cs"/>
              </a:rPr>
              <a:t> Morales Abril (2015, 119–120)</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6042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81F86B-FD34-D34A-B49D-D780D0ACC8DB}"/>
              </a:ext>
            </a:extLst>
          </p:cNvPr>
          <p:cNvSpPr>
            <a:spLocks noGrp="1"/>
          </p:cNvSpPr>
          <p:nvPr>
            <p:ph type="title"/>
          </p:nvPr>
        </p:nvSpPr>
        <p:spPr>
          <a:xfrm>
            <a:off x="572493" y="238539"/>
            <a:ext cx="11047013" cy="1434415"/>
          </a:xfrm>
        </p:spPr>
        <p:txBody>
          <a:bodyPr anchor="b">
            <a:normAutofit/>
          </a:bodyPr>
          <a:lstStyle/>
          <a:p>
            <a:r>
              <a:rPr lang="en-US" sz="5400"/>
              <a:t>The GuatC Collection</a:t>
            </a:r>
          </a:p>
        </p:txBody>
      </p:sp>
      <p:sp>
        <p:nvSpPr>
          <p:cNvPr id="52"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9533E6CD-5305-E04D-AA3F-4A398E5E6F1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2113" b="-7986"/>
          <a:stretch/>
        </p:blipFill>
        <p:spPr>
          <a:xfrm>
            <a:off x="572493" y="1880752"/>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a:extLst>
              <a:ext uri="{FF2B5EF4-FFF2-40B4-BE49-F238E27FC236}">
                <a16:creationId xmlns:a16="http://schemas.microsoft.com/office/drawing/2014/main" id="{4728C8BF-4EDF-A44E-8F41-3D5C65BB428C}"/>
              </a:ext>
            </a:extLst>
          </p:cNvPr>
          <p:cNvSpPr>
            <a:spLocks noGrp="1"/>
          </p:cNvSpPr>
          <p:nvPr>
            <p:ph idx="1"/>
          </p:nvPr>
        </p:nvSpPr>
        <p:spPr>
          <a:xfrm>
            <a:off x="4905955" y="2348702"/>
            <a:ext cx="6713552" cy="3320578"/>
          </a:xfrm>
        </p:spPr>
        <p:txBody>
          <a:bodyPr anchor="ctr">
            <a:normAutofit/>
          </a:bodyPr>
          <a:lstStyle/>
          <a:p>
            <a:pPr marL="0" indent="0">
              <a:buNone/>
            </a:pPr>
            <a:r>
              <a:rPr lang="en-US" sz="2400" b="1" dirty="0"/>
              <a:t>Collection of sacred music</a:t>
            </a:r>
          </a:p>
          <a:p>
            <a:r>
              <a:rPr lang="en-US" sz="2400" b="1" dirty="0"/>
              <a:t>GuatC 1:</a:t>
            </a:r>
            <a:r>
              <a:rPr lang="en-US" sz="2400" b="1" dirty="0">
                <a:sym typeface="Wingdings" pitchFamily="2" charset="2"/>
              </a:rPr>
              <a:t> </a:t>
            </a:r>
            <a:r>
              <a:rPr lang="en-US" sz="2400" dirty="0"/>
              <a:t>Book of Masses</a:t>
            </a:r>
          </a:p>
          <a:p>
            <a:r>
              <a:rPr lang="en-US" sz="2400" b="1" dirty="0"/>
              <a:t>GuatC 2:</a:t>
            </a:r>
            <a:r>
              <a:rPr lang="en-US" sz="2400" b="1" dirty="0">
                <a:sym typeface="Wingdings" pitchFamily="2" charset="2"/>
              </a:rPr>
              <a:t> </a:t>
            </a:r>
            <a:r>
              <a:rPr lang="en-US" sz="2400" dirty="0"/>
              <a:t>Book of hymns and Magnificats</a:t>
            </a:r>
          </a:p>
          <a:p>
            <a:r>
              <a:rPr lang="en-US" sz="2400" b="1" dirty="0"/>
              <a:t>GuatC 3:</a:t>
            </a:r>
            <a:r>
              <a:rPr lang="en-US" sz="2400" b="1" dirty="0">
                <a:sym typeface="Wingdings" pitchFamily="2" charset="2"/>
              </a:rPr>
              <a:t> </a:t>
            </a:r>
            <a:r>
              <a:rPr lang="en-US" sz="2400" dirty="0">
                <a:sym typeface="Wingdings" pitchFamily="2" charset="2"/>
              </a:rPr>
              <a:t>M</a:t>
            </a:r>
            <a:r>
              <a:rPr lang="en-US" sz="2400" dirty="0"/>
              <a:t>iscellaneous sacred contents</a:t>
            </a:r>
          </a:p>
          <a:p>
            <a:r>
              <a:rPr lang="en-US" sz="2400" b="1" dirty="0"/>
              <a:t>GuatC 4:</a:t>
            </a:r>
            <a:r>
              <a:rPr lang="en-US" sz="2400" b="1" dirty="0">
                <a:sym typeface="Wingdings" pitchFamily="2" charset="2"/>
              </a:rPr>
              <a:t> </a:t>
            </a:r>
            <a:r>
              <a:rPr lang="en-US" sz="2400" dirty="0">
                <a:sym typeface="Wingdings" pitchFamily="2" charset="2"/>
              </a:rPr>
              <a:t>B</a:t>
            </a:r>
            <a:r>
              <a:rPr lang="en-US" sz="2400" dirty="0"/>
              <a:t>ook for Holy Week and Salve services</a:t>
            </a:r>
          </a:p>
          <a:p>
            <a:r>
              <a:rPr lang="en-US" sz="2400" b="1" dirty="0"/>
              <a:t>GuatC 5: </a:t>
            </a:r>
            <a:r>
              <a:rPr lang="en-US" sz="2400" dirty="0"/>
              <a:t>Miscellaneous sacred contents</a:t>
            </a:r>
          </a:p>
          <a:p>
            <a:r>
              <a:rPr lang="en-US" sz="2400" b="1" dirty="0"/>
              <a:t>GuatC 6:</a:t>
            </a:r>
            <a:r>
              <a:rPr lang="en-US" sz="2400" b="1" dirty="0">
                <a:sym typeface="Wingdings" pitchFamily="2" charset="2"/>
              </a:rPr>
              <a:t> </a:t>
            </a:r>
            <a:r>
              <a:rPr lang="en-US" sz="2400" dirty="0"/>
              <a:t>Office of the Dead</a:t>
            </a:r>
          </a:p>
        </p:txBody>
      </p:sp>
      <p:sp>
        <p:nvSpPr>
          <p:cNvPr id="4" name="Slide Number Placeholder 3">
            <a:extLst>
              <a:ext uri="{FF2B5EF4-FFF2-40B4-BE49-F238E27FC236}">
                <a16:creationId xmlns:a16="http://schemas.microsoft.com/office/drawing/2014/main" id="{8AEA5457-ED86-AC43-A9DE-6369D531A084}"/>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9402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 name="Rectangle 107">
            <a:extLst>
              <a:ext uri="{FF2B5EF4-FFF2-40B4-BE49-F238E27FC236}">
                <a16:creationId xmlns:a16="http://schemas.microsoft.com/office/drawing/2014/main" id="{A3329613-8831-4432-A62D-24A970EFC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4318E11-2C15-CF4C-AB80-383250A2A9F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950"/>
          <a:stretch/>
        </p:blipFill>
        <p:spPr>
          <a:xfrm rot="16200000">
            <a:off x="-747861" y="1463812"/>
            <a:ext cx="5754028" cy="3350527"/>
          </a:xfrm>
          <a:prstGeom prst="rect">
            <a:avLst/>
          </a:prstGeom>
        </p:spPr>
      </p:pic>
      <p:sp>
        <p:nvSpPr>
          <p:cNvPr id="132" name="Rectangle 109">
            <a:extLst>
              <a:ext uri="{FF2B5EF4-FFF2-40B4-BE49-F238E27FC236}">
                <a16:creationId xmlns:a16="http://schemas.microsoft.com/office/drawing/2014/main" id="{2A4E0407-A637-4681-B905-C53E4216C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9744" y="685800"/>
            <a:ext cx="4232512" cy="54864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4298CB-E192-4745-A17C-E11959748717}"/>
              </a:ext>
            </a:extLst>
          </p:cNvPr>
          <p:cNvSpPr>
            <a:spLocks noGrp="1"/>
          </p:cNvSpPr>
          <p:nvPr>
            <p:ph type="title"/>
          </p:nvPr>
        </p:nvSpPr>
        <p:spPr>
          <a:xfrm>
            <a:off x="4489597" y="1195378"/>
            <a:ext cx="3212806" cy="2546309"/>
          </a:xfrm>
        </p:spPr>
        <p:txBody>
          <a:bodyPr vert="horz" lIns="91440" tIns="45720" rIns="91440" bIns="45720" rtlCol="0" anchor="b">
            <a:normAutofit/>
          </a:bodyPr>
          <a:lstStyle/>
          <a:p>
            <a:pPr algn="ctr"/>
            <a:r>
              <a:rPr lang="en-US" sz="3600" kern="1200" dirty="0">
                <a:ln>
                  <a:solidFill>
                    <a:schemeClr val="bg1"/>
                  </a:solidFill>
                </a:ln>
                <a:solidFill>
                  <a:schemeClr val="bg1">
                    <a:alpha val="60000"/>
                  </a:schemeClr>
                </a:solidFill>
                <a:latin typeface="+mj-lt"/>
                <a:ea typeface="+mj-ea"/>
                <a:cs typeface="+mj-cs"/>
              </a:rPr>
              <a:t>GuatC 1</a:t>
            </a:r>
            <a:br>
              <a:rPr lang="en-US" sz="3600" dirty="0">
                <a:ln>
                  <a:solidFill>
                    <a:schemeClr val="bg1"/>
                  </a:solidFill>
                </a:ln>
                <a:solidFill>
                  <a:schemeClr val="bg1">
                    <a:alpha val="60000"/>
                  </a:schemeClr>
                </a:solidFill>
              </a:rPr>
            </a:br>
            <a:r>
              <a:rPr lang="en-US" sz="3600" kern="1200" dirty="0">
                <a:ln>
                  <a:solidFill>
                    <a:schemeClr val="bg1"/>
                  </a:solidFill>
                </a:ln>
                <a:solidFill>
                  <a:schemeClr val="bg1">
                    <a:alpha val="60000"/>
                  </a:schemeClr>
                </a:solidFill>
                <a:latin typeface="+mj-lt"/>
                <a:ea typeface="+mj-ea"/>
                <a:cs typeface="+mj-cs"/>
              </a:rPr>
              <a:t>Book of Masses</a:t>
            </a:r>
          </a:p>
        </p:txBody>
      </p:sp>
      <p:pic>
        <p:nvPicPr>
          <p:cNvPr id="7" name="Picture 6">
            <a:extLst>
              <a:ext uri="{FF2B5EF4-FFF2-40B4-BE49-F238E27FC236}">
                <a16:creationId xmlns:a16="http://schemas.microsoft.com/office/drawing/2014/main" id="{02CD2F2E-A306-FF4C-B54E-066A184BB87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rot="16200000">
            <a:off x="7397701" y="1675680"/>
            <a:ext cx="5330291" cy="3350528"/>
          </a:xfrm>
          <a:prstGeom prst="rect">
            <a:avLst/>
          </a:prstGeom>
        </p:spPr>
      </p:pic>
      <p:sp>
        <p:nvSpPr>
          <p:cNvPr id="117" name="Content Placeholder 2">
            <a:extLst>
              <a:ext uri="{FF2B5EF4-FFF2-40B4-BE49-F238E27FC236}">
                <a16:creationId xmlns:a16="http://schemas.microsoft.com/office/drawing/2014/main" id="{0AAC40B7-EAA3-2E47-BC52-D27C409E3916}"/>
              </a:ext>
            </a:extLst>
          </p:cNvPr>
          <p:cNvSpPr>
            <a:spLocks noGrp="1"/>
          </p:cNvSpPr>
          <p:nvPr>
            <p:ph idx="1"/>
          </p:nvPr>
        </p:nvSpPr>
        <p:spPr>
          <a:xfrm>
            <a:off x="4088674" y="4427487"/>
            <a:ext cx="4123582" cy="1483803"/>
          </a:xfrm>
        </p:spPr>
        <p:txBody>
          <a:bodyPr>
            <a:normAutofit lnSpcReduction="10000"/>
          </a:bodyPr>
          <a:lstStyle/>
          <a:p>
            <a:r>
              <a:rPr lang="en-US" sz="2400" dirty="0">
                <a:solidFill>
                  <a:schemeClr val="bg1"/>
                </a:solidFill>
              </a:rPr>
              <a:t>12 masses</a:t>
            </a:r>
          </a:p>
          <a:p>
            <a:r>
              <a:rPr lang="en-US" sz="2400" dirty="0">
                <a:solidFill>
                  <a:schemeClr val="bg1"/>
                </a:solidFill>
              </a:rPr>
              <a:t>15 polyphonic liturgical pieces (eighteenth-century addition)</a:t>
            </a:r>
          </a:p>
        </p:txBody>
      </p:sp>
      <p:sp>
        <p:nvSpPr>
          <p:cNvPr id="8" name="TextBox 7">
            <a:extLst>
              <a:ext uri="{FF2B5EF4-FFF2-40B4-BE49-F238E27FC236}">
                <a16:creationId xmlns:a16="http://schemas.microsoft.com/office/drawing/2014/main" id="{77D06F00-40CE-C64D-913E-369199A05A1E}"/>
              </a:ext>
            </a:extLst>
          </p:cNvPr>
          <p:cNvSpPr txBox="1"/>
          <p:nvPr/>
        </p:nvSpPr>
        <p:spPr>
          <a:xfrm>
            <a:off x="453889" y="5772090"/>
            <a:ext cx="3350527" cy="400110"/>
          </a:xfrm>
          <a:prstGeom prst="rect">
            <a:avLst/>
          </a:prstGeom>
          <a:solidFill>
            <a:schemeClr val="tx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0" i="0" u="none" strike="noStrike" kern="1200" cap="none" spc="0" normalizeH="0" baseline="0" noProof="0" dirty="0">
                <a:ln>
                  <a:noFill/>
                </a:ln>
                <a:solidFill>
                  <a:prstClr val="white"/>
                </a:solidFill>
                <a:effectLst/>
                <a:uLnTx/>
                <a:uFillTx/>
                <a:latin typeface="Calibri" panose="020F0502020204030204"/>
                <a:ea typeface="+mn-ea"/>
                <a:cs typeface="+mn-cs"/>
              </a:rPr>
              <a:t>GuatC 1, folio 0r</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1D849C7C-20FF-C54E-B373-E2D21AEDAE0C}"/>
              </a:ext>
            </a:extLst>
          </p:cNvPr>
          <p:cNvSpPr txBox="1"/>
          <p:nvPr/>
        </p:nvSpPr>
        <p:spPr>
          <a:xfrm>
            <a:off x="8306936" y="5816035"/>
            <a:ext cx="3350527" cy="400110"/>
          </a:xfrm>
          <a:prstGeom prst="rect">
            <a:avLst/>
          </a:prstGeom>
          <a:solidFill>
            <a:schemeClr val="tx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0" i="0" u="none" strike="noStrike" kern="1200" cap="none" spc="0" normalizeH="0" baseline="0" noProof="0" dirty="0">
                <a:ln>
                  <a:noFill/>
                </a:ln>
                <a:solidFill>
                  <a:prstClr val="white"/>
                </a:solidFill>
                <a:effectLst/>
                <a:uLnTx/>
                <a:uFillTx/>
                <a:latin typeface="Calibri" panose="020F0502020204030204"/>
                <a:ea typeface="+mn-ea"/>
                <a:cs typeface="+mn-cs"/>
              </a:rPr>
              <a:t>GuatC 1, folio 1r</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CEA5BCE7-732E-FC47-8480-7318A6413E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516BDC-2EEF-D84D-AE1A-346AD4C669A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84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8188-0981-CB46-9A0B-D75F46DBA6AB}"/>
              </a:ext>
            </a:extLst>
          </p:cNvPr>
          <p:cNvSpPr>
            <a:spLocks noGrp="1"/>
          </p:cNvSpPr>
          <p:nvPr>
            <p:ph type="title"/>
          </p:nvPr>
        </p:nvSpPr>
        <p:spPr>
          <a:xfrm>
            <a:off x="838200" y="365125"/>
            <a:ext cx="10515600" cy="1040343"/>
          </a:xfrm>
        </p:spPr>
        <p:txBody>
          <a:bodyPr/>
          <a:lstStyle/>
          <a:p>
            <a:r>
              <a:rPr lang="en-US" dirty="0"/>
              <a:t>Acknowledgements</a:t>
            </a:r>
          </a:p>
        </p:txBody>
      </p:sp>
      <p:sp>
        <p:nvSpPr>
          <p:cNvPr id="3" name="Content Placeholder 2">
            <a:extLst>
              <a:ext uri="{FF2B5EF4-FFF2-40B4-BE49-F238E27FC236}">
                <a16:creationId xmlns:a16="http://schemas.microsoft.com/office/drawing/2014/main" id="{68E51209-8D7E-1B47-B094-63617A699F0C}"/>
              </a:ext>
            </a:extLst>
          </p:cNvPr>
          <p:cNvSpPr>
            <a:spLocks noGrp="1"/>
          </p:cNvSpPr>
          <p:nvPr>
            <p:ph idx="1"/>
          </p:nvPr>
        </p:nvSpPr>
        <p:spPr>
          <a:xfrm>
            <a:off x="838200" y="1405468"/>
            <a:ext cx="10515600" cy="4950882"/>
          </a:xfrm>
        </p:spPr>
        <p:txBody>
          <a:bodyPr anchor="ctr">
            <a:noAutofit/>
          </a:bodyPr>
          <a:lstStyle/>
          <a:p>
            <a:pPr>
              <a:lnSpc>
                <a:spcPct val="120000"/>
              </a:lnSpc>
              <a:spcBef>
                <a:spcPts val="400"/>
              </a:spcBef>
            </a:pPr>
            <a:r>
              <a:rPr lang="en-US" sz="2400" b="1" dirty="0"/>
              <a:t>David Rizo</a:t>
            </a:r>
            <a:r>
              <a:rPr lang="en-US" sz="2400" dirty="0"/>
              <a:t>, </a:t>
            </a:r>
            <a:r>
              <a:rPr lang="en-US" sz="2400" b="1" dirty="0"/>
              <a:t>Karen Desmond</a:t>
            </a:r>
            <a:r>
              <a:rPr lang="en-US" sz="2400" dirty="0"/>
              <a:t>, and </a:t>
            </a:r>
            <a:r>
              <a:rPr lang="en-US" sz="2400" b="1" dirty="0"/>
              <a:t>Juliette </a:t>
            </a:r>
            <a:r>
              <a:rPr lang="en-US" sz="2400" b="1" dirty="0" err="1"/>
              <a:t>Regimbal</a:t>
            </a:r>
            <a:r>
              <a:rPr lang="en-US" sz="2400" b="1" dirty="0"/>
              <a:t> </a:t>
            </a:r>
            <a:r>
              <a:rPr lang="en-US" sz="2400" dirty="0"/>
              <a:t>who made possible for </a:t>
            </a:r>
            <a:r>
              <a:rPr lang="en-US" sz="2400" dirty="0" err="1"/>
              <a:t>MuRET</a:t>
            </a:r>
            <a:r>
              <a:rPr lang="en-US" sz="2400" dirty="0"/>
              <a:t> and the MP-Editor to communicate with one another</a:t>
            </a:r>
          </a:p>
          <a:p>
            <a:pPr>
              <a:lnSpc>
                <a:spcPct val="120000"/>
              </a:lnSpc>
              <a:spcBef>
                <a:spcPts val="400"/>
              </a:spcBef>
            </a:pPr>
            <a:r>
              <a:rPr lang="en-US" sz="2400" b="1" dirty="0"/>
              <a:t>Craig Stuart Sapp </a:t>
            </a:r>
            <a:r>
              <a:rPr lang="en-US" sz="2400" dirty="0"/>
              <a:t>whose work allowed for the dissonance labels to be displayed in the MP-Editor</a:t>
            </a:r>
          </a:p>
          <a:p>
            <a:pPr>
              <a:lnSpc>
                <a:spcPct val="120000"/>
              </a:lnSpc>
              <a:spcBef>
                <a:spcPts val="400"/>
              </a:spcBef>
            </a:pPr>
            <a:r>
              <a:rPr lang="en-US" sz="2400" b="1" dirty="0"/>
              <a:t>Jorge Calvo-Zaragoza</a:t>
            </a:r>
            <a:r>
              <a:rPr lang="en-US" sz="2400" dirty="0"/>
              <a:t>, </a:t>
            </a:r>
            <a:r>
              <a:rPr lang="en-US" sz="2400" b="1" dirty="0"/>
              <a:t>Francisco Castellanos</a:t>
            </a:r>
            <a:r>
              <a:rPr lang="en-US" sz="2400" dirty="0"/>
              <a:t>, </a:t>
            </a:r>
            <a:r>
              <a:rPr lang="en-US" sz="2400" b="1" dirty="0"/>
              <a:t>Antonio Ríos Vila</a:t>
            </a:r>
            <a:r>
              <a:rPr lang="en-US" sz="2400" dirty="0"/>
              <a:t>, </a:t>
            </a:r>
            <a:r>
              <a:rPr lang="en-US" sz="2400" b="1" dirty="0"/>
              <a:t>and José Manuel Iñesta </a:t>
            </a:r>
            <a:r>
              <a:rPr lang="en-US" sz="2400" dirty="0"/>
              <a:t>who developed the models used in </a:t>
            </a:r>
            <a:r>
              <a:rPr lang="en-US" sz="2400" dirty="0" err="1"/>
              <a:t>MuRET</a:t>
            </a:r>
            <a:endParaRPr lang="en-US" sz="2400" dirty="0"/>
          </a:p>
          <a:p>
            <a:pPr>
              <a:lnSpc>
                <a:spcPct val="120000"/>
              </a:lnSpc>
              <a:spcBef>
                <a:spcPts val="400"/>
              </a:spcBef>
            </a:pPr>
            <a:r>
              <a:rPr lang="en-US" sz="2400" b="1" dirty="0"/>
              <a:t>Laurent Pugin </a:t>
            </a:r>
            <a:r>
              <a:rPr lang="en-US" sz="2400" dirty="0"/>
              <a:t>for his work on Verovio</a:t>
            </a:r>
          </a:p>
          <a:p>
            <a:pPr>
              <a:lnSpc>
                <a:spcPct val="120000"/>
              </a:lnSpc>
              <a:spcBef>
                <a:spcPts val="400"/>
              </a:spcBef>
            </a:pPr>
            <a:r>
              <a:rPr lang="en-US" sz="2400" b="1" dirty="0"/>
              <a:t>Alexander Morgan </a:t>
            </a:r>
            <a:r>
              <a:rPr lang="en-US" sz="2400" dirty="0"/>
              <a:t>for his Renaissance dissonance labeler script</a:t>
            </a:r>
          </a:p>
          <a:p>
            <a:pPr>
              <a:lnSpc>
                <a:spcPct val="120000"/>
              </a:lnSpc>
              <a:spcBef>
                <a:spcPts val="400"/>
              </a:spcBef>
            </a:pPr>
            <a:r>
              <a:rPr lang="en-US" sz="2400" b="1" dirty="0"/>
              <a:t>Peter Schubert</a:t>
            </a:r>
            <a:r>
              <a:rPr lang="en-US" sz="2400" dirty="0"/>
              <a:t> for his expert advice in counterpoint matters</a:t>
            </a:r>
          </a:p>
          <a:p>
            <a:pPr>
              <a:lnSpc>
                <a:spcPct val="120000"/>
              </a:lnSpc>
              <a:spcBef>
                <a:spcPts val="400"/>
              </a:spcBef>
            </a:pPr>
            <a:r>
              <a:rPr lang="en-CA" sz="2400" b="1" dirty="0"/>
              <a:t>Geneviève Gates-</a:t>
            </a:r>
            <a:r>
              <a:rPr lang="en-CA" sz="2400" b="1" dirty="0" err="1"/>
              <a:t>Panneton</a:t>
            </a:r>
            <a:r>
              <a:rPr lang="en-CA" sz="2400" dirty="0"/>
              <a:t> for her work in the experiment</a:t>
            </a:r>
            <a:endParaRPr lang="en-US" sz="2400" b="1" dirty="0"/>
          </a:p>
        </p:txBody>
      </p:sp>
      <p:sp>
        <p:nvSpPr>
          <p:cNvPr id="4" name="Slide Number Placeholder 3">
            <a:extLst>
              <a:ext uri="{FF2B5EF4-FFF2-40B4-BE49-F238E27FC236}">
                <a16:creationId xmlns:a16="http://schemas.microsoft.com/office/drawing/2014/main" id="{3264711E-C719-D544-A33B-6A1285FE31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8FBB84-544C-A04C-A3A4-7697852BFAF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5085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1207</TotalTime>
  <Words>4037</Words>
  <Application>Microsoft Macintosh PowerPoint</Application>
  <PresentationFormat>Widescreen</PresentationFormat>
  <Paragraphs>553</Paragraphs>
  <Slides>49</Slides>
  <Notes>49</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49</vt:i4>
      </vt:variant>
    </vt:vector>
  </HeadingPairs>
  <TitlesOfParts>
    <vt:vector size="57" baseType="lpstr">
      <vt:lpstr>Arial</vt:lpstr>
      <vt:lpstr>Calibri</vt:lpstr>
      <vt:lpstr>Calibri Light</vt:lpstr>
      <vt:lpstr>Times New Roman</vt:lpstr>
      <vt:lpstr>Wingdings</vt:lpstr>
      <vt:lpstr>Office Theme</vt:lpstr>
      <vt:lpstr>1_Office Theme</vt:lpstr>
      <vt:lpstr>2_Office Theme</vt:lpstr>
      <vt:lpstr>From Manuscript to Pixel:  Tips for a Digitizing Campaign and  for Handling Endangered Sources   Digitization of Polyphonic Choirbooks in Guatemala</vt:lpstr>
      <vt:lpstr>Outline</vt:lpstr>
      <vt:lpstr>The GuatC Collection</vt:lpstr>
      <vt:lpstr>The GuatC Collection</vt:lpstr>
      <vt:lpstr>The GuatC Collection</vt:lpstr>
      <vt:lpstr>The GuatC Collection</vt:lpstr>
      <vt:lpstr>Preserve and increase access to this music corpus by using digitization and music-encoding technologies </vt:lpstr>
      <vt:lpstr>Digitization of GuatC 1</vt:lpstr>
      <vt:lpstr>PowerPoint Presentation</vt:lpstr>
      <vt:lpstr>PowerPoint Presentation</vt:lpstr>
      <vt:lpstr>PowerPoint Presentation</vt:lpstr>
      <vt:lpstr>Digitization of GuatC 1</vt:lpstr>
      <vt:lpstr>DIY Book Scanner</vt:lpstr>
      <vt:lpstr>Book Cradle: Two Configurations</vt:lpstr>
      <vt:lpstr>The Book Cradle  (with copy stand)</vt:lpstr>
      <vt:lpstr>Cradle  &amp; Camera</vt:lpstr>
      <vt:lpstr>Lighting</vt:lpstr>
      <vt:lpstr>DIY Book Scanner</vt:lpstr>
      <vt:lpstr>Digitization of GuatC 1</vt:lpstr>
      <vt:lpstr>Digitization Process &amp; Issues</vt:lpstr>
      <vt:lpstr>Digitization Process &amp; Issues</vt:lpstr>
      <vt:lpstr>Digitization Process &amp; Issues</vt:lpstr>
      <vt:lpstr>Digitization Process &amp; Issues</vt:lpstr>
      <vt:lpstr>PowerPoint Presentation</vt:lpstr>
      <vt:lpstr>Final Remarks</vt:lpstr>
      <vt:lpstr>Final Remarks</vt:lpstr>
      <vt:lpstr>Acknowledgements</vt:lpstr>
      <vt:lpstr>Acknowledgements</vt:lpstr>
      <vt:lpstr>PowerPoint Presentation</vt:lpstr>
      <vt:lpstr>Extra Slides</vt:lpstr>
      <vt:lpstr>Digitization of GuatC 1</vt:lpstr>
      <vt:lpstr>PowerPoint Presentation</vt:lpstr>
      <vt:lpstr>PowerPoint Presentation</vt:lpstr>
      <vt:lpstr>PowerPoint Presentation</vt:lpstr>
      <vt:lpstr>PowerPoint Presentation</vt:lpstr>
      <vt:lpstr>PowerPoint Presentation</vt:lpstr>
      <vt:lpstr>PowerPoint Presentation</vt:lpstr>
      <vt:lpstr>Digitization of GuatC 1</vt:lpstr>
      <vt:lpstr>PowerPoint Presentation</vt:lpstr>
      <vt:lpstr>PowerPoint Presentation</vt:lpstr>
      <vt:lpstr>PowerPoint Presentation</vt:lpstr>
      <vt:lpstr>The GuatC Collection</vt:lpstr>
      <vt:lpstr>The GuatC Collection</vt:lpstr>
      <vt:lpstr>The GuatC Collection</vt:lpstr>
      <vt:lpstr>PowerPoint Presentation</vt:lpstr>
      <vt:lpstr>PowerPoint Presentation</vt:lpstr>
      <vt:lpstr>The GuatC Collection</vt:lpstr>
      <vt:lpstr>GuatC 1 Book of Masses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Guatemalan Manuscripts: Digitization Issues and Fore Coming Challenges in the Adaptation of the OMR Workflow for Mensural Music</dc:title>
  <dc:creator>Martha Thomae Elias</dc:creator>
  <cp:lastModifiedBy>Martha Thomae Elias, Miss</cp:lastModifiedBy>
  <cp:revision>232</cp:revision>
  <cp:lastPrinted>2022-07-26T01:03:51Z</cp:lastPrinted>
  <dcterms:created xsi:type="dcterms:W3CDTF">2019-05-23T13:16:13Z</dcterms:created>
  <dcterms:modified xsi:type="dcterms:W3CDTF">2024-07-26T14:10:03Z</dcterms:modified>
</cp:coreProperties>
</file>