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303" r:id="rId3"/>
    <p:sldId id="258" r:id="rId4"/>
    <p:sldId id="259" r:id="rId5"/>
    <p:sldId id="260" r:id="rId6"/>
    <p:sldId id="261" r:id="rId7"/>
    <p:sldId id="263" r:id="rId8"/>
    <p:sldId id="457" r:id="rId9"/>
    <p:sldId id="439" r:id="rId10"/>
    <p:sldId id="268" r:id="rId11"/>
    <p:sldId id="299" r:id="rId12"/>
    <p:sldId id="301" r:id="rId13"/>
    <p:sldId id="441" r:id="rId14"/>
    <p:sldId id="302" r:id="rId15"/>
    <p:sldId id="265" r:id="rId16"/>
    <p:sldId id="280" r:id="rId17"/>
    <p:sldId id="281" r:id="rId18"/>
    <p:sldId id="282" r:id="rId19"/>
    <p:sldId id="292" r:id="rId20"/>
    <p:sldId id="283" r:id="rId21"/>
    <p:sldId id="296" r:id="rId22"/>
    <p:sldId id="277" r:id="rId23"/>
    <p:sldId id="284" r:id="rId24"/>
    <p:sldId id="285" r:id="rId25"/>
    <p:sldId id="288" r:id="rId26"/>
    <p:sldId id="289" r:id="rId27"/>
    <p:sldId id="278" r:id="rId28"/>
    <p:sldId id="290" r:id="rId29"/>
    <p:sldId id="294" r:id="rId30"/>
    <p:sldId id="293" r:id="rId31"/>
    <p:sldId id="291" r:id="rId32"/>
    <p:sldId id="440" r:id="rId33"/>
    <p:sldId id="442" r:id="rId34"/>
    <p:sldId id="450" r:id="rId35"/>
    <p:sldId id="451" r:id="rId36"/>
    <p:sldId id="443" r:id="rId37"/>
    <p:sldId id="452" r:id="rId38"/>
    <p:sldId id="453" r:id="rId39"/>
    <p:sldId id="454" r:id="rId40"/>
    <p:sldId id="445" r:id="rId41"/>
    <p:sldId id="455" r:id="rId42"/>
    <p:sldId id="438" r:id="rId43"/>
    <p:sldId id="295" r:id="rId44"/>
    <p:sldId id="305" r:id="rId45"/>
    <p:sldId id="310" r:id="rId46"/>
    <p:sldId id="428" r:id="rId47"/>
    <p:sldId id="429" r:id="rId48"/>
    <p:sldId id="430" r:id="rId49"/>
    <p:sldId id="431" r:id="rId50"/>
    <p:sldId id="432" r:id="rId51"/>
    <p:sldId id="435" r:id="rId52"/>
    <p:sldId id="433" r:id="rId53"/>
    <p:sldId id="425" r:id="rId54"/>
    <p:sldId id="436" r:id="rId55"/>
    <p:sldId id="298" r:id="rId56"/>
    <p:sldId id="456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942"/>
    <a:srgbClr val="C33C7A"/>
    <a:srgbClr val="00B050"/>
    <a:srgbClr val="A148E7"/>
    <a:srgbClr val="FA509F"/>
    <a:srgbClr val="825D31"/>
    <a:srgbClr val="FBC9DC"/>
    <a:srgbClr val="FFC000"/>
    <a:srgbClr val="C39BA9"/>
    <a:srgbClr val="C37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9"/>
    <p:restoredTop sz="80769"/>
  </p:normalViewPr>
  <p:slideViewPr>
    <p:cSldViewPr snapToGrid="0">
      <p:cViewPr varScale="1">
        <p:scale>
          <a:sx n="93" d="100"/>
          <a:sy n="93" d="100"/>
        </p:scale>
        <p:origin x="14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/>
      <dgm:t>
        <a:bodyPr/>
        <a:lstStyle/>
        <a:p>
          <a:r>
            <a:rPr lang="en-US" sz="3600" b="1" dirty="0"/>
            <a:t>Optical Music Recognition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1" custLinFactNeighborX="4189" custLinFactNeighborY="1214">
        <dgm:presLayoutVars>
          <dgm:bulletEnabled val="1"/>
        </dgm:presLayoutVars>
      </dgm:prSet>
      <dgm:spPr/>
    </dgm:pt>
  </dgm:ptLst>
  <dgm:cxnLst>
    <dgm:cxn modelId="{49A73526-A4F7-F94A-AA26-5991FA8D0455}" type="presOf" srcId="{BDA88078-DD3E-F74D-A690-FC2DC3E17958}" destId="{160809CE-16BF-6E4F-A957-7E97D436E8D7}" srcOrd="0" destOrd="0" presId="urn:microsoft.com/office/officeart/2005/8/layout/process1"/>
    <dgm:cxn modelId="{9DBB9F33-3F4E-8744-A301-0E4C7A6D65F5}" type="presOf" srcId="{DC2AEDF1-E927-FF41-B06D-5B7D618756FE}" destId="{5292297B-A23E-C148-B138-6A59F74A5100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C7627519-8DA6-F846-9813-A32C84018382}" type="presParOf" srcId="{160809CE-16BF-6E4F-A957-7E97D436E8D7}" destId="{5292297B-A23E-C148-B138-6A59F74A5100}" srcOrd="0" destOrd="0" presId="urn:microsoft.com/office/officeart/2005/8/layout/process1"/>
  </dgm:cxnLst>
  <dgm:bg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/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/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/>
            <a:t>(a) Staff processing</a:t>
          </a:r>
        </a:p>
        <a:p>
          <a:r>
            <a:rPr lang="en-US" sz="2000" dirty="0"/>
            <a:t>(b) Music symbol processing</a:t>
          </a:r>
        </a:p>
        <a:p>
          <a:r>
            <a:rPr lang="en-US" sz="2000" dirty="0"/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/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/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>
        <a:solidFill>
          <a:schemeClr val="tx2">
            <a:lumMod val="25000"/>
            <a:lumOff val="75000"/>
          </a:schemeClr>
        </a:solidFill>
        <a:effectLst/>
      </dgm:spPr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/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/>
            <a:t>(a) Staff processing</a:t>
          </a:r>
        </a:p>
        <a:p>
          <a:r>
            <a:rPr lang="en-US" sz="2000" dirty="0"/>
            <a:t>(b) Music symbol processing</a:t>
          </a:r>
        </a:p>
        <a:p>
          <a:r>
            <a:rPr lang="en-US" sz="2000" dirty="0"/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/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/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noFill/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>
        <a:solidFill>
          <a:schemeClr val="bg1"/>
        </a:solidFill>
        <a:effectLst/>
      </dgm:spPr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/>
            <a:t>(a) Staff processing</a:t>
          </a:r>
        </a:p>
        <a:p>
          <a:r>
            <a:rPr lang="en-US" sz="2000" dirty="0"/>
            <a:t>(b) Music symbol processing</a:t>
          </a:r>
        </a:p>
        <a:p>
          <a:r>
            <a:rPr lang="en-US" sz="2000" dirty="0"/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/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/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noFill/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>
        <a:solidFill>
          <a:schemeClr val="bg1"/>
        </a:solidFill>
        <a:effectLst/>
      </dgm:spPr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>
              <a:solidFill>
                <a:schemeClr val="accent6">
                  <a:lumMod val="75000"/>
                </a:schemeClr>
              </a:solidFill>
            </a:rPr>
            <a:t>(a) Staff processing</a:t>
          </a:r>
        </a:p>
        <a:p>
          <a:r>
            <a:rPr lang="en-US" sz="2000" dirty="0">
              <a:solidFill>
                <a:srgbClr val="C33C7A"/>
              </a:solidFill>
            </a:rPr>
            <a:t>(b) Music symbol processing</a:t>
          </a:r>
        </a:p>
        <a:p>
          <a:r>
            <a:rPr lang="en-US" sz="2000" dirty="0">
              <a:solidFill>
                <a:srgbClr val="C33C7A"/>
              </a:solidFill>
            </a:rPr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/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/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noFill/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>
        <a:solidFill>
          <a:schemeClr val="bg1"/>
        </a:solidFill>
        <a:effectLst/>
      </dgm:spPr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/>
            <a:t>(a) Staff processing</a:t>
          </a:r>
        </a:p>
        <a:p>
          <a:r>
            <a:rPr lang="en-US" sz="2000" dirty="0"/>
            <a:t>(b) Music symbol processing</a:t>
          </a:r>
        </a:p>
        <a:p>
          <a:r>
            <a:rPr lang="en-US" sz="2000" dirty="0"/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/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noFill/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>
        <a:solidFill>
          <a:schemeClr val="bg1"/>
        </a:solidFill>
        <a:effectLst/>
      </dgm:spPr>
      <dgm:t>
        <a:bodyPr/>
        <a:lstStyle/>
        <a:p>
          <a:r>
            <a:rPr lang="en-US" sz="2000" b="1" dirty="0"/>
            <a:t>Preprocessing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Analysis </a:t>
          </a:r>
          <a:br>
            <a:rPr lang="en-US" sz="2000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Document Segmentation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A25E568-8D33-134A-AB01-D206D80A2942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2000" b="1" dirty="0"/>
            <a:t>Music Recognition</a:t>
          </a:r>
        </a:p>
        <a:p>
          <a:r>
            <a:rPr lang="en-US" sz="2000" dirty="0"/>
            <a:t>(a) Staff processing</a:t>
          </a:r>
        </a:p>
        <a:p>
          <a:r>
            <a:rPr lang="en-US" sz="2000" dirty="0"/>
            <a:t>(b) Music symbol processing</a:t>
          </a:r>
        </a:p>
        <a:p>
          <a:r>
            <a:rPr lang="en-US" sz="2000" dirty="0"/>
            <a:t>(c) music symbol classification</a:t>
          </a:r>
        </a:p>
      </dgm:t>
    </dgm:pt>
    <dgm:pt modelId="{1D6C4E2C-0AED-B346-A9B2-74961AAC47D4}" type="parTrans" cxnId="{9F4AEB89-411A-8A4C-A772-4CADFD676FEF}">
      <dgm:prSet/>
      <dgm:spPr/>
      <dgm:t>
        <a:bodyPr/>
        <a:lstStyle/>
        <a:p>
          <a:endParaRPr lang="en-US" sz="3600"/>
        </a:p>
      </dgm:t>
    </dgm:pt>
    <dgm:pt modelId="{88E61440-194E-9149-BEA1-C437C55E02CD}" type="sibTrans" cxnId="{9F4AEB89-411A-8A4C-A772-4CADFD676FEF}">
      <dgm:prSet custT="1"/>
      <dgm:spPr/>
      <dgm:t>
        <a:bodyPr/>
        <a:lstStyle/>
        <a:p>
          <a:endParaRPr lang="en-US" sz="1400"/>
        </a:p>
      </dgm:t>
    </dgm:pt>
    <dgm:pt modelId="{69022549-96FC-A24D-8771-9F8DF41FBED9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2000" b="1" dirty="0"/>
            <a:t>Music Notation Reconstruction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Notation Recognition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Notation Assembly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Reconstruction</a:t>
          </a:r>
        </a:p>
      </dgm:t>
    </dgm:pt>
    <dgm:pt modelId="{59CD50FC-8D03-5548-9A3C-FF47292282B1}" type="parTrans" cxnId="{F1429927-5384-5C47-B631-FDAD79D2F864}">
      <dgm:prSet/>
      <dgm:spPr/>
      <dgm:t>
        <a:bodyPr/>
        <a:lstStyle/>
        <a:p>
          <a:endParaRPr lang="en-US" sz="3600"/>
        </a:p>
      </dgm:t>
    </dgm:pt>
    <dgm:pt modelId="{CB8631E4-7236-BD4C-9DE5-BC8AEB224DD2}" type="sibTrans" cxnId="{F1429927-5384-5C47-B631-FDAD79D2F864}">
      <dgm:prSet custT="1"/>
      <dgm:spPr/>
      <dgm:t>
        <a:bodyPr/>
        <a:lstStyle/>
        <a:p>
          <a:endParaRPr lang="en-US" sz="1400"/>
        </a:p>
      </dgm:t>
    </dgm:pt>
    <dgm:pt modelId="{C78B5BDA-472C-0E41-BA19-6E75E8AFE83A}">
      <dgm:prSet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US" sz="2000" b="1" dirty="0"/>
            <a:t>Final Representation Construction </a:t>
          </a:r>
          <a:br>
            <a:rPr lang="en-US" sz="2000" b="1" dirty="0"/>
          </a:br>
          <a:r>
            <a:rPr lang="en-US" sz="2000" dirty="0"/>
            <a:t>or</a:t>
          </a:r>
          <a:br>
            <a:rPr lang="en-US" sz="2000" dirty="0"/>
          </a:br>
          <a:r>
            <a:rPr lang="en-US" sz="2000" b="1" dirty="0"/>
            <a:t>Music Encoding</a:t>
          </a:r>
        </a:p>
      </dgm:t>
    </dgm:pt>
    <dgm:pt modelId="{7ED22712-2CE9-404A-A49D-17DBA22341C4}" type="parTrans" cxnId="{DDF16BF9-C9DC-D643-9F46-8D1A84F252F8}">
      <dgm:prSet/>
      <dgm:spPr/>
      <dgm:t>
        <a:bodyPr/>
        <a:lstStyle/>
        <a:p>
          <a:endParaRPr lang="en-US" sz="3600"/>
        </a:p>
      </dgm:t>
    </dgm:pt>
    <dgm:pt modelId="{6D757E88-3AAF-CD42-A92C-6344C1ADB34C}" type="sibTrans" cxnId="{DDF16BF9-C9DC-D643-9F46-8D1A84F252F8}">
      <dgm:prSet/>
      <dgm:spPr/>
      <dgm:t>
        <a:bodyPr/>
        <a:lstStyle/>
        <a:p>
          <a:endParaRPr lang="en-US" sz="36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4" custScaleX="116311" custLinFactNeighborX="23505">
        <dgm:presLayoutVars>
          <dgm:bulletEnabled val="1"/>
        </dgm:presLayoutVars>
      </dgm:prSet>
      <dgm:spPr/>
    </dgm:pt>
    <dgm:pt modelId="{423E2F56-EF1B-5B4F-8763-A5D347D82E4C}" type="pres">
      <dgm:prSet presAssocID="{D0B45670-5656-4C48-9BD2-38C984441BCB}" presName="sibTrans" presStyleLbl="sibTrans2D1" presStyleIdx="0" presStyleCnt="3"/>
      <dgm:spPr/>
    </dgm:pt>
    <dgm:pt modelId="{D43DB1F5-C524-D643-83E7-F825CE43134A}" type="pres">
      <dgm:prSet presAssocID="{D0B45670-5656-4C48-9BD2-38C984441BCB}" presName="connectorText" presStyleLbl="sibTrans2D1" presStyleIdx="0" presStyleCnt="3"/>
      <dgm:spPr/>
    </dgm:pt>
    <dgm:pt modelId="{BD6FA815-F96E-124C-9805-F86CF3247F3A}" type="pres">
      <dgm:prSet presAssocID="{1A25E568-8D33-134A-AB01-D206D80A2942}" presName="node" presStyleLbl="node1" presStyleIdx="1" presStyleCnt="4" custScaleX="118049" custLinFactNeighborX="-8073">
        <dgm:presLayoutVars>
          <dgm:bulletEnabled val="1"/>
        </dgm:presLayoutVars>
      </dgm:prSet>
      <dgm:spPr/>
    </dgm:pt>
    <dgm:pt modelId="{3A1E20D4-F6CD-B142-B196-E4B0CAC95D55}" type="pres">
      <dgm:prSet presAssocID="{88E61440-194E-9149-BEA1-C437C55E02CD}" presName="sibTrans" presStyleLbl="sibTrans2D1" presStyleIdx="1" presStyleCnt="3"/>
      <dgm:spPr/>
    </dgm:pt>
    <dgm:pt modelId="{7F5373AE-8BD2-E549-A0ED-E96B6D7128D4}" type="pres">
      <dgm:prSet presAssocID="{88E61440-194E-9149-BEA1-C437C55E02CD}" presName="connectorText" presStyleLbl="sibTrans2D1" presStyleIdx="1" presStyleCnt="3"/>
      <dgm:spPr/>
    </dgm:pt>
    <dgm:pt modelId="{89EA9D84-139A-4A40-81E3-37FECBDBA6D4}" type="pres">
      <dgm:prSet presAssocID="{69022549-96FC-A24D-8771-9F8DF41FBED9}" presName="node" presStyleLbl="node1" presStyleIdx="2" presStyleCnt="4" custScaleX="127841" custLinFactNeighborX="-33425" custLinFactNeighborY="-156">
        <dgm:presLayoutVars>
          <dgm:bulletEnabled val="1"/>
        </dgm:presLayoutVars>
      </dgm:prSet>
      <dgm:spPr/>
    </dgm:pt>
    <dgm:pt modelId="{8A4D6FD9-2972-FC4F-BE51-E2821B240B4E}" type="pres">
      <dgm:prSet presAssocID="{CB8631E4-7236-BD4C-9DE5-BC8AEB224DD2}" presName="sibTrans" presStyleLbl="sibTrans2D1" presStyleIdx="2" presStyleCnt="3"/>
      <dgm:spPr/>
    </dgm:pt>
    <dgm:pt modelId="{A13328BC-E89A-2C4F-9553-D820F8EB8CAD}" type="pres">
      <dgm:prSet presAssocID="{CB8631E4-7236-BD4C-9DE5-BC8AEB224DD2}" presName="connectorText" presStyleLbl="sibTrans2D1" presStyleIdx="2" presStyleCnt="3"/>
      <dgm:spPr/>
    </dgm:pt>
    <dgm:pt modelId="{DF7CAFFA-3FD8-754B-A71C-DC7C4241BEF9}" type="pres">
      <dgm:prSet presAssocID="{C78B5BDA-472C-0E41-BA19-6E75E8AFE83A}" presName="node" presStyleLbl="node1" presStyleIdx="3" presStyleCnt="4" custScaleX="124320" custLinFactNeighborX="-64695" custLinFactNeighborY="-311">
        <dgm:presLayoutVars>
          <dgm:bulletEnabled val="1"/>
        </dgm:presLayoutVars>
      </dgm:prSet>
      <dgm:spPr/>
    </dgm:pt>
  </dgm:ptLst>
  <dgm:cxnLst>
    <dgm:cxn modelId="{F1429927-5384-5C47-B631-FDAD79D2F864}" srcId="{BDA88078-DD3E-F74D-A690-FC2DC3E17958}" destId="{69022549-96FC-A24D-8771-9F8DF41FBED9}" srcOrd="2" destOrd="0" parTransId="{59CD50FC-8D03-5548-9A3C-FF47292282B1}" sibTransId="{CB8631E4-7236-BD4C-9DE5-BC8AEB224DD2}"/>
    <dgm:cxn modelId="{F9100F48-29B9-6349-A150-711BA82758B3}" type="presOf" srcId="{DC2AEDF1-E927-FF41-B06D-5B7D618756FE}" destId="{5292297B-A23E-C148-B138-6A59F74A5100}" srcOrd="0" destOrd="0" presId="urn:microsoft.com/office/officeart/2005/8/layout/process1"/>
    <dgm:cxn modelId="{A3846167-C5EE-5A48-9103-D0AF3FCCF216}" type="presOf" srcId="{CB8631E4-7236-BD4C-9DE5-BC8AEB224DD2}" destId="{A13328BC-E89A-2C4F-9553-D820F8EB8CAD}" srcOrd="1" destOrd="0" presId="urn:microsoft.com/office/officeart/2005/8/layout/process1"/>
    <dgm:cxn modelId="{3AD61772-694E-A145-9522-05BDE336B013}" type="presOf" srcId="{88E61440-194E-9149-BEA1-C437C55E02CD}" destId="{3A1E20D4-F6CD-B142-B196-E4B0CAC95D55}" srcOrd="0" destOrd="0" presId="urn:microsoft.com/office/officeart/2005/8/layout/process1"/>
    <dgm:cxn modelId="{2D83587B-EE81-B04A-BC4F-EEAFA2FFEC14}" type="presOf" srcId="{D0B45670-5656-4C48-9BD2-38C984441BCB}" destId="{D43DB1F5-C524-D643-83E7-F825CE43134A}" srcOrd="1" destOrd="0" presId="urn:microsoft.com/office/officeart/2005/8/layout/process1"/>
    <dgm:cxn modelId="{9F4AEB89-411A-8A4C-A772-4CADFD676FEF}" srcId="{BDA88078-DD3E-F74D-A690-FC2DC3E17958}" destId="{1A25E568-8D33-134A-AB01-D206D80A2942}" srcOrd="1" destOrd="0" parTransId="{1D6C4E2C-0AED-B346-A9B2-74961AAC47D4}" sibTransId="{88E61440-194E-9149-BEA1-C437C55E02CD}"/>
    <dgm:cxn modelId="{3CAC8D95-FCBF-2A4F-86B1-4563A611F1B5}" type="presOf" srcId="{D0B45670-5656-4C48-9BD2-38C984441BCB}" destId="{423E2F56-EF1B-5B4F-8763-A5D347D82E4C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E9D469A7-9B59-5A42-A350-F24D2C1469FD}" type="presOf" srcId="{CB8631E4-7236-BD4C-9DE5-BC8AEB224DD2}" destId="{8A4D6FD9-2972-FC4F-BE51-E2821B240B4E}" srcOrd="0" destOrd="0" presId="urn:microsoft.com/office/officeart/2005/8/layout/process1"/>
    <dgm:cxn modelId="{98B891C8-3889-B040-BDCF-B2FE4DB7EED2}" type="presOf" srcId="{69022549-96FC-A24D-8771-9F8DF41FBED9}" destId="{89EA9D84-139A-4A40-81E3-37FECBDBA6D4}" srcOrd="0" destOrd="0" presId="urn:microsoft.com/office/officeart/2005/8/layout/process1"/>
    <dgm:cxn modelId="{68BB9BCA-89F3-F64E-BC9F-69A2CAEE2A19}" type="presOf" srcId="{1A25E568-8D33-134A-AB01-D206D80A2942}" destId="{BD6FA815-F96E-124C-9805-F86CF3247F3A}" srcOrd="0" destOrd="0" presId="urn:microsoft.com/office/officeart/2005/8/layout/process1"/>
    <dgm:cxn modelId="{5F6CEFCC-4CD5-5840-806F-F2352F31B113}" type="presOf" srcId="{88E61440-194E-9149-BEA1-C437C55E02CD}" destId="{7F5373AE-8BD2-E549-A0ED-E96B6D7128D4}" srcOrd="1" destOrd="0" presId="urn:microsoft.com/office/officeart/2005/8/layout/process1"/>
    <dgm:cxn modelId="{44FF0ED2-53FE-1C40-A034-993DFF247895}" type="presOf" srcId="{C78B5BDA-472C-0E41-BA19-6E75E8AFE83A}" destId="{DF7CAFFA-3FD8-754B-A71C-DC7C4241BEF9}" srcOrd="0" destOrd="0" presId="urn:microsoft.com/office/officeart/2005/8/layout/process1"/>
    <dgm:cxn modelId="{812FC0E7-8812-2644-90EC-A7CAD87F4499}" type="presOf" srcId="{BDA88078-DD3E-F74D-A690-FC2DC3E17958}" destId="{160809CE-16BF-6E4F-A957-7E97D436E8D7}" srcOrd="0" destOrd="0" presId="urn:microsoft.com/office/officeart/2005/8/layout/process1"/>
    <dgm:cxn modelId="{DDF16BF9-C9DC-D643-9F46-8D1A84F252F8}" srcId="{BDA88078-DD3E-F74D-A690-FC2DC3E17958}" destId="{C78B5BDA-472C-0E41-BA19-6E75E8AFE83A}" srcOrd="3" destOrd="0" parTransId="{7ED22712-2CE9-404A-A49D-17DBA22341C4}" sibTransId="{6D757E88-3AAF-CD42-A92C-6344C1ADB34C}"/>
    <dgm:cxn modelId="{D5687775-7A0B-D94E-86E5-13A458B73599}" type="presParOf" srcId="{160809CE-16BF-6E4F-A957-7E97D436E8D7}" destId="{5292297B-A23E-C148-B138-6A59F74A5100}" srcOrd="0" destOrd="0" presId="urn:microsoft.com/office/officeart/2005/8/layout/process1"/>
    <dgm:cxn modelId="{861A7E69-3162-954F-9680-54A64871958D}" type="presParOf" srcId="{160809CE-16BF-6E4F-A957-7E97D436E8D7}" destId="{423E2F56-EF1B-5B4F-8763-A5D347D82E4C}" srcOrd="1" destOrd="0" presId="urn:microsoft.com/office/officeart/2005/8/layout/process1"/>
    <dgm:cxn modelId="{68936C4F-542C-0C4E-A218-E55CB779316C}" type="presParOf" srcId="{423E2F56-EF1B-5B4F-8763-A5D347D82E4C}" destId="{D43DB1F5-C524-D643-83E7-F825CE43134A}" srcOrd="0" destOrd="0" presId="urn:microsoft.com/office/officeart/2005/8/layout/process1"/>
    <dgm:cxn modelId="{19BA4CB5-3816-9C4C-8518-AAC5C00DD201}" type="presParOf" srcId="{160809CE-16BF-6E4F-A957-7E97D436E8D7}" destId="{BD6FA815-F96E-124C-9805-F86CF3247F3A}" srcOrd="2" destOrd="0" presId="urn:microsoft.com/office/officeart/2005/8/layout/process1"/>
    <dgm:cxn modelId="{19C073D9-2C57-1044-BECC-60681F88AC2E}" type="presParOf" srcId="{160809CE-16BF-6E4F-A957-7E97D436E8D7}" destId="{3A1E20D4-F6CD-B142-B196-E4B0CAC95D55}" srcOrd="3" destOrd="0" presId="urn:microsoft.com/office/officeart/2005/8/layout/process1"/>
    <dgm:cxn modelId="{DC77901A-28E7-0A45-B191-019929C50771}" type="presParOf" srcId="{3A1E20D4-F6CD-B142-B196-E4B0CAC95D55}" destId="{7F5373AE-8BD2-E549-A0ED-E96B6D7128D4}" srcOrd="0" destOrd="0" presId="urn:microsoft.com/office/officeart/2005/8/layout/process1"/>
    <dgm:cxn modelId="{491AF476-D437-2440-8E6A-56B8ED258370}" type="presParOf" srcId="{160809CE-16BF-6E4F-A957-7E97D436E8D7}" destId="{89EA9D84-139A-4A40-81E3-37FECBDBA6D4}" srcOrd="4" destOrd="0" presId="urn:microsoft.com/office/officeart/2005/8/layout/process1"/>
    <dgm:cxn modelId="{F5AE6792-0718-0A4F-863E-DA89A9350F97}" type="presParOf" srcId="{160809CE-16BF-6E4F-A957-7E97D436E8D7}" destId="{8A4D6FD9-2972-FC4F-BE51-E2821B240B4E}" srcOrd="5" destOrd="0" presId="urn:microsoft.com/office/officeart/2005/8/layout/process1"/>
    <dgm:cxn modelId="{97A0B561-C2BC-E54D-BF56-1B891B24E31C}" type="presParOf" srcId="{8A4D6FD9-2972-FC4F-BE51-E2821B240B4E}" destId="{A13328BC-E89A-2C4F-9553-D820F8EB8CAD}" srcOrd="0" destOrd="0" presId="urn:microsoft.com/office/officeart/2005/8/layout/process1"/>
    <dgm:cxn modelId="{1DA4111E-E433-D24F-BBE5-7B65E8F057E2}" type="presParOf" srcId="{160809CE-16BF-6E4F-A957-7E97D436E8D7}" destId="{DF7CAFFA-3FD8-754B-A71C-DC7C4241BEF9}" srcOrd="6" destOrd="0" presId="urn:microsoft.com/office/officeart/2005/8/layout/process1"/>
  </dgm:cxnLst>
  <dgm:bg>
    <a:noFill/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A88078-DD3E-F74D-A690-FC2DC3E17958}" type="doc">
      <dgm:prSet loTypeId="urn:microsoft.com/office/officeart/2005/8/layout/process1" loCatId="" qsTypeId="urn:microsoft.com/office/officeart/2005/8/quickstyle/simple2" qsCatId="simple" csTypeId="urn:microsoft.com/office/officeart/2005/8/colors/accent1_1" csCatId="accent1" phldr="1"/>
      <dgm:spPr/>
    </dgm:pt>
    <dgm:pt modelId="{DC2AEDF1-E927-FF41-B06D-5B7D618756FE}">
      <dgm:prSet phldrT="[Text]" custT="1"/>
      <dgm:spPr/>
      <dgm:t>
        <a:bodyPr/>
        <a:lstStyle/>
        <a:p>
          <a:r>
            <a:rPr lang="en-US" sz="3600" b="1" dirty="0"/>
            <a:t>Optical Music Recognition</a:t>
          </a:r>
        </a:p>
      </dgm:t>
    </dgm:pt>
    <dgm:pt modelId="{83FEFB9F-07DB-9140-953F-DABFAACD7F60}" type="parTrans" cxnId="{B49780A1-B6A6-3F4A-B93B-5AC727C29ADF}">
      <dgm:prSet/>
      <dgm:spPr/>
      <dgm:t>
        <a:bodyPr/>
        <a:lstStyle/>
        <a:p>
          <a:endParaRPr lang="en-US" sz="3600"/>
        </a:p>
      </dgm:t>
    </dgm:pt>
    <dgm:pt modelId="{D0B45670-5656-4C48-9BD2-38C984441BCB}" type="sibTrans" cxnId="{B49780A1-B6A6-3F4A-B93B-5AC727C29ADF}">
      <dgm:prSet custT="1"/>
      <dgm:spPr/>
      <dgm:t>
        <a:bodyPr/>
        <a:lstStyle/>
        <a:p>
          <a:endParaRPr lang="en-US" sz="1400"/>
        </a:p>
      </dgm:t>
    </dgm:pt>
    <dgm:pt modelId="{160809CE-16BF-6E4F-A957-7E97D436E8D7}" type="pres">
      <dgm:prSet presAssocID="{BDA88078-DD3E-F74D-A690-FC2DC3E17958}" presName="Name0" presStyleCnt="0">
        <dgm:presLayoutVars>
          <dgm:dir/>
          <dgm:resizeHandles val="exact"/>
        </dgm:presLayoutVars>
      </dgm:prSet>
      <dgm:spPr/>
    </dgm:pt>
    <dgm:pt modelId="{5292297B-A23E-C148-B138-6A59F74A5100}" type="pres">
      <dgm:prSet presAssocID="{DC2AEDF1-E927-FF41-B06D-5B7D618756FE}" presName="node" presStyleLbl="node1" presStyleIdx="0" presStyleCnt="1" custLinFactNeighborX="4189" custLinFactNeighborY="1214">
        <dgm:presLayoutVars>
          <dgm:bulletEnabled val="1"/>
        </dgm:presLayoutVars>
      </dgm:prSet>
      <dgm:spPr/>
    </dgm:pt>
  </dgm:ptLst>
  <dgm:cxnLst>
    <dgm:cxn modelId="{49A73526-A4F7-F94A-AA26-5991FA8D0455}" type="presOf" srcId="{BDA88078-DD3E-F74D-A690-FC2DC3E17958}" destId="{160809CE-16BF-6E4F-A957-7E97D436E8D7}" srcOrd="0" destOrd="0" presId="urn:microsoft.com/office/officeart/2005/8/layout/process1"/>
    <dgm:cxn modelId="{9DBB9F33-3F4E-8744-A301-0E4C7A6D65F5}" type="presOf" srcId="{DC2AEDF1-E927-FF41-B06D-5B7D618756FE}" destId="{5292297B-A23E-C148-B138-6A59F74A5100}" srcOrd="0" destOrd="0" presId="urn:microsoft.com/office/officeart/2005/8/layout/process1"/>
    <dgm:cxn modelId="{B49780A1-B6A6-3F4A-B93B-5AC727C29ADF}" srcId="{BDA88078-DD3E-F74D-A690-FC2DC3E17958}" destId="{DC2AEDF1-E927-FF41-B06D-5B7D618756FE}" srcOrd="0" destOrd="0" parTransId="{83FEFB9F-07DB-9140-953F-DABFAACD7F60}" sibTransId="{D0B45670-5656-4C48-9BD2-38C984441BCB}"/>
    <dgm:cxn modelId="{C7627519-8DA6-F846-9813-A32C84018382}" type="presParOf" srcId="{160809CE-16BF-6E4F-A957-7E97D436E8D7}" destId="{5292297B-A23E-C148-B138-6A59F74A5100}" srcOrd="0" destOrd="0" presId="urn:microsoft.com/office/officeart/2005/8/layout/process1"/>
  </dgm:cxnLst>
  <dgm:bg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7290" y="0"/>
          <a:ext cx="7457758" cy="36260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Optical Music Recognition</a:t>
          </a:r>
        </a:p>
      </dsp:txBody>
      <dsp:txXfrm>
        <a:off x="113494" y="106204"/>
        <a:ext cx="7245350" cy="34136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75000"/>
                </a:schemeClr>
              </a:solidFill>
            </a:rPr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33C7A"/>
              </a:solidFill>
            </a:rPr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C33C7A"/>
              </a:solidFill>
            </a:rPr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165123" y="114536"/>
          <a:ext cx="1950711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Preprocessing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Analysis </a:t>
          </a:r>
          <a:br>
            <a:rPr lang="en-US" sz="2000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Document Segmentation</a:t>
          </a:r>
        </a:p>
      </dsp:txBody>
      <dsp:txXfrm>
        <a:off x="222257" y="171670"/>
        <a:ext cx="1836443" cy="3282727"/>
      </dsp:txXfrm>
    </dsp:sp>
    <dsp:sp modelId="{423E2F56-EF1B-5B4F-8763-A5D347D82E4C}">
      <dsp:nvSpPr>
        <dsp:cNvPr id="0" name=""/>
        <dsp:cNvSpPr/>
      </dsp:nvSpPr>
      <dsp:spPr>
        <a:xfrm>
          <a:off x="2230589" y="1605067"/>
          <a:ext cx="243278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30589" y="1688254"/>
        <a:ext cx="170295" cy="249559"/>
      </dsp:txXfrm>
    </dsp:sp>
    <dsp:sp modelId="{BD6FA815-F96E-124C-9805-F86CF3247F3A}">
      <dsp:nvSpPr>
        <dsp:cNvPr id="0" name=""/>
        <dsp:cNvSpPr/>
      </dsp:nvSpPr>
      <dsp:spPr>
        <a:xfrm>
          <a:off x="2574851" y="114536"/>
          <a:ext cx="1979860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Recognition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(a) Staff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(b) Music symbol processing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(c) music symbol classification</a:t>
          </a:r>
        </a:p>
      </dsp:txBody>
      <dsp:txXfrm>
        <a:off x="2632839" y="172524"/>
        <a:ext cx="1863884" cy="3281019"/>
      </dsp:txXfrm>
    </dsp:sp>
    <dsp:sp modelId="{3A1E20D4-F6CD-B142-B196-E4B0CAC95D55}">
      <dsp:nvSpPr>
        <dsp:cNvPr id="0" name=""/>
        <dsp:cNvSpPr/>
      </dsp:nvSpPr>
      <dsp:spPr>
        <a:xfrm rot="21592891">
          <a:off x="4679907" y="1602487"/>
          <a:ext cx="265416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79907" y="1685756"/>
        <a:ext cx="185791" cy="249559"/>
      </dsp:txXfrm>
    </dsp:sp>
    <dsp:sp modelId="{89EA9D84-139A-4A40-81E3-37FECBDBA6D4}">
      <dsp:nvSpPr>
        <dsp:cNvPr id="0" name=""/>
        <dsp:cNvSpPr/>
      </dsp:nvSpPr>
      <dsp:spPr>
        <a:xfrm>
          <a:off x="5055496" y="109237"/>
          <a:ext cx="2144087" cy="3396995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Music Notation Reconstruction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Notation Recognition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Notation Assembly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Reconstruction</a:t>
          </a:r>
        </a:p>
      </dsp:txBody>
      <dsp:txXfrm>
        <a:off x="5118294" y="172035"/>
        <a:ext cx="2018491" cy="3271399"/>
      </dsp:txXfrm>
    </dsp:sp>
    <dsp:sp modelId="{8A4D6FD9-2972-FC4F-BE51-E2821B240B4E}">
      <dsp:nvSpPr>
        <dsp:cNvPr id="0" name=""/>
        <dsp:cNvSpPr/>
      </dsp:nvSpPr>
      <dsp:spPr>
        <a:xfrm rot="21592972">
          <a:off x="7314853" y="1597091"/>
          <a:ext cx="244374" cy="415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314853" y="1680353"/>
        <a:ext cx="171062" cy="249559"/>
      </dsp:txXfrm>
    </dsp:sp>
    <dsp:sp modelId="{DF7CAFFA-3FD8-754B-A71C-DC7C4241BEF9}">
      <dsp:nvSpPr>
        <dsp:cNvPr id="0" name=""/>
        <dsp:cNvSpPr/>
      </dsp:nvSpPr>
      <dsp:spPr>
        <a:xfrm>
          <a:off x="7660665" y="103971"/>
          <a:ext cx="2085034" cy="3396995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Final Representation Construction </a:t>
          </a:r>
          <a:br>
            <a:rPr lang="en-US" sz="2000" b="1" kern="1200" dirty="0"/>
          </a:br>
          <a:r>
            <a:rPr lang="en-US" sz="2000" kern="1200" dirty="0"/>
            <a:t>or</a:t>
          </a:r>
          <a:br>
            <a:rPr lang="en-US" sz="2000" kern="1200" dirty="0"/>
          </a:br>
          <a:r>
            <a:rPr lang="en-US" sz="2000" b="1" kern="1200" dirty="0"/>
            <a:t>Music Encoding</a:t>
          </a:r>
        </a:p>
      </dsp:txBody>
      <dsp:txXfrm>
        <a:off x="7721734" y="165040"/>
        <a:ext cx="1962896" cy="32748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2297B-A23E-C148-B138-6A59F74A5100}">
      <dsp:nvSpPr>
        <dsp:cNvPr id="0" name=""/>
        <dsp:cNvSpPr/>
      </dsp:nvSpPr>
      <dsp:spPr>
        <a:xfrm>
          <a:off x="7290" y="0"/>
          <a:ext cx="7457758" cy="36260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Optical Music Recognition</a:t>
          </a:r>
        </a:p>
      </dsp:txBody>
      <dsp:txXfrm>
        <a:off x="113494" y="106204"/>
        <a:ext cx="7245350" cy="3413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33BE3-B72E-CD43-86B7-660FDB7A13C4}" type="datetimeFigureOut">
              <a:rPr lang="en-CA" smtClean="0"/>
              <a:t>2024-07-26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C17DD-F82B-D849-882F-F07B933C6B5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521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3622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348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259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886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264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779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337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425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50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3375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1245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Material condition of the page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is wrinkled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6914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552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400" dirty="0"/>
              <a:t>machine learning </a:t>
            </a:r>
            <a:r>
              <a:rPr lang="en-CA" sz="2400" dirty="0">
                <a:sym typeface="Wingdings" pitchFamily="2" charset="2"/>
              </a:rPr>
              <a:t> training the computer with examples</a:t>
            </a:r>
            <a:endParaRPr lang="en-CA" sz="2400" dirty="0"/>
          </a:p>
          <a:p>
            <a:endParaRPr lang="en-CA" sz="2400" dirty="0"/>
          </a:p>
          <a:p>
            <a:r>
              <a:rPr lang="en-CA" sz="2400" dirty="0" err="1"/>
              <a:t>Climacus</a:t>
            </a:r>
            <a:endParaRPr lang="en-CA" sz="2400" dirty="0"/>
          </a:p>
          <a:p>
            <a:r>
              <a:rPr lang="en-CA" sz="2400" dirty="0" err="1"/>
              <a:t>Clivis</a:t>
            </a:r>
            <a:endParaRPr lang="en-CA" sz="2400" dirty="0"/>
          </a:p>
          <a:p>
            <a:r>
              <a:rPr lang="en-CA" sz="2400" dirty="0"/>
              <a:t>Green symbols </a:t>
            </a:r>
            <a:r>
              <a:rPr lang="en-CA" sz="2400" dirty="0">
                <a:sym typeface="Wingdings" pitchFamily="2" charset="2"/>
              </a:rPr>
              <a:t> manually classified</a:t>
            </a:r>
          </a:p>
          <a:p>
            <a:endParaRPr lang="en-CA" sz="2400" dirty="0">
              <a:sym typeface="Wingdings" pitchFamily="2" charset="2"/>
            </a:endParaRPr>
          </a:p>
          <a:p>
            <a:r>
              <a:rPr lang="en-CA" sz="2400" dirty="0">
                <a:sym typeface="Wingdings" pitchFamily="2" charset="2"/>
              </a:rPr>
              <a:t>With examples, ask the computer to classify the rest of the page for you</a:t>
            </a:r>
          </a:p>
          <a:p>
            <a:r>
              <a:rPr lang="en-CA" sz="2400" dirty="0">
                <a:sym typeface="Wingdings" pitchFamily="2" charset="2"/>
              </a:rPr>
              <a:t>Yellow symbols  computer classified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/>
              <a:t>SHOW THE ERRORS (Pes in </a:t>
            </a:r>
            <a:r>
              <a:rPr lang="en-CA" sz="2400" b="1" dirty="0" err="1"/>
              <a:t>Clivis</a:t>
            </a:r>
            <a:r>
              <a:rPr lang="en-CA" sz="2400" b="1" dirty="0"/>
              <a:t> examples) </a:t>
            </a:r>
          </a:p>
          <a:p>
            <a:endParaRPr lang="en-CA" sz="2400" dirty="0">
              <a:sym typeface="Wingdings" pitchFamily="2" charset="2"/>
            </a:endParaRPr>
          </a:p>
          <a:p>
            <a:r>
              <a:rPr lang="en-CA" sz="2400" b="1" dirty="0">
                <a:sym typeface="Wingdings" pitchFamily="2" charset="2"/>
              </a:rPr>
              <a:t>THE AUTOMATIC STEPS REQUIRE “HUMAN EYE REVISION”</a:t>
            </a:r>
          </a:p>
          <a:p>
            <a:r>
              <a:rPr lang="en-CA" sz="2400" b="1" dirty="0">
                <a:sym typeface="Wingdings" pitchFamily="2" charset="2"/>
              </a:rPr>
              <a:t>Iterative process  to improve classification results</a:t>
            </a:r>
            <a:endParaRPr lang="en-CA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Incremental process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4840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"semantics"</a:t>
            </a:r>
          </a:p>
          <a:p>
            <a:r>
              <a:rPr lang="en-ES" dirty="0"/>
              <a:t>reconstruct the music, the notation, its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125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03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671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31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Performing OMR on a manuscript already indexed in Cantus Database (or any of the broader databases in the cantus index net) makes the process easier.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The manuscript version of the chant text is already indexed. And this can be used as a guide for the OCR of the chant text.</a:t>
            </a:r>
          </a:p>
          <a:p>
            <a:endParaRPr lang="en-CA" b="1" dirty="0"/>
          </a:p>
          <a:p>
            <a:r>
              <a:rPr lang="en-CA" b="1" dirty="0"/>
              <a:t>BOUNDING BOX: Rectangular area on the page that circumscribe the symbol (in this case, the syllable)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3494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400" dirty="0" err="1"/>
              <a:t>MusicXML</a:t>
            </a:r>
            <a:r>
              <a:rPr lang="en-CA" sz="2400" dirty="0"/>
              <a:t> </a:t>
            </a:r>
            <a:r>
              <a:rPr lang="en-CA" sz="2400" dirty="0">
                <a:sym typeface="Wingdings" pitchFamily="2" charset="2"/>
              </a:rPr>
              <a:t></a:t>
            </a:r>
            <a:r>
              <a:rPr lang="en-CA" sz="2400" dirty="0"/>
              <a:t> it can be exported by all "graphic score editors," like Finale, Sibelius, or </a:t>
            </a:r>
            <a:r>
              <a:rPr lang="en-CA" sz="2400" dirty="0" err="1"/>
              <a:t>MuseScore</a:t>
            </a:r>
            <a:r>
              <a:rPr lang="en-CA" sz="2400" dirty="0"/>
              <a:t>.</a:t>
            </a:r>
          </a:p>
          <a:p>
            <a:endParaRPr lang="en-CA" sz="2400" dirty="0"/>
          </a:p>
          <a:p>
            <a:r>
              <a:rPr lang="en-CA" sz="2400" dirty="0"/>
              <a:t>MEI </a:t>
            </a:r>
            <a:r>
              <a:rPr lang="en-CA" sz="2400" dirty="0">
                <a:sym typeface="Wingdings" pitchFamily="2" charset="2"/>
              </a:rPr>
              <a:t></a:t>
            </a:r>
            <a:r>
              <a:rPr lang="en-CA" sz="2400" dirty="0"/>
              <a:t> which you will hear about tomorrow</a:t>
            </a:r>
          </a:p>
          <a:p>
            <a:r>
              <a:rPr lang="en-CA" sz="2400" b="1" dirty="0"/>
              <a:t>Open-source, flexibility for </a:t>
            </a:r>
            <a:r>
              <a:rPr lang="en-CA" sz="2400" b="1" u="sng" dirty="0"/>
              <a:t>early music </a:t>
            </a:r>
            <a:r>
              <a:rPr lang="en-CA" sz="2400" b="1" dirty="0"/>
              <a:t>(not in </a:t>
            </a:r>
            <a:r>
              <a:rPr lang="en-CA" sz="2400" b="1" dirty="0" err="1"/>
              <a:t>MusicXML</a:t>
            </a:r>
            <a:r>
              <a:rPr lang="en-CA" sz="2400" b="1" dirty="0"/>
              <a:t>)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339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689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4223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601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474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135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645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3664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24912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7682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1832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906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6115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SIMSSA: Targets digitized music scores to design a global infrastructure for searching and </a:t>
            </a:r>
            <a:r>
              <a:rPr lang="en-GB" b="0" i="0" u="none" strike="noStrike" dirty="0" err="1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analyzing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music scores. Specifically, the project seeks to provide researchers, musicians, and others to access the contents and metadata of a large number of scores in a searchable, digital format. </a:t>
            </a:r>
            <a:endParaRPr lang="en-ES" dirty="0"/>
          </a:p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C17DD-F82B-D849-882F-F07B933C6B56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3272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8209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28558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99105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OS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C8D95-94C8-8D4A-84AE-2C2CC82A38A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433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C17DD-F82B-D849-882F-F07B933C6B56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592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874E-F065-D267-9FED-2CCE1CA8F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98191-E4C1-6F3F-5E44-F9B28836D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1F91C-999C-BEB0-06F6-CE9EDC84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954B-6B4B-E64B-8DF7-58DC84F793A0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6537-D1B0-50FB-4C28-453B0F03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1B1D3-0706-5304-D487-AACCE589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131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CC09-5379-A399-C0B8-3AE09E40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E94E5-1372-52D8-286F-B4BD5DE7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4A38E-10C6-4C2F-9D11-3657AAAA9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412B-77EB-9B4A-BD29-F4AB08846EE2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F995-B310-AD5F-88CD-9964B755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CF69-929D-7F37-2437-E5C38C60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48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2874-1AE4-308E-2420-8A8F4EA6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036AB-5703-579F-D84A-015965A5B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2C16B-04B4-2F65-0D93-1ABD4949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999F7-D23F-AF4E-BDAE-EDA136724D4D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948DD-E5A7-B9EF-79E2-EDE44BE8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AE3C8-D9B1-D654-E13D-24B5E371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7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790C-B4D6-EEEB-4867-3A39172B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DE834-8572-0569-34D4-B5517F351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4714E-8335-6F67-412C-F75BC3A9D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6B0D1-DA81-CA0D-2419-2B322C1C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9411-E0C5-E941-A601-4998B0E57103}" type="datetime1">
              <a:rPr lang="es-ES_tradnl" smtClean="0"/>
              <a:t>26/7/24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59ADE-2366-42E6-1AC4-D8510140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B8F2-E7A2-D7AF-1A17-13231EDA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376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00E4-918C-EB1F-7C97-8A2749AC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B6E13-AD2D-80DE-D36D-38A8A3C52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2CC3E-4BB3-8B36-8B0B-36AF6F291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89A1-AD09-CC05-66A3-1FC535DE4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25CCD-9F71-A815-6118-BE454CD66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A1221-A555-962F-E2B8-8D405721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3155-0B08-854D-9A54-21FF09A1EE0F}" type="datetime1">
              <a:rPr lang="es-ES_tradnl" smtClean="0"/>
              <a:t>26/7/24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B8D47-E60A-2B55-FE38-869B5CA1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DCF252-0809-599B-DB77-2DEE5263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88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A7A3-852D-C401-D8D8-4147A501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1F1A4-EAA5-561E-3BDB-98726EC2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87F9-DC7E-8E40-AAFC-C366CE33D332}" type="datetime1">
              <a:rPr lang="es-ES_tradnl" smtClean="0"/>
              <a:t>26/7/24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B1A16-0238-299E-01E5-52CDF977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F6CEC-F2BF-EBA2-38EB-375433E2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06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61F74-382A-D648-DC72-673922A8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1C55B-FE82-5E4F-BBFC-C0532AE7EC15}" type="datetime1">
              <a:rPr lang="es-ES_tradnl" smtClean="0"/>
              <a:t>26/7/24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DA60F-01AD-F355-9D59-6728778D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FCED0-3A6C-8934-502D-FF64C9AB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22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F732-35ED-28F1-6027-686F8744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5942-3972-83CD-CD43-3C4763374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75F40-28BA-62A3-F957-CC1A0967F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F2E01-C8CE-BF3A-B248-530B2C2CF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24AD-69A8-3043-AAA6-DA450DB9E271}" type="datetime1">
              <a:rPr lang="es-ES_tradnl" smtClean="0"/>
              <a:t>26/7/24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37100-5E4E-406F-FB7B-FC32C9E0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91C4D-33B9-6500-086C-76441212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61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89A0-2B15-97C0-E863-3C9F49C9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4F3EF2-7171-18EA-4860-832F492A2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47B1E-3DB8-188D-18EF-8566A9E2A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0E1E-C3C9-3FE8-25A0-B86BE566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DAED-C7A4-EC46-AEFE-7C17F1944C05}" type="datetime1">
              <a:rPr lang="es-ES_tradnl" smtClean="0"/>
              <a:t>26/7/24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576DC-A3C2-F874-522D-1CC5E020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40A31-BC87-5BC5-1A32-DE404A4E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122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8279-10FE-17F7-72C3-F4897643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4E464-7F2B-F849-D213-A3AA1A24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4B8CA-E454-F067-2BA5-84DD4B93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DB86-F0AD-FC4F-B067-D97173C8FD56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7ABBA-4249-4051-8A15-7D931190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5A6E-ECBD-A52A-FD6D-A7B4ADA6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34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1C961-396E-D9C6-BE89-9B12EDBDA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C4610-130F-0A27-622D-C768B2283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659B4-1E3F-B667-76C5-EB3429E4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45B4-E3A8-044C-B2AD-70A688F8F528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1D5C3-FBB2-C693-4E06-475BD4D1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B10F8-0553-3534-FE8F-7E72EDEA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01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C03F2-706F-8C39-7BED-69D3A4D3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03B22-0017-0450-DB0F-BABF53975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567BC-2DDC-552D-32D1-E21DEA5CC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6C737-6EB8-834B-9066-CD6E24274536}" type="datetime1">
              <a:rPr lang="es-ES_tradnl" smtClean="0"/>
              <a:t>26/7/24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4262-C6F0-DCBD-007F-C716913FD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73EF7-12D2-DD6B-A8D8-110EA3674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EF0F9-6025-AA4D-8A8B-299B05813B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37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_TeGXG9Fh2M?si=v_IQOBysIGi7GtLL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hX9pGOdfbZ8?feature=shared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XkKrwatIwM" TargetMode="External"/><Relationship Id="rId2" Type="http://schemas.openxmlformats.org/officeDocument/2006/relationships/hyperlink" Target="https://www.smnf.cz/en/news/Recordings-available-from-first-Digital-Humanities-in-Early-Music-Research-workshop-of-2021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X9pGOdfbZ8" TargetMode="External"/><Relationship Id="rId4" Type="http://schemas.openxmlformats.org/officeDocument/2006/relationships/hyperlink" Target="https://www.youtube.com/watch?v=_TeGXG9Fh2M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uspix.net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8076-4BA5-8A8E-D3B6-0F7DC3F6C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503876"/>
          </a:xfr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b">
            <a:normAutofit/>
          </a:bodyPr>
          <a:lstStyle/>
          <a:p>
            <a:r>
              <a:rPr lang="en-CA" sz="7200" dirty="0"/>
              <a:t>Music Retrieval Tools </a:t>
            </a:r>
            <a:br>
              <a:rPr lang="en-CA" sz="7200" dirty="0"/>
            </a:br>
            <a:r>
              <a:rPr lang="en-CA" sz="4800" dirty="0"/>
              <a:t>Optical Music Recognition (OMR) </a:t>
            </a:r>
            <a:br>
              <a:rPr lang="en-CA" sz="4800" dirty="0"/>
            </a:br>
            <a:r>
              <a:rPr lang="en-CA" sz="4800" dirty="0"/>
              <a:t>and Music Analysis</a:t>
            </a:r>
            <a:br>
              <a:rPr lang="en-CA" sz="4800" dirty="0"/>
            </a:br>
            <a:endParaRPr lang="en-CA" sz="1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5E384-E157-EB1E-4476-276767F01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87007"/>
            <a:ext cx="9283262" cy="1137356"/>
          </a:xfrm>
        </p:spPr>
        <p:txBody>
          <a:bodyPr anchor="ctr">
            <a:normAutofit lnSpcReduction="10000"/>
          </a:bodyPr>
          <a:lstStyle/>
          <a:p>
            <a:r>
              <a:rPr lang="en-CA" sz="1800" dirty="0">
                <a:solidFill>
                  <a:schemeClr val="bg2">
                    <a:lumMod val="50000"/>
                  </a:schemeClr>
                </a:solidFill>
              </a:rPr>
              <a:t>Research Seminars Series </a:t>
            </a:r>
            <a:br>
              <a:rPr lang="en-CA" sz="1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CA" sz="1800" dirty="0">
                <a:solidFill>
                  <a:schemeClr val="bg2">
                    <a:lumMod val="50000"/>
                  </a:schemeClr>
                </a:solidFill>
              </a:rPr>
              <a:t>“Musicologists and Their Sources: The Alchemy of Turning Parchment into Pixels”</a:t>
            </a:r>
          </a:p>
          <a:p>
            <a:r>
              <a:rPr lang="en-CA" sz="1800" dirty="0">
                <a:solidFill>
                  <a:schemeClr val="bg2">
                    <a:lumMod val="50000"/>
                  </a:schemeClr>
                </a:solidFill>
              </a:rPr>
              <a:t>NOVA University of Lisbon, </a:t>
            </a:r>
            <a:br>
              <a:rPr lang="en-CA" sz="1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CA" sz="1800" dirty="0">
                <a:solidFill>
                  <a:schemeClr val="bg2">
                    <a:lumMod val="50000"/>
                  </a:schemeClr>
                </a:solidFill>
              </a:rPr>
              <a:t>Portugal, 24 June 2024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23DD03-D55B-4F60-1797-D10E074A1679}"/>
              </a:ext>
            </a:extLst>
          </p:cNvPr>
          <p:cNvSpPr txBox="1">
            <a:spLocks/>
          </p:cNvSpPr>
          <p:nvPr/>
        </p:nvSpPr>
        <p:spPr>
          <a:xfrm>
            <a:off x="882796" y="3819411"/>
            <a:ext cx="3315902" cy="9879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b="1" dirty="0"/>
              <a:t>Martha E. Thomae</a:t>
            </a:r>
            <a:br>
              <a:rPr lang="en-CA" sz="2200" b="1" dirty="0"/>
            </a:br>
            <a:r>
              <a:rPr lang="en-CA" sz="2000" dirty="0"/>
              <a:t>CESEM-IN2PAST, </a:t>
            </a:r>
            <a:br>
              <a:rPr lang="en-CA" sz="2000" dirty="0"/>
            </a:br>
            <a:r>
              <a:rPr lang="en-CA" sz="2000" dirty="0"/>
              <a:t>NOVA University of Lisbon</a:t>
            </a:r>
            <a:endParaRPr lang="en-CA" sz="2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68594F4-96D1-2651-6D46-4CD48449C376}"/>
              </a:ext>
            </a:extLst>
          </p:cNvPr>
          <p:cNvSpPr txBox="1">
            <a:spLocks/>
          </p:cNvSpPr>
          <p:nvPr/>
        </p:nvSpPr>
        <p:spPr>
          <a:xfrm>
            <a:off x="7835902" y="3825042"/>
            <a:ext cx="3315902" cy="9879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b="1" dirty="0"/>
              <a:t>Elsa De Luca</a:t>
            </a:r>
            <a:br>
              <a:rPr lang="en-CA" sz="2200" b="1" dirty="0"/>
            </a:br>
            <a:r>
              <a:rPr lang="en-CA" sz="2000" dirty="0"/>
              <a:t>CESEM-IN2PAST, </a:t>
            </a:r>
            <a:br>
              <a:rPr lang="en-CA" sz="2000" dirty="0"/>
            </a:br>
            <a:r>
              <a:rPr lang="en-CA" sz="2000" dirty="0"/>
              <a:t>NOVA University of Lisbon</a:t>
            </a:r>
            <a:endParaRPr lang="en-CA" sz="22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AC7688C-4B48-731F-48D1-E79FFF5CC97A}"/>
              </a:ext>
            </a:extLst>
          </p:cNvPr>
          <p:cNvSpPr txBox="1">
            <a:spLocks/>
          </p:cNvSpPr>
          <p:nvPr/>
        </p:nvSpPr>
        <p:spPr>
          <a:xfrm>
            <a:off x="4356099" y="3670026"/>
            <a:ext cx="3315902" cy="11373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b="1" dirty="0"/>
              <a:t>Antoine Phan</a:t>
            </a:r>
            <a:br>
              <a:rPr lang="en-CA" sz="2200" b="1" dirty="0"/>
            </a:br>
            <a:r>
              <a:rPr lang="en-CA" sz="2000" dirty="0"/>
              <a:t>CESEM-IN2PAST, </a:t>
            </a:r>
            <a:br>
              <a:rPr lang="en-CA" sz="2000" dirty="0"/>
            </a:br>
            <a:r>
              <a:rPr lang="en-CA" sz="2000" dirty="0"/>
              <a:t>NOVA University of Lisbon</a:t>
            </a:r>
            <a:br>
              <a:rPr lang="en-CA" sz="2000" dirty="0"/>
            </a:br>
            <a:r>
              <a:rPr lang="en-CA" sz="2000" dirty="0"/>
              <a:t> and McGill University</a:t>
            </a:r>
            <a:endParaRPr lang="en-CA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9984F-2D67-7E69-0E14-E349F079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73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07BE-E045-7A17-A372-949BD501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Music Information Retrieval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4907-4D28-5557-E434-BDDD1CDC5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ES" dirty="0"/>
              <a:t>Optical music recognition (OMR)	</a:t>
            </a:r>
            <a:r>
              <a:rPr lang="en-ES" i="1" dirty="0">
                <a:solidFill>
                  <a:schemeClr val="accent5"/>
                </a:solidFill>
              </a:rPr>
              <a:t>Martha E. Thomae</a:t>
            </a:r>
            <a:endParaRPr lang="en-ES" dirty="0">
              <a:solidFill>
                <a:schemeClr val="accent5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ES" dirty="0"/>
              <a:t>Music search &amp; analysis			</a:t>
            </a:r>
            <a:r>
              <a:rPr lang="en-ES" i="1" dirty="0">
                <a:solidFill>
                  <a:schemeClr val="accent3"/>
                </a:solidFill>
              </a:rPr>
              <a:t>Antoine Phan</a:t>
            </a:r>
            <a:endParaRPr lang="en-E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endParaRPr lang="en-ES" dirty="0"/>
          </a:p>
          <a:p>
            <a:pPr marL="0" indent="0">
              <a:lnSpc>
                <a:spcPct val="150000"/>
              </a:lnSpc>
              <a:buNone/>
            </a:pPr>
            <a:r>
              <a:rPr lang="en-ES" b="1" dirty="0"/>
              <a:t>Focus: </a:t>
            </a:r>
            <a:r>
              <a:rPr lang="en-ES" dirty="0"/>
              <a:t>Early music written in neumatic and mensural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98AF0-EE7A-F52A-866F-EE5BA458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163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6679-4F4D-D439-4353-32517F0D5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1825"/>
          </a:xfrm>
        </p:spPr>
        <p:txBody>
          <a:bodyPr/>
          <a:lstStyle/>
          <a:p>
            <a:r>
              <a:rPr lang="en-CA" dirty="0"/>
              <a:t>Optical Music Recognition (OMR)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13C6D-AF2A-3C1D-1873-84137319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951"/>
            <a:ext cx="10515600" cy="480180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CA" dirty="0"/>
              <a:t>Similar to Optical </a:t>
            </a:r>
            <a:r>
              <a:rPr lang="en-CA" b="1" dirty="0"/>
              <a:t>Character</a:t>
            </a:r>
            <a:r>
              <a:rPr lang="en-CA" dirty="0"/>
              <a:t> Recognition (O</a:t>
            </a:r>
            <a:r>
              <a:rPr lang="en-CA" b="1" dirty="0"/>
              <a:t>C</a:t>
            </a:r>
            <a:r>
              <a:rPr lang="en-CA" dirty="0"/>
              <a:t>R)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Where the characters of a digital text document are readable by the computer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It allows to perform content-based searches</a:t>
            </a:r>
          </a:p>
          <a:p>
            <a:pPr>
              <a:lnSpc>
                <a:spcPct val="150000"/>
              </a:lnSpc>
            </a:pPr>
            <a:r>
              <a:rPr lang="en-CA" dirty="0"/>
              <a:t>For music:</a:t>
            </a:r>
            <a:r>
              <a:rPr lang="en-CA" dirty="0">
                <a:sym typeface="Wingdings" pitchFamily="2" charset="2"/>
              </a:rPr>
              <a:t> Optical </a:t>
            </a:r>
            <a:r>
              <a:rPr lang="en-CA" b="1" dirty="0">
                <a:sym typeface="Wingdings" pitchFamily="2" charset="2"/>
              </a:rPr>
              <a:t>Music</a:t>
            </a:r>
            <a:r>
              <a:rPr lang="en-CA" dirty="0">
                <a:sym typeface="Wingdings" pitchFamily="2" charset="2"/>
              </a:rPr>
              <a:t> Recognition (O</a:t>
            </a:r>
            <a:r>
              <a:rPr lang="en-CA" b="1" dirty="0">
                <a:sym typeface="Wingdings" pitchFamily="2" charset="2"/>
              </a:rPr>
              <a:t>M</a:t>
            </a:r>
            <a:r>
              <a:rPr lang="en-CA" dirty="0">
                <a:sym typeface="Wingdings" pitchFamily="2" charset="2"/>
              </a:rPr>
              <a:t>R)</a:t>
            </a:r>
          </a:p>
          <a:p>
            <a:pPr lvl="1">
              <a:lnSpc>
                <a:spcPct val="150000"/>
              </a:lnSpc>
            </a:pPr>
            <a:r>
              <a:rPr lang="en-CA" dirty="0">
                <a:sym typeface="Wingdings" pitchFamily="2" charset="2"/>
              </a:rPr>
              <a:t>The </a:t>
            </a:r>
            <a:r>
              <a:rPr lang="en-CA" b="1" dirty="0">
                <a:sym typeface="Wingdings" pitchFamily="2" charset="2"/>
              </a:rPr>
              <a:t>music</a:t>
            </a:r>
            <a:r>
              <a:rPr lang="en-CA" dirty="0">
                <a:sym typeface="Wingdings" pitchFamily="2" charset="2"/>
              </a:rPr>
              <a:t> characters (and text) are readable by the computer</a:t>
            </a:r>
          </a:p>
          <a:p>
            <a:pPr lvl="1">
              <a:lnSpc>
                <a:spcPct val="150000"/>
              </a:lnSpc>
            </a:pPr>
            <a:r>
              <a:rPr lang="en-CA" dirty="0">
                <a:sym typeface="Wingdings" pitchFamily="2" charset="2"/>
              </a:rPr>
              <a:t>Therefore, in addition to search music pieces by their metadata </a:t>
            </a:r>
            <a:br>
              <a:rPr lang="en-CA" dirty="0">
                <a:sym typeface="Wingdings" pitchFamily="2" charset="2"/>
              </a:rPr>
            </a:br>
            <a:r>
              <a:rPr lang="en-CA" dirty="0">
                <a:sym typeface="Wingdings" pitchFamily="2" charset="2"/>
              </a:rPr>
              <a:t>(e.g., composer, title of the piece, and date)</a:t>
            </a:r>
          </a:p>
          <a:p>
            <a:pPr lvl="1">
              <a:lnSpc>
                <a:spcPct val="150000"/>
              </a:lnSpc>
            </a:pPr>
            <a:r>
              <a:rPr lang="en-CA" dirty="0">
                <a:sym typeface="Wingdings" pitchFamily="2" charset="2"/>
              </a:rPr>
              <a:t>The music content is searchable </a:t>
            </a:r>
            <a:br>
              <a:rPr lang="en-CA" dirty="0">
                <a:sym typeface="Wingdings" pitchFamily="2" charset="2"/>
              </a:rPr>
            </a:br>
            <a:r>
              <a:rPr lang="en-CA" dirty="0">
                <a:sym typeface="Wingdings" pitchFamily="2" charset="2"/>
              </a:rPr>
              <a:t>(e.g., ask the computer to look for a melody  melodic search)</a:t>
            </a:r>
          </a:p>
          <a:p>
            <a:pPr lvl="1">
              <a:lnSpc>
                <a:spcPct val="150000"/>
              </a:lnSpc>
            </a:pPr>
            <a:r>
              <a:rPr lang="en-CA" dirty="0"/>
              <a:t>Moreover, perform computational music analysis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18278-4CE4-967B-20F8-2C2497B8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711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747604"/>
              </p:ext>
            </p:extLst>
          </p:nvPr>
        </p:nvGraphicFramePr>
        <p:xfrm>
          <a:off x="1976030" y="1690688"/>
          <a:ext cx="7465049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The Traditional OMR Pipeline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0E7640-FFA0-80C1-C96F-30780420D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615" y="2529763"/>
            <a:ext cx="1219627" cy="1947918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4763C6C0-2C97-99B6-DA44-2E501EEA4DCD}"/>
              </a:ext>
            </a:extLst>
          </p:cNvPr>
          <p:cNvSpPr/>
          <p:nvPr/>
        </p:nvSpPr>
        <p:spPr>
          <a:xfrm>
            <a:off x="1507715" y="32169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F78D70-FB94-0D6A-52CD-0CFBEEF048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6616" y="2135475"/>
            <a:ext cx="2054736" cy="25870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38328CE2-9458-8057-D68D-8A33F649682D}"/>
              </a:ext>
            </a:extLst>
          </p:cNvPr>
          <p:cNvSpPr/>
          <p:nvPr/>
        </p:nvSpPr>
        <p:spPr>
          <a:xfrm>
            <a:off x="9545427" y="32169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05127-E011-6CE5-2F8E-28DF92C8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226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342100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The Traditional OMR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35ABE1-3B20-5A18-C094-BCA873C0C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5" y="2790443"/>
            <a:ext cx="930829" cy="1486666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7ED9381B-F6B3-36BB-7906-1A9713D921A4}"/>
              </a:ext>
            </a:extLst>
          </p:cNvPr>
          <p:cNvSpPr/>
          <p:nvPr/>
        </p:nvSpPr>
        <p:spPr>
          <a:xfrm>
            <a:off x="942548" y="32169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967B85-1044-2B5B-BD57-2EF8F4D2B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0700" y="2701842"/>
            <a:ext cx="1155069" cy="14543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B72C2BC8-BF64-2EC2-110C-053297441896}"/>
              </a:ext>
            </a:extLst>
          </p:cNvPr>
          <p:cNvSpPr/>
          <p:nvPr/>
        </p:nvSpPr>
        <p:spPr>
          <a:xfrm>
            <a:off x="10711250" y="32192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C2361-3F52-0988-B836-192A6B13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67671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147468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400" b="1" dirty="0"/>
              <a:t>Step 1: </a:t>
            </a:r>
            <a:r>
              <a:rPr lang="en-CA" sz="4400" dirty="0"/>
              <a:t>Preprocessing or Document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8E4CD9-41F7-0CFB-0B21-B6981E2A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577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B68DA-2124-069F-3F62-F1E194D55B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9" b="1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1: </a:t>
            </a:r>
            <a:r>
              <a:rPr lang="en-US" sz="3300" dirty="0">
                <a:solidFill>
                  <a:schemeClr val="tx2"/>
                </a:solidFill>
              </a:rPr>
              <a:t>Preprocessing or Document Analysis or Document Segmentation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02" y="4313977"/>
            <a:ext cx="6425513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82110-2646-1A67-0CBE-B3036765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785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B68DA-2124-069F-3F62-F1E194D55B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9" b="1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02" y="4313977"/>
            <a:ext cx="6425513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Sometimes the music symbols are not separated from their staff and the staff regions (with their music) are used for the next step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82110-2646-1A67-0CBE-B3036765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620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5BBD74-D59C-8737-4A11-57555FFF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02" y="4313977"/>
            <a:ext cx="6425513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Sometimes the music symbols are not separated from their staff and the staff regions (with their music) are used for the next step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B949D-A52B-7AF2-AC0E-F9C3EA3139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5" t="360" r="497" b="43610"/>
          <a:stretch/>
        </p:blipFill>
        <p:spPr>
          <a:xfrm>
            <a:off x="369067" y="309954"/>
            <a:ext cx="4731164" cy="42548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D84398-AFA4-FF25-5440-C9B3D50A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9</a:t>
            </a:fld>
            <a:endParaRPr lang="en-CA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8654F8C-5989-4C3A-443C-692EF1228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130" y="4029772"/>
            <a:ext cx="1575102" cy="5313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037582F-D3A6-38BD-EDD1-0C23E19E63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t="8832" r="30614" b="4898"/>
          <a:stretch/>
        </p:blipFill>
        <p:spPr>
          <a:xfrm>
            <a:off x="5399902" y="309955"/>
            <a:ext cx="4048737" cy="37198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1353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5BBD74-D59C-8737-4A11-57555FFF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02" y="4313977"/>
            <a:ext cx="6425513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</a:rPr>
              <a:t>Sometimes the music symbols are not separated from their staff and the staff regions (with their music) are used for the next step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B949D-A52B-7AF2-AC0E-F9C3EA3139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5" t="360" r="497" b="43610"/>
          <a:stretch/>
        </p:blipFill>
        <p:spPr>
          <a:xfrm>
            <a:off x="369067" y="309954"/>
            <a:ext cx="4731164" cy="42548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D84398-AFA4-FF25-5440-C9B3D50A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10</a:t>
            </a:fld>
            <a:endParaRPr lang="en-CA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8654F8C-5989-4C3A-443C-692EF1228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130" y="4029772"/>
            <a:ext cx="1575102" cy="5313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3E65CAC-1D4A-79BC-FA6C-4B2C1E655B86}"/>
              </a:ext>
            </a:extLst>
          </p:cNvPr>
          <p:cNvGrpSpPr/>
          <p:nvPr/>
        </p:nvGrpSpPr>
        <p:grpSpPr>
          <a:xfrm>
            <a:off x="5434599" y="309954"/>
            <a:ext cx="4118133" cy="3867058"/>
            <a:chOff x="5667647" y="271849"/>
            <a:chExt cx="4011930" cy="3867058"/>
          </a:xfrm>
        </p:grpSpPr>
        <p:pic>
          <p:nvPicPr>
            <p:cNvPr id="7" name="Picture 6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0885520C-90E7-2F3A-549D-4D8DDFF938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2026"/>
            <a:stretch/>
          </p:blipFill>
          <p:spPr>
            <a:xfrm>
              <a:off x="5667647" y="271849"/>
              <a:ext cx="4011929" cy="385317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0" name="Picture 9" descr="A picture containing object, player, ball, drawing&#10;&#10;Description automatically generated">
              <a:extLst>
                <a:ext uri="{FF2B5EF4-FFF2-40B4-BE49-F238E27FC236}">
                  <a16:creationId xmlns:a16="http://schemas.microsoft.com/office/drawing/2014/main" id="{B19CCA56-2C24-4CDF-0E9A-B35FC4464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6035" y="3754418"/>
              <a:ext cx="1213542" cy="38448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14111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B68DA-2124-069F-3F62-F1E194D55B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9" b="1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228" y="4313977"/>
            <a:ext cx="5709600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  <a:highlight>
                  <a:srgbClr val="FFFF00"/>
                </a:highlight>
              </a:rPr>
              <a:t>Train the computer to do this layer separation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E4EF7-BEDF-C547-F131-B62D62B2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548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CA3B0-32C3-FF29-DE40-4373FC49AD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9" t="2374" r="5301" b="6484"/>
          <a:stretch/>
        </p:blipFill>
        <p:spPr>
          <a:xfrm>
            <a:off x="163556" y="161653"/>
            <a:ext cx="5836411" cy="65346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AE9F4-9438-5D80-B05B-5996DDB6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12</a:t>
            </a:fld>
            <a:endParaRPr lang="en-CA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17" y="4313977"/>
            <a:ext cx="5709397" cy="2259817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  <a:highlight>
                  <a:srgbClr val="FFFF00"/>
                </a:highlight>
              </a:rPr>
              <a:t>Train the computer to do this layer separation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217EAC-2A0F-3943-EAF3-5BD3C93115A9}"/>
              </a:ext>
            </a:extLst>
          </p:cNvPr>
          <p:cNvSpPr/>
          <p:nvPr/>
        </p:nvSpPr>
        <p:spPr>
          <a:xfrm>
            <a:off x="4227082" y="5490632"/>
            <a:ext cx="1575101" cy="531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000" dirty="0"/>
              <a:t>Pixel.js</a:t>
            </a:r>
          </a:p>
        </p:txBody>
      </p:sp>
    </p:spTree>
    <p:extLst>
      <p:ext uri="{BB962C8B-B14F-4D97-AF65-F5344CB8AC3E}">
        <p14:creationId xmlns:p14="http://schemas.microsoft.com/office/powerpoint/2010/main" val="168381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BCA3B0-32C3-FF29-DE40-4373FC49AD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13" t="11318" r="25803" b="25475"/>
          <a:stretch/>
        </p:blipFill>
        <p:spPr>
          <a:xfrm>
            <a:off x="649491" y="349624"/>
            <a:ext cx="4729333" cy="61892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AE9F4-9438-5D80-B05B-5996DDB6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13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510DF-BBE7-7500-70E6-09BAEFE2BC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65" t="74228" r="56742" b="10368"/>
          <a:stretch/>
        </p:blipFill>
        <p:spPr>
          <a:xfrm>
            <a:off x="6012319" y="1239658"/>
            <a:ext cx="5813095" cy="26087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17" y="4313977"/>
            <a:ext cx="5709397" cy="2259817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  <a:highlight>
                  <a:srgbClr val="FFFF00"/>
                </a:highlight>
              </a:rPr>
              <a:t>Train the computer to do this layer separation</a:t>
            </a:r>
          </a:p>
        </p:txBody>
      </p:sp>
    </p:spTree>
    <p:extLst>
      <p:ext uri="{BB962C8B-B14F-4D97-AF65-F5344CB8AC3E}">
        <p14:creationId xmlns:p14="http://schemas.microsoft.com/office/powerpoint/2010/main" val="261369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B68DA-2124-069F-3F62-F1E194D55B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9" b="1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 useBgFill="1">
          <p:nvSpPr>
            <p:cNvPr id="21" name="Freeform: Shape 20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279606" y="4660985"/>
            <a:ext cx="4551886" cy="1509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Step 1: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Preprocessing or Document Analysis or Document Segmentation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F214A94-3C6F-8C65-2738-0CDDF27D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228" y="4313977"/>
            <a:ext cx="5709600" cy="22598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There is always a </a:t>
            </a:r>
            <a:r>
              <a:rPr lang="en-US" sz="2000" b="1" dirty="0">
                <a:solidFill>
                  <a:schemeClr val="tx2"/>
                </a:solidFill>
              </a:rPr>
              <a:t>pre-processing step </a:t>
            </a:r>
            <a:r>
              <a:rPr lang="en-US" sz="2000" dirty="0">
                <a:solidFill>
                  <a:schemeClr val="tx2"/>
                </a:solidFill>
              </a:rPr>
              <a:t>that </a:t>
            </a:r>
            <a:r>
              <a:rPr lang="en-US" sz="2000" b="1" dirty="0">
                <a:solidFill>
                  <a:schemeClr val="tx2"/>
                </a:solidFill>
              </a:rPr>
              <a:t>prepares the data </a:t>
            </a:r>
            <a:r>
              <a:rPr lang="en-US" sz="2000" dirty="0">
                <a:solidFill>
                  <a:schemeClr val="tx2"/>
                </a:solidFill>
              </a:rPr>
              <a:t>needed for the </a:t>
            </a:r>
            <a:r>
              <a:rPr lang="en-US" sz="2000" b="1" dirty="0">
                <a:solidFill>
                  <a:schemeClr val="tx2"/>
                </a:solidFill>
              </a:rPr>
              <a:t>following steps </a:t>
            </a:r>
            <a:r>
              <a:rPr lang="en-US" sz="2000" dirty="0">
                <a:solidFill>
                  <a:schemeClr val="tx2"/>
                </a:solidFill>
              </a:rPr>
              <a:t>in the pipeline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Normally, this step segments the document into layers: music symbols &amp; staves &amp; text layers</a:t>
            </a:r>
          </a:p>
          <a:p>
            <a:r>
              <a:rPr lang="en-US" sz="2000" dirty="0">
                <a:solidFill>
                  <a:schemeClr val="tx2"/>
                </a:solidFill>
              </a:rPr>
              <a:t>Train the computer to do this layer separation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922F2-2867-42F1-18BE-DAB483DE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03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921201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400" b="1" dirty="0"/>
              <a:t>Step 2: </a:t>
            </a:r>
            <a:r>
              <a:rPr lang="en-CA" sz="4400" dirty="0"/>
              <a:t>Music Recognition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2A53C3-74F0-E405-F335-D93FB429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4875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854626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400" b="1" dirty="0"/>
              <a:t>Step 2: </a:t>
            </a:r>
            <a:r>
              <a:rPr lang="en-CA" sz="4400" dirty="0"/>
              <a:t>Music Recognition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D2FAD5-FF56-AD12-D61B-C1F635CB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867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058519"/>
            <a:ext cx="5021782" cy="75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2: </a:t>
            </a:r>
            <a:r>
              <a:rPr lang="en-US" sz="3300" dirty="0">
                <a:solidFill>
                  <a:schemeClr val="tx2"/>
                </a:solidFill>
              </a:rPr>
              <a:t>Music Recognition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99570E-EF0B-6F02-24CF-47A2C983B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477227" y="391591"/>
            <a:ext cx="3111062" cy="4666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7C8C31-2CD2-10B7-6EE0-5C4BF6B32D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3842100" y="391591"/>
            <a:ext cx="3111062" cy="4666928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6C9EA71-CD71-712C-42A6-9A626FA1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996" y="5222316"/>
            <a:ext cx="5640332" cy="12849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(a) </a:t>
            </a:r>
            <a:r>
              <a:rPr lang="en-US" sz="2400" dirty="0">
                <a:solidFill>
                  <a:schemeClr val="accent6"/>
                </a:solidFill>
              </a:rPr>
              <a:t>Staff processing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33C7A"/>
                </a:solidFill>
              </a:rPr>
              <a:t>(b) </a:t>
            </a:r>
            <a:r>
              <a:rPr lang="en-US" sz="2400" dirty="0">
                <a:solidFill>
                  <a:srgbClr val="C33C7A"/>
                </a:solidFill>
              </a:rPr>
              <a:t>Music symbol processing &amp;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33C7A"/>
                </a:solidFill>
              </a:rPr>
              <a:t>(c) </a:t>
            </a:r>
            <a:r>
              <a:rPr lang="en-US" sz="2400" dirty="0">
                <a:solidFill>
                  <a:srgbClr val="C33C7A"/>
                </a:solidFill>
              </a:rPr>
              <a:t>Music symbol classification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3E0AFD-30E9-EE22-7142-2386438F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924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058519"/>
            <a:ext cx="5021782" cy="75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2: </a:t>
            </a:r>
            <a:r>
              <a:rPr lang="en-US" sz="3300" dirty="0">
                <a:solidFill>
                  <a:schemeClr val="tx2"/>
                </a:solidFill>
              </a:rPr>
              <a:t>Music Recognition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99570E-EF0B-6F02-24CF-47A2C983B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477227" y="391591"/>
            <a:ext cx="3111062" cy="4666928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8FABFD53-17AC-807C-5564-3413EED7CA3E}"/>
              </a:ext>
            </a:extLst>
          </p:cNvPr>
          <p:cNvSpPr txBox="1">
            <a:spLocks/>
          </p:cNvSpPr>
          <p:nvPr/>
        </p:nvSpPr>
        <p:spPr>
          <a:xfrm>
            <a:off x="5746996" y="5222316"/>
            <a:ext cx="5640332" cy="12849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(a) </a:t>
            </a:r>
            <a:r>
              <a:rPr lang="en-US" sz="2400" dirty="0">
                <a:solidFill>
                  <a:schemeClr val="accent6"/>
                </a:solidFill>
              </a:rPr>
              <a:t>Staff processing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7A8AE6-F304-13F8-202C-547C35F2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10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643467" y="4724186"/>
            <a:ext cx="5174775" cy="776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41832">
              <a:spcAft>
                <a:spcPts val="618"/>
              </a:spcAft>
            </a:pPr>
            <a:r>
              <a:rPr lang="en-US" sz="3399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Step 2: </a:t>
            </a:r>
            <a:r>
              <a:rPr lang="en-US" sz="3399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Music Recognition</a:t>
            </a:r>
            <a:endParaRPr lang="en-US" sz="3300" dirty="0">
              <a:solidFill>
                <a:schemeClr val="tx2"/>
              </a:solidFill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8FABFD53-17AC-807C-5564-3413EED7CA3E}"/>
              </a:ext>
            </a:extLst>
          </p:cNvPr>
          <p:cNvSpPr txBox="1">
            <a:spLocks/>
          </p:cNvSpPr>
          <p:nvPr/>
        </p:nvSpPr>
        <p:spPr>
          <a:xfrm>
            <a:off x="5736363" y="4892973"/>
            <a:ext cx="5812170" cy="13240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41832">
              <a:spcBef>
                <a:spcPts val="1030"/>
              </a:spcBef>
              <a:buNone/>
            </a:pPr>
            <a:r>
              <a:rPr lang="en-US" sz="2472" b="1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(a) </a:t>
            </a:r>
            <a:r>
              <a:rPr lang="en-US" sz="2472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Staff processing</a:t>
            </a:r>
          </a:p>
          <a:p>
            <a:pPr marL="235458" indent="-235458" defTabSz="941832">
              <a:spcBef>
                <a:spcPts val="1030"/>
              </a:spcBef>
            </a:pPr>
            <a:r>
              <a:rPr lang="en-US" sz="2472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Track the staff line path</a:t>
            </a:r>
            <a:endParaRPr lang="en-US" sz="240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4409A-053F-62D4-97E0-B3DDBABD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9" y="1209384"/>
            <a:ext cx="9846706" cy="32499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157196-5DBF-8519-4FA3-D99F948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30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058519"/>
            <a:ext cx="5021782" cy="75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2: </a:t>
            </a:r>
            <a:r>
              <a:rPr lang="en-US" sz="3300" dirty="0">
                <a:solidFill>
                  <a:schemeClr val="tx2"/>
                </a:solidFill>
              </a:rPr>
              <a:t>Music Recognition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C8C31-2CD2-10B7-6EE0-5C4BF6B32D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499812" y="391591"/>
            <a:ext cx="3111062" cy="4666928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6C9EA71-CD71-712C-42A6-9A626FA1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996" y="5222316"/>
            <a:ext cx="5640332" cy="12849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33C7A"/>
                </a:solidFill>
              </a:rPr>
              <a:t>(b) </a:t>
            </a:r>
            <a:r>
              <a:rPr lang="en-US" sz="2400" dirty="0">
                <a:solidFill>
                  <a:srgbClr val="C33C7A"/>
                </a:solidFill>
              </a:rPr>
              <a:t>Music symbol processing </a:t>
            </a:r>
          </a:p>
          <a:p>
            <a:r>
              <a:rPr lang="en-US" sz="2400" dirty="0">
                <a:solidFill>
                  <a:srgbClr val="C33C7A"/>
                </a:solidFill>
                <a:sym typeface="Wingdings" pitchFamily="2" charset="2"/>
              </a:rPr>
              <a:t>“Detection” of music symbols</a:t>
            </a:r>
            <a:endParaRPr lang="en-US" sz="2400" dirty="0">
              <a:solidFill>
                <a:srgbClr val="C33C7A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15615-47EE-E602-D56F-F0475E44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66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058519"/>
            <a:ext cx="5021782" cy="75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2: </a:t>
            </a:r>
            <a:r>
              <a:rPr lang="en-US" sz="3300" dirty="0">
                <a:solidFill>
                  <a:schemeClr val="tx2"/>
                </a:solidFill>
              </a:rPr>
              <a:t>Music Recognition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6C9EA71-CD71-712C-42A6-9A626FA1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996" y="5222316"/>
            <a:ext cx="5640332" cy="12849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BC9DC"/>
                </a:solidFill>
              </a:rPr>
              <a:t>(b) </a:t>
            </a:r>
            <a:r>
              <a:rPr lang="en-US" sz="2400" dirty="0">
                <a:solidFill>
                  <a:srgbClr val="FBC9DC"/>
                </a:solidFill>
              </a:rPr>
              <a:t>Music symbol processing </a:t>
            </a:r>
          </a:p>
          <a:p>
            <a:r>
              <a:rPr lang="en-US" sz="2400" dirty="0">
                <a:solidFill>
                  <a:srgbClr val="FBC9DC"/>
                </a:solidFill>
                <a:sym typeface="Wingdings" pitchFamily="2" charset="2"/>
              </a:rPr>
              <a:t>“Detection” of music symbols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33C7A"/>
                </a:solidFill>
              </a:rPr>
              <a:t>(c) </a:t>
            </a:r>
            <a:r>
              <a:rPr lang="en-US" sz="2400" dirty="0">
                <a:solidFill>
                  <a:srgbClr val="C33C7A"/>
                </a:solidFill>
              </a:rPr>
              <a:t>Music symbol </a:t>
            </a:r>
            <a:r>
              <a:rPr lang="en-US" sz="2400" b="1" dirty="0">
                <a:solidFill>
                  <a:srgbClr val="C33C7A"/>
                </a:solidFill>
              </a:rPr>
              <a:t>classification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D75E431-179D-CFC9-4695-C4C5A9F910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34"/>
          <a:stretch/>
        </p:blipFill>
        <p:spPr>
          <a:xfrm>
            <a:off x="435162" y="377441"/>
            <a:ext cx="7754097" cy="4630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AFBC60-7337-AFCA-4482-7BD93566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21</a:t>
            </a:fld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5A75EE-1866-BF0B-AEB2-3CC816205C02}"/>
              </a:ext>
            </a:extLst>
          </p:cNvPr>
          <p:cNvSpPr/>
          <p:nvPr/>
        </p:nvSpPr>
        <p:spPr>
          <a:xfrm>
            <a:off x="435162" y="4208930"/>
            <a:ext cx="1877732" cy="793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000" dirty="0"/>
              <a:t>Interactive Classifier</a:t>
            </a:r>
          </a:p>
        </p:txBody>
      </p:sp>
    </p:spTree>
    <p:extLst>
      <p:ext uri="{BB962C8B-B14F-4D97-AF65-F5344CB8AC3E}">
        <p14:creationId xmlns:p14="http://schemas.microsoft.com/office/powerpoint/2010/main" val="3606390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540878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400" b="1" dirty="0"/>
              <a:t>Step 3: </a:t>
            </a:r>
            <a:r>
              <a:rPr lang="en-CA" sz="4400" dirty="0"/>
              <a:t>Music Notation Reconstruction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E36B3-3EC9-5E8F-914F-1D6AFF71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210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8"/>
            <a:ext cx="5963990" cy="140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3: </a:t>
            </a:r>
            <a:r>
              <a:rPr lang="en-US" sz="3300" dirty="0">
                <a:solidFill>
                  <a:schemeClr val="tx2"/>
                </a:solidFill>
              </a:rPr>
              <a:t>Music Notation Reconstruction</a:t>
            </a:r>
            <a:br>
              <a:rPr lang="en-US" sz="3300" dirty="0">
                <a:solidFill>
                  <a:schemeClr val="tx2"/>
                </a:solidFill>
              </a:rPr>
            </a:br>
            <a:r>
              <a:rPr lang="en-US" sz="3300" i="1" dirty="0">
                <a:solidFill>
                  <a:schemeClr val="tx2"/>
                </a:solidFill>
              </a:rPr>
              <a:t>also known as “notation assembly” or “music reconstruction”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99570E-EF0B-6F02-24CF-47A2C983B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477227" y="391591"/>
            <a:ext cx="3111062" cy="4666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7C8C31-2CD2-10B7-6EE0-5C4BF6B32D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3842100" y="391591"/>
            <a:ext cx="3111062" cy="4666928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6C9EA71-CD71-712C-42A6-9A626FA1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552" y="391592"/>
            <a:ext cx="3960776" cy="6186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Take the various individual sources of information recognized on previous steps (e.g., music symbols and staff lines) and bring them together to reconstruct the “music notation” (or “music semantics”)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>
                <a:sym typeface="Wingdings" pitchFamily="2" charset="2"/>
              </a:rPr>
              <a:t>  </a:t>
            </a:r>
            <a:r>
              <a:rPr lang="en-US" sz="2400" b="1" dirty="0"/>
              <a:t>Pitch detection </a:t>
            </a:r>
          </a:p>
          <a:p>
            <a:pPr marL="457200" lvl="1" indent="0">
              <a:buNone/>
            </a:pPr>
            <a:r>
              <a:rPr lang="en-US" sz="2200" dirty="0"/>
              <a:t>Overlay the symbols on top of the staff lines and use the tracked staff lines path to interpret the pitch of each symbol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8ABEE-370B-7FCA-2725-5620215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2756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40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3: </a:t>
            </a:r>
            <a:r>
              <a:rPr lang="en-US" sz="3300" dirty="0">
                <a:solidFill>
                  <a:schemeClr val="tx2"/>
                </a:solidFill>
              </a:rPr>
              <a:t>Music Notation Reconstruction</a:t>
            </a:r>
            <a:br>
              <a:rPr lang="en-US" sz="3300" dirty="0">
                <a:solidFill>
                  <a:schemeClr val="tx2"/>
                </a:solidFill>
              </a:rPr>
            </a:br>
            <a:r>
              <a:rPr lang="en-US" sz="3300" i="1" dirty="0">
                <a:solidFill>
                  <a:schemeClr val="tx2"/>
                </a:solidFill>
              </a:rPr>
              <a:t>also known as “notation assembly” or “music reconstruction”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6CCEC-BAAB-2590-710D-6C9F3FDF09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444843" y="391590"/>
            <a:ext cx="3163330" cy="46669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02DB43-44C1-A588-CB2A-C6884E40BC23}"/>
              </a:ext>
            </a:extLst>
          </p:cNvPr>
          <p:cNvSpPr txBox="1"/>
          <p:nvPr/>
        </p:nvSpPr>
        <p:spPr>
          <a:xfrm>
            <a:off x="3786667" y="1392748"/>
            <a:ext cx="7117492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9000" b="1" dirty="0"/>
              <a:t>What about text?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3352C-450E-D3A4-802E-1000E76E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50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40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3: </a:t>
            </a:r>
            <a:r>
              <a:rPr lang="en-US" sz="3300" dirty="0">
                <a:solidFill>
                  <a:schemeClr val="tx2"/>
                </a:solidFill>
              </a:rPr>
              <a:t>Music Notation Reconstruction</a:t>
            </a:r>
            <a:br>
              <a:rPr lang="en-US" sz="3300" dirty="0">
                <a:solidFill>
                  <a:schemeClr val="tx2"/>
                </a:solidFill>
              </a:rPr>
            </a:br>
            <a:r>
              <a:rPr lang="en-US" sz="3300" i="1" dirty="0">
                <a:solidFill>
                  <a:schemeClr val="tx2"/>
                </a:solidFill>
              </a:rPr>
              <a:t>also known as “notation assembly” or “music reconstruction”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6CCEC-BAAB-2590-710D-6C9F3FDF09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444843" y="391590"/>
            <a:ext cx="3163330" cy="46669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02DB43-44C1-A588-CB2A-C6884E40BC23}"/>
              </a:ext>
            </a:extLst>
          </p:cNvPr>
          <p:cNvSpPr txBox="1"/>
          <p:nvPr/>
        </p:nvSpPr>
        <p:spPr>
          <a:xfrm>
            <a:off x="3786667" y="1392748"/>
            <a:ext cx="7117492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9000" b="1" dirty="0"/>
              <a:t>What about text?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2B6A4992-1631-A546-9923-5EBA4EA91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661" y="5303819"/>
            <a:ext cx="4735479" cy="1139710"/>
          </a:xfrm>
        </p:spPr>
        <p:txBody>
          <a:bodyPr anchor="t">
            <a:normAutofit/>
          </a:bodyPr>
          <a:lstStyle/>
          <a:p>
            <a:r>
              <a:rPr lang="en-CA" sz="2400" dirty="0"/>
              <a:t>OCR has issues with recognizing handwritten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386AFF-2C5F-A5E5-55A5-D18EEDA4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033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407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3: </a:t>
            </a:r>
            <a:r>
              <a:rPr lang="en-US" sz="3300" dirty="0">
                <a:solidFill>
                  <a:schemeClr val="tx2"/>
                </a:solidFill>
              </a:rPr>
              <a:t>Music Notation Reconstruction</a:t>
            </a:r>
            <a:br>
              <a:rPr lang="en-US" sz="3300" dirty="0">
                <a:solidFill>
                  <a:schemeClr val="tx2"/>
                </a:solidFill>
              </a:rPr>
            </a:br>
            <a:r>
              <a:rPr lang="en-US" sz="3300" i="1" dirty="0">
                <a:solidFill>
                  <a:schemeClr val="tx2"/>
                </a:solidFill>
              </a:rPr>
              <a:t>also known as “notation assembly” or “music reconstruction”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2B6A4992-1631-A546-9923-5EBA4EA91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661" y="5303819"/>
            <a:ext cx="4735479" cy="1139710"/>
          </a:xfrm>
        </p:spPr>
        <p:txBody>
          <a:bodyPr anchor="t">
            <a:normAutofit/>
          </a:bodyPr>
          <a:lstStyle/>
          <a:p>
            <a:r>
              <a:rPr lang="en-CA" sz="2400" dirty="0"/>
              <a:t>OCR has issues with recognizing handwritten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44B06-D594-E569-DD05-21F2CBCBC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06169"/>
            <a:ext cx="10055544" cy="43294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F3514-D89E-A36A-A2BF-97EF1BDA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26</a:t>
            </a:fld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00FC7-5A44-0843-237F-C42CDDED4000}"/>
              </a:ext>
            </a:extLst>
          </p:cNvPr>
          <p:cNvSpPr/>
          <p:nvPr/>
        </p:nvSpPr>
        <p:spPr>
          <a:xfrm>
            <a:off x="2323071" y="1606378"/>
            <a:ext cx="642552" cy="642552"/>
          </a:xfrm>
          <a:prstGeom prst="rect">
            <a:avLst/>
          </a:prstGeom>
          <a:solidFill>
            <a:srgbClr val="00B050">
              <a:alpha val="2039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3204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767237"/>
              </p:ext>
            </p:extLst>
          </p:nvPr>
        </p:nvGraphicFramePr>
        <p:xfrm>
          <a:off x="1026491" y="1720742"/>
          <a:ext cx="10187152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400" b="1" dirty="0"/>
              <a:t>Step 4: </a:t>
            </a:r>
            <a:r>
              <a:rPr lang="en-CA" sz="4200" dirty="0"/>
              <a:t>Final Representation or Music Encoding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3399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15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4: </a:t>
            </a:r>
            <a:r>
              <a:rPr lang="en-US" sz="3300" dirty="0">
                <a:solidFill>
                  <a:schemeClr val="tx2"/>
                </a:solidFill>
              </a:rPr>
              <a:t>Final Representation Construction (or Music Encoding)</a:t>
            </a:r>
            <a:endParaRPr lang="en-US" sz="3300" i="1" dirty="0">
              <a:solidFill>
                <a:schemeClr val="tx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F0E1-7963-A2CC-39E2-E1495F20A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662" y="5033096"/>
            <a:ext cx="4866290" cy="1430763"/>
          </a:xfrm>
          <a:solidFill>
            <a:schemeClr val="bg1"/>
          </a:solidFill>
        </p:spPr>
        <p:txBody>
          <a:bodyPr anchor="t">
            <a:normAutofit/>
          </a:bodyPr>
          <a:lstStyle/>
          <a:p>
            <a:r>
              <a:rPr lang="en-CA" sz="2000" dirty="0"/>
              <a:t>The music is encoded in a standard music-encoding format (e.g., </a:t>
            </a:r>
            <a:r>
              <a:rPr lang="en-CA" sz="2000" dirty="0" err="1"/>
              <a:t>MusicXML</a:t>
            </a:r>
            <a:r>
              <a:rPr lang="en-CA" sz="2000" dirty="0"/>
              <a:t> and MEI)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B9239-321C-0F80-A425-2751FD00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30772"/>
            <a:ext cx="3846175" cy="4502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91B6C-DA9C-8E4A-CB88-1652E65C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97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15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4: </a:t>
            </a:r>
            <a:r>
              <a:rPr lang="en-US" sz="3300" dirty="0">
                <a:solidFill>
                  <a:schemeClr val="tx2"/>
                </a:solidFill>
              </a:rPr>
              <a:t>Final Representation Construction (or Music Encoding)</a:t>
            </a:r>
            <a:endParaRPr lang="en-US" sz="3300" i="1" dirty="0">
              <a:solidFill>
                <a:schemeClr val="tx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F0E1-7963-A2CC-39E2-E1495F20A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662" y="4708633"/>
            <a:ext cx="4866290" cy="1755227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CA" sz="2000" dirty="0"/>
              <a:t>The music is encoded in a standard music-encoding format (e.g., </a:t>
            </a:r>
            <a:r>
              <a:rPr lang="en-CA" sz="2000" dirty="0" err="1"/>
              <a:t>MusicXML</a:t>
            </a:r>
            <a:r>
              <a:rPr lang="en-CA" sz="2000" dirty="0"/>
              <a:t> and MEI)</a:t>
            </a:r>
          </a:p>
          <a:p>
            <a:r>
              <a:rPr lang="en-CA" sz="2000" dirty="0"/>
              <a:t>For early music notation </a:t>
            </a:r>
            <a:r>
              <a:rPr lang="en-CA" sz="2000" dirty="0">
                <a:sym typeface="Wingdings" pitchFamily="2" charset="2"/>
              </a:rPr>
              <a:t> MEI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B9239-321C-0F80-A425-2751FD00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30772"/>
            <a:ext cx="3846175" cy="4502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75ACD6-D55B-E720-B455-E827521F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7478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04672" y="5169729"/>
            <a:ext cx="5963990" cy="1157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</a:rPr>
              <a:t>Step 4: </a:t>
            </a:r>
            <a:r>
              <a:rPr lang="en-US" sz="3300" dirty="0">
                <a:solidFill>
                  <a:schemeClr val="tx2"/>
                </a:solidFill>
              </a:rPr>
              <a:t>Final Representation Construction (or Music Encoding)</a:t>
            </a:r>
            <a:endParaRPr lang="en-US" sz="3300" i="1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32AF29-3E8C-47C2-E0BF-B8137CA292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61"/>
          <a:stretch/>
        </p:blipFill>
        <p:spPr>
          <a:xfrm>
            <a:off x="664779" y="588162"/>
            <a:ext cx="7772400" cy="39838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67E6E-616A-DF92-E243-6F60E96A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30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467424-ACD9-0DD5-8B88-537330A2D2D7}"/>
              </a:ext>
            </a:extLst>
          </p:cNvPr>
          <p:cNvSpPr/>
          <p:nvPr/>
        </p:nvSpPr>
        <p:spPr>
          <a:xfrm>
            <a:off x="5725729" y="3783812"/>
            <a:ext cx="2711450" cy="793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ES" sz="2000" dirty="0"/>
              <a:t>Neon.js</a:t>
            </a:r>
          </a:p>
          <a:p>
            <a:pPr algn="ctr"/>
            <a:r>
              <a:rPr lang="en-ES" sz="2000" dirty="0"/>
              <a:t>Neume Editor Online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BC3FF7-65FE-0D86-1899-060A0C81A95E}"/>
              </a:ext>
            </a:extLst>
          </p:cNvPr>
          <p:cNvSpPr txBox="1">
            <a:spLocks/>
          </p:cNvSpPr>
          <p:nvPr/>
        </p:nvSpPr>
        <p:spPr>
          <a:xfrm>
            <a:off x="6768662" y="4708633"/>
            <a:ext cx="4866290" cy="17552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/>
              <a:t>The music is encoded in a standard music-encoding format</a:t>
            </a:r>
          </a:p>
          <a:p>
            <a:r>
              <a:rPr lang="en-CA" sz="2000" dirty="0"/>
              <a:t>For early music notation </a:t>
            </a:r>
            <a:r>
              <a:rPr lang="en-CA" sz="2000" dirty="0">
                <a:sym typeface="Wingdings" pitchFamily="2" charset="2"/>
              </a:rPr>
              <a:t> MEI</a:t>
            </a:r>
          </a:p>
          <a:p>
            <a:r>
              <a:rPr lang="en-CA" sz="2000" dirty="0"/>
              <a:t>Interfaces for correction of the resulting MEI file (e.g., Neon for neume notation)</a:t>
            </a:r>
          </a:p>
        </p:txBody>
      </p:sp>
    </p:spTree>
    <p:extLst>
      <p:ext uri="{BB962C8B-B14F-4D97-AF65-F5344CB8AC3E}">
        <p14:creationId xmlns:p14="http://schemas.microsoft.com/office/powerpoint/2010/main" val="3402336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390F-541D-AACF-AC25-2E4E03994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23816"/>
          </a:xfrm>
        </p:spPr>
        <p:txBody>
          <a:bodyPr/>
          <a:lstStyle/>
          <a:p>
            <a:r>
              <a:rPr lang="en-CA" dirty="0"/>
              <a:t>Some OMR Frameworks for </a:t>
            </a:r>
            <a:r>
              <a:rPr lang="en-CA" b="1" dirty="0"/>
              <a:t>Neume</a:t>
            </a:r>
            <a:r>
              <a:rPr lang="en-CA" dirty="0"/>
              <a:t> Scripts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AE97B-D9CB-2A20-925D-A657633D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31</a:t>
            </a:fld>
            <a:endParaRPr lang="en-CA"/>
          </a:p>
        </p:txBody>
      </p:sp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A44B45FC-5B92-8FF8-31D5-D34DCA65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46" y="4758312"/>
            <a:ext cx="3287078" cy="887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D40A7D-8541-2E7D-E108-F3D70B39C73B}"/>
              </a:ext>
            </a:extLst>
          </p:cNvPr>
          <p:cNvSpPr txBox="1"/>
          <p:nvPr/>
        </p:nvSpPr>
        <p:spPr>
          <a:xfrm>
            <a:off x="6635261" y="4758312"/>
            <a:ext cx="3287077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ES" sz="4800" dirty="0"/>
              <a:t>OMMR4all</a:t>
            </a:r>
          </a:p>
        </p:txBody>
      </p:sp>
    </p:spTree>
    <p:extLst>
      <p:ext uri="{BB962C8B-B14F-4D97-AF65-F5344CB8AC3E}">
        <p14:creationId xmlns:p14="http://schemas.microsoft.com/office/powerpoint/2010/main" val="2881888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1C167-ECD1-89D9-91D2-2F1B6273D0CC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959438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A66FEE-C2E2-D6B4-62D3-0A7CDC7E48D6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817CD-7E34-0877-1BD2-B46CA35B4ED3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2850399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DD88F54-7BB5-3BD6-28BD-F2CF667CA80E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D189D-171F-8C27-34C1-3268C8562618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4266640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AB0BE65-F87E-6325-EDD8-D14E454AA2C5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087DC-F08E-CB34-9A53-5B2052A16580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594555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456D9A-1718-D82E-91C3-348E4EA23E78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A2CF4-520F-0819-7D56-C177760D06FE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1923460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3C245C-8C71-8592-79BA-BDEE2B88DF79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B2DA1-6B52-642F-EDDD-5D156D91E237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3271274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05A3F9-E661-D9C6-07E8-BFBF0B8DF422}"/>
              </a:ext>
            </a:extLst>
          </p:cNvPr>
          <p:cNvSpPr/>
          <p:nvPr/>
        </p:nvSpPr>
        <p:spPr>
          <a:xfrm>
            <a:off x="3806255" y="3151585"/>
            <a:ext cx="1953731" cy="1228725"/>
          </a:xfrm>
          <a:prstGeom prst="roundRect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symbol processing &amp; classification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DCEC758-6CF1-3096-1DBB-2257982C102B}"/>
              </a:ext>
            </a:extLst>
          </p:cNvPr>
          <p:cNvSpPr/>
          <p:nvPr/>
        </p:nvSpPr>
        <p:spPr>
          <a:xfrm>
            <a:off x="3140528" y="3550058"/>
            <a:ext cx="615927" cy="614362"/>
          </a:xfrm>
          <a:prstGeom prst="rightArrow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1194D052-ABC2-24D9-DA65-5EA05B2E63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302"/>
          <a:stretch/>
        </p:blipFill>
        <p:spPr>
          <a:xfrm>
            <a:off x="5437117" y="3736043"/>
            <a:ext cx="19621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FD4073-4A37-6B63-FB61-73B54982114F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F2041-2027-FF27-2F0D-8381896A85EF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3666745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05A3F9-E661-D9C6-07E8-BFBF0B8DF422}"/>
              </a:ext>
            </a:extLst>
          </p:cNvPr>
          <p:cNvSpPr/>
          <p:nvPr/>
        </p:nvSpPr>
        <p:spPr>
          <a:xfrm>
            <a:off x="3806255" y="3151585"/>
            <a:ext cx="1953731" cy="1228725"/>
          </a:xfrm>
          <a:prstGeom prst="roundRect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symbol processing &amp; classification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929A32-07F2-28EE-C1DD-B06E806DDBC9}"/>
              </a:ext>
            </a:extLst>
          </p:cNvPr>
          <p:cNvSpPr/>
          <p:nvPr/>
        </p:nvSpPr>
        <p:spPr>
          <a:xfrm>
            <a:off x="3779628" y="5030736"/>
            <a:ext cx="1966912" cy="1228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Alignment (OCR &amp; Cantus Database text)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DCEC758-6CF1-3096-1DBB-2257982C102B}"/>
              </a:ext>
            </a:extLst>
          </p:cNvPr>
          <p:cNvSpPr/>
          <p:nvPr/>
        </p:nvSpPr>
        <p:spPr>
          <a:xfrm>
            <a:off x="3140528" y="3550058"/>
            <a:ext cx="615927" cy="614362"/>
          </a:xfrm>
          <a:prstGeom prst="rightArrow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69C50118-ABEE-B126-F2A3-5435BB61E3DD}"/>
              </a:ext>
            </a:extLst>
          </p:cNvPr>
          <p:cNvSpPr/>
          <p:nvPr/>
        </p:nvSpPr>
        <p:spPr>
          <a:xfrm rot="493630">
            <a:off x="2993508" y="5103597"/>
            <a:ext cx="615927" cy="614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1194D052-ABC2-24D9-DA65-5EA05B2E63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302"/>
          <a:stretch/>
        </p:blipFill>
        <p:spPr>
          <a:xfrm>
            <a:off x="5437117" y="3736043"/>
            <a:ext cx="19621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703EED0-AB95-9B54-FBFB-D57169DA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58" y="5524680"/>
            <a:ext cx="2204780" cy="94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06B8D09-0F90-E9F1-8352-E04616B3F29E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FE0E5-4CC4-CAA2-3CD7-07A4018C69DA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</p:spTree>
    <p:extLst>
      <p:ext uri="{BB962C8B-B14F-4D97-AF65-F5344CB8AC3E}">
        <p14:creationId xmlns:p14="http://schemas.microsoft.com/office/powerpoint/2010/main" val="2041301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5D1DD-CF61-6FBD-7A55-250B94A308F0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4B120692-B813-4391-C825-05572B8D3579}"/>
              </a:ext>
            </a:extLst>
          </p:cNvPr>
          <p:cNvSpPr/>
          <p:nvPr/>
        </p:nvSpPr>
        <p:spPr>
          <a:xfrm rot="970192">
            <a:off x="6072499" y="2010426"/>
            <a:ext cx="1094285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EAECEA48-40EE-3D11-DC41-04CCBBFD6710}"/>
              </a:ext>
            </a:extLst>
          </p:cNvPr>
          <p:cNvSpPr/>
          <p:nvPr/>
        </p:nvSpPr>
        <p:spPr>
          <a:xfrm rot="20163636">
            <a:off x="6046024" y="3247194"/>
            <a:ext cx="1125629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05A3F9-E661-D9C6-07E8-BFBF0B8DF422}"/>
              </a:ext>
            </a:extLst>
          </p:cNvPr>
          <p:cNvSpPr/>
          <p:nvPr/>
        </p:nvSpPr>
        <p:spPr>
          <a:xfrm>
            <a:off x="3806255" y="3151585"/>
            <a:ext cx="1953731" cy="1228725"/>
          </a:xfrm>
          <a:prstGeom prst="roundRect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symbol processing &amp; classification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929A32-07F2-28EE-C1DD-B06E806DDBC9}"/>
              </a:ext>
            </a:extLst>
          </p:cNvPr>
          <p:cNvSpPr/>
          <p:nvPr/>
        </p:nvSpPr>
        <p:spPr>
          <a:xfrm>
            <a:off x="3779628" y="5030736"/>
            <a:ext cx="1966912" cy="1228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Alignment (OCR &amp; Cantus Database text)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B2563D-ACBC-7ADB-B502-3A8A01CB7360}"/>
              </a:ext>
            </a:extLst>
          </p:cNvPr>
          <p:cNvSpPr/>
          <p:nvPr/>
        </p:nvSpPr>
        <p:spPr>
          <a:xfrm>
            <a:off x="7192036" y="2470395"/>
            <a:ext cx="1222087" cy="830549"/>
          </a:xfrm>
          <a:prstGeom prst="roundRect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Pitch Finding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DCEC758-6CF1-3096-1DBB-2257982C102B}"/>
              </a:ext>
            </a:extLst>
          </p:cNvPr>
          <p:cNvSpPr/>
          <p:nvPr/>
        </p:nvSpPr>
        <p:spPr>
          <a:xfrm>
            <a:off x="3140528" y="3550058"/>
            <a:ext cx="615927" cy="614362"/>
          </a:xfrm>
          <a:prstGeom prst="rightArrow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69C50118-ABEE-B126-F2A3-5435BB61E3DD}"/>
              </a:ext>
            </a:extLst>
          </p:cNvPr>
          <p:cNvSpPr/>
          <p:nvPr/>
        </p:nvSpPr>
        <p:spPr>
          <a:xfrm rot="493630">
            <a:off x="2993508" y="5103597"/>
            <a:ext cx="615927" cy="614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1194D052-ABC2-24D9-DA65-5EA05B2E63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302"/>
          <a:stretch/>
        </p:blipFill>
        <p:spPr>
          <a:xfrm>
            <a:off x="5437117" y="3736043"/>
            <a:ext cx="19621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703EED0-AB95-9B54-FBFB-D57169DA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58" y="5524680"/>
            <a:ext cx="2204780" cy="94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FADFDE-A3B3-8A43-8851-5A424B0F3675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641296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EDFFA1-166E-EACE-5C09-88D87E0AB33C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B25EEAC3-8FA2-4BBF-4AF4-C2EEEAA95157}"/>
              </a:ext>
            </a:extLst>
          </p:cNvPr>
          <p:cNvSpPr/>
          <p:nvPr/>
        </p:nvSpPr>
        <p:spPr>
          <a:xfrm rot="2441714">
            <a:off x="8397978" y="3182098"/>
            <a:ext cx="533979" cy="579823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D302DFA3-2CC8-CBBF-9372-58A5E478BD4D}"/>
              </a:ext>
            </a:extLst>
          </p:cNvPr>
          <p:cNvSpPr/>
          <p:nvPr/>
        </p:nvSpPr>
        <p:spPr>
          <a:xfrm rot="19695376">
            <a:off x="7386232" y="5133555"/>
            <a:ext cx="1447952" cy="614362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4B120692-B813-4391-C825-05572B8D3579}"/>
              </a:ext>
            </a:extLst>
          </p:cNvPr>
          <p:cNvSpPr/>
          <p:nvPr/>
        </p:nvSpPr>
        <p:spPr>
          <a:xfrm rot="970192">
            <a:off x="6072499" y="2010426"/>
            <a:ext cx="1094285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EAECEA48-40EE-3D11-DC41-04CCBBFD6710}"/>
              </a:ext>
            </a:extLst>
          </p:cNvPr>
          <p:cNvSpPr/>
          <p:nvPr/>
        </p:nvSpPr>
        <p:spPr>
          <a:xfrm rot="20163636">
            <a:off x="6046024" y="3247194"/>
            <a:ext cx="1125629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05A3F9-E661-D9C6-07E8-BFBF0B8DF422}"/>
              </a:ext>
            </a:extLst>
          </p:cNvPr>
          <p:cNvSpPr/>
          <p:nvPr/>
        </p:nvSpPr>
        <p:spPr>
          <a:xfrm>
            <a:off x="3806255" y="3151585"/>
            <a:ext cx="1953731" cy="1228725"/>
          </a:xfrm>
          <a:prstGeom prst="roundRect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symbol processing &amp; classification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929A32-07F2-28EE-C1DD-B06E806DDBC9}"/>
              </a:ext>
            </a:extLst>
          </p:cNvPr>
          <p:cNvSpPr/>
          <p:nvPr/>
        </p:nvSpPr>
        <p:spPr>
          <a:xfrm>
            <a:off x="3779628" y="5030736"/>
            <a:ext cx="1966912" cy="1228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Alignment (OCR &amp; Cantus Database text)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B2563D-ACBC-7ADB-B502-3A8A01CB7360}"/>
              </a:ext>
            </a:extLst>
          </p:cNvPr>
          <p:cNvSpPr/>
          <p:nvPr/>
        </p:nvSpPr>
        <p:spPr>
          <a:xfrm>
            <a:off x="7192036" y="2470395"/>
            <a:ext cx="1222087" cy="830549"/>
          </a:xfrm>
          <a:prstGeom prst="roundRect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Pitch Finding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09165E-9EAA-71A3-EC2B-D8C498BE711A}"/>
              </a:ext>
            </a:extLst>
          </p:cNvPr>
          <p:cNvSpPr/>
          <p:nvPr/>
        </p:nvSpPr>
        <p:spPr>
          <a:xfrm>
            <a:off x="8726669" y="3763703"/>
            <a:ext cx="2103790" cy="12287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MEI Encoding </a:t>
            </a:r>
            <a:b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&amp; Correction interface (NEON)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DCEC758-6CF1-3096-1DBB-2257982C102B}"/>
              </a:ext>
            </a:extLst>
          </p:cNvPr>
          <p:cNvSpPr/>
          <p:nvPr/>
        </p:nvSpPr>
        <p:spPr>
          <a:xfrm>
            <a:off x="3140528" y="3550058"/>
            <a:ext cx="615927" cy="614362"/>
          </a:xfrm>
          <a:prstGeom prst="rightArrow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69C50118-ABEE-B126-F2A3-5435BB61E3DD}"/>
              </a:ext>
            </a:extLst>
          </p:cNvPr>
          <p:cNvSpPr/>
          <p:nvPr/>
        </p:nvSpPr>
        <p:spPr>
          <a:xfrm rot="493630">
            <a:off x="2993508" y="5103597"/>
            <a:ext cx="615927" cy="614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1194D052-ABC2-24D9-DA65-5EA05B2E63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302"/>
          <a:stretch/>
        </p:blipFill>
        <p:spPr>
          <a:xfrm>
            <a:off x="5437117" y="3736043"/>
            <a:ext cx="19621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703EED0-AB95-9B54-FBFB-D57169DA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58" y="5524680"/>
            <a:ext cx="2204780" cy="94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3D79F44-2E7E-158F-B952-7A834CF4F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693" y="4861718"/>
            <a:ext cx="21723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CD1EB27-C8D1-67E8-BDCE-12A3CACAED83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985506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ED1612-4AD6-30DC-F73F-679881A9DB4A}"/>
              </a:ext>
            </a:extLst>
          </p:cNvPr>
          <p:cNvSpPr txBox="1"/>
          <p:nvPr/>
        </p:nvSpPr>
        <p:spPr>
          <a:xfrm>
            <a:off x="8336628" y="1670811"/>
            <a:ext cx="3426749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Workflow manager created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Andrew Hankinson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, used for OMR in the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SIMSSA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project, </a:t>
            </a:r>
            <a:r>
              <a:rPr lang="en-CA" sz="2000" i="1" dirty="0">
                <a:solidFill>
                  <a:prstClr val="black"/>
                </a:solidFill>
                <a:latin typeface="Aptos" panose="02110004020202020204"/>
              </a:rPr>
              <a:t>led by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Ichiro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Fujinaga</a:t>
            </a:r>
            <a:r>
              <a:rPr lang="en-CA" sz="2000" b="1" i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C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(McGill)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B25EEAC3-8FA2-4BBF-4AF4-C2EEEAA95157}"/>
              </a:ext>
            </a:extLst>
          </p:cNvPr>
          <p:cNvSpPr/>
          <p:nvPr/>
        </p:nvSpPr>
        <p:spPr>
          <a:xfrm rot="2441714">
            <a:off x="8397978" y="3182098"/>
            <a:ext cx="533979" cy="579823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D302DFA3-2CC8-CBBF-9372-58A5E478BD4D}"/>
              </a:ext>
            </a:extLst>
          </p:cNvPr>
          <p:cNvSpPr/>
          <p:nvPr/>
        </p:nvSpPr>
        <p:spPr>
          <a:xfrm rot="19695376">
            <a:off x="7386232" y="5133555"/>
            <a:ext cx="1447952" cy="614362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4B120692-B813-4391-C825-05572B8D3579}"/>
              </a:ext>
            </a:extLst>
          </p:cNvPr>
          <p:cNvSpPr/>
          <p:nvPr/>
        </p:nvSpPr>
        <p:spPr>
          <a:xfrm rot="970192">
            <a:off x="6072499" y="2010426"/>
            <a:ext cx="1094285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EAECEA48-40EE-3D11-DC41-04CCBBFD6710}"/>
              </a:ext>
            </a:extLst>
          </p:cNvPr>
          <p:cNvSpPr/>
          <p:nvPr/>
        </p:nvSpPr>
        <p:spPr>
          <a:xfrm rot="20163636">
            <a:off x="6046024" y="3247194"/>
            <a:ext cx="1125629" cy="614362"/>
          </a:xfrm>
          <a:prstGeom prst="rightArrow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81ABB-B26A-EC5F-86CE-D60A52C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EF0F9-6025-AA4D-8A8B-299B05813B69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07DC88-A1DC-8604-1B61-067E598A1074}"/>
              </a:ext>
            </a:extLst>
          </p:cNvPr>
          <p:cNvSpPr/>
          <p:nvPr/>
        </p:nvSpPr>
        <p:spPr>
          <a:xfrm>
            <a:off x="336177" y="3251542"/>
            <a:ext cx="1848936" cy="122872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Segmentation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F28C7B-53E3-E3DC-14DF-8EA719131F6D}"/>
              </a:ext>
            </a:extLst>
          </p:cNvPr>
          <p:cNvSpPr/>
          <p:nvPr/>
        </p:nvSpPr>
        <p:spPr>
          <a:xfrm>
            <a:off x="3712129" y="1656945"/>
            <a:ext cx="1953728" cy="12287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Staff-line 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05A3F9-E661-D9C6-07E8-BFBF0B8DF422}"/>
              </a:ext>
            </a:extLst>
          </p:cNvPr>
          <p:cNvSpPr/>
          <p:nvPr/>
        </p:nvSpPr>
        <p:spPr>
          <a:xfrm>
            <a:off x="3806255" y="3151585"/>
            <a:ext cx="1953731" cy="1228725"/>
          </a:xfrm>
          <a:prstGeom prst="roundRect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symbol processing &amp; classification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929A32-07F2-28EE-C1DD-B06E806DDBC9}"/>
              </a:ext>
            </a:extLst>
          </p:cNvPr>
          <p:cNvSpPr/>
          <p:nvPr/>
        </p:nvSpPr>
        <p:spPr>
          <a:xfrm>
            <a:off x="3779628" y="5030736"/>
            <a:ext cx="1966912" cy="1228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Alignment (OCR &amp; Cantus Database text)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B2563D-ACBC-7ADB-B502-3A8A01CB7360}"/>
              </a:ext>
            </a:extLst>
          </p:cNvPr>
          <p:cNvSpPr/>
          <p:nvPr/>
        </p:nvSpPr>
        <p:spPr>
          <a:xfrm>
            <a:off x="7192036" y="2470395"/>
            <a:ext cx="1222087" cy="830549"/>
          </a:xfrm>
          <a:prstGeom prst="roundRect">
            <a:avLst/>
          </a:prstGeom>
          <a:solidFill>
            <a:srgbClr val="AB79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Pitch Finding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09165E-9EAA-71A3-EC2B-D8C498BE711A}"/>
              </a:ext>
            </a:extLst>
          </p:cNvPr>
          <p:cNvSpPr/>
          <p:nvPr/>
        </p:nvSpPr>
        <p:spPr>
          <a:xfrm>
            <a:off x="8726669" y="3763703"/>
            <a:ext cx="2103790" cy="122872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MEI Encoding </a:t>
            </a:r>
            <a:b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&amp; Correction interface (NEON)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693976-D393-D2A4-993A-F43832F298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20" t="1" r="49415" b="1"/>
          <a:stretch/>
        </p:blipFill>
        <p:spPr>
          <a:xfrm>
            <a:off x="1802558" y="1984978"/>
            <a:ext cx="959932" cy="144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6656D6-FBCA-758E-5CEC-D9DDD9FC68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99" t="1" r="24536" b="1"/>
          <a:stretch/>
        </p:blipFill>
        <p:spPr>
          <a:xfrm>
            <a:off x="2266291" y="3119384"/>
            <a:ext cx="959932" cy="144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394E462-C667-703A-0F16-F2FD2B067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64" t="1" r="1089" b="1"/>
          <a:stretch/>
        </p:blipFill>
        <p:spPr>
          <a:xfrm>
            <a:off x="1780019" y="4325557"/>
            <a:ext cx="976059" cy="1440000"/>
          </a:xfrm>
          <a:prstGeom prst="rect">
            <a:avLst/>
          </a:prstGeom>
        </p:spPr>
      </p:pic>
      <p:sp>
        <p:nvSpPr>
          <p:cNvPr id="33" name="Right Arrow 32">
            <a:extLst>
              <a:ext uri="{FF2B5EF4-FFF2-40B4-BE49-F238E27FC236}">
                <a16:creationId xmlns:a16="http://schemas.microsoft.com/office/drawing/2014/main" id="{3FE1BF1C-239B-DDC8-AE6C-9406D84CC18C}"/>
              </a:ext>
            </a:extLst>
          </p:cNvPr>
          <p:cNvSpPr/>
          <p:nvPr/>
        </p:nvSpPr>
        <p:spPr>
          <a:xfrm rot="20725758">
            <a:off x="2904481" y="2149182"/>
            <a:ext cx="643483" cy="61436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DCEC758-6CF1-3096-1DBB-2257982C102B}"/>
              </a:ext>
            </a:extLst>
          </p:cNvPr>
          <p:cNvSpPr/>
          <p:nvPr/>
        </p:nvSpPr>
        <p:spPr>
          <a:xfrm>
            <a:off x="3140528" y="3550058"/>
            <a:ext cx="615927" cy="614362"/>
          </a:xfrm>
          <a:prstGeom prst="rightArrow">
            <a:avLst/>
          </a:prstGeom>
          <a:solidFill>
            <a:srgbClr val="C33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69C50118-ABEE-B126-F2A3-5435BB61E3DD}"/>
              </a:ext>
            </a:extLst>
          </p:cNvPr>
          <p:cNvSpPr/>
          <p:nvPr/>
        </p:nvSpPr>
        <p:spPr>
          <a:xfrm rot="493630">
            <a:off x="2993508" y="5103597"/>
            <a:ext cx="615927" cy="614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D851A2-D7BC-EF8B-4148-583E39BCB7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19" r="1"/>
          <a:stretch/>
        </p:blipFill>
        <p:spPr>
          <a:xfrm>
            <a:off x="5191289" y="1558878"/>
            <a:ext cx="1034932" cy="11318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6" name="Content Placeholder 3">
            <a:extLst>
              <a:ext uri="{FF2B5EF4-FFF2-40B4-BE49-F238E27FC236}">
                <a16:creationId xmlns:a16="http://schemas.microsoft.com/office/drawing/2014/main" id="{1194D052-ABC2-24D9-DA65-5EA05B2E63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302"/>
          <a:stretch/>
        </p:blipFill>
        <p:spPr>
          <a:xfrm>
            <a:off x="5437117" y="3736043"/>
            <a:ext cx="19621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703EED0-AB95-9B54-FBFB-D57169DA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58" y="5524680"/>
            <a:ext cx="2204780" cy="949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3D79F44-2E7E-158F-B952-7A834CF4F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693" y="4861718"/>
            <a:ext cx="2172352" cy="1179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2B986-5942-D0D6-8209-B57D961000CE}"/>
              </a:ext>
            </a:extLst>
          </p:cNvPr>
          <p:cNvSpPr txBox="1"/>
          <p:nvPr/>
        </p:nvSpPr>
        <p:spPr>
          <a:xfrm>
            <a:off x="491497" y="5891221"/>
            <a:ext cx="7618711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Martha Thomae: Making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Rodan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 work for you (DHEMR 2021/1, Session 2)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  <a:hlinkClick r:id="rId8"/>
              </a:rPr>
              <a:t>https://youtu.be/_TeGXG9Fh2M?si=v_IQOBysIGi7GtLL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F0F0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DCAB83-4EBB-E220-BA35-90255D0BC7C8}"/>
              </a:ext>
            </a:extLst>
          </p:cNvPr>
          <p:cNvSpPr txBox="1">
            <a:spLocks/>
          </p:cNvSpPr>
          <p:nvPr/>
        </p:nvSpPr>
        <p:spPr>
          <a:xfrm>
            <a:off x="469557" y="358548"/>
            <a:ext cx="11084011" cy="131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Rodan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and the 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Single Interface for Music Score Searching &amp; Analysis 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</a:t>
            </a:r>
            <a:r>
              <a:rPr kumimoji="0" lang="en-CA" sz="4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SIMSSA</a:t>
            </a:r>
            <a:r>
              <a:rPr kumimoji="0" lang="en-CA" sz="4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)</a:t>
            </a: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532507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C17B-6FCD-FC9C-E34F-55D857FD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652"/>
            <a:ext cx="10515600" cy="776749"/>
          </a:xfrm>
        </p:spPr>
        <p:txBody>
          <a:bodyPr>
            <a:normAutofit/>
          </a:bodyPr>
          <a:lstStyle/>
          <a:p>
            <a:r>
              <a:rPr lang="en-CA" sz="4000" dirty="0"/>
              <a:t>OMMR4All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69DDC4-D029-930F-978F-E61095EF1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0617" y="1591948"/>
            <a:ext cx="9490877" cy="40577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0C66E-A4F2-49D9-74E2-0955F49AB624}"/>
              </a:ext>
            </a:extLst>
          </p:cNvPr>
          <p:cNvSpPr txBox="1"/>
          <p:nvPr/>
        </p:nvSpPr>
        <p:spPr>
          <a:xfrm>
            <a:off x="3546408" y="376329"/>
            <a:ext cx="7155085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CA" sz="2000" i="1" dirty="0"/>
              <a:t>Created by </a:t>
            </a:r>
            <a:r>
              <a:rPr lang="en-CA" sz="2000" b="1" i="1" dirty="0"/>
              <a:t>Cristopher Wick </a:t>
            </a:r>
            <a:r>
              <a:rPr lang="en-CA" sz="2000" i="1" dirty="0"/>
              <a:t>(University of Würzburg), and it is being used in the</a:t>
            </a:r>
            <a:r>
              <a:rPr lang="en-CA" sz="2000" b="1" i="1" dirty="0"/>
              <a:t> Corpus </a:t>
            </a:r>
            <a:r>
              <a:rPr lang="en-CA" sz="2000" b="1" i="1" dirty="0" err="1"/>
              <a:t>Monodicum</a:t>
            </a:r>
            <a:r>
              <a:rPr lang="en-CA" sz="2000" b="1" i="1" dirty="0"/>
              <a:t> </a:t>
            </a:r>
            <a:r>
              <a:rPr lang="en-CA" sz="2000" i="1" dirty="0"/>
              <a:t>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EF2821-D8DA-637C-6004-C40A803040D0}"/>
              </a:ext>
            </a:extLst>
          </p:cNvPr>
          <p:cNvSpPr txBox="1"/>
          <p:nvPr/>
        </p:nvSpPr>
        <p:spPr>
          <a:xfrm>
            <a:off x="1783827" y="1180941"/>
            <a:ext cx="91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general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D9070-A58C-C297-4235-CD12E9BD4376}"/>
              </a:ext>
            </a:extLst>
          </p:cNvPr>
          <p:cNvSpPr txBox="1"/>
          <p:nvPr/>
        </p:nvSpPr>
        <p:spPr>
          <a:xfrm>
            <a:off x="3268886" y="1185412"/>
            <a:ext cx="11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ES" dirty="0"/>
              <a:t>taff lines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92F41-2DCE-6A02-F9A0-D57AAFA725F3}"/>
              </a:ext>
            </a:extLst>
          </p:cNvPr>
          <p:cNvSpPr txBox="1"/>
          <p:nvPr/>
        </p:nvSpPr>
        <p:spPr>
          <a:xfrm>
            <a:off x="4991845" y="1180941"/>
            <a:ext cx="799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layout</a:t>
            </a:r>
            <a:endParaRPr lang="en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21040-8C57-B08D-ADE3-094E03CF0311}"/>
              </a:ext>
            </a:extLst>
          </p:cNvPr>
          <p:cNvSpPr txBox="1"/>
          <p:nvPr/>
        </p:nvSpPr>
        <p:spPr>
          <a:xfrm>
            <a:off x="6910405" y="1180941"/>
            <a:ext cx="102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symbols</a:t>
            </a:r>
            <a:endParaRPr lang="en-E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5DB405-8B10-9B9D-71C2-1FC2C0D60B60}"/>
              </a:ext>
            </a:extLst>
          </p:cNvPr>
          <p:cNvSpPr txBox="1"/>
          <p:nvPr/>
        </p:nvSpPr>
        <p:spPr>
          <a:xfrm>
            <a:off x="9448287" y="1180941"/>
            <a:ext cx="55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  <a:endParaRPr lang="en-E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93F1B-5CDF-71A4-2C62-78407A19CE84}"/>
              </a:ext>
            </a:extLst>
          </p:cNvPr>
          <p:cNvSpPr txBox="1"/>
          <p:nvPr/>
        </p:nvSpPr>
        <p:spPr>
          <a:xfrm>
            <a:off x="1210616" y="5757036"/>
            <a:ext cx="9490877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i="0" u="none" strike="noStrike" dirty="0">
                <a:effectLst/>
                <a:latin typeface="Roboto" panose="02000000000000000000" pitchFamily="2" charset="0"/>
              </a:rPr>
              <a:t>Alexander </a:t>
            </a:r>
            <a:r>
              <a:rPr lang="en-GB" i="0" u="none" strike="noStrike" dirty="0" err="1">
                <a:effectLst/>
                <a:latin typeface="Roboto" panose="02000000000000000000" pitchFamily="2" charset="0"/>
              </a:rPr>
              <a:t>Hartelt</a:t>
            </a:r>
            <a:r>
              <a:rPr lang="en-GB" i="0" u="none" strike="noStrike" dirty="0">
                <a:effectLst/>
                <a:latin typeface="Roboto" panose="02000000000000000000" pitchFamily="2" charset="0"/>
              </a:rPr>
              <a:t> &amp; Jan </a:t>
            </a:r>
            <a:r>
              <a:rPr lang="en-GB" i="0" u="none" strike="noStrike" dirty="0" err="1">
                <a:effectLst/>
                <a:latin typeface="Roboto" panose="02000000000000000000" pitchFamily="2" charset="0"/>
              </a:rPr>
              <a:t>Hajič</a:t>
            </a:r>
            <a:r>
              <a:rPr lang="en-GB" i="0" u="none" strike="noStrike" dirty="0">
                <a:effectLst/>
                <a:latin typeface="Roboto" panose="02000000000000000000" pitchFamily="2" charset="0"/>
              </a:rPr>
              <a:t>: Collaborative digital editions with OMMR4All </a:t>
            </a:r>
            <a:r>
              <a:rPr lang="en-GB" i="0" dirty="0">
                <a:effectLst/>
                <a:latin typeface="Roboto" panose="02000000000000000000" pitchFamily="2" charset="0"/>
              </a:rPr>
              <a:t> (DHEMR 2021/1 sess. 3): </a:t>
            </a:r>
            <a:r>
              <a:rPr lang="en-GB" i="0" dirty="0">
                <a:effectLst/>
                <a:latin typeface="Roboto" panose="02000000000000000000" pitchFamily="2" charset="0"/>
                <a:hlinkClick r:id="rId4"/>
              </a:rPr>
              <a:t>https://youtu.be/hX9pGOdfbZ8?feature=shared</a:t>
            </a:r>
            <a:endParaRPr lang="en-GB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87C047-3973-C064-41DC-A008E86B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5445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1438-089E-6502-25AC-C3C3D4F97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972296"/>
          </a:xfrm>
        </p:spPr>
        <p:txBody>
          <a:bodyPr/>
          <a:lstStyle/>
          <a:p>
            <a:r>
              <a:rPr lang="en-ES" dirty="0"/>
              <a:t>OMR Frameworks for Neume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1577D-3FFD-1A63-CC9A-DEC1FB53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96"/>
            <a:ext cx="10515600" cy="4809939"/>
          </a:xfrm>
        </p:spPr>
        <p:txBody>
          <a:bodyPr anchor="ctr"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400" b="1" dirty="0"/>
              <a:t> Old Myths, New Facts (OMNF). </a:t>
            </a:r>
            <a:r>
              <a:rPr lang="en-GB" sz="2400" b="0" dirty="0">
                <a:effectLst/>
              </a:rPr>
              <a:t>Recordings available from first Digital Humanities in Early Music Research workshop of 2021. </a:t>
            </a:r>
            <a:r>
              <a:rPr lang="en-GB" sz="2400" dirty="0">
                <a:hlinkClick r:id="rId2"/>
              </a:rPr>
              <a:t>https://www.smnf.cz/en/news/Recordings-available-from-first-Digital-Humanities-in-Early-Music-Research-workshop-of-2021/</a:t>
            </a:r>
            <a:br>
              <a:rPr lang="en-GB" sz="2400" dirty="0"/>
            </a:br>
            <a:br>
              <a:rPr lang="en-GB" sz="800" dirty="0"/>
            </a:br>
            <a:r>
              <a:rPr lang="en-GB" sz="200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project “Old Myths, New Facts: Czech Lands in </a:t>
            </a:r>
            <a:r>
              <a:rPr lang="en-GB" sz="2000" u="none" strike="noStrike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GB" sz="200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15-century Music Developments” (Czech Science Foundation EXPRO 19-28306X) focuses on the study of music repertory from 15th century Bohemia and its reflection in modern Czech music culture.</a:t>
            </a:r>
            <a:br>
              <a:rPr lang="en-GB" sz="200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8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Ichiro </a:t>
            </a:r>
            <a:r>
              <a:rPr lang="en-GB" sz="2000" b="1" i="0" u="none" strike="noStrike" dirty="0" err="1">
                <a:solidFill>
                  <a:srgbClr val="000000"/>
                </a:solidFill>
                <a:effectLst/>
                <a:latin typeface="urw-form"/>
              </a:rPr>
              <a:t>Fujinaga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urw-form"/>
              </a:rPr>
              <a:t>Large-scale OMR for neumes with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urw-form"/>
              </a:rPr>
              <a:t>Rodan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urw-form"/>
              </a:rPr>
              <a:t> (DHEMR 2021/1, Session 1). </a:t>
            </a:r>
            <a:r>
              <a:rPr lang="en-GB" sz="2000" b="0" i="0" u="sng" strike="noStrike" dirty="0">
                <a:solidFill>
                  <a:srgbClr val="E05F36"/>
                </a:solidFill>
                <a:effectLst/>
                <a:latin typeface="urw-form"/>
                <a:hlinkClick r:id="rId3"/>
              </a:rPr>
              <a:t>https://www.youtube.com/watch?v=FXkKrwatIwM</a:t>
            </a:r>
            <a:endParaRPr lang="en-GB" sz="2000" b="0" i="0" u="sng" strike="noStrike" dirty="0">
              <a:solidFill>
                <a:srgbClr val="E05F36"/>
              </a:solidFill>
              <a:effectLst/>
              <a:latin typeface="urw-form"/>
            </a:endParaRPr>
          </a:p>
          <a:p>
            <a:pPr lvl="1"/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Martha Thomae: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urw-form"/>
              </a:rPr>
              <a:t>Making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urw-form"/>
              </a:rPr>
              <a:t>Rodan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urw-form"/>
              </a:rPr>
              <a:t> work for you (DHEMR 2021/1, Session 2). </a:t>
            </a:r>
            <a:r>
              <a:rPr lang="en-GB" sz="2000" b="0" i="0" u="sng" strike="noStrike" dirty="0">
                <a:solidFill>
                  <a:srgbClr val="E05F36"/>
                </a:solidFill>
                <a:effectLst/>
                <a:latin typeface="urw-form"/>
                <a:hlinkClick r:id="rId4"/>
              </a:rPr>
              <a:t>https://www.youtube.com/watch?v=_TeGXG9Fh2M</a:t>
            </a:r>
            <a:endParaRPr lang="en-GB" sz="2000" b="0" i="0" u="sng" strike="noStrike" dirty="0">
              <a:solidFill>
                <a:srgbClr val="E05F36"/>
              </a:solidFill>
              <a:effectLst/>
              <a:latin typeface="urw-form"/>
            </a:endParaRPr>
          </a:p>
          <a:p>
            <a:pPr lvl="1"/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Alexander </a:t>
            </a:r>
            <a:r>
              <a:rPr lang="en-GB" sz="2000" b="1" i="0" u="none" strike="noStrike" dirty="0" err="1">
                <a:solidFill>
                  <a:srgbClr val="000000"/>
                </a:solidFill>
                <a:effectLst/>
                <a:latin typeface="urw-form"/>
              </a:rPr>
              <a:t>Hartelt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 &amp; Jan </a:t>
            </a:r>
            <a:r>
              <a:rPr lang="en-GB" sz="2000" b="1" i="0" u="none" strike="noStrike" dirty="0" err="1">
                <a:solidFill>
                  <a:srgbClr val="000000"/>
                </a:solidFill>
                <a:effectLst/>
                <a:latin typeface="urw-form"/>
              </a:rPr>
              <a:t>Hajič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urw-form"/>
              </a:rPr>
              <a:t>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urw-form"/>
              </a:rPr>
              <a:t>Collaborative digital editions with OMMR4All (DHEMR 2021/1 session 3). </a:t>
            </a:r>
            <a:r>
              <a:rPr lang="en-GB" sz="2000" b="0" i="0" u="sng" strike="noStrike" dirty="0">
                <a:solidFill>
                  <a:srgbClr val="E05F36"/>
                </a:solidFill>
                <a:effectLst/>
                <a:latin typeface="urw-form"/>
                <a:hlinkClick r:id="rId5"/>
              </a:rPr>
              <a:t>https://www.youtube.com/watch?v=hX9pGOdfbZ8</a:t>
            </a:r>
            <a:endParaRPr lang="en-GB" sz="2000" b="0" i="0" u="none" strike="noStrike" dirty="0">
              <a:solidFill>
                <a:srgbClr val="000000"/>
              </a:solidFill>
              <a:effectLst/>
              <a:latin typeface="urw-for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B72-CB7C-BAAC-35CC-110F0CBE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214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390F-541D-AACF-AC25-2E4E03994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23816"/>
          </a:xfrm>
        </p:spPr>
        <p:txBody>
          <a:bodyPr/>
          <a:lstStyle/>
          <a:p>
            <a:r>
              <a:rPr lang="en-CA"/>
              <a:t>Some OMR Frameworks for </a:t>
            </a:r>
            <a:r>
              <a:rPr lang="en-CA" b="1"/>
              <a:t>Mensural</a:t>
            </a:r>
            <a:r>
              <a:rPr lang="en-CA"/>
              <a:t> Scripts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AE97B-D9CB-2A20-925D-A657633D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45</a:t>
            </a:fld>
            <a:endParaRPr lang="en-CA"/>
          </a:p>
        </p:txBody>
      </p:sp>
      <p:pic>
        <p:nvPicPr>
          <p:cNvPr id="4" name="Picture 3" descr="A picture containing object, player, ball, drawing&#10;&#10;Description automatically generated">
            <a:extLst>
              <a:ext uri="{FF2B5EF4-FFF2-40B4-BE49-F238E27FC236}">
                <a16:creationId xmlns:a16="http://schemas.microsoft.com/office/drawing/2014/main" id="{D54D7C0B-2A28-D17E-4615-DDB0C2A98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638" y="4848135"/>
            <a:ext cx="2738362" cy="867600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A9EACF22-0AAC-D824-24CD-38BC6FE7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838" y="4848135"/>
            <a:ext cx="2506683" cy="845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3368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321581"/>
            <a:ext cx="3239194" cy="6214838"/>
          </a:xfrm>
        </p:spPr>
        <p:txBody>
          <a:bodyPr anchor="ctr">
            <a:normAutofit/>
          </a:bodyPr>
          <a:lstStyle/>
          <a:p>
            <a:r>
              <a:rPr lang="en-ES" b="1" dirty="0"/>
              <a:t>MuRET</a:t>
            </a:r>
            <a:br>
              <a:rPr lang="en-ES" sz="4000" b="1" dirty="0"/>
            </a:br>
            <a:r>
              <a:rPr lang="en-ES" sz="4000" dirty="0"/>
              <a:t>The Piece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46</a:t>
            </a:fld>
            <a:endParaRPr lang="en-CA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7C6A0FD-1563-8DE9-E29C-40F137893D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1" t="-1" r="8371" b="-1"/>
          <a:stretch/>
        </p:blipFill>
        <p:spPr>
          <a:xfrm>
            <a:off x="3761709" y="321581"/>
            <a:ext cx="8235323" cy="6154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F5D5C-06A8-DAEB-424D-65B381705B6C}"/>
              </a:ext>
            </a:extLst>
          </p:cNvPr>
          <p:cNvSpPr txBox="1"/>
          <p:nvPr/>
        </p:nvSpPr>
        <p:spPr>
          <a:xfrm>
            <a:off x="599325" y="4733889"/>
            <a:ext cx="3484000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Music Recognition Encoding and Transcription (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MuRET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)</a:t>
            </a:r>
            <a:endParaRPr lang="en-CA" sz="2000" b="1" i="1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OMR framework developed by 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David </a:t>
            </a:r>
            <a:r>
              <a:rPr kumimoji="0" lang="en-CA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Rizo</a:t>
            </a:r>
            <a:r>
              <a:rPr kumimoji="0" lang="en-C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rPr>
              <a:t> (University of Alicante)</a:t>
            </a:r>
          </a:p>
        </p:txBody>
      </p:sp>
    </p:spTree>
    <p:extLst>
      <p:ext uri="{BB962C8B-B14F-4D97-AF65-F5344CB8AC3E}">
        <p14:creationId xmlns:p14="http://schemas.microsoft.com/office/powerpoint/2010/main" val="2549075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430439"/>
            <a:ext cx="2399939" cy="5861050"/>
          </a:xfrm>
        </p:spPr>
        <p:txBody>
          <a:bodyPr>
            <a:normAutofit/>
          </a:bodyPr>
          <a:lstStyle/>
          <a:p>
            <a:r>
              <a:rPr lang="en-ES" b="1" dirty="0"/>
              <a:t>MuRET</a:t>
            </a:r>
            <a:br>
              <a:rPr lang="en-ES" sz="4000" b="1" dirty="0"/>
            </a:br>
            <a:r>
              <a:rPr lang="en-ES" sz="4000" dirty="0"/>
              <a:t>The Page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47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72888C-B001-DAAC-F271-304D95863B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4"/>
          <a:stretch/>
        </p:blipFill>
        <p:spPr>
          <a:xfrm>
            <a:off x="2922454" y="566511"/>
            <a:ext cx="9073603" cy="57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36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430439"/>
            <a:ext cx="4094975" cy="5861050"/>
          </a:xfrm>
        </p:spPr>
        <p:txBody>
          <a:bodyPr>
            <a:normAutofit/>
          </a:bodyPr>
          <a:lstStyle/>
          <a:p>
            <a:r>
              <a:rPr lang="en-ES" b="1" dirty="0"/>
              <a:t>MuRET</a:t>
            </a:r>
            <a:br>
              <a:rPr lang="en-ES" sz="4000" b="1" dirty="0"/>
            </a:b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OMR Stage 1: Preprocessing or Document Analysis</a:t>
            </a:r>
            <a:endParaRPr lang="en-E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3A2F3-DCE4-948A-E51F-C2B95BEF0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63" b="2"/>
          <a:stretch/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7449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299814"/>
            <a:ext cx="11386456" cy="925574"/>
          </a:xfrm>
        </p:spPr>
        <p:txBody>
          <a:bodyPr>
            <a:normAutofit/>
          </a:bodyPr>
          <a:lstStyle/>
          <a:p>
            <a:r>
              <a:rPr lang="en-ES" b="1" dirty="0"/>
              <a:t>MuRET</a:t>
            </a:r>
            <a:r>
              <a:rPr lang="en-ES" sz="4000" b="1" dirty="0"/>
              <a:t> </a:t>
            </a: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OMR Stage 2: Music Symbol Recognition</a:t>
            </a:r>
            <a:endParaRPr lang="en-E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49</a:t>
            </a:fld>
            <a:endParaRPr lang="en-CA"/>
          </a:p>
        </p:txBody>
      </p:sp>
      <p:pic>
        <p:nvPicPr>
          <p:cNvPr id="3" name="Content Placeholder 5" descr="A screenshot of a music note&#10;&#10;Description automatically generated">
            <a:extLst>
              <a:ext uri="{FF2B5EF4-FFF2-40B4-BE49-F238E27FC236}">
                <a16:creationId xmlns:a16="http://schemas.microsoft.com/office/drawing/2014/main" id="{5ACD2297-6ACD-0F03-6981-962FE79A6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290701"/>
            <a:ext cx="9448800" cy="512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856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50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81A64-FEF0-E63C-1938-6D409B534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12" y="1225388"/>
            <a:ext cx="9822576" cy="535330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6EADE76-8225-E4D2-CA7B-797D0EC686CF}"/>
              </a:ext>
            </a:extLst>
          </p:cNvPr>
          <p:cNvSpPr txBox="1">
            <a:spLocks/>
          </p:cNvSpPr>
          <p:nvPr/>
        </p:nvSpPr>
        <p:spPr>
          <a:xfrm>
            <a:off x="522515" y="299814"/>
            <a:ext cx="11386456" cy="925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ES" b="1" dirty="0"/>
              <a:t>MuRET</a:t>
            </a:r>
            <a:r>
              <a:rPr lang="en-ES" sz="4000" b="1" dirty="0"/>
              <a:t> </a:t>
            </a: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OMR Stage 3: Music Notation Reconstruction</a:t>
            </a:r>
            <a:endParaRPr lang="en-E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946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430439"/>
            <a:ext cx="4094975" cy="5861050"/>
          </a:xfrm>
        </p:spPr>
        <p:txBody>
          <a:bodyPr>
            <a:normAutofit/>
          </a:bodyPr>
          <a:lstStyle/>
          <a:p>
            <a:r>
              <a:rPr lang="en-ES" b="1" dirty="0"/>
              <a:t>MuRET</a:t>
            </a:r>
            <a:br>
              <a:rPr lang="en-ES" sz="4000" b="1" dirty="0"/>
            </a:b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OMR Stage 4: Music Encoding</a:t>
            </a:r>
            <a:endParaRPr lang="en-E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51</a:t>
            </a:fld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3DD3D-7535-814F-7948-80C24BF16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39" r="14618"/>
          <a:stretch/>
        </p:blipFill>
        <p:spPr>
          <a:xfrm>
            <a:off x="4354286" y="0"/>
            <a:ext cx="7795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985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FEA-1ADB-AAEF-3EF9-E6AF97EE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5" y="430439"/>
            <a:ext cx="4094975" cy="5861050"/>
          </a:xfrm>
        </p:spPr>
        <p:txBody>
          <a:bodyPr>
            <a:normAutofit/>
          </a:bodyPr>
          <a:lstStyle/>
          <a:p>
            <a:r>
              <a:rPr lang="en-ES" b="1" dirty="0"/>
              <a:t>MuRET</a:t>
            </a:r>
            <a:br>
              <a:rPr lang="en-ES" sz="4000" b="1" dirty="0"/>
            </a:b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Extra Step: Assignation </a:t>
            </a:r>
            <a:b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</a:br>
            <a:r>
              <a:rPr lang="en-US" sz="4000" dirty="0">
                <a:latin typeface="Avenir Book" panose="02000503020000020003" pitchFamily="2" charset="0"/>
                <a:cs typeface="Calibri" panose="020F0502020204030204" pitchFamily="34" charset="0"/>
              </a:rPr>
              <a:t>of Voices</a:t>
            </a:r>
            <a:endParaRPr lang="en-ES" sz="4000" dirty="0">
              <a:latin typeface="Avenir Book" panose="02000503020000020003" pitchFamily="2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91C2B-AA3A-933A-5813-5A165B71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52</a:t>
            </a:fld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DFBA8-E48B-4DFE-95DC-80235967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752" y="-16553"/>
            <a:ext cx="7834248" cy="687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80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D062-8842-6646-A625-DD966FD8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3036"/>
          </a:xfrm>
        </p:spPr>
        <p:txBody>
          <a:bodyPr>
            <a:normAutofit/>
          </a:bodyPr>
          <a:lstStyle/>
          <a:p>
            <a:r>
              <a:rPr lang="en-US" dirty="0" err="1"/>
              <a:t>Aruspix</a:t>
            </a:r>
            <a:r>
              <a:rPr lang="en-US" dirty="0"/>
              <a:t> 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3AC13-B8E4-3D43-A533-824745733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934"/>
            <a:ext cx="10515600" cy="1951510"/>
          </a:xfrm>
        </p:spPr>
        <p:txBody>
          <a:bodyPr>
            <a:noAutofit/>
          </a:bodyPr>
          <a:lstStyle/>
          <a:p>
            <a:pPr marL="152396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/>
              <a:t>Developed by Laurent Pugin</a:t>
            </a:r>
            <a:br>
              <a:rPr lang="en-US" sz="2200" dirty="0"/>
            </a:br>
            <a:r>
              <a:rPr lang="en-US" sz="2200" dirty="0">
                <a:hlinkClick r:id="rId3"/>
              </a:rPr>
              <a:t>http://www.aruspix.net</a:t>
            </a:r>
            <a:endParaRPr lang="en-US" sz="2200" dirty="0"/>
          </a:p>
          <a:p>
            <a:pPr marL="666746" indent="-514350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Early typographic music prints</a:t>
            </a:r>
          </a:p>
          <a:p>
            <a:pPr marL="666746" indent="-514350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Music printed during the sixteenth and seventeenth centuries with </a:t>
            </a:r>
            <a:r>
              <a:rPr lang="en-US" sz="2400" b="1" dirty="0"/>
              <a:t>movable typefaces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49CF-F8D8-F040-9690-5A9F8A2D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21EB-6836-6045-B9C2-40FF927C016F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34CBA12C-671E-E14C-8B16-4C5E1491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116" y="5123510"/>
            <a:ext cx="2506683" cy="84562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70B12B0-7CD4-0B4B-A72A-E4130F0CFA97}"/>
              </a:ext>
            </a:extLst>
          </p:cNvPr>
          <p:cNvGrpSpPr/>
          <p:nvPr/>
        </p:nvGrpSpPr>
        <p:grpSpPr>
          <a:xfrm>
            <a:off x="826324" y="3342896"/>
            <a:ext cx="3687265" cy="2992935"/>
            <a:chOff x="826324" y="3550721"/>
            <a:chExt cx="3687265" cy="2992935"/>
          </a:xfrm>
        </p:grpSpPr>
        <p:pic>
          <p:nvPicPr>
            <p:cNvPr id="7" name="Picture 6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5717346C-8A5D-044D-B957-9A65E5DF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1" y="3550721"/>
              <a:ext cx="3675388" cy="27159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1546F6-3E59-A040-A226-271ABADCE8DF}"/>
                </a:ext>
              </a:extLst>
            </p:cNvPr>
            <p:cNvSpPr txBox="1"/>
            <p:nvPr/>
          </p:nvSpPr>
          <p:spPr>
            <a:xfrm>
              <a:off x="826324" y="6266657"/>
              <a:ext cx="3687265" cy="27699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00000"/>
                  </a:solidFill>
                </a:rPr>
                <a:t>Preprocessing = Document Analysis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A8D807-5034-FC42-ABA9-F6E9EB05B8D3}"/>
              </a:ext>
            </a:extLst>
          </p:cNvPr>
          <p:cNvGrpSpPr/>
          <p:nvPr/>
        </p:nvGrpSpPr>
        <p:grpSpPr>
          <a:xfrm>
            <a:off x="4798098" y="3334214"/>
            <a:ext cx="3738694" cy="2996873"/>
            <a:chOff x="4798098" y="3542039"/>
            <a:chExt cx="3738694" cy="2996873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15B4D359-E38A-8C43-AED6-E9274937B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9971" y="3542039"/>
              <a:ext cx="3726821" cy="27246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3FADA8-6405-634F-8973-F532DFEDAA64}"/>
                </a:ext>
              </a:extLst>
            </p:cNvPr>
            <p:cNvSpPr txBox="1"/>
            <p:nvPr/>
          </p:nvSpPr>
          <p:spPr>
            <a:xfrm>
              <a:off x="4798098" y="6261913"/>
              <a:ext cx="3738694" cy="27699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</a:rPr>
                <a:t>Symbol Recognition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51307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FD15-4290-C77B-566D-98396A2907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6030" y="1690688"/>
          <a:ext cx="7465049" cy="3626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22B58A8-13D1-1079-F353-1064FC9D8B4E}"/>
              </a:ext>
            </a:extLst>
          </p:cNvPr>
          <p:cNvSpPr txBox="1">
            <a:spLocks/>
          </p:cNvSpPr>
          <p:nvPr/>
        </p:nvSpPr>
        <p:spPr>
          <a:xfrm>
            <a:off x="838200" y="501644"/>
            <a:ext cx="10515600" cy="892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Optical Music Recognition (OMR)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0E7640-FFA0-80C1-C96F-30780420D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615" y="2529763"/>
            <a:ext cx="1219627" cy="1947918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4763C6C0-2C97-99B6-DA44-2E501EEA4DCD}"/>
              </a:ext>
            </a:extLst>
          </p:cNvPr>
          <p:cNvSpPr/>
          <p:nvPr/>
        </p:nvSpPr>
        <p:spPr>
          <a:xfrm>
            <a:off x="1507715" y="32169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F78D70-FB94-0D6A-52CD-0CFBEEF048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6616" y="2135475"/>
            <a:ext cx="2054736" cy="25870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38328CE2-9458-8057-D68D-8A33F649682D}"/>
              </a:ext>
            </a:extLst>
          </p:cNvPr>
          <p:cNvSpPr/>
          <p:nvPr/>
        </p:nvSpPr>
        <p:spPr>
          <a:xfrm>
            <a:off x="9545427" y="3216902"/>
            <a:ext cx="346841" cy="424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05127-E011-6CE5-2F8E-28DF92C8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490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26E9-9BEE-6EB0-05F9-08EBF7784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8762"/>
            <a:ext cx="9144000" cy="3560010"/>
          </a:xfrm>
        </p:spPr>
        <p:txBody>
          <a:bodyPr anchor="ctr">
            <a:normAutofit/>
          </a:bodyPr>
          <a:lstStyle/>
          <a:p>
            <a:r>
              <a:rPr lang="en-CA" dirty="0"/>
              <a:t>Now… What can we do with the retrieved music that is encoded in these machine-readable files?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DEC58-B384-D1AD-FC5F-927D7302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85810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26E9-9BEE-6EB0-05F9-08EBF7784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8762"/>
            <a:ext cx="9144000" cy="3560010"/>
          </a:xfrm>
        </p:spPr>
        <p:txBody>
          <a:bodyPr anchor="ctr">
            <a:normAutofit/>
          </a:bodyPr>
          <a:lstStyle/>
          <a:p>
            <a:r>
              <a:rPr lang="en-CA" dirty="0"/>
              <a:t>Now… What can we do with the retrieved music that is encoded in these machine-readable files?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E1EC5-44CE-DCF0-52A5-45F50056AF52}"/>
              </a:ext>
            </a:extLst>
          </p:cNvPr>
          <p:cNvSpPr txBox="1"/>
          <p:nvPr/>
        </p:nvSpPr>
        <p:spPr>
          <a:xfrm>
            <a:off x="710380" y="4130281"/>
            <a:ext cx="10771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5400" dirty="0">
                <a:solidFill>
                  <a:srgbClr val="0070C0"/>
                </a:solidFill>
              </a:rPr>
              <a:t>Content-based searches </a:t>
            </a:r>
            <a:br>
              <a:rPr lang="en-CA" sz="5400" dirty="0">
                <a:solidFill>
                  <a:srgbClr val="0070C0"/>
                </a:solidFill>
              </a:rPr>
            </a:br>
            <a:r>
              <a:rPr lang="en-CA" sz="5400" dirty="0">
                <a:solidFill>
                  <a:srgbClr val="0070C0"/>
                </a:solidFill>
              </a:rPr>
              <a:t>&amp; computational music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EDEC58-B384-D1AD-FC5F-927D7302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EF0F9-6025-AA4D-8A8B-299B05813B69}" type="slidenum">
              <a:rPr lang="en-CA" smtClean="0"/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291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3326</TotalTime>
  <Words>3238</Words>
  <Application>Microsoft Macintosh PowerPoint</Application>
  <PresentationFormat>Widescreen</PresentationFormat>
  <Paragraphs>361</Paragraphs>
  <Slides>56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Aptos</vt:lpstr>
      <vt:lpstr>Aptos Display</vt:lpstr>
      <vt:lpstr>Arial</vt:lpstr>
      <vt:lpstr>Avenir Book</vt:lpstr>
      <vt:lpstr>Open Sans</vt:lpstr>
      <vt:lpstr>Roboto</vt:lpstr>
      <vt:lpstr>urw-form</vt:lpstr>
      <vt:lpstr>Wingdings</vt:lpstr>
      <vt:lpstr>Office Theme</vt:lpstr>
      <vt:lpstr>Music Retrieval Tools  Optical Music Recognition (OMR)  and Music Analysis </vt:lpstr>
      <vt:lpstr>Music Information Retrieval Tools</vt:lpstr>
      <vt:lpstr>Optical Music Recognition (OMR)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OMR Frameworks for Neume Scripts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OMMR4All</vt:lpstr>
      <vt:lpstr>OMR Frameworks for Neume Notation</vt:lpstr>
      <vt:lpstr>Some OMR Frameworks for Mensural Scripts</vt:lpstr>
      <vt:lpstr>MuRET The Piece Interface</vt:lpstr>
      <vt:lpstr>MuRET The Page Interface</vt:lpstr>
      <vt:lpstr>MuRET OMR Stage 1: Preprocessing or Document Analysis</vt:lpstr>
      <vt:lpstr>MuRET OMR Stage 2: Music Symbol Recognition</vt:lpstr>
      <vt:lpstr>PowerPoint Presentation</vt:lpstr>
      <vt:lpstr>MuRET OMR Stage 4: Music Encoding</vt:lpstr>
      <vt:lpstr>MuRET Extra Step: Assignation  of Voices</vt:lpstr>
      <vt:lpstr>Aruspix </vt:lpstr>
      <vt:lpstr>PowerPoint Presentation</vt:lpstr>
      <vt:lpstr>Now… What can we do with the retrieved music that is encoded in these machine-readable files?</vt:lpstr>
      <vt:lpstr>Now… What can we do with the retrieved music that is encoded in these machine-readable files?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Thomae Elias</dc:creator>
  <cp:lastModifiedBy>Martha Thomae Elias, Miss</cp:lastModifiedBy>
  <cp:revision>95</cp:revision>
  <cp:lastPrinted>2024-06-23T13:55:30Z</cp:lastPrinted>
  <dcterms:created xsi:type="dcterms:W3CDTF">2024-06-01T17:53:26Z</dcterms:created>
  <dcterms:modified xsi:type="dcterms:W3CDTF">2024-07-26T13:44:25Z</dcterms:modified>
</cp:coreProperties>
</file>