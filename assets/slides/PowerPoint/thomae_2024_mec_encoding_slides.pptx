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85" r:id="rId10"/>
    <p:sldId id="264" r:id="rId11"/>
    <p:sldId id="286" r:id="rId12"/>
    <p:sldId id="268" r:id="rId13"/>
    <p:sldId id="269" r:id="rId14"/>
    <p:sldId id="270" r:id="rId15"/>
    <p:sldId id="274" r:id="rId16"/>
    <p:sldId id="277" r:id="rId17"/>
    <p:sldId id="278" r:id="rId18"/>
    <p:sldId id="279" r:id="rId19"/>
    <p:sldId id="281" r:id="rId20"/>
    <p:sldId id="282" r:id="rId21"/>
    <p:sldId id="272" r:id="rId22"/>
    <p:sldId id="283" r:id="rId23"/>
    <p:sldId id="273" r:id="rId24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0C0"/>
    <a:srgbClr val="0D5BDC"/>
    <a:srgbClr val="00B050"/>
    <a:srgbClr val="C48AF3"/>
    <a:srgbClr val="AB46F3"/>
    <a:srgbClr val="FF6C6B"/>
    <a:srgbClr val="C27B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32"/>
    <p:restoredTop sz="72270"/>
  </p:normalViewPr>
  <p:slideViewPr>
    <p:cSldViewPr snapToGrid="0">
      <p:cViewPr varScale="1">
        <p:scale>
          <a:sx n="156" d="100"/>
          <a:sy n="156" d="100"/>
        </p:scale>
        <p:origin x="816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CA" dirty="0"/>
              <a:t>this research is part of the [NEXT] ECHOES PROJECT, in which we are working on the </a:t>
            </a: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2da36ea1a7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2da36ea1a7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this research is part of the ECHOES PROJECT, in which we are working on the ... [1]</a:t>
            </a: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da36ea1a79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2da36ea1a79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dac7128c3b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2dac7128c3b_0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da36ea1a79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da36ea1a79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 dirty="0">
                <a:solidFill>
                  <a:schemeClr val="dk1"/>
                </a:solidFill>
              </a:rPr>
              <a:t>Regarding the encoding, we have the issue that the ... [1]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CA" sz="12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 dirty="0">
                <a:solidFill>
                  <a:schemeClr val="dk1"/>
                </a:solidFill>
              </a:rPr>
              <a:t>[3] and chants are short in general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CA" sz="12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 dirty="0">
                <a:solidFill>
                  <a:schemeClr val="dk1"/>
                </a:solidFill>
              </a:rPr>
              <a:t>Therefore, rather than using OMR to obtain the MEI files encoding these chants, we decided to [NEXT]</a:t>
            </a:r>
            <a:endParaRPr sz="12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da36ea1a79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2da36ea1a79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 dirty="0"/>
              <a:t>[end]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 dirty="0"/>
              <a:t>Why are we using an intermediate format?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da36ea1a79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2da36ea1a79_0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 dirty="0"/>
              <a:t>[AFTER 1]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CA" sz="1200" dirty="0"/>
              <a:t>And why are we using GABC for intermediate format versus others that are also easy to type?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CA" sz="1200" dirty="0"/>
              <a:t>Because GABC [2]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dac7128c3b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dac7128c3b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lang="en" sz="1200" b="1" dirty="0">
                <a:solidFill>
                  <a:srgbClr val="222222"/>
                </a:solidFill>
              </a:rPr>
              <a:t>READ:</a:t>
            </a: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770"/>
              <a:buFont typeface="Arial"/>
              <a:buNone/>
            </a:pPr>
            <a:endParaRPr lang="en" sz="1200" dirty="0">
              <a:solidFill>
                <a:srgbClr val="222222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lang="en" sz="1200" dirty="0">
                <a:solidFill>
                  <a:srgbClr val="222222"/>
                </a:solidFill>
              </a:rPr>
              <a:t>[1] FOR OUR ENCODINGS ‘We followed the GABC specifications’</a:t>
            </a: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lang="en" sz="1200" dirty="0">
                <a:solidFill>
                  <a:srgbClr val="222222"/>
                </a:solidFill>
              </a:rPr>
              <a:t>[2] ‘But,’ </a:t>
            </a:r>
            <a:r>
              <a:rPr lang="en" sz="1200" b="1" dirty="0">
                <a:solidFill>
                  <a:srgbClr val="222222"/>
                </a:solidFill>
              </a:rPr>
              <a:t>since they did not cover all the specific cases found in Aquitanian and square music scripts, ‘</a:t>
            </a:r>
            <a:r>
              <a:rPr lang="en" sz="1200" dirty="0">
                <a:solidFill>
                  <a:srgbClr val="222222"/>
                </a:solidFill>
              </a:rPr>
              <a:t>we also adapted our “GABC encodings” for the needs of our corpus by ...' [2]</a:t>
            </a:r>
            <a:endParaRPr sz="12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dac7128c3b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2dac7128c3b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</a:rPr>
              <a:t>This character (the slash) is called "</a:t>
            </a:r>
            <a:r>
              <a:rPr lang="en" sz="1200" dirty="0" err="1">
                <a:solidFill>
                  <a:schemeClr val="dk1"/>
                </a:solidFill>
              </a:rPr>
              <a:t>neumatic</a:t>
            </a:r>
            <a:r>
              <a:rPr lang="en" sz="1200" dirty="0">
                <a:solidFill>
                  <a:schemeClr val="dk1"/>
                </a:solidFill>
              </a:rPr>
              <a:t> cut" in GABC. </a:t>
            </a:r>
          </a:p>
          <a:p>
            <a:pPr marL="342900" lvl="0" indent="-3429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" sz="1200" dirty="0">
                <a:solidFill>
                  <a:schemeClr val="dk1"/>
                </a:solidFill>
              </a:rPr>
              <a:t>It separates the notes into neumes, </a:t>
            </a:r>
          </a:p>
          <a:p>
            <a:pPr marL="342900" lvl="0" indent="-3429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" sz="1200" dirty="0">
                <a:solidFill>
                  <a:schemeClr val="dk1"/>
                </a:solidFill>
              </a:rPr>
              <a:t>everything that precedes the slash is one neume, and everything that follows the slash is part of another neume. </a:t>
            </a:r>
          </a:p>
          <a:p>
            <a:pPr marL="342900" lvl="0" indent="-3429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endParaRPr lang="en" sz="1200" dirty="0">
              <a:solidFill>
                <a:schemeClr val="dk1"/>
              </a:solidFill>
            </a:endParaRPr>
          </a:p>
          <a:p>
            <a:pPr marL="342900" lvl="0" indent="-3429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" sz="1200" dirty="0">
                <a:solidFill>
                  <a:schemeClr val="dk1"/>
                </a:solidFill>
              </a:rPr>
              <a:t>GABC has support for indicating how big is the space between the two neumes separated by the slash. </a:t>
            </a:r>
          </a:p>
          <a:p>
            <a:pPr marL="800100" lvl="1" indent="-3429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" sz="1200" dirty="0">
                <a:solidFill>
                  <a:schemeClr val="dk1"/>
                </a:solidFill>
              </a:rPr>
              <a:t>You can use a double slash for doubling the space between the two neumes, </a:t>
            </a:r>
          </a:p>
          <a:p>
            <a:pPr marL="800100" lvl="1" indent="-3429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" sz="1200" dirty="0">
                <a:solidFill>
                  <a:schemeClr val="dk1"/>
                </a:solidFill>
              </a:rPr>
              <a:t>or use a 0 after the slash for smaller spaces, </a:t>
            </a:r>
          </a:p>
          <a:p>
            <a:pPr marL="800100" lvl="1" indent="-3429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" sz="1200" dirty="0">
                <a:solidFill>
                  <a:schemeClr val="dk1"/>
                </a:solidFill>
              </a:rPr>
              <a:t>or use a number in brackets to act as a factor for larger spaces.</a:t>
            </a:r>
          </a:p>
          <a:p>
            <a:pPr marL="342900" lvl="0" indent="-3429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endParaRPr lang="en" sz="1200" dirty="0">
              <a:solidFill>
                <a:schemeClr val="dk1"/>
              </a:solidFill>
            </a:endParaRPr>
          </a:p>
          <a:p>
            <a:pPr marL="342900" lvl="0" indent="-3429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" sz="1200" dirty="0">
                <a:solidFill>
                  <a:schemeClr val="dk1"/>
                </a:solidFill>
              </a:rPr>
              <a:t>In our encodings, we only considered the simple "</a:t>
            </a:r>
            <a:r>
              <a:rPr lang="en" sz="1200" dirty="0" err="1">
                <a:solidFill>
                  <a:schemeClr val="dk1"/>
                </a:solidFill>
              </a:rPr>
              <a:t>neumatic</a:t>
            </a:r>
            <a:r>
              <a:rPr lang="en" sz="1200" dirty="0">
                <a:solidFill>
                  <a:schemeClr val="dk1"/>
                </a:solidFill>
              </a:rPr>
              <a:t> cut" (the slash) as we are interested on capturing the neume boundaries, </a:t>
            </a:r>
          </a:p>
          <a:p>
            <a:pPr marL="342900" lvl="0" indent="-3429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" sz="1200" dirty="0">
                <a:solidFill>
                  <a:schemeClr val="dk1"/>
                </a:solidFill>
              </a:rPr>
              <a:t>but we ignored the different spaces as they encode merely typographical features.</a:t>
            </a:r>
          </a:p>
        </p:txBody>
      </p:sp>
    </p:spTree>
    <p:extLst>
      <p:ext uri="{BB962C8B-B14F-4D97-AF65-F5344CB8AC3E}">
        <p14:creationId xmlns:p14="http://schemas.microsoft.com/office/powerpoint/2010/main" val="17585199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dac7128c3b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2dac7128c3b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3429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CA" sz="12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Something similar happens here with the "virga"</a:t>
            </a:r>
          </a:p>
          <a:p>
            <a:pPr marL="342900" lvl="0" indent="-3429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CA" sz="12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The virga is this thin vertical stem that happens at the beginning or end of the neume [CLICK TO SHOW GREEN BOX]</a:t>
            </a:r>
          </a:p>
          <a:p>
            <a:pPr marL="342900" lvl="0" indent="-3429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CA" sz="12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The GABC renderers "will automatically add this virga to most note groups that require them. If you require a virga that does not normally appear ..." [lowercase &amp; uppercase v]</a:t>
            </a:r>
          </a:p>
          <a:p>
            <a:pPr marL="342900" lvl="0" indent="-3429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CA" sz="12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You can see here [CLICK FOR RED BOX] it is adding it automatically to the beginning of the neume.</a:t>
            </a:r>
          </a:p>
          <a:p>
            <a:pPr marL="342900" lvl="0" indent="-3429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CA" sz="12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[continue reading text] "If an unwanted virga appears, it can be suppressed by ..." [prepending the group with a @]</a:t>
            </a:r>
          </a:p>
          <a:p>
            <a:pPr marL="342900" lvl="0" indent="-3429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endParaRPr lang="en-CA" sz="1200" dirty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pPr marL="342900" lvl="0" indent="-3429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CA" sz="1200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However, for larger groups of notes, we have seen some inconsistency on the rendering systems.</a:t>
            </a:r>
          </a:p>
          <a:p>
            <a:pPr marL="342900" lvl="0" indent="-3429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endParaRPr lang="en-CA" sz="1200" b="1" dirty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pPr marL="342900" lvl="0" indent="-3429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CA" sz="1200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So, instead of leaving the renderers (with their own internal rules) to determine which neume should begin/end with a virga. We decided to always use the "lowercase" and "uppercase” “v" to explicitly encode the initial and final stem of neumes.</a:t>
            </a:r>
          </a:p>
          <a:p>
            <a:pPr marL="342900" lvl="0" indent="-3429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CA" sz="1200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Therefore, we did not use the "@" character to indicate the absence of said stems</a:t>
            </a:r>
            <a:r>
              <a:rPr lang="en-CA" sz="1200" b="1" i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—as the mere absence of the “V” character would indicate that already.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dac7128c3b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2dac7128c3b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tabLst/>
              <a:defRPr/>
            </a:pPr>
            <a:endParaRPr lang="en-CA" sz="1200" b="0" dirty="0">
              <a:solidFill>
                <a:schemeClr val="dk1"/>
              </a:solidFill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1105488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dac7128c3b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2dac7128c3b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CA" sz="1200" b="0" dirty="0">
                <a:solidFill>
                  <a:schemeClr val="dk1"/>
                </a:solidFill>
                <a:sym typeface="Wingdings" pitchFamily="2" charset="2"/>
              </a:rPr>
              <a:t>Oblique segment of ligatures. </a:t>
            </a:r>
          </a:p>
          <a:p>
            <a:pPr marL="342900" marR="0" lvl="0" indent="-34290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CA" sz="1200" b="0" dirty="0">
                <a:solidFill>
                  <a:schemeClr val="dk1"/>
                </a:solidFill>
                <a:sym typeface="Wingdings" pitchFamily="2" charset="2"/>
              </a:rPr>
              <a:t>So, you can see an example of a ligature at the top. This ligature includes an oblique section in the middle </a:t>
            </a:r>
          </a:p>
          <a:p>
            <a:pPr marL="342900" marR="0" lvl="0" indent="-34290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CA" sz="1200" b="0" dirty="0">
                <a:solidFill>
                  <a:schemeClr val="dk1"/>
                </a:solidFill>
                <a:sym typeface="Wingdings" pitchFamily="2" charset="2"/>
              </a:rPr>
              <a:t>At the bottom, you can see how this ligature is rendered by the GABC software.</a:t>
            </a:r>
          </a:p>
          <a:p>
            <a:pPr marL="342900" marR="0" lvl="0" indent="-34290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CA" sz="1200" b="0" dirty="0">
                <a:solidFill>
                  <a:schemeClr val="dk1"/>
                </a:solidFill>
                <a:sym typeface="Wingdings" pitchFamily="2" charset="2"/>
              </a:rPr>
              <a:t>[CLICK BLUE]</a:t>
            </a:r>
          </a:p>
          <a:p>
            <a:pPr marL="342900" marR="0" lvl="0" indent="-34290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CA" sz="1200" b="0" dirty="0">
                <a:solidFill>
                  <a:schemeClr val="dk1"/>
                </a:solidFill>
                <a:sym typeface="Wingdings" pitchFamily="2" charset="2"/>
              </a:rPr>
              <a:t>[CLICK ORANGE]</a:t>
            </a:r>
          </a:p>
          <a:p>
            <a:pPr marL="342900" marR="0" lvl="0" indent="-34290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CA" sz="1200" b="1" dirty="0">
                <a:solidFill>
                  <a:schemeClr val="dk1"/>
                </a:solidFill>
                <a:sym typeface="Wingdings" pitchFamily="2" charset="2"/>
              </a:rPr>
              <a:t> SO, we </a:t>
            </a:r>
            <a:r>
              <a:rPr lang="en-CA" sz="1200" b="1" dirty="0">
                <a:solidFill>
                  <a:schemeClr val="dk1"/>
                </a:solidFill>
              </a:rPr>
              <a:t>added a character to encode the beginning of the oblique section of the neume.</a:t>
            </a:r>
          </a:p>
          <a:p>
            <a:pPr marL="342900" marR="0" lvl="0" indent="-34290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CA" sz="1200" b="1" dirty="0">
                <a:solidFill>
                  <a:schemeClr val="dk1"/>
                </a:solidFill>
              </a:rPr>
              <a:t>AGAIN, FOCUSING ON EXPLICITLY ENCODING THINGS</a:t>
            </a:r>
          </a:p>
          <a:p>
            <a:pPr marL="342900" marR="0" lvl="0" indent="-34290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endParaRPr lang="en-CA" sz="1200" b="0" dirty="0">
              <a:solidFill>
                <a:schemeClr val="dk1"/>
              </a:solidFill>
              <a:sym typeface="Wingdings" pitchFamily="2" charset="2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CA" sz="1200" b="0" dirty="0">
                <a:solidFill>
                  <a:schemeClr val="dk1"/>
                </a:solidFill>
                <a:sym typeface="Wingdings" pitchFamily="2" charset="2"/>
              </a:rPr>
              <a:t>[CLICK GREEN] And, by the way, here we have an example of what I was mentioning on the previous slide, where the renderer automatically adds a virga (a stem down) when there is none.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da36ea1a79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2da36ea1a79_0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016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000"/>
              <a:buNone/>
            </a:pPr>
            <a:r>
              <a:rPr lang="en" sz="1200" b="1" dirty="0">
                <a:solidFill>
                  <a:srgbClr val="595959"/>
                </a:solidFill>
              </a:rPr>
              <a:t>READ:</a:t>
            </a: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000"/>
              <a:buChar char="●"/>
            </a:pPr>
            <a:r>
              <a:rPr lang="en" sz="1200" b="1" dirty="0">
                <a:solidFill>
                  <a:srgbClr val="595959"/>
                </a:solidFill>
              </a:rPr>
              <a:t>A lot of interdisciplinary discussion informed our decisions on what was relevant in the encoding. </a:t>
            </a:r>
            <a:r>
              <a:rPr lang="en" sz="1200" b="0" dirty="0">
                <a:solidFill>
                  <a:srgbClr val="595959"/>
                </a:solidFill>
              </a:rPr>
              <a:t>‘</a:t>
            </a:r>
            <a:r>
              <a:rPr lang="en" sz="1200" b="1" dirty="0">
                <a:solidFill>
                  <a:srgbClr val="595959"/>
                </a:solidFill>
              </a:rPr>
              <a:t>[1]</a:t>
            </a:r>
            <a:r>
              <a:rPr lang="en" sz="1200" dirty="0">
                <a:solidFill>
                  <a:srgbClr val="595959"/>
                </a:solidFill>
              </a:rPr>
              <a:t>Our encoding guidelines </a:t>
            </a:r>
            <a:r>
              <a:rPr lang="en" sz="1200" dirty="0"/>
              <a:t>and…’</a:t>
            </a:r>
            <a:endParaRPr sz="1200" dirty="0">
              <a:solidFill>
                <a:srgbClr val="595959"/>
              </a:solidFill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000"/>
              <a:buChar char="●"/>
            </a:pPr>
            <a:r>
              <a:rPr lang="en" sz="1200" b="0" dirty="0">
                <a:solidFill>
                  <a:srgbClr val="595959"/>
                </a:solidFill>
              </a:rPr>
              <a:t>'</a:t>
            </a:r>
            <a:r>
              <a:rPr lang="en" sz="1200" b="1" dirty="0">
                <a:solidFill>
                  <a:srgbClr val="595959"/>
                </a:solidFill>
              </a:rPr>
              <a:t>[2]</a:t>
            </a:r>
            <a:r>
              <a:rPr lang="en" sz="1200" b="0" dirty="0">
                <a:solidFill>
                  <a:srgbClr val="595959"/>
                </a:solidFill>
              </a:rPr>
              <a:t>our team of ... ‘</a:t>
            </a:r>
            <a:r>
              <a:rPr lang="en" sz="1200" b="1" dirty="0">
                <a:solidFill>
                  <a:srgbClr val="595959"/>
                </a:solidFill>
              </a:rPr>
              <a:t> discussed at length </a:t>
            </a:r>
            <a:r>
              <a:rPr lang="en" sz="1200" b="0" dirty="0">
                <a:solidFill>
                  <a:srgbClr val="595959"/>
                </a:solidFill>
              </a:rPr>
              <a:t>‘</a:t>
            </a:r>
            <a:r>
              <a:rPr lang="en" sz="1200" b="1" dirty="0">
                <a:solidFill>
                  <a:srgbClr val="595959"/>
                </a:solidFill>
              </a:rPr>
              <a:t>[3]</a:t>
            </a:r>
            <a:r>
              <a:rPr lang="en" sz="1200" b="0" dirty="0">
                <a:solidFill>
                  <a:srgbClr val="595959"/>
                </a:solidFill>
              </a:rPr>
              <a:t> all the specificities of the encoding ...'</a:t>
            </a:r>
            <a:endParaRPr lang="en" sz="1200" b="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dac7128c3b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2dac7128c3b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016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" sz="1200" b="1" dirty="0">
                <a:solidFill>
                  <a:schemeClr val="dk1"/>
                </a:solidFill>
              </a:rPr>
              <a:t>[After 2] READ:</a:t>
            </a:r>
            <a:endParaRPr lang="en" sz="1200" dirty="0">
              <a:solidFill>
                <a:schemeClr val="dk1"/>
              </a:solidFill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1200" dirty="0">
                <a:solidFill>
                  <a:schemeClr val="dk1"/>
                </a:solidFill>
              </a:rPr>
              <a:t>The 100 chants in the repository that were manually input into GABC represent a small sample of the numerous chants in the digitized sources from Braga and </a:t>
            </a:r>
            <a:r>
              <a:rPr lang="en" sz="1200" dirty="0" err="1">
                <a:solidFill>
                  <a:schemeClr val="dk1"/>
                </a:solidFill>
              </a:rPr>
              <a:t>Guimarães</a:t>
            </a:r>
            <a:r>
              <a:rPr lang="en" sz="1200" dirty="0">
                <a:solidFill>
                  <a:schemeClr val="dk1"/>
                </a:solidFill>
              </a:rPr>
              <a:t> as part of the ECHOES Project</a:t>
            </a: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1200" dirty="0">
                <a:solidFill>
                  <a:schemeClr val="dk1"/>
                </a:solidFill>
              </a:rPr>
              <a:t>We plan to apply OMR to some of the well-preserved books that have been digitized</a:t>
            </a:r>
            <a:endParaRPr sz="12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1200" dirty="0">
                <a:solidFill>
                  <a:srgbClr val="595959"/>
                </a:solidFill>
              </a:rPr>
              <a:t>So we have a TABLE that includes all the different types of glyphs found in these sources and their corresponding MEI encoding</a:t>
            </a:r>
            <a:endParaRPr sz="1200" dirty="0">
              <a:solidFill>
                <a:srgbClr val="595959"/>
              </a:solidFill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1200" dirty="0">
                <a:solidFill>
                  <a:schemeClr val="dk1"/>
                </a:solidFill>
              </a:rPr>
              <a:t>This table will be used during the OMR process to encode the recognized glyphs into MEI files correctly.</a:t>
            </a:r>
            <a:endParaRPr sz="1200" dirty="0">
              <a:solidFill>
                <a:schemeClr val="dk1"/>
              </a:solidFill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1200" dirty="0">
                <a:solidFill>
                  <a:schemeClr val="dk1"/>
                </a:solidFill>
              </a:rPr>
              <a:t>We believe that in addition to its use in OMR, this table is a valuable resource for the MEI Neumes community given the various real-life examples of neume shapes and their corresponding MEI encoding.</a:t>
            </a:r>
            <a:endParaRPr sz="12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dc99fa54d5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2dc99fa54d5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889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200"/>
              <a:buNone/>
            </a:pPr>
            <a:r>
              <a:rPr lang="en-CA" sz="1200" b="1" dirty="0"/>
              <a:t>Being developed by ANTOINE PHAN (McGill University)</a:t>
            </a:r>
            <a:endParaRPr sz="1200" b="1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dc99fa54d5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2dc99fa54d5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889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200"/>
              <a:buNone/>
            </a:pPr>
            <a:endParaRPr sz="1200" dirty="0"/>
          </a:p>
        </p:txBody>
      </p:sp>
    </p:spTree>
    <p:extLst>
      <p:ext uri="{BB962C8B-B14F-4D97-AF65-F5344CB8AC3E}">
        <p14:creationId xmlns:p14="http://schemas.microsoft.com/office/powerpoint/2010/main" val="425132227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dc99fa54d5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2dc99fa54d5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889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200"/>
              <a:buNone/>
            </a:pPr>
            <a:endParaRPr lang="en-CA" sz="1200" dirty="0"/>
          </a:p>
        </p:txBody>
      </p:sp>
    </p:spTree>
    <p:extLst>
      <p:ext uri="{BB962C8B-B14F-4D97-AF65-F5344CB8AC3E}">
        <p14:creationId xmlns:p14="http://schemas.microsoft.com/office/powerpoint/2010/main" val="371290435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dc99fa54d5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2dc99fa54d5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889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200"/>
              <a:buNone/>
            </a:pPr>
            <a:endParaRPr sz="1200" dirty="0"/>
          </a:p>
        </p:txBody>
      </p:sp>
    </p:spTree>
    <p:extLst>
      <p:ext uri="{BB962C8B-B14F-4D97-AF65-F5344CB8AC3E}">
        <p14:creationId xmlns:p14="http://schemas.microsoft.com/office/powerpoint/2010/main" val="426859435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dc99fa54d5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2dc99fa54d5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889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200"/>
              <a:buNone/>
            </a:pPr>
            <a:endParaRPr sz="1200" dirty="0"/>
          </a:p>
        </p:txBody>
      </p:sp>
    </p:spTree>
    <p:extLst>
      <p:ext uri="{BB962C8B-B14F-4D97-AF65-F5344CB8AC3E}">
        <p14:creationId xmlns:p14="http://schemas.microsoft.com/office/powerpoint/2010/main" val="346380229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dc99fa54d5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2dc99fa54d5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889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200"/>
              <a:buNone/>
            </a:pPr>
            <a:endParaRPr sz="1200" dirty="0"/>
          </a:p>
        </p:txBody>
      </p:sp>
    </p:spTree>
    <p:extLst>
      <p:ext uri="{BB962C8B-B14F-4D97-AF65-F5344CB8AC3E}">
        <p14:creationId xmlns:p14="http://schemas.microsoft.com/office/powerpoint/2010/main" val="239268664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2da36ea1a79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2da36ea1a79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</a:pPr>
            <a:r>
              <a:rPr lang="en" sz="1200" b="1" dirty="0">
                <a:solidFill>
                  <a:srgbClr val="595959"/>
                </a:solidFill>
              </a:rPr>
              <a:t>READ: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en-US" sz="1200" dirty="0">
                <a:solidFill>
                  <a:srgbClr val="595959"/>
                </a:solidFill>
              </a:rPr>
              <a:t>[1].</a:t>
            </a:r>
            <a:endParaRPr sz="1200" dirty="0">
              <a:solidFill>
                <a:srgbClr val="595959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en" sz="1200" b="1" dirty="0">
                <a:solidFill>
                  <a:srgbClr val="595959"/>
                </a:solidFill>
              </a:rPr>
              <a:t>Specifically, our case study can</a:t>
            </a:r>
            <a:r>
              <a:rPr lang="en" sz="1200" dirty="0">
                <a:solidFill>
                  <a:srgbClr val="595959"/>
                </a:solidFill>
              </a:rPr>
              <a:t> ‘[2]Contribute to the discussion about methodologies for describing and encoding' </a:t>
            </a:r>
            <a:r>
              <a:rPr lang="en" sz="1200" b="1" dirty="0">
                <a:solidFill>
                  <a:srgbClr val="595959"/>
                </a:solidFill>
              </a:rPr>
              <a:t>two</a:t>
            </a:r>
            <a:r>
              <a:rPr lang="en" sz="1200" dirty="0">
                <a:solidFill>
                  <a:srgbClr val="595959"/>
                </a:solidFill>
              </a:rPr>
              <a:t> 'early notations that have not been explored so far’ </a:t>
            </a:r>
            <a:r>
              <a:rPr lang="en" sz="1200" b="1" dirty="0">
                <a:solidFill>
                  <a:srgbClr val="595959"/>
                </a:solidFill>
              </a:rPr>
              <a:t>contextually (given that we have the same chants, the same text, in two notational scripts)</a:t>
            </a:r>
            <a:endParaRPr sz="1200" b="1" dirty="0">
              <a:solidFill>
                <a:srgbClr val="595959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en" sz="1200" b="1" dirty="0">
                <a:solidFill>
                  <a:srgbClr val="595959"/>
                </a:solidFill>
              </a:rPr>
              <a:t>We hope that this research will stimulate the discussion around </a:t>
            </a:r>
            <a:r>
              <a:rPr lang="en" sz="1200" b="0" dirty="0">
                <a:solidFill>
                  <a:srgbClr val="595959"/>
                </a:solidFill>
              </a:rPr>
              <a:t>'</a:t>
            </a:r>
            <a:r>
              <a:rPr lang="en" sz="1200" dirty="0">
                <a:solidFill>
                  <a:srgbClr val="595959"/>
                </a:solidFill>
              </a:rPr>
              <a:t>digital tools for early music research' </a:t>
            </a:r>
            <a:r>
              <a:rPr lang="en" sz="1200" b="1" dirty="0">
                <a:solidFill>
                  <a:srgbClr val="595959"/>
                </a:solidFill>
              </a:rPr>
              <a:t>and inspire scholars to create similar projects for other styles of early notations whose encodings have not been attempted so far</a:t>
            </a:r>
            <a:endParaRPr sz="1200" b="1" dirty="0">
              <a:solidFill>
                <a:srgbClr val="595959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ES" dirty="0"/>
          </a:p>
        </p:txBody>
      </p:sp>
    </p:spTree>
    <p:extLst>
      <p:ext uri="{BB962C8B-B14F-4D97-AF65-F5344CB8AC3E}">
        <p14:creationId xmlns:p14="http://schemas.microsoft.com/office/powerpoint/2010/main" val="343421571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2da36ea1a79_0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2da36ea1a79_0_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ECHOES-from-the-Past/GABCtoMEI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2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slide" Target="slide2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2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23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slide" Target="slide2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hyperlink" Target="mailto:elsadeluca@fcsh.unl.pt" TargetMode="External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hyperlink" Target="mailto:vicenteurones@fcsh.unl.pt" TargetMode="External"/><Relationship Id="rId4" Type="http://schemas.openxmlformats.org/officeDocument/2006/relationships/hyperlink" Target="mailto:marthathomae@fcsh.unl.pt" TargetMode="External"/><Relationship Id="rId9" Type="http://schemas.openxmlformats.org/officeDocument/2006/relationships/image" Target="../media/image12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hyperlink" Target="https://pemdatabase.eu/" TargetMode="External"/><Relationship Id="rId3" Type="http://schemas.openxmlformats.org/officeDocument/2006/relationships/hyperlink" Target="https://echoes.fcsh.unl.pt/" TargetMode="External"/><Relationship Id="rId7" Type="http://schemas.openxmlformats.org/officeDocument/2006/relationships/hyperlink" Target="https://echoes-from-the-past.github.io/mei-analyser/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github.com/ECHOES-from-the-Past/mei-analyser" TargetMode="External"/><Relationship Id="rId11" Type="http://schemas.openxmlformats.org/officeDocument/2006/relationships/hyperlink" Target="https://gregobase.selapa.net/scores.php" TargetMode="External"/><Relationship Id="rId5" Type="http://schemas.openxmlformats.org/officeDocument/2006/relationships/hyperlink" Target="https://github.com/ECHOES-from-the-Past/GABCtoMEI" TargetMode="External"/><Relationship Id="rId10" Type="http://schemas.openxmlformats.org/officeDocument/2006/relationships/hyperlink" Target="https://gregorio-project.github.io/gabc/index.html" TargetMode="External"/><Relationship Id="rId4" Type="http://schemas.openxmlformats.org/officeDocument/2006/relationships/hyperlink" Target="https://github.com/ECHOES-from-the-Past" TargetMode="External"/><Relationship Id="rId9" Type="http://schemas.openxmlformats.org/officeDocument/2006/relationships/hyperlink" Target="https://docs.google.com/spreadsheets/d/1QDRywn4oUXgU9liCZo6PJFvTkTCyML1pFikKtZjs0eg/edit?usp=shari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27139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Encoding and Analysis </a:t>
            </a:r>
            <a:br>
              <a:rPr lang="en" sz="5000"/>
            </a:br>
            <a:r>
              <a:rPr lang="en" sz="5000"/>
              <a:t>of Early Music:</a:t>
            </a:r>
            <a:endParaRPr sz="50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/>
              <a:t>Aquitanian and Square Music Scripts</a:t>
            </a:r>
            <a:endParaRPr sz="3800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73375"/>
            <a:ext cx="8520600" cy="95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/>
              <a:t>Elsa De Luca, Martha E. Thomae, Vicente Urones Sánchez</a:t>
            </a:r>
            <a:endParaRPr sz="2000" b="1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CESEM-IN2PAST, Universidade NOVA de Lisboa</a:t>
            </a:r>
            <a:endParaRPr sz="2000"/>
          </a:p>
        </p:txBody>
      </p:sp>
      <p:sp>
        <p:nvSpPr>
          <p:cNvPr id="56" name="Google Shape;56;p13"/>
          <p:cNvSpPr txBox="1">
            <a:spLocks noGrp="1"/>
          </p:cNvSpPr>
          <p:nvPr>
            <p:ph type="subTitle" idx="1"/>
          </p:nvPr>
        </p:nvSpPr>
        <p:spPr>
          <a:xfrm>
            <a:off x="311700" y="3675975"/>
            <a:ext cx="8520600" cy="111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/>
              <a:t>University of North Texas, Denton, TX</a:t>
            </a:r>
            <a:endParaRPr sz="18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/>
              <a:t>Music Encoding Conference (MEC)</a:t>
            </a:r>
            <a:endParaRPr sz="1800" b="1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/>
              <a:t>21 May 2024</a:t>
            </a:r>
            <a:endParaRPr sz="1800" b="1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653869E-75DF-2464-4846-654DE5B7C19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</a:t>
            </a:fld>
            <a:endParaRPr lang="e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311700" y="3543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ECHOES PROJECT</a:t>
            </a:r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body" idx="1"/>
          </p:nvPr>
        </p:nvSpPr>
        <p:spPr>
          <a:xfrm>
            <a:off x="311700" y="989200"/>
            <a:ext cx="6459300" cy="378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 b="1" dirty="0"/>
              <a:t>Automatic analysis of plainchant found in Portuguese manuscripts 12</a:t>
            </a:r>
            <a:r>
              <a:rPr lang="en" sz="2000" b="1" baseline="30000" dirty="0"/>
              <a:t>th</a:t>
            </a:r>
            <a:r>
              <a:rPr lang="en" sz="2000" b="1" dirty="0"/>
              <a:t>–17</a:t>
            </a:r>
            <a:r>
              <a:rPr lang="en" sz="2000" b="1" baseline="30000" dirty="0"/>
              <a:t>th</a:t>
            </a:r>
            <a:r>
              <a:rPr lang="en" sz="2000" b="1" dirty="0"/>
              <a:t> centuries currently kept in Braga and </a:t>
            </a:r>
            <a:r>
              <a:rPr lang="en" sz="2000" b="1" dirty="0" err="1"/>
              <a:t>Guimarães</a:t>
            </a:r>
            <a:r>
              <a:rPr lang="en" sz="2000" b="1" dirty="0"/>
              <a:t> </a:t>
            </a:r>
            <a:endParaRPr sz="2000" b="1" dirty="0"/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 dirty="0"/>
              <a:t>Chants in two music scripts:</a:t>
            </a:r>
            <a:endParaRPr sz="2000" dirty="0"/>
          </a:p>
          <a:p>
            <a:pPr marL="914400" lvl="1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 dirty="0" err="1"/>
              <a:t>Neumatic</a:t>
            </a:r>
            <a:r>
              <a:rPr lang="en" sz="2000" dirty="0"/>
              <a:t> Aquitanian (earlier notation style)</a:t>
            </a:r>
            <a:endParaRPr sz="2000" dirty="0"/>
          </a:p>
          <a:p>
            <a:pPr marL="914400" lvl="1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 dirty="0"/>
              <a:t>Square notation (later notation style)</a:t>
            </a:r>
            <a:endParaRPr sz="2000" dirty="0"/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 b="1" dirty="0"/>
              <a:t>Goal:</a:t>
            </a:r>
            <a:r>
              <a:rPr lang="en" sz="2000" dirty="0"/>
              <a:t> Create a prototype of a music-analysis tool for this corpus encoded in MEI</a:t>
            </a:r>
            <a:endParaRPr sz="20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EA53AC9-CBE5-5412-5E9B-A22E624DB48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</a:t>
            </a:fld>
            <a:endParaRPr lang="e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088B819-F70F-1AD9-92DC-AB49C3CFE4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6458" y="480283"/>
            <a:ext cx="1746000" cy="2393996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85EB9EB-9257-B634-ED13-18D253979C5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32642"/>
          <a:stretch/>
        </p:blipFill>
        <p:spPr>
          <a:xfrm>
            <a:off x="6650825" y="2959961"/>
            <a:ext cx="1941809" cy="1703256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>
            <a:spLocks noGrp="1"/>
          </p:cNvSpPr>
          <p:nvPr>
            <p:ph type="title"/>
          </p:nvPr>
        </p:nvSpPr>
        <p:spPr>
          <a:xfrm>
            <a:off x="311700" y="3688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ECHOES PROJECT – The Challenge</a:t>
            </a:r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body" idx="1"/>
          </p:nvPr>
        </p:nvSpPr>
        <p:spPr>
          <a:xfrm>
            <a:off x="364400" y="1068575"/>
            <a:ext cx="6280800" cy="366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dirty="0"/>
              <a:t>Encode and retrieve musical information originally written in two styles of notation</a:t>
            </a:r>
            <a:endParaRPr sz="2100" dirty="0"/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100" b="1" dirty="0">
                <a:solidFill>
                  <a:schemeClr val="dk1"/>
                </a:solidFill>
              </a:rPr>
              <a:t>Aquitanian neumes</a:t>
            </a:r>
            <a:endParaRPr sz="2100" dirty="0">
              <a:solidFill>
                <a:schemeClr val="dk1"/>
              </a:solidFill>
            </a:endParaRPr>
          </a:p>
          <a:p>
            <a:pPr marL="457200" lvl="0" indent="-36195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Char char="-"/>
            </a:pPr>
            <a:r>
              <a:rPr lang="en" sz="2100" dirty="0">
                <a:solidFill>
                  <a:schemeClr val="dk1"/>
                </a:solidFill>
                <a:highlight>
                  <a:srgbClr val="EA9999"/>
                </a:highlight>
              </a:rPr>
              <a:t>Provide </a:t>
            </a:r>
            <a:r>
              <a:rPr lang="en" sz="2100" b="1" dirty="0">
                <a:solidFill>
                  <a:schemeClr val="dk1"/>
                </a:solidFill>
                <a:highlight>
                  <a:srgbClr val="EA9999"/>
                </a:highlight>
              </a:rPr>
              <a:t>limited</a:t>
            </a:r>
            <a:r>
              <a:rPr lang="en" sz="2100" dirty="0">
                <a:solidFill>
                  <a:schemeClr val="dk1"/>
                </a:solidFill>
                <a:highlight>
                  <a:srgbClr val="EA9999"/>
                </a:highlight>
              </a:rPr>
              <a:t> information related to </a:t>
            </a:r>
            <a:r>
              <a:rPr lang="en" sz="2100" b="1" dirty="0">
                <a:solidFill>
                  <a:schemeClr val="dk1"/>
                </a:solidFill>
                <a:highlight>
                  <a:srgbClr val="EA9999"/>
                </a:highlight>
              </a:rPr>
              <a:t>pitch</a:t>
            </a:r>
            <a:endParaRPr sz="2100" b="1" dirty="0">
              <a:solidFill>
                <a:schemeClr val="dk1"/>
              </a:solidFill>
              <a:highlight>
                <a:srgbClr val="EA9999"/>
              </a:highlight>
            </a:endParaRPr>
          </a:p>
          <a:p>
            <a:pPr marL="457200" lvl="0" indent="-3619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+"/>
            </a:pPr>
            <a:r>
              <a:rPr lang="en" sz="2100" dirty="0">
                <a:solidFill>
                  <a:schemeClr val="dk1"/>
                </a:solidFill>
                <a:highlight>
                  <a:srgbClr val="93C47D"/>
                </a:highlight>
              </a:rPr>
              <a:t>Provide some information on the nuances of vocal delivery by the </a:t>
            </a:r>
            <a:r>
              <a:rPr lang="en" sz="2100" b="1" dirty="0">
                <a:solidFill>
                  <a:schemeClr val="dk1"/>
                </a:solidFill>
                <a:highlight>
                  <a:srgbClr val="93C47D"/>
                </a:highlight>
              </a:rPr>
              <a:t>various forms of the neumes</a:t>
            </a:r>
            <a:endParaRPr sz="2100" b="1" dirty="0">
              <a:solidFill>
                <a:schemeClr val="dk1"/>
              </a:solidFill>
              <a:highlight>
                <a:srgbClr val="93C47D"/>
              </a:highlight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D75719C-460C-EE0E-6CC9-F380BDE43D1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</a:t>
            </a:fld>
            <a:endParaRPr lang="e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B740C6A-B8A0-1574-504D-26DC5ECB905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2642"/>
          <a:stretch/>
        </p:blipFill>
        <p:spPr>
          <a:xfrm>
            <a:off x="6650825" y="2959961"/>
            <a:ext cx="1941809" cy="1703256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024C012-D247-C9DB-4D68-F26AE219A2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6458" y="480283"/>
            <a:ext cx="1746000" cy="2393996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>
            <a:spLocks noGrp="1"/>
          </p:cNvSpPr>
          <p:nvPr>
            <p:ph type="title"/>
          </p:nvPr>
        </p:nvSpPr>
        <p:spPr>
          <a:xfrm>
            <a:off x="311700" y="3688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ECHOES PROJECT – The Challenge</a:t>
            </a:r>
            <a:endParaRPr/>
          </a:p>
        </p:txBody>
      </p:sp>
      <p:sp>
        <p:nvSpPr>
          <p:cNvPr id="78" name="Google Shape;78;p16"/>
          <p:cNvSpPr txBox="1">
            <a:spLocks noGrp="1"/>
          </p:cNvSpPr>
          <p:nvPr>
            <p:ph type="body" idx="1"/>
          </p:nvPr>
        </p:nvSpPr>
        <p:spPr>
          <a:xfrm>
            <a:off x="364400" y="1057225"/>
            <a:ext cx="6280800" cy="367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Encode and retrieve musical information originally written in two styles of notation</a:t>
            </a:r>
            <a:endParaRPr sz="2100">
              <a:solidFill>
                <a:srgbClr val="6AA84F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rgbClr val="222222"/>
                </a:solidFill>
              </a:rPr>
              <a:t>Square notation</a:t>
            </a:r>
            <a:r>
              <a:rPr lang="en" sz="2100">
                <a:solidFill>
                  <a:srgbClr val="222222"/>
                </a:solidFill>
              </a:rPr>
              <a:t> (later system)</a:t>
            </a:r>
            <a:endParaRPr sz="2100">
              <a:solidFill>
                <a:srgbClr val="222222"/>
              </a:solidFill>
            </a:endParaRPr>
          </a:p>
          <a:p>
            <a:pPr marL="457200" lvl="0" indent="-36195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Char char="+"/>
            </a:pPr>
            <a:r>
              <a:rPr lang="en" sz="2100">
                <a:solidFill>
                  <a:schemeClr val="dk1"/>
                </a:solidFill>
                <a:highlight>
                  <a:srgbClr val="93C47D"/>
                </a:highlight>
              </a:rPr>
              <a:t>More </a:t>
            </a:r>
            <a:r>
              <a:rPr lang="en" sz="2100" b="1">
                <a:solidFill>
                  <a:schemeClr val="dk1"/>
                </a:solidFill>
                <a:highlight>
                  <a:srgbClr val="93C47D"/>
                </a:highlight>
              </a:rPr>
              <a:t>exact</a:t>
            </a:r>
            <a:r>
              <a:rPr lang="en" sz="2100">
                <a:solidFill>
                  <a:schemeClr val="dk1"/>
                </a:solidFill>
                <a:highlight>
                  <a:srgbClr val="93C47D"/>
                </a:highlight>
              </a:rPr>
              <a:t> in terms of </a:t>
            </a:r>
            <a:r>
              <a:rPr lang="en" sz="2100" b="1">
                <a:solidFill>
                  <a:schemeClr val="dk1"/>
                </a:solidFill>
                <a:highlight>
                  <a:srgbClr val="93C47D"/>
                </a:highlight>
              </a:rPr>
              <a:t>pitch precision</a:t>
            </a:r>
            <a:endParaRPr sz="2100" b="1">
              <a:solidFill>
                <a:schemeClr val="dk1"/>
              </a:solidFill>
              <a:highlight>
                <a:srgbClr val="93C47D"/>
              </a:highlight>
            </a:endParaRPr>
          </a:p>
          <a:p>
            <a:pPr marL="457200" lvl="0" indent="-3619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-"/>
            </a:pPr>
            <a:r>
              <a:rPr lang="en" sz="2100">
                <a:solidFill>
                  <a:schemeClr val="dk1"/>
                </a:solidFill>
                <a:highlight>
                  <a:srgbClr val="EA9999"/>
                </a:highlight>
              </a:rPr>
              <a:t>But it </a:t>
            </a:r>
            <a:r>
              <a:rPr lang="en" sz="2100" b="1">
                <a:solidFill>
                  <a:schemeClr val="dk1"/>
                </a:solidFill>
                <a:highlight>
                  <a:srgbClr val="EA9999"/>
                </a:highlight>
              </a:rPr>
              <a:t>lost information on the nuances of vocal delivery</a:t>
            </a:r>
            <a:endParaRPr sz="2100">
              <a:solidFill>
                <a:schemeClr val="dk1"/>
              </a:solidFill>
              <a:highlight>
                <a:srgbClr val="EA9999"/>
              </a:highlight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40409BA-015F-7DE4-4DFD-316B1EA4898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</a:t>
            </a:fld>
            <a:endParaRPr lang="e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C8BAB02-4617-F437-8248-A49C0FDF22A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2642"/>
          <a:stretch/>
        </p:blipFill>
        <p:spPr>
          <a:xfrm>
            <a:off x="6650825" y="2959961"/>
            <a:ext cx="1941809" cy="1703256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37DACCA-9D54-0CF2-8EAE-E28003AFD9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6458" y="480283"/>
            <a:ext cx="1746000" cy="2393996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ECHOES PROJECT – The Issue for Encoding</a:t>
            </a:r>
            <a:endParaRPr/>
          </a:p>
        </p:txBody>
      </p:sp>
      <p:sp>
        <p:nvSpPr>
          <p:cNvPr id="86" name="Google Shape;86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297462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 dirty="0"/>
              <a:t>Oldest sources (12th–14th c.) are often in poor material conditions and fragmentary state </a:t>
            </a:r>
            <a:endParaRPr sz="2000" dirty="0"/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 dirty="0"/>
              <a:t>Using of optical music recognition (OMR) to encode the little music information found in these fragments in such poor conditions would be an overkill</a:t>
            </a:r>
            <a:endParaRPr sz="2000" dirty="0"/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 dirty="0"/>
              <a:t>Moreover, for the purposes of building a </a:t>
            </a:r>
            <a:r>
              <a:rPr lang="en" sz="2000" b="1" dirty="0"/>
              <a:t>prototype</a:t>
            </a:r>
            <a:r>
              <a:rPr lang="en" sz="2000" dirty="0"/>
              <a:t> tool for music analysis, we are working with a reduced sample of ca. 100 chants</a:t>
            </a:r>
            <a:endParaRPr sz="20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1768A0E-B4E4-EF18-E6BE-6330D89C73C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5</a:t>
            </a:fld>
            <a:endParaRPr lang="e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457200" lvl="0" indent="-374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Decided to manually input the chants into the computer</a:t>
            </a:r>
            <a:endParaRPr sz="2300"/>
          </a:p>
          <a:p>
            <a:pPr marL="457200" lvl="0" indent="-374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Using the </a:t>
            </a:r>
            <a:r>
              <a:rPr lang="en" sz="2300" b="1"/>
              <a:t>GABC format </a:t>
            </a:r>
            <a:r>
              <a:rPr lang="en" sz="2300"/>
              <a:t>(text-based typesetting language)</a:t>
            </a:r>
            <a:endParaRPr sz="2300"/>
          </a:p>
          <a:p>
            <a:pPr marL="457200" lvl="0" indent="-374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And convert them later into MEI Neumes</a:t>
            </a:r>
            <a:br>
              <a:rPr lang="en" sz="2300"/>
            </a:br>
            <a:endParaRPr sz="500"/>
          </a:p>
          <a:p>
            <a:pPr marL="457200" lvl="0" indent="-374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 b="1"/>
              <a:t>Using GABC as an intermediate format</a:t>
            </a:r>
            <a:endParaRPr sz="2300" b="1"/>
          </a:p>
          <a:p>
            <a:pPr marL="457200" lvl="0" indent="-374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 b="1"/>
              <a:t>Python script to convert from GABC to MEI</a:t>
            </a:r>
            <a:br>
              <a:rPr lang="en" sz="2300" b="1"/>
            </a:br>
            <a:r>
              <a:rPr lang="en" sz="2300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https://github.com/ECHOES-from-the-Past/GABCtoMEI</a:t>
            </a:r>
            <a:endParaRPr sz="2300" b="1"/>
          </a:p>
        </p:txBody>
      </p:sp>
      <p:sp>
        <p:nvSpPr>
          <p:cNvPr id="92" name="Google Shape;92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ECHOES PROJECT – The Methodology</a:t>
            </a:r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E122B41-C897-AD63-4FB6-80EFD2A8AB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6</a:t>
            </a:fld>
            <a:endParaRPr lang="e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Using GABC as the Intermediate Format?</a:t>
            </a:r>
            <a:endParaRPr/>
          </a:p>
        </p:txBody>
      </p:sp>
      <p:sp>
        <p:nvSpPr>
          <p:cNvPr id="98" name="Google Shape;98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286868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 dirty="0"/>
              <a:t>Fairly quick to type compared to MEI</a:t>
            </a:r>
            <a:endParaRPr sz="2400" dirty="0"/>
          </a:p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 dirty="0"/>
              <a:t>Allows to capture both note pitch/height and neume shape information that other easy-to-type formats do not</a:t>
            </a:r>
            <a:endParaRPr sz="2400" dirty="0"/>
          </a:p>
          <a:p>
            <a:pPr marL="914400" lvl="1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 sz="2200" b="1" i="1" dirty="0" err="1"/>
              <a:t>Volpiano</a:t>
            </a:r>
            <a:r>
              <a:rPr lang="en" sz="2200" dirty="0"/>
              <a:t> captures only pitch information, not neume shape</a:t>
            </a:r>
            <a:endParaRPr sz="2200" dirty="0"/>
          </a:p>
          <a:p>
            <a:pPr marL="914400" lvl="1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 sz="2200" b="1" i="1" dirty="0" err="1"/>
              <a:t>MonodiPlus</a:t>
            </a:r>
            <a:r>
              <a:rPr lang="en" sz="2200" dirty="0"/>
              <a:t> captures pitch and ornamental neume shapes, </a:t>
            </a:r>
            <a:br>
              <a:rPr lang="en" sz="2200" dirty="0"/>
            </a:br>
            <a:r>
              <a:rPr lang="en" sz="2200" dirty="0"/>
              <a:t>but it does not make a distinction between punctum and virga shapes</a:t>
            </a:r>
            <a:endParaRPr sz="22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A35A355-88E8-7569-AAA0-A117E073B76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7</a:t>
            </a:fld>
            <a:endParaRPr lang="e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>
            <a:spLocks noGrp="1"/>
          </p:cNvSpPr>
          <p:nvPr>
            <p:ph type="body" idx="1"/>
          </p:nvPr>
        </p:nvSpPr>
        <p:spPr>
          <a:xfrm>
            <a:off x="311700" y="1065624"/>
            <a:ext cx="6097121" cy="266416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 dirty="0"/>
              <a:t>We followed the GABC specifications</a:t>
            </a:r>
            <a:r>
              <a:rPr lang="en" sz="2400" baseline="30000" dirty="0">
                <a:hlinkClick r:id="rId3" action="ppaction://hlinksldjump"/>
              </a:rPr>
              <a:t>[1]</a:t>
            </a:r>
            <a:endParaRPr sz="2200" baseline="30000" dirty="0"/>
          </a:p>
          <a:p>
            <a:pPr marL="45720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 dirty="0"/>
              <a:t>But we also adapted our “GABC encodings” </a:t>
            </a:r>
            <a:br>
              <a:rPr lang="en" sz="2200" dirty="0"/>
            </a:br>
            <a:r>
              <a:rPr lang="en" sz="2200" dirty="0"/>
              <a:t>for the needs of our corpus by </a:t>
            </a:r>
            <a:r>
              <a:rPr lang="en" sz="2200" b="1" dirty="0"/>
              <a:t>restricting the GABC characters</a:t>
            </a:r>
            <a:r>
              <a:rPr lang="en" sz="2200" dirty="0"/>
              <a:t> </a:t>
            </a:r>
            <a:r>
              <a:rPr lang="en" sz="2200" b="1" dirty="0"/>
              <a:t>used</a:t>
            </a:r>
            <a:r>
              <a:rPr lang="en" sz="2200" dirty="0"/>
              <a:t> and </a:t>
            </a:r>
            <a:r>
              <a:rPr lang="en" sz="2200" b="1" dirty="0"/>
              <a:t>adding others for unsupported features</a:t>
            </a:r>
            <a:endParaRPr sz="3100" b="1" dirty="0"/>
          </a:p>
        </p:txBody>
      </p:sp>
      <p:sp>
        <p:nvSpPr>
          <p:cNvPr id="104" name="Google Shape;104;p20"/>
          <p:cNvSpPr txBox="1">
            <a:spLocks noGrp="1"/>
          </p:cNvSpPr>
          <p:nvPr>
            <p:ph type="title"/>
          </p:nvPr>
        </p:nvSpPr>
        <p:spPr>
          <a:xfrm>
            <a:off x="311700" y="3688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ECHOES PROJECT – GABC Encoding</a:t>
            </a:r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765397B-D97E-D58F-8AEC-0938EFEA576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8</a:t>
            </a:fld>
            <a:endParaRPr lang="e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111;p21">
            <a:extLst>
              <a:ext uri="{FF2B5EF4-FFF2-40B4-BE49-F238E27FC236}">
                <a16:creationId xmlns:a16="http://schemas.microsoft.com/office/drawing/2014/main" id="{97316793-E824-D37E-EA3C-8034CE93859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09812" y="2771754"/>
            <a:ext cx="3011225" cy="1941025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09" name="Google Shape;109;p21"/>
          <p:cNvSpPr txBox="1">
            <a:spLocks noGrp="1"/>
          </p:cNvSpPr>
          <p:nvPr>
            <p:ph type="body" idx="1"/>
          </p:nvPr>
        </p:nvSpPr>
        <p:spPr>
          <a:xfrm>
            <a:off x="311700" y="1028900"/>
            <a:ext cx="8520600" cy="217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 dirty="0"/>
              <a:t>We followed the GABC specifications</a:t>
            </a:r>
            <a:r>
              <a:rPr lang="en" sz="2000" baseline="30000" dirty="0">
                <a:hlinkClick r:id="rId4" action="ppaction://hlinksldjump"/>
              </a:rPr>
              <a:t>[1]</a:t>
            </a:r>
            <a:endParaRPr sz="2200" dirty="0"/>
          </a:p>
          <a:p>
            <a:pPr marL="45720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 dirty="0"/>
              <a:t>But we also adapted our “GABC encodings” </a:t>
            </a:r>
            <a:br>
              <a:rPr lang="en" sz="2200" dirty="0"/>
            </a:br>
            <a:r>
              <a:rPr lang="en" sz="2200" dirty="0"/>
              <a:t>for the needs of our corpus by:</a:t>
            </a:r>
            <a:endParaRPr sz="2200" dirty="0"/>
          </a:p>
          <a:p>
            <a:pPr marL="914400" lvl="1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eriod"/>
            </a:pPr>
            <a:r>
              <a:rPr lang="en" sz="2200" b="1" dirty="0"/>
              <a:t>Restricting the characters used</a:t>
            </a:r>
            <a:endParaRPr sz="3100" b="1" dirty="0"/>
          </a:p>
        </p:txBody>
      </p:sp>
      <p:sp>
        <p:nvSpPr>
          <p:cNvPr id="110" name="Google Shape;110;p21"/>
          <p:cNvSpPr txBox="1">
            <a:spLocks noGrp="1"/>
          </p:cNvSpPr>
          <p:nvPr>
            <p:ph type="title"/>
          </p:nvPr>
        </p:nvSpPr>
        <p:spPr>
          <a:xfrm>
            <a:off x="311700" y="3688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ECHOES PROJECT – GABC Encoding</a:t>
            </a:r>
            <a:endParaRPr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B05886D-A277-DF6E-4C67-6BA585DA2545}"/>
              </a:ext>
            </a:extLst>
          </p:cNvPr>
          <p:cNvGrpSpPr/>
          <p:nvPr/>
        </p:nvGrpSpPr>
        <p:grpSpPr>
          <a:xfrm>
            <a:off x="5700347" y="2361824"/>
            <a:ext cx="1627967" cy="1875297"/>
            <a:chOff x="5576168" y="1866970"/>
            <a:chExt cx="1627967" cy="1875297"/>
          </a:xfrm>
        </p:grpSpPr>
        <p:pic>
          <p:nvPicPr>
            <p:cNvPr id="2" name="Google Shape;111;p21">
              <a:extLst>
                <a:ext uri="{FF2B5EF4-FFF2-40B4-BE49-F238E27FC236}">
                  <a16:creationId xmlns:a16="http://schemas.microsoft.com/office/drawing/2014/main" id="{F1AF47BA-4C2E-7F0A-11B7-C0BE45FEFB63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 r="79865" b="24506"/>
            <a:stretch/>
          </p:blipFill>
          <p:spPr>
            <a:xfrm>
              <a:off x="5619500" y="2276900"/>
              <a:ext cx="606322" cy="1465367"/>
            </a:xfrm>
            <a:prstGeom prst="rect">
              <a:avLst/>
            </a:prstGeom>
            <a:noFill/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5FCBF133-FE31-E9EF-78A7-DCB209BA8171}"/>
                </a:ext>
              </a:extLst>
            </p:cNvPr>
            <p:cNvSpPr txBox="1"/>
            <p:nvPr/>
          </p:nvSpPr>
          <p:spPr>
            <a:xfrm>
              <a:off x="5576168" y="1866970"/>
              <a:ext cx="162796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2000" i="1" dirty="0" err="1">
                  <a:solidFill>
                    <a:schemeClr val="bg2"/>
                  </a:solidFill>
                </a:rPr>
                <a:t>neumatic</a:t>
              </a:r>
              <a:r>
                <a:rPr lang="en-CA" sz="2000" i="1" dirty="0">
                  <a:solidFill>
                    <a:schemeClr val="bg2"/>
                  </a:solidFill>
                </a:rPr>
                <a:t> cut</a:t>
              </a: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3C8CD2A7-5675-7226-DC3B-667ADFC378FE}"/>
              </a:ext>
            </a:extLst>
          </p:cNvPr>
          <p:cNvSpPr/>
          <p:nvPr/>
        </p:nvSpPr>
        <p:spPr>
          <a:xfrm>
            <a:off x="5743679" y="2781574"/>
            <a:ext cx="606322" cy="1465367"/>
          </a:xfrm>
          <a:prstGeom prst="rect">
            <a:avLst/>
          </a:prstGeom>
          <a:solidFill>
            <a:srgbClr val="00B050">
              <a:alpha val="14902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EA57226-C849-7481-DFB8-F613DF6A15A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9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290898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>
            <a:spLocks noGrp="1"/>
          </p:cNvSpPr>
          <p:nvPr>
            <p:ph type="body" idx="1"/>
          </p:nvPr>
        </p:nvSpPr>
        <p:spPr>
          <a:xfrm>
            <a:off x="311700" y="1028900"/>
            <a:ext cx="8520600" cy="217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 dirty="0"/>
              <a:t>We followed the GABC specifications</a:t>
            </a:r>
            <a:r>
              <a:rPr lang="en" sz="2000" baseline="30000" dirty="0">
                <a:hlinkClick r:id="rId3" action="ppaction://hlinksldjump"/>
              </a:rPr>
              <a:t>[1]</a:t>
            </a:r>
            <a:endParaRPr sz="2200" dirty="0"/>
          </a:p>
          <a:p>
            <a:pPr marL="45720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 dirty="0"/>
              <a:t>But we also adapted our “GABC encodings” </a:t>
            </a:r>
            <a:br>
              <a:rPr lang="en" sz="2200" dirty="0"/>
            </a:br>
            <a:r>
              <a:rPr lang="en" sz="2200" dirty="0"/>
              <a:t>for the needs of our corpus by:</a:t>
            </a:r>
            <a:endParaRPr sz="2200" dirty="0"/>
          </a:p>
          <a:p>
            <a:pPr marL="914400" lvl="1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eriod"/>
            </a:pPr>
            <a:r>
              <a:rPr lang="en" sz="2200" b="1" dirty="0"/>
              <a:t>Restricting the characters used</a:t>
            </a:r>
            <a:endParaRPr sz="3100" b="1" dirty="0"/>
          </a:p>
        </p:txBody>
      </p:sp>
      <p:sp>
        <p:nvSpPr>
          <p:cNvPr id="110" name="Google Shape;110;p21"/>
          <p:cNvSpPr txBox="1">
            <a:spLocks noGrp="1"/>
          </p:cNvSpPr>
          <p:nvPr>
            <p:ph type="title"/>
          </p:nvPr>
        </p:nvSpPr>
        <p:spPr>
          <a:xfrm>
            <a:off x="311700" y="3688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ECHOES PROJECT – GABC Encoding</a:t>
            </a:r>
            <a:endParaRPr/>
          </a:p>
        </p:txBody>
      </p:sp>
      <p:pic>
        <p:nvPicPr>
          <p:cNvPr id="8" name="Google Shape;133;p24">
            <a:extLst>
              <a:ext uri="{FF2B5EF4-FFF2-40B4-BE49-F238E27FC236}">
                <a16:creationId xmlns:a16="http://schemas.microsoft.com/office/drawing/2014/main" id="{C78CB12D-559A-1EA6-DAE4-C5951C7FA1A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-541" t="-46" r="-188" b="65"/>
          <a:stretch/>
        </p:blipFill>
        <p:spPr>
          <a:xfrm>
            <a:off x="447166" y="1092725"/>
            <a:ext cx="7827589" cy="3448471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1C89C83-3A51-2BCD-B4DC-83AF79C6634A}"/>
              </a:ext>
            </a:extLst>
          </p:cNvPr>
          <p:cNvSpPr/>
          <p:nvPr/>
        </p:nvSpPr>
        <p:spPr>
          <a:xfrm>
            <a:off x="2641600" y="2114004"/>
            <a:ext cx="1286932" cy="1715911"/>
          </a:xfrm>
          <a:prstGeom prst="roundRect">
            <a:avLst/>
          </a:prstGeom>
          <a:solidFill>
            <a:srgbClr val="00B050">
              <a:alpha val="14902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084B4BB-ABD0-32E0-7F7A-75DA9F11C856}"/>
              </a:ext>
            </a:extLst>
          </p:cNvPr>
          <p:cNvSpPr/>
          <p:nvPr/>
        </p:nvSpPr>
        <p:spPr>
          <a:xfrm>
            <a:off x="3951110" y="2136583"/>
            <a:ext cx="2551289" cy="1715911"/>
          </a:xfrm>
          <a:prstGeom prst="roundRect">
            <a:avLst/>
          </a:prstGeom>
          <a:solidFill>
            <a:srgbClr val="FF0000">
              <a:alpha val="14902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D2B86918-E56D-37E6-224B-A9C66F43D52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10</a:t>
            </a:fld>
            <a:endParaRPr lang="e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5"/>
          <p:cNvSpPr txBox="1">
            <a:spLocks noGrp="1"/>
          </p:cNvSpPr>
          <p:nvPr>
            <p:ph type="body" idx="1"/>
          </p:nvPr>
        </p:nvSpPr>
        <p:spPr>
          <a:xfrm>
            <a:off x="311701" y="1055875"/>
            <a:ext cx="5920658" cy="363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 dirty="0"/>
              <a:t>We followed the GABC specifications</a:t>
            </a:r>
            <a:r>
              <a:rPr lang="en" sz="2000" baseline="30000" dirty="0">
                <a:hlinkClick r:id="rId3" action="ppaction://hlinksldjump"/>
              </a:rPr>
              <a:t>[1]</a:t>
            </a:r>
            <a:endParaRPr sz="2200" dirty="0"/>
          </a:p>
          <a:p>
            <a:pPr marL="45720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 dirty="0"/>
              <a:t>But we also adapted our “GABC encodings” for the needs of our corpus by:</a:t>
            </a:r>
            <a:endParaRPr sz="2200" dirty="0"/>
          </a:p>
          <a:p>
            <a:pPr marL="914400" lvl="1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eriod"/>
            </a:pPr>
            <a:r>
              <a:rPr lang="en" sz="2200" b="1" dirty="0"/>
              <a:t>Restricting the characters used</a:t>
            </a:r>
            <a:endParaRPr sz="2200" b="1" dirty="0"/>
          </a:p>
        </p:txBody>
      </p:sp>
      <p:sp>
        <p:nvSpPr>
          <p:cNvPr id="141" name="Google Shape;141;p25"/>
          <p:cNvSpPr txBox="1">
            <a:spLocks noGrp="1"/>
          </p:cNvSpPr>
          <p:nvPr>
            <p:ph type="title"/>
          </p:nvPr>
        </p:nvSpPr>
        <p:spPr>
          <a:xfrm>
            <a:off x="311700" y="3688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ECHOES PROJECT – GABC Encoding</a:t>
            </a:r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86E0F08-7E28-9AF2-1EAB-11E58891F0C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11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935799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D146F10-358C-483F-931B-41FB360849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4844" y="1049570"/>
            <a:ext cx="1589298" cy="132205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0" name="Google Shape;140;p25"/>
          <p:cNvSpPr txBox="1">
            <a:spLocks noGrp="1"/>
          </p:cNvSpPr>
          <p:nvPr>
            <p:ph type="body" idx="1"/>
          </p:nvPr>
        </p:nvSpPr>
        <p:spPr>
          <a:xfrm>
            <a:off x="311701" y="1055875"/>
            <a:ext cx="5920658" cy="363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 dirty="0"/>
              <a:t>We followed the GABC specifications</a:t>
            </a:r>
            <a:r>
              <a:rPr lang="en" sz="2000" baseline="30000" dirty="0">
                <a:hlinkClick r:id="rId4" action="ppaction://hlinksldjump"/>
              </a:rPr>
              <a:t>[1]</a:t>
            </a:r>
            <a:endParaRPr sz="2200" dirty="0"/>
          </a:p>
          <a:p>
            <a:pPr marL="45720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 dirty="0"/>
              <a:t>But we also adapted our “GABC encodings” for the needs of our corpus by:</a:t>
            </a:r>
            <a:endParaRPr sz="2200" dirty="0"/>
          </a:p>
          <a:p>
            <a:pPr marL="914400" lvl="1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eriod"/>
            </a:pPr>
            <a:r>
              <a:rPr lang="en" sz="2200" dirty="0"/>
              <a:t>Restricting the characters used</a:t>
            </a:r>
            <a:endParaRPr sz="2200" dirty="0"/>
          </a:p>
          <a:p>
            <a:pPr marL="914400" lvl="1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eriod"/>
            </a:pPr>
            <a:r>
              <a:rPr lang="en" sz="2200" b="1" dirty="0"/>
              <a:t>Adding characters to encode missing features </a:t>
            </a:r>
            <a:endParaRPr sz="3100" b="1" dirty="0"/>
          </a:p>
        </p:txBody>
      </p:sp>
      <p:sp>
        <p:nvSpPr>
          <p:cNvPr id="141" name="Google Shape;141;p25"/>
          <p:cNvSpPr txBox="1">
            <a:spLocks noGrp="1"/>
          </p:cNvSpPr>
          <p:nvPr>
            <p:ph type="title"/>
          </p:nvPr>
        </p:nvSpPr>
        <p:spPr>
          <a:xfrm>
            <a:off x="311700" y="3688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ECHOES PROJECT – GABC Encoding</a:t>
            </a:r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86E0F08-7E28-9AF2-1EAB-11E58891F0C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12</a:t>
            </a:fld>
            <a:endParaRPr lang="en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CE92495-02CF-05AF-975F-63D004D8E765}"/>
              </a:ext>
            </a:extLst>
          </p:cNvPr>
          <p:cNvGrpSpPr/>
          <p:nvPr/>
        </p:nvGrpSpPr>
        <p:grpSpPr>
          <a:xfrm>
            <a:off x="6735193" y="2479670"/>
            <a:ext cx="1589298" cy="1881243"/>
            <a:chOff x="6735193" y="2479670"/>
            <a:chExt cx="1589298" cy="1881243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9656F9C-C58C-A5FB-0A58-984A577E3AB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735193" y="2479670"/>
              <a:ext cx="1589298" cy="141368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D68E6CCB-21D0-6BDE-6B11-092AE6D8BD4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t="3609" b="11989"/>
            <a:stretch/>
          </p:blipFill>
          <p:spPr>
            <a:xfrm>
              <a:off x="6735193" y="3893354"/>
              <a:ext cx="1589298" cy="46755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F66552E1-627C-6850-019E-7BDB17C679D1}"/>
              </a:ext>
            </a:extLst>
          </p:cNvPr>
          <p:cNvSpPr/>
          <p:nvPr/>
        </p:nvSpPr>
        <p:spPr>
          <a:xfrm>
            <a:off x="7071367" y="1253185"/>
            <a:ext cx="400035" cy="750497"/>
          </a:xfrm>
          <a:prstGeom prst="roundRect">
            <a:avLst/>
          </a:prstGeom>
          <a:solidFill>
            <a:srgbClr val="00B0F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1BA90574-BD46-C3B8-4952-49A91D47D6B2}"/>
              </a:ext>
            </a:extLst>
          </p:cNvPr>
          <p:cNvSpPr/>
          <p:nvPr/>
        </p:nvSpPr>
        <p:spPr>
          <a:xfrm>
            <a:off x="7154000" y="2889848"/>
            <a:ext cx="540761" cy="664235"/>
          </a:xfrm>
          <a:prstGeom prst="roundRect">
            <a:avLst/>
          </a:prstGeom>
          <a:solidFill>
            <a:srgbClr val="00B0F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E154C096-91C7-ED18-B0B3-BC3A1E5C523F}"/>
              </a:ext>
            </a:extLst>
          </p:cNvPr>
          <p:cNvSpPr/>
          <p:nvPr/>
        </p:nvSpPr>
        <p:spPr>
          <a:xfrm>
            <a:off x="7686136" y="2889616"/>
            <a:ext cx="258794" cy="664235"/>
          </a:xfrm>
          <a:prstGeom prst="roundRect">
            <a:avLst/>
          </a:prstGeom>
          <a:solidFill>
            <a:schemeClr val="accent4">
              <a:alpha val="29804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098A7BD5-096C-4A11-3B64-3B7B4091F9DA}"/>
              </a:ext>
            </a:extLst>
          </p:cNvPr>
          <p:cNvSpPr/>
          <p:nvPr/>
        </p:nvSpPr>
        <p:spPr>
          <a:xfrm>
            <a:off x="7471402" y="1276224"/>
            <a:ext cx="483609" cy="735888"/>
          </a:xfrm>
          <a:prstGeom prst="roundRect">
            <a:avLst/>
          </a:prstGeom>
          <a:solidFill>
            <a:schemeClr val="accent4">
              <a:alpha val="29804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D5CC8107-2118-DF25-262B-FEED4AF3098C}"/>
              </a:ext>
            </a:extLst>
          </p:cNvPr>
          <p:cNvSpPr/>
          <p:nvPr/>
        </p:nvSpPr>
        <p:spPr>
          <a:xfrm>
            <a:off x="7955011" y="1267794"/>
            <a:ext cx="333359" cy="735888"/>
          </a:xfrm>
          <a:prstGeom prst="roundRect">
            <a:avLst/>
          </a:prstGeom>
          <a:solidFill>
            <a:srgbClr val="00B05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25238477-7354-3CF9-EF54-B188EE6824DB}"/>
              </a:ext>
            </a:extLst>
          </p:cNvPr>
          <p:cNvSpPr/>
          <p:nvPr/>
        </p:nvSpPr>
        <p:spPr>
          <a:xfrm>
            <a:off x="7944930" y="2889616"/>
            <a:ext cx="304620" cy="664235"/>
          </a:xfrm>
          <a:prstGeom prst="roundRect">
            <a:avLst/>
          </a:prstGeom>
          <a:solidFill>
            <a:srgbClr val="00B05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6"/>
          <p:cNvSpPr txBox="1">
            <a:spLocks noGrp="1"/>
          </p:cNvSpPr>
          <p:nvPr>
            <p:ph type="body" idx="1"/>
          </p:nvPr>
        </p:nvSpPr>
        <p:spPr>
          <a:xfrm>
            <a:off x="256800" y="1067950"/>
            <a:ext cx="8630400" cy="360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/>
              <a:t>Interdisciplinary discussions </a:t>
            </a:r>
            <a:endParaRPr sz="2000" b="1" dirty="0"/>
          </a:p>
          <a:p>
            <a:pPr marL="457200" lvl="0" indent="-3556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" sz="2000" dirty="0"/>
              <a:t>Our encoding guidelines and the details of the transformation of the GABC to MEI code are provided in GitHub</a:t>
            </a:r>
            <a:endParaRPr lang="en-GB" sz="2000" dirty="0"/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000" dirty="0"/>
              <a:t>Our team: music </a:t>
            </a:r>
            <a:r>
              <a:rPr lang="en-GB" sz="2000" dirty="0" err="1"/>
              <a:t>paleographers</a:t>
            </a:r>
            <a:r>
              <a:rPr lang="en-GB" sz="2000" dirty="0"/>
              <a:t>, historical musicologists, and music technology scholars</a:t>
            </a:r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 dirty="0"/>
              <a:t>All the specificities of the encoding as they will have a cascade effect on the musical analysis to be performed at a later stage</a:t>
            </a:r>
            <a:endParaRPr sz="2000" dirty="0"/>
          </a:p>
        </p:txBody>
      </p:sp>
      <p:sp>
        <p:nvSpPr>
          <p:cNvPr id="149" name="Google Shape;149;p26"/>
          <p:cNvSpPr txBox="1">
            <a:spLocks noGrp="1"/>
          </p:cNvSpPr>
          <p:nvPr>
            <p:ph type="title"/>
          </p:nvPr>
        </p:nvSpPr>
        <p:spPr>
          <a:xfrm>
            <a:off x="311700" y="3688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ECHOES PROJECT – GABC Encoding</a:t>
            </a:r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88B0009-80EE-E13D-DAB6-99813B63306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13</a:t>
            </a:fld>
            <a:endParaRPr lang="en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7"/>
          <p:cNvSpPr txBox="1">
            <a:spLocks noGrp="1"/>
          </p:cNvSpPr>
          <p:nvPr>
            <p:ph type="title"/>
          </p:nvPr>
        </p:nvSpPr>
        <p:spPr>
          <a:xfrm>
            <a:off x="311700" y="3688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ECHOES PROJECT – Current Contributions</a:t>
            </a:r>
            <a:endParaRPr/>
          </a:p>
        </p:txBody>
      </p:sp>
      <p:sp>
        <p:nvSpPr>
          <p:cNvPr id="155" name="Google Shape;155;p27"/>
          <p:cNvSpPr txBox="1">
            <a:spLocks noGrp="1"/>
          </p:cNvSpPr>
          <p:nvPr>
            <p:ph type="body" idx="1"/>
          </p:nvPr>
        </p:nvSpPr>
        <p:spPr>
          <a:xfrm>
            <a:off x="311700" y="941525"/>
            <a:ext cx="8520600" cy="390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 dirty="0"/>
              <a:t>About a hundred </a:t>
            </a:r>
            <a:r>
              <a:rPr lang="en" sz="2000" b="1" dirty="0"/>
              <a:t>GABC</a:t>
            </a:r>
            <a:r>
              <a:rPr lang="en" sz="2000" dirty="0"/>
              <a:t> and </a:t>
            </a:r>
            <a:r>
              <a:rPr lang="en" sz="2000" b="1" dirty="0"/>
              <a:t>MEI files</a:t>
            </a:r>
            <a:r>
              <a:rPr lang="en" sz="2000" dirty="0"/>
              <a:t> (in GitHub)</a:t>
            </a:r>
            <a:endParaRPr sz="2000" dirty="0"/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 b="1" dirty="0"/>
              <a:t>Digital images </a:t>
            </a:r>
            <a:r>
              <a:rPr lang="en" sz="2000" dirty="0"/>
              <a:t>of the Braga and </a:t>
            </a:r>
            <a:r>
              <a:rPr lang="en" sz="2000" dirty="0" err="1"/>
              <a:t>Guimarães</a:t>
            </a:r>
            <a:r>
              <a:rPr lang="en" sz="2000" dirty="0"/>
              <a:t> sources </a:t>
            </a:r>
            <a:br>
              <a:rPr lang="en" sz="2000" dirty="0"/>
            </a:br>
            <a:r>
              <a:rPr lang="en" sz="2000" dirty="0"/>
              <a:t>→ Portuguese Early Music (PEM) Database</a:t>
            </a:r>
            <a:endParaRPr sz="2000" dirty="0"/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 b="1" dirty="0"/>
              <a:t>Table</a:t>
            </a:r>
            <a:r>
              <a:rPr lang="en" sz="2000" dirty="0"/>
              <a:t> with visual samples of all the notational shapes (Aquitanian </a:t>
            </a:r>
            <a:br>
              <a:rPr lang="en" sz="2000" dirty="0"/>
            </a:br>
            <a:r>
              <a:rPr lang="en" sz="2000" dirty="0"/>
              <a:t>and square) along with the MEI Neumes encoding:</a:t>
            </a:r>
            <a:endParaRPr sz="2000" dirty="0"/>
          </a:p>
          <a:p>
            <a:pPr marL="914400" lvl="1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 dirty="0"/>
              <a:t>We will develop OMR models to recognize the symbols </a:t>
            </a:r>
            <a:br>
              <a:rPr lang="en" sz="2000" dirty="0"/>
            </a:br>
            <a:r>
              <a:rPr lang="en" sz="2000" dirty="0"/>
              <a:t>of both notations as found in some well-preserved books</a:t>
            </a:r>
            <a:endParaRPr sz="2000" dirty="0"/>
          </a:p>
          <a:p>
            <a:pPr marL="914400" lvl="1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 dirty="0"/>
              <a:t>Valuable resource for the MEI Neumes community</a:t>
            </a:r>
            <a:endParaRPr sz="20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99D05D0-AE8F-9DF6-BBFC-90080462E4E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14</a:t>
            </a:fld>
            <a:endParaRPr lang="en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1"/>
          <p:cNvSpPr txBox="1">
            <a:spLocks noGrp="1"/>
          </p:cNvSpPr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ECHOES PROJECT – Music Analysis Prototype Tool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3D682B3-5B71-151D-0625-448D57E967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699" y="865325"/>
            <a:ext cx="8476311" cy="398555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3CBBFDE-1FC4-B160-1E67-EF9DBE90392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15</a:t>
            </a:fld>
            <a:endParaRPr lang="e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470536-5E77-D85E-949B-7327261375CA}"/>
              </a:ext>
            </a:extLst>
          </p:cNvPr>
          <p:cNvSpPr txBox="1"/>
          <p:nvPr/>
        </p:nvSpPr>
        <p:spPr>
          <a:xfrm>
            <a:off x="5275986" y="4552240"/>
            <a:ext cx="34708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CA" dirty="0">
                <a:highlight>
                  <a:srgbClr val="FFFF00"/>
                </a:highlight>
              </a:rPr>
              <a:t>Work by Antoine Phan (McGill University)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1"/>
          <p:cNvSpPr txBox="1">
            <a:spLocks noGrp="1"/>
          </p:cNvSpPr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ECHOES PROJECT – Music Analysis Prototype Tool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3D682B3-5B71-151D-0625-448D57E967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699" y="865324"/>
            <a:ext cx="15109850" cy="7104631"/>
          </a:xfrm>
          <a:prstGeom prst="rect">
            <a:avLst/>
          </a:prstGeom>
        </p:spPr>
      </p:pic>
      <p:sp>
        <p:nvSpPr>
          <p:cNvPr id="4" name="Google Shape;198;p33">
            <a:extLst>
              <a:ext uri="{FF2B5EF4-FFF2-40B4-BE49-F238E27FC236}">
                <a16:creationId xmlns:a16="http://schemas.microsoft.com/office/drawing/2014/main" id="{A9B96E39-538D-559C-45DE-67B4E303C891}"/>
              </a:ext>
            </a:extLst>
          </p:cNvPr>
          <p:cNvSpPr/>
          <p:nvPr/>
        </p:nvSpPr>
        <p:spPr>
          <a:xfrm>
            <a:off x="2686756" y="1388533"/>
            <a:ext cx="1885244" cy="619213"/>
          </a:xfrm>
          <a:prstGeom prst="roundRect">
            <a:avLst>
              <a:gd name="adj" fmla="val 16667"/>
            </a:avLst>
          </a:prstGeom>
          <a:solidFill>
            <a:srgbClr val="FF6C6B"/>
          </a:solidFill>
          <a:ln w="9525" cap="flat" cmpd="sng">
            <a:solidFill>
              <a:srgbClr val="D5A6B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spcFirstLastPara="1" wrap="square" lIns="18275" tIns="45700" rIns="1827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Music Scripts</a:t>
            </a:r>
            <a:endParaRPr sz="20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CABAEC2-8504-E37D-9AD1-F05018AE637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16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8835071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1"/>
          <p:cNvSpPr txBox="1">
            <a:spLocks noGrp="1"/>
          </p:cNvSpPr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ECHOES PROJECT – Music Analysis Prototype Tool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3D682B3-5B71-151D-0625-448D57E967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699" y="865324"/>
            <a:ext cx="15109850" cy="710463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0637C21-8FFA-6333-7921-C0330D56DDB6}"/>
              </a:ext>
            </a:extLst>
          </p:cNvPr>
          <p:cNvSpPr txBox="1"/>
          <p:nvPr/>
        </p:nvSpPr>
        <p:spPr>
          <a:xfrm>
            <a:off x="4034524" y="3153303"/>
            <a:ext cx="5188498" cy="1376513"/>
          </a:xfrm>
          <a:prstGeom prst="rect">
            <a:avLst/>
          </a:prstGeom>
          <a:solidFill>
            <a:srgbClr val="FFC000"/>
          </a:solidFill>
        </p:spPr>
        <p:txBody>
          <a:bodyPr wrap="square" tIns="72000" bIns="72000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000" dirty="0"/>
              <a:t>This information is </a:t>
            </a:r>
            <a:r>
              <a:rPr lang="en-CA" sz="2000" b="1" dirty="0"/>
              <a:t>not in the metadata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000" dirty="0"/>
              <a:t>We </a:t>
            </a:r>
            <a:r>
              <a:rPr lang="en-CA" sz="2000" b="1" dirty="0"/>
              <a:t>developed heuristics </a:t>
            </a:r>
            <a:r>
              <a:rPr lang="en-CA" sz="2000" dirty="0"/>
              <a:t>to compute the mode based on the </a:t>
            </a:r>
            <a:r>
              <a:rPr lang="en-CA" sz="2000" i="1" dirty="0" err="1"/>
              <a:t>finalis</a:t>
            </a:r>
            <a:r>
              <a:rPr lang="en-CA" sz="2000" dirty="0"/>
              <a:t>, </a:t>
            </a:r>
            <a:r>
              <a:rPr lang="en-CA" sz="2000" i="1" dirty="0"/>
              <a:t>ambitus</a:t>
            </a:r>
            <a:r>
              <a:rPr lang="en-CA" sz="2000" dirty="0"/>
              <a:t>, </a:t>
            </a:r>
            <a:r>
              <a:rPr lang="en-CA" sz="2000" i="1" dirty="0" err="1"/>
              <a:t>repercussio</a:t>
            </a:r>
            <a:r>
              <a:rPr lang="en-CA" sz="2000" i="1" dirty="0"/>
              <a:t>, </a:t>
            </a:r>
            <a:r>
              <a:rPr lang="en-CA" sz="2000" dirty="0"/>
              <a:t>and</a:t>
            </a:r>
            <a:r>
              <a:rPr lang="en-CA" sz="2000" i="1" dirty="0"/>
              <a:t> rhombus position</a:t>
            </a:r>
            <a:endParaRPr lang="en-CA" sz="2000" dirty="0"/>
          </a:p>
        </p:txBody>
      </p:sp>
      <p:sp>
        <p:nvSpPr>
          <p:cNvPr id="2" name="Google Shape;198;p33">
            <a:extLst>
              <a:ext uri="{FF2B5EF4-FFF2-40B4-BE49-F238E27FC236}">
                <a16:creationId xmlns:a16="http://schemas.microsoft.com/office/drawing/2014/main" id="{CF142452-D446-6617-799B-E53442D85F6B}"/>
              </a:ext>
            </a:extLst>
          </p:cNvPr>
          <p:cNvSpPr/>
          <p:nvPr/>
        </p:nvSpPr>
        <p:spPr>
          <a:xfrm>
            <a:off x="2686756" y="2571750"/>
            <a:ext cx="1885244" cy="619213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 w="9525" cap="flat" cmpd="sng">
            <a:solidFill>
              <a:srgbClr val="D5A6B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spcFirstLastPara="1" wrap="square" lIns="18275" tIns="45700" rIns="1827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Mode</a:t>
            </a:r>
            <a:endParaRPr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89B3A0-2196-1A6E-C171-80B40640BD2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17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132325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1"/>
          <p:cNvSpPr txBox="1">
            <a:spLocks noGrp="1"/>
          </p:cNvSpPr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ECHOES PROJECT – Music Analysis Prototype Tool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3D682B3-5B71-151D-0625-448D57E967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699" y="-1550500"/>
            <a:ext cx="15109850" cy="7104631"/>
          </a:xfrm>
          <a:prstGeom prst="rect">
            <a:avLst/>
          </a:prstGeom>
        </p:spPr>
      </p:pic>
      <p:sp>
        <p:nvSpPr>
          <p:cNvPr id="2" name="Google Shape;198;p33">
            <a:extLst>
              <a:ext uri="{FF2B5EF4-FFF2-40B4-BE49-F238E27FC236}">
                <a16:creationId xmlns:a16="http://schemas.microsoft.com/office/drawing/2014/main" id="{CF142452-D446-6617-799B-E53442D85F6B}"/>
              </a:ext>
            </a:extLst>
          </p:cNvPr>
          <p:cNvSpPr/>
          <p:nvPr/>
        </p:nvSpPr>
        <p:spPr>
          <a:xfrm>
            <a:off x="3702757" y="1980154"/>
            <a:ext cx="2517422" cy="569935"/>
          </a:xfrm>
          <a:prstGeom prst="roundRect">
            <a:avLst>
              <a:gd name="adj" fmla="val 16667"/>
            </a:avLst>
          </a:prstGeom>
          <a:solidFill>
            <a:srgbClr val="00B0F0"/>
          </a:solidFill>
          <a:ln w="9525" cap="flat" cmpd="sng">
            <a:solidFill>
              <a:srgbClr val="D5A6B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spcFirstLastPara="1" wrap="square" lIns="18275" tIns="45700" rIns="18275" bIns="45700" anchor="ctr" anchorCtr="0">
            <a:noAutofit/>
          </a:bodyPr>
          <a:lstStyle/>
          <a:p>
            <a:pPr lvl="0" indent="0" algn="ctr" rtl="0">
              <a:spcAft>
                <a:spcPts val="0"/>
              </a:spcAft>
              <a:buNone/>
            </a:pPr>
            <a:r>
              <a:rPr lang="en" sz="2000" dirty="0"/>
              <a:t>Ornamental shapes</a:t>
            </a:r>
            <a:endParaRPr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6B8D94-01D7-F106-3D30-2A4636AD102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18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1332856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1"/>
          <p:cNvSpPr txBox="1">
            <a:spLocks noGrp="1"/>
          </p:cNvSpPr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ECHOES PROJECT – Music Analysis Prototype Tool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3D682B3-5B71-151D-0625-448D57E967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699" y="-1550500"/>
            <a:ext cx="15109850" cy="7104631"/>
          </a:xfrm>
          <a:prstGeom prst="rect">
            <a:avLst/>
          </a:prstGeom>
        </p:spPr>
      </p:pic>
      <p:sp>
        <p:nvSpPr>
          <p:cNvPr id="2" name="Google Shape;198;p33">
            <a:extLst>
              <a:ext uri="{FF2B5EF4-FFF2-40B4-BE49-F238E27FC236}">
                <a16:creationId xmlns:a16="http://schemas.microsoft.com/office/drawing/2014/main" id="{CF142452-D446-6617-799B-E53442D85F6B}"/>
              </a:ext>
            </a:extLst>
          </p:cNvPr>
          <p:cNvSpPr/>
          <p:nvPr/>
        </p:nvSpPr>
        <p:spPr>
          <a:xfrm>
            <a:off x="3115733" y="3458083"/>
            <a:ext cx="1456267" cy="767957"/>
          </a:xfrm>
          <a:prstGeom prst="roundRect">
            <a:avLst>
              <a:gd name="adj" fmla="val 16667"/>
            </a:avLst>
          </a:prstGeom>
          <a:solidFill>
            <a:srgbClr val="92D050"/>
          </a:solidFill>
          <a:ln w="9525" cap="flat" cmpd="sng">
            <a:solidFill>
              <a:srgbClr val="D5A6B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spcFirstLastPara="1" wrap="square" lIns="18275" tIns="45700" rIns="1827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Melodic density</a:t>
            </a:r>
            <a:endParaRPr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99F69B-7A03-9CA3-CAEA-AE5F52A7C8D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19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4552557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1"/>
          <p:cNvSpPr txBox="1">
            <a:spLocks noGrp="1"/>
          </p:cNvSpPr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ECHOES PROJECT – Music Analysis Prototype Tool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3D682B3-5B71-151D-0625-448D57E967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699" y="865325"/>
            <a:ext cx="8476311" cy="39855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E3F8B68-1657-051C-D19D-D9E6EA938696}"/>
              </a:ext>
            </a:extLst>
          </p:cNvPr>
          <p:cNvSpPr txBox="1"/>
          <p:nvPr/>
        </p:nvSpPr>
        <p:spPr>
          <a:xfrm>
            <a:off x="2964891" y="3263099"/>
            <a:ext cx="5188498" cy="760959"/>
          </a:xfrm>
          <a:prstGeom prst="rect">
            <a:avLst/>
          </a:prstGeom>
          <a:solidFill>
            <a:srgbClr val="C48AF3"/>
          </a:solidFill>
          <a:ln w="19050">
            <a:solidFill>
              <a:srgbClr val="7030A0"/>
            </a:solidFill>
          </a:ln>
        </p:spPr>
        <p:txBody>
          <a:bodyPr wrap="square" tIns="72000" bIns="72000" rtlCol="0">
            <a:spAutoFit/>
          </a:bodyPr>
          <a:lstStyle/>
          <a:p>
            <a:pPr algn="ctr"/>
            <a:r>
              <a:rPr lang="en-CA" sz="2000" b="1" dirty="0"/>
              <a:t>Coming </a:t>
            </a:r>
            <a:r>
              <a:rPr lang="en-CA" sz="2000" dirty="0">
                <a:sym typeface="Wingdings" pitchFamily="2" charset="2"/>
              </a:rPr>
              <a:t> </a:t>
            </a:r>
            <a:r>
              <a:rPr lang="en-CA" sz="2000" dirty="0"/>
              <a:t>Melodic search </a:t>
            </a:r>
            <a:br>
              <a:rPr lang="en-CA" sz="2000" dirty="0"/>
            </a:br>
            <a:r>
              <a:rPr lang="en-CA" sz="2000" dirty="0"/>
              <a:t>(based on pitch / height / contour similarity)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FAF9F3-81FF-58F8-50DE-37A23843B19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20</a:t>
            </a:fld>
            <a:endParaRPr lang="e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F554A0-5113-5F9D-8A74-CB6796CADBC8}"/>
              </a:ext>
            </a:extLst>
          </p:cNvPr>
          <p:cNvSpPr txBox="1"/>
          <p:nvPr/>
        </p:nvSpPr>
        <p:spPr>
          <a:xfrm>
            <a:off x="5275986" y="4552240"/>
            <a:ext cx="34708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CA" dirty="0">
                <a:highlight>
                  <a:srgbClr val="FFFF00"/>
                </a:highlight>
              </a:rPr>
              <a:t>Work by Antoine Phan (McGill University)</a:t>
            </a:r>
          </a:p>
        </p:txBody>
      </p:sp>
    </p:spTree>
    <p:extLst>
      <p:ext uri="{BB962C8B-B14F-4D97-AF65-F5344CB8AC3E}">
        <p14:creationId xmlns:p14="http://schemas.microsoft.com/office/powerpoint/2010/main" val="13842877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1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ECHOES PROJECT – Conclusions</a:t>
            </a:r>
            <a:endParaRPr/>
          </a:p>
        </p:txBody>
      </p:sp>
      <p:sp>
        <p:nvSpPr>
          <p:cNvPr id="171" name="Google Shape;171;p2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369456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100" dirty="0"/>
              <a:t>Music encoding and analysis are crucial components in our project on Portuguese plainchant written in Aquitanian </a:t>
            </a:r>
            <a:r>
              <a:rPr lang="en" sz="2100" dirty="0" err="1"/>
              <a:t>neumatic</a:t>
            </a:r>
            <a:r>
              <a:rPr lang="en" sz="2100" dirty="0"/>
              <a:t> and Iberian square music scripts</a:t>
            </a:r>
            <a:endParaRPr sz="2100" dirty="0"/>
          </a:p>
          <a:p>
            <a:pPr marL="45720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100" dirty="0"/>
              <a:t>Contribute to the discussion about methodologies for describing and encoding early notations that have not been explored so far and to the creation of digital tools for early music research</a:t>
            </a:r>
            <a:endParaRPr sz="21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8D38AB6-849E-CDDB-31BC-9E4EC35AC17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21</a:t>
            </a:fld>
            <a:endParaRPr lang="en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12549-4D20-3D32-027A-069D9D6C14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699" y="1485516"/>
            <a:ext cx="8520600" cy="841800"/>
          </a:xfrm>
        </p:spPr>
        <p:txBody>
          <a:bodyPr>
            <a:normAutofit/>
          </a:bodyPr>
          <a:lstStyle/>
          <a:p>
            <a:r>
              <a:rPr lang="en-CA" dirty="0"/>
              <a:t>Thank you!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B906A02-3F69-0C92-6066-6921101E70E8}"/>
              </a:ext>
            </a:extLst>
          </p:cNvPr>
          <p:cNvSpPr txBox="1">
            <a:spLocks/>
          </p:cNvSpPr>
          <p:nvPr/>
        </p:nvSpPr>
        <p:spPr>
          <a:xfrm>
            <a:off x="2542274" y="2288356"/>
            <a:ext cx="4059449" cy="10556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CA" sz="2000" dirty="0">
                <a:hlinkClick r:id="rId3"/>
              </a:rPr>
              <a:t>elsadeluca@fcsh.unl.pt</a:t>
            </a:r>
            <a:endParaRPr lang="en-CA" sz="2000" dirty="0"/>
          </a:p>
          <a:p>
            <a:r>
              <a:rPr lang="en-CA" sz="2000" dirty="0">
                <a:hlinkClick r:id="rId4"/>
              </a:rPr>
              <a:t>marthathomae@fcsh.unl.pt</a:t>
            </a:r>
            <a:endParaRPr lang="en-CA" sz="2000" dirty="0"/>
          </a:p>
          <a:p>
            <a:r>
              <a:rPr lang="en-CA" sz="2000" dirty="0">
                <a:hlinkClick r:id="rId5"/>
              </a:rPr>
              <a:t>vicenteurones@fcsh.unl.pt</a:t>
            </a:r>
            <a:endParaRPr lang="en-CA" sz="20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282E2C1-93FA-F98A-D006-F381C85E2F5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53317" y="2461147"/>
            <a:ext cx="2294770" cy="66907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64409E5-9B61-9881-970D-DEACB8CA49A1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21999" b="16837"/>
          <a:stretch/>
        </p:blipFill>
        <p:spPr>
          <a:xfrm>
            <a:off x="1889180" y="3609163"/>
            <a:ext cx="2212325" cy="71038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8C862EA-70D6-AB84-7FEE-12E9C6C47A43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t="26012" b="25566"/>
          <a:stretch/>
        </p:blipFill>
        <p:spPr>
          <a:xfrm>
            <a:off x="4691327" y="3568135"/>
            <a:ext cx="2909375" cy="792442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6F17E1A8-FF53-2649-7B39-FE81AA5E113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4068" y="2378982"/>
            <a:ext cx="1996616" cy="965031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2464E3-493B-0AD6-8374-C51AEC8C2CB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22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5783003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0"/>
          <p:cNvSpPr txBox="1">
            <a:spLocks noGrp="1"/>
          </p:cNvSpPr>
          <p:nvPr>
            <p:ph type="title"/>
          </p:nvPr>
        </p:nvSpPr>
        <p:spPr>
          <a:xfrm>
            <a:off x="411480" y="320042"/>
            <a:ext cx="8321040" cy="73151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References</a:t>
            </a:r>
            <a:endParaRPr dirty="0"/>
          </a:p>
        </p:txBody>
      </p:sp>
      <p:sp>
        <p:nvSpPr>
          <p:cNvPr id="177" name="Google Shape;177;p30"/>
          <p:cNvSpPr txBox="1">
            <a:spLocks noGrp="1"/>
          </p:cNvSpPr>
          <p:nvPr>
            <p:ph type="body" idx="1"/>
          </p:nvPr>
        </p:nvSpPr>
        <p:spPr>
          <a:xfrm>
            <a:off x="411480" y="914400"/>
            <a:ext cx="8321040" cy="393191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10000"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" sz="1900" b="1" dirty="0">
                <a:solidFill>
                  <a:schemeClr val="dk1"/>
                </a:solidFill>
              </a:rPr>
              <a:t>Echoes Project website: </a:t>
            </a:r>
            <a:r>
              <a:rPr lang="en-CA" sz="1900" b="1" dirty="0">
                <a:solidFill>
                  <a:schemeClr val="dk1"/>
                </a:solidFill>
                <a:hlinkClick r:id="rId3"/>
              </a:rPr>
              <a:t>https://echoes.fcsh.unl.pt</a:t>
            </a:r>
            <a:endParaRPr lang="en" sz="1900" b="1" dirty="0">
              <a:solidFill>
                <a:schemeClr val="dk1"/>
              </a:solidFill>
            </a:endParaRP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CA" dirty="0">
                <a:solidFill>
                  <a:srgbClr val="222222"/>
                </a:solidFill>
              </a:rPr>
              <a:t>Echoes Project GitHub Association: </a:t>
            </a:r>
            <a:r>
              <a:rPr lang="en-CA" dirty="0">
                <a:solidFill>
                  <a:srgbClr val="222222"/>
                </a:solidFill>
                <a:hlinkClick r:id="rId4"/>
              </a:rPr>
              <a:t>https://github.com/ECHOES-from-the-Past</a:t>
            </a:r>
            <a:endParaRPr lang="en-CA" dirty="0">
              <a:solidFill>
                <a:srgbClr val="222222"/>
              </a:solidFill>
            </a:endParaRPr>
          </a:p>
          <a:p>
            <a:pPr marL="1200150" lvl="2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CA" dirty="0">
                <a:solidFill>
                  <a:srgbClr val="222222"/>
                </a:solidFill>
              </a:rPr>
              <a:t>GitHub repository for GABC to MEI (guidelines, conversion table, and files): </a:t>
            </a:r>
            <a:r>
              <a:rPr lang="en-CA" dirty="0">
                <a:solidFill>
                  <a:srgbClr val="222222"/>
                </a:solidFill>
                <a:hlinkClick r:id="rId5"/>
              </a:rPr>
              <a:t>https://github.com/ECHOES-from-the-Past/GABCtoMEI</a:t>
            </a:r>
            <a:endParaRPr lang="en-CA" dirty="0">
              <a:solidFill>
                <a:srgbClr val="222222"/>
              </a:solidFill>
            </a:endParaRPr>
          </a:p>
          <a:p>
            <a:pPr marL="1200150" lvl="2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CA" dirty="0">
                <a:solidFill>
                  <a:srgbClr val="222222"/>
                </a:solidFill>
              </a:rPr>
              <a:t>GitHub repository for MEI Analyser: </a:t>
            </a:r>
            <a:r>
              <a:rPr lang="en-CA" dirty="0">
                <a:solidFill>
                  <a:srgbClr val="222222"/>
                </a:solidFill>
                <a:hlinkClick r:id="rId6"/>
              </a:rPr>
              <a:t>https://github.com/ECHOES-from-the-Past/mei-analyser</a:t>
            </a:r>
            <a:endParaRPr lang="en-CA" dirty="0">
              <a:solidFill>
                <a:srgbClr val="222222"/>
              </a:solidFill>
            </a:endParaRPr>
          </a:p>
          <a:p>
            <a:pPr marL="1200150" lvl="2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CA" dirty="0">
                <a:solidFill>
                  <a:srgbClr val="222222"/>
                </a:solidFill>
              </a:rPr>
              <a:t>Website (GitHub page) for MEI Analyser: </a:t>
            </a:r>
            <a:r>
              <a:rPr lang="en-CA" dirty="0">
                <a:solidFill>
                  <a:srgbClr val="222222"/>
                </a:solidFill>
                <a:hlinkClick r:id="rId7"/>
              </a:rPr>
              <a:t>https://echoes-from-the-past.github.io/mei-analyser/</a:t>
            </a:r>
            <a:endParaRPr lang="en-CA" dirty="0">
              <a:solidFill>
                <a:srgbClr val="222222"/>
              </a:solidFill>
            </a:endParaRP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CA" b="0" i="0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Portuguese Early Music (PEM) database: </a:t>
            </a:r>
            <a:r>
              <a:rPr lang="en-CA" b="0" i="0" u="sng" strike="noStrike" dirty="0">
                <a:solidFill>
                  <a:srgbClr val="0097A7"/>
                </a:solidFill>
                <a:effectLst/>
                <a:latin typeface="Arial" panose="020B0604020202020204" pitchFamily="34" charset="0"/>
                <a:hlinkClick r:id="rId8"/>
              </a:rPr>
              <a:t>https://pemdatabase.eu/</a:t>
            </a:r>
            <a:endParaRPr lang="en-CA" dirty="0">
              <a:solidFill>
                <a:schemeClr val="tx1"/>
              </a:solidFill>
            </a:endParaRP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CA" dirty="0">
                <a:solidFill>
                  <a:schemeClr val="tx1"/>
                </a:solidFill>
              </a:rPr>
              <a:t>Neume spreadsheet with MEI encoding: </a:t>
            </a:r>
            <a:r>
              <a:rPr lang="en-CA" dirty="0">
                <a:solidFill>
                  <a:schemeClr val="tx1"/>
                </a:solidFill>
                <a:hlinkClick r:id="rId9"/>
              </a:rPr>
              <a:t>https://docs.google.com/spreadsheets/d/1QDRywn4oUXgU9liCZo6PJFvTkTCyML1pFikKtZjs0eg/edit?usp=sharing</a:t>
            </a:r>
            <a:endParaRPr lang="en-CA" dirty="0">
              <a:solidFill>
                <a:schemeClr val="tx1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" baseline="30000" dirty="0">
                <a:solidFill>
                  <a:schemeClr val="dk1"/>
                </a:solidFill>
              </a:rPr>
              <a:t>[1] </a:t>
            </a:r>
            <a:r>
              <a:rPr lang="en" dirty="0">
                <a:solidFill>
                  <a:schemeClr val="dk1"/>
                </a:solidFill>
              </a:rPr>
              <a:t>GABC specifications: </a:t>
            </a:r>
            <a:r>
              <a:rPr lang="en" u="sng" dirty="0">
                <a:solidFill>
                  <a:srgbClr val="96607D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https://gregorio-project.github.io/gabc/index.html</a:t>
            </a:r>
            <a:r>
              <a:rPr lang="en" dirty="0">
                <a:solidFill>
                  <a:schemeClr val="dk1"/>
                </a:solidFill>
              </a:rPr>
              <a:t>. GABC examples: </a:t>
            </a:r>
            <a:r>
              <a:rPr lang="en" u="sng" dirty="0">
                <a:solidFill>
                  <a:srgbClr val="96607D"/>
                </a:solidFill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https://gregobase.selapa.net/scores.php</a:t>
            </a:r>
            <a:r>
              <a:rPr lang="en" dirty="0">
                <a:solidFill>
                  <a:schemeClr val="dk1"/>
                </a:solidFill>
              </a:rPr>
              <a:t>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F361A60-3C45-AB68-5798-89FD0FD5E99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23</a:t>
            </a:fld>
            <a:endParaRPr lang="e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347</TotalTime>
  <Words>2017</Words>
  <Application>Microsoft Macintosh PowerPoint</Application>
  <PresentationFormat>On-screen Show (16:9)</PresentationFormat>
  <Paragraphs>185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Wingdings</vt:lpstr>
      <vt:lpstr>Simple Light</vt:lpstr>
      <vt:lpstr>Encoding and Analysis  of Early Music: Aquitanian and Square Music Scripts</vt:lpstr>
      <vt:lpstr>ECHOES PROJECT</vt:lpstr>
      <vt:lpstr>ECHOES PROJECT – The Challenge</vt:lpstr>
      <vt:lpstr>ECHOES PROJECT – The Challenge</vt:lpstr>
      <vt:lpstr>ECHOES PROJECT – The Issue for Encoding</vt:lpstr>
      <vt:lpstr>ECHOES PROJECT – The Methodology</vt:lpstr>
      <vt:lpstr>Why Using GABC as the Intermediate Format?</vt:lpstr>
      <vt:lpstr>ECHOES PROJECT – GABC Encoding</vt:lpstr>
      <vt:lpstr>ECHOES PROJECT – GABC Encoding</vt:lpstr>
      <vt:lpstr>ECHOES PROJECT – GABC Encoding</vt:lpstr>
      <vt:lpstr>ECHOES PROJECT – GABC Encoding</vt:lpstr>
      <vt:lpstr>ECHOES PROJECT – GABC Encoding</vt:lpstr>
      <vt:lpstr>ECHOES PROJECT – GABC Encoding</vt:lpstr>
      <vt:lpstr>ECHOES PROJECT – Current Contributions</vt:lpstr>
      <vt:lpstr>ECHOES PROJECT – Music Analysis Prototype Tool</vt:lpstr>
      <vt:lpstr>ECHOES PROJECT – Music Analysis Prototype Tool</vt:lpstr>
      <vt:lpstr>ECHOES PROJECT – Music Analysis Prototype Tool</vt:lpstr>
      <vt:lpstr>ECHOES PROJECT – Music Analysis Prototype Tool</vt:lpstr>
      <vt:lpstr>ECHOES PROJECT – Music Analysis Prototype Tool</vt:lpstr>
      <vt:lpstr>ECHOES PROJECT – Music Analysis Prototype Tool</vt:lpstr>
      <vt:lpstr>ECHOES PROJECT – Conclusions</vt:lpstr>
      <vt:lpstr>Thank you!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Encoding and Analysis  of Early Music: Aquitanian and Square Music Scripts</dc:title>
  <cp:lastModifiedBy>Martha Thomae Elias</cp:lastModifiedBy>
  <cp:revision>53</cp:revision>
  <dcterms:modified xsi:type="dcterms:W3CDTF">2024-05-21T16:08:57Z</dcterms:modified>
</cp:coreProperties>
</file>